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70" r:id="rId2"/>
    <p:sldId id="271" r:id="rId3"/>
    <p:sldId id="272" r:id="rId4"/>
    <p:sldId id="264" r:id="rId5"/>
    <p:sldId id="266" r:id="rId6"/>
    <p:sldId id="267" r:id="rId7"/>
    <p:sldId id="273" r:id="rId8"/>
    <p:sldId id="27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C"/>
    <a:srgbClr val="FFFEFC"/>
    <a:srgbClr val="FEFEFA"/>
    <a:srgbClr val="F041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0" autoAdjust="0"/>
    <p:restoredTop sz="94660"/>
  </p:normalViewPr>
  <p:slideViewPr>
    <p:cSldViewPr snapToGrid="0">
      <p:cViewPr>
        <p:scale>
          <a:sx n="66" d="100"/>
          <a:sy n="66" d="100"/>
        </p:scale>
        <p:origin x="900"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A2AA24-AE59-49CA-A97E-91B48D151291}" type="datetimeFigureOut">
              <a:rPr lang="en-IN" smtClean="0"/>
              <a:t>10-10-2026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F13DB2-CF78-43FE-AEEA-73108D01A361}" type="slidenum">
              <a:rPr lang="en-IN" smtClean="0"/>
              <a:t>‹#›</a:t>
            </a:fld>
            <a:endParaRPr lang="en-IN"/>
          </a:p>
        </p:txBody>
      </p:sp>
    </p:spTree>
    <p:extLst>
      <p:ext uri="{BB962C8B-B14F-4D97-AF65-F5344CB8AC3E}">
        <p14:creationId xmlns:p14="http://schemas.microsoft.com/office/powerpoint/2010/main" val="1041798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Laptop does the heavy AI and talks to the ESP32 over Wi-Fi. ESP32 also reads the LiDAR. The Mega runs the motors through four BTS7960 drivers and reads the ultrasonic sensors, IMU and attachment ID. One 4S pack feeds a 14.8 V rail plus 5 V and 6 V bucks.</a:t>
            </a:r>
            <a:endParaRPr lang="en-IN"/>
          </a:p>
        </p:txBody>
      </p:sp>
      <p:sp>
        <p:nvSpPr>
          <p:cNvPr id="4" name="Slide Number Placeholder 3"/>
          <p:cNvSpPr>
            <a:spLocks noGrp="1"/>
          </p:cNvSpPr>
          <p:nvPr>
            <p:ph type="sldNum" sz="quarter" idx="5"/>
          </p:nvPr>
        </p:nvSpPr>
        <p:spPr/>
        <p:txBody>
          <a:bodyPr/>
          <a:lstStyle/>
          <a:p>
            <a:fld id="{EDF13DB2-CF78-43FE-AEEA-73108D01A361}" type="slidenum">
              <a:rPr lang="en-IN" smtClean="0"/>
              <a:t>4</a:t>
            </a:fld>
            <a:endParaRPr lang="en-IN"/>
          </a:p>
        </p:txBody>
      </p:sp>
    </p:spTree>
    <p:extLst>
      <p:ext uri="{BB962C8B-B14F-4D97-AF65-F5344CB8AC3E}">
        <p14:creationId xmlns:p14="http://schemas.microsoft.com/office/powerpoint/2010/main" val="25375102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language model turns a sentence into a concrete target; the state machine then searches, approaches, avoids and stops. The safety reflex overrides everything.</a:t>
            </a:r>
            <a:endParaRPr lang="en-IN"/>
          </a:p>
        </p:txBody>
      </p:sp>
      <p:sp>
        <p:nvSpPr>
          <p:cNvPr id="4" name="Slide Number Placeholder 3"/>
          <p:cNvSpPr>
            <a:spLocks noGrp="1"/>
          </p:cNvSpPr>
          <p:nvPr>
            <p:ph type="sldNum" sz="quarter" idx="5"/>
          </p:nvPr>
        </p:nvSpPr>
        <p:spPr/>
        <p:txBody>
          <a:bodyPr/>
          <a:lstStyle/>
          <a:p>
            <a:fld id="{EDF13DB2-CF78-43FE-AEEA-73108D01A361}" type="slidenum">
              <a:rPr lang="en-IN" smtClean="0"/>
              <a:t>5</a:t>
            </a:fld>
            <a:endParaRPr lang="en-IN"/>
          </a:p>
        </p:txBody>
      </p:sp>
    </p:spTree>
    <p:extLst>
      <p:ext uri="{BB962C8B-B14F-4D97-AF65-F5344CB8AC3E}">
        <p14:creationId xmlns:p14="http://schemas.microsoft.com/office/powerpoint/2010/main" val="1007918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AMR market roughly 17 billion dollars by 2033 at 15-18% a year. Users, revenue model and a three-year growth plan.</a:t>
            </a:r>
            <a:endParaRPr lang="en-IN"/>
          </a:p>
        </p:txBody>
      </p:sp>
      <p:sp>
        <p:nvSpPr>
          <p:cNvPr id="4" name="Slide Number Placeholder 3"/>
          <p:cNvSpPr>
            <a:spLocks noGrp="1"/>
          </p:cNvSpPr>
          <p:nvPr>
            <p:ph type="sldNum" sz="quarter" idx="5"/>
          </p:nvPr>
        </p:nvSpPr>
        <p:spPr/>
        <p:txBody>
          <a:bodyPr/>
          <a:lstStyle/>
          <a:p>
            <a:fld id="{EDF13DB2-CF78-43FE-AEEA-73108D01A361}" type="slidenum">
              <a:rPr lang="en-IN" smtClean="0"/>
              <a:t>6</a:t>
            </a:fld>
            <a:endParaRPr lang="en-IN"/>
          </a:p>
        </p:txBody>
      </p:sp>
    </p:spTree>
    <p:extLst>
      <p:ext uri="{BB962C8B-B14F-4D97-AF65-F5344CB8AC3E}">
        <p14:creationId xmlns:p14="http://schemas.microsoft.com/office/powerpoint/2010/main" val="2104599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0EF38-A574-6B1C-72D1-8E684B96CB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4833C50-07C1-2AF1-4CB1-3036E8EA63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C7624F2-20FB-9215-1744-97B5A4D9B4C5}"/>
              </a:ext>
            </a:extLst>
          </p:cNvPr>
          <p:cNvSpPr>
            <a:spLocks noGrp="1"/>
          </p:cNvSpPr>
          <p:nvPr>
            <p:ph type="dt" sz="half" idx="10"/>
          </p:nvPr>
        </p:nvSpPr>
        <p:spPr/>
        <p:txBody>
          <a:bodyPr/>
          <a:lstStyle/>
          <a:p>
            <a:fld id="{B6864995-2E30-4277-96F4-12B773202A66}" type="datetimeFigureOut">
              <a:rPr lang="en-IN" smtClean="0"/>
              <a:t>10-10-2026</a:t>
            </a:fld>
            <a:endParaRPr lang="en-IN"/>
          </a:p>
        </p:txBody>
      </p:sp>
      <p:sp>
        <p:nvSpPr>
          <p:cNvPr id="5" name="Footer Placeholder 4">
            <a:extLst>
              <a:ext uri="{FF2B5EF4-FFF2-40B4-BE49-F238E27FC236}">
                <a16:creationId xmlns:a16="http://schemas.microsoft.com/office/drawing/2014/main" id="{4AC2CB19-D94A-826A-689D-439AD8B3A3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7A32C1-F9F4-003E-4D3A-6B6155376B1F}"/>
              </a:ext>
            </a:extLst>
          </p:cNvPr>
          <p:cNvSpPr>
            <a:spLocks noGrp="1"/>
          </p:cNvSpPr>
          <p:nvPr>
            <p:ph type="sldNum" sz="quarter" idx="12"/>
          </p:nvPr>
        </p:nvSpPr>
        <p:spPr/>
        <p:txBody>
          <a:bodyPr/>
          <a:lstStyle/>
          <a:p>
            <a:fld id="{BC521164-D398-4FE1-B8B2-611A41D98B47}" type="slidenum">
              <a:rPr lang="en-IN" smtClean="0"/>
              <a:t>‹#›</a:t>
            </a:fld>
            <a:endParaRPr lang="en-IN"/>
          </a:p>
        </p:txBody>
      </p:sp>
    </p:spTree>
    <p:extLst>
      <p:ext uri="{BB962C8B-B14F-4D97-AF65-F5344CB8AC3E}">
        <p14:creationId xmlns:p14="http://schemas.microsoft.com/office/powerpoint/2010/main" val="3662643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12888-73F0-A8BC-419D-EC556CEEB5D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8ECD445-B6FB-3674-7DCA-C5CB1FBE0B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0B0A6C-A762-46DB-2D54-87F82717545C}"/>
              </a:ext>
            </a:extLst>
          </p:cNvPr>
          <p:cNvSpPr>
            <a:spLocks noGrp="1"/>
          </p:cNvSpPr>
          <p:nvPr>
            <p:ph type="dt" sz="half" idx="10"/>
          </p:nvPr>
        </p:nvSpPr>
        <p:spPr/>
        <p:txBody>
          <a:bodyPr/>
          <a:lstStyle/>
          <a:p>
            <a:fld id="{B6864995-2E30-4277-96F4-12B773202A66}" type="datetimeFigureOut">
              <a:rPr lang="en-IN" smtClean="0"/>
              <a:t>10-10-2026</a:t>
            </a:fld>
            <a:endParaRPr lang="en-IN"/>
          </a:p>
        </p:txBody>
      </p:sp>
      <p:sp>
        <p:nvSpPr>
          <p:cNvPr id="5" name="Footer Placeholder 4">
            <a:extLst>
              <a:ext uri="{FF2B5EF4-FFF2-40B4-BE49-F238E27FC236}">
                <a16:creationId xmlns:a16="http://schemas.microsoft.com/office/drawing/2014/main" id="{D3CDBDC8-9617-E51F-81EC-8BFA405F3D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769C38-09DA-5C07-9E98-349311262E49}"/>
              </a:ext>
            </a:extLst>
          </p:cNvPr>
          <p:cNvSpPr>
            <a:spLocks noGrp="1"/>
          </p:cNvSpPr>
          <p:nvPr>
            <p:ph type="sldNum" sz="quarter" idx="12"/>
          </p:nvPr>
        </p:nvSpPr>
        <p:spPr/>
        <p:txBody>
          <a:bodyPr/>
          <a:lstStyle/>
          <a:p>
            <a:fld id="{BC521164-D398-4FE1-B8B2-611A41D98B47}" type="slidenum">
              <a:rPr lang="en-IN" smtClean="0"/>
              <a:t>‹#›</a:t>
            </a:fld>
            <a:endParaRPr lang="en-IN"/>
          </a:p>
        </p:txBody>
      </p:sp>
    </p:spTree>
    <p:extLst>
      <p:ext uri="{BB962C8B-B14F-4D97-AF65-F5344CB8AC3E}">
        <p14:creationId xmlns:p14="http://schemas.microsoft.com/office/powerpoint/2010/main" val="1975503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E3E83-EDD9-649B-F621-B11CB9F353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3E14F63-F252-14DE-FB53-CDE71351EA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756E94-4C0F-FC99-6A1B-825DAB499E94}"/>
              </a:ext>
            </a:extLst>
          </p:cNvPr>
          <p:cNvSpPr>
            <a:spLocks noGrp="1"/>
          </p:cNvSpPr>
          <p:nvPr>
            <p:ph type="dt" sz="half" idx="10"/>
          </p:nvPr>
        </p:nvSpPr>
        <p:spPr/>
        <p:txBody>
          <a:bodyPr/>
          <a:lstStyle/>
          <a:p>
            <a:fld id="{B6864995-2E30-4277-96F4-12B773202A66}" type="datetimeFigureOut">
              <a:rPr lang="en-IN" smtClean="0"/>
              <a:t>10-10-2026</a:t>
            </a:fld>
            <a:endParaRPr lang="en-IN"/>
          </a:p>
        </p:txBody>
      </p:sp>
      <p:sp>
        <p:nvSpPr>
          <p:cNvPr id="5" name="Footer Placeholder 4">
            <a:extLst>
              <a:ext uri="{FF2B5EF4-FFF2-40B4-BE49-F238E27FC236}">
                <a16:creationId xmlns:a16="http://schemas.microsoft.com/office/drawing/2014/main" id="{26F36FE9-5A2A-964F-8DA5-3C44259058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6917F2-764E-B705-FE2C-F7B052DAB8DA}"/>
              </a:ext>
            </a:extLst>
          </p:cNvPr>
          <p:cNvSpPr>
            <a:spLocks noGrp="1"/>
          </p:cNvSpPr>
          <p:nvPr>
            <p:ph type="sldNum" sz="quarter" idx="12"/>
          </p:nvPr>
        </p:nvSpPr>
        <p:spPr/>
        <p:txBody>
          <a:bodyPr/>
          <a:lstStyle/>
          <a:p>
            <a:fld id="{BC521164-D398-4FE1-B8B2-611A41D98B47}" type="slidenum">
              <a:rPr lang="en-IN" smtClean="0"/>
              <a:t>‹#›</a:t>
            </a:fld>
            <a:endParaRPr lang="en-IN"/>
          </a:p>
        </p:txBody>
      </p:sp>
    </p:spTree>
    <p:extLst>
      <p:ext uri="{BB962C8B-B14F-4D97-AF65-F5344CB8AC3E}">
        <p14:creationId xmlns:p14="http://schemas.microsoft.com/office/powerpoint/2010/main" val="3019011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C518C-1A1A-DA98-99CA-6CE941728E2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289E6EA-124E-7486-7005-0C2660D1CD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62B2F78-3B51-74B8-319C-3B64558DE5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DFCE7FA-763F-60CB-5A29-8B11F8F3B2D9}"/>
              </a:ext>
            </a:extLst>
          </p:cNvPr>
          <p:cNvSpPr>
            <a:spLocks noGrp="1"/>
          </p:cNvSpPr>
          <p:nvPr>
            <p:ph type="dt" sz="half" idx="10"/>
          </p:nvPr>
        </p:nvSpPr>
        <p:spPr/>
        <p:txBody>
          <a:bodyPr/>
          <a:lstStyle/>
          <a:p>
            <a:fld id="{B6864995-2E30-4277-96F4-12B773202A66}" type="datetimeFigureOut">
              <a:rPr lang="en-IN" smtClean="0"/>
              <a:t>10-10-2026</a:t>
            </a:fld>
            <a:endParaRPr lang="en-IN"/>
          </a:p>
        </p:txBody>
      </p:sp>
      <p:sp>
        <p:nvSpPr>
          <p:cNvPr id="6" name="Footer Placeholder 5">
            <a:extLst>
              <a:ext uri="{FF2B5EF4-FFF2-40B4-BE49-F238E27FC236}">
                <a16:creationId xmlns:a16="http://schemas.microsoft.com/office/drawing/2014/main" id="{779C1DA5-A9AA-0CE1-24C3-ECEF99B581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9A73D9-385F-668F-1D85-0EC57FAD5C8D}"/>
              </a:ext>
            </a:extLst>
          </p:cNvPr>
          <p:cNvSpPr>
            <a:spLocks noGrp="1"/>
          </p:cNvSpPr>
          <p:nvPr>
            <p:ph type="sldNum" sz="quarter" idx="12"/>
          </p:nvPr>
        </p:nvSpPr>
        <p:spPr/>
        <p:txBody>
          <a:bodyPr/>
          <a:lstStyle/>
          <a:p>
            <a:fld id="{BC521164-D398-4FE1-B8B2-611A41D98B47}" type="slidenum">
              <a:rPr lang="en-IN" smtClean="0"/>
              <a:t>‹#›</a:t>
            </a:fld>
            <a:endParaRPr lang="en-IN"/>
          </a:p>
        </p:txBody>
      </p:sp>
    </p:spTree>
    <p:extLst>
      <p:ext uri="{BB962C8B-B14F-4D97-AF65-F5344CB8AC3E}">
        <p14:creationId xmlns:p14="http://schemas.microsoft.com/office/powerpoint/2010/main" val="1549969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BE312-9872-C2D2-C4B6-9C2B505BFCC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76EBA2-4032-10DB-8E1D-93E79EAA57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A4137D-FBD4-F4BA-D08F-914FB95D65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7D50BE8-4ADB-5238-33E4-9D372A5248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65F508-086E-75ED-EE37-2684C35CB0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5A8BCB4-6B22-17FC-994F-D0E439A48748}"/>
              </a:ext>
            </a:extLst>
          </p:cNvPr>
          <p:cNvSpPr>
            <a:spLocks noGrp="1"/>
          </p:cNvSpPr>
          <p:nvPr>
            <p:ph type="dt" sz="half" idx="10"/>
          </p:nvPr>
        </p:nvSpPr>
        <p:spPr/>
        <p:txBody>
          <a:bodyPr/>
          <a:lstStyle/>
          <a:p>
            <a:fld id="{B6864995-2E30-4277-96F4-12B773202A66}" type="datetimeFigureOut">
              <a:rPr lang="en-IN" smtClean="0"/>
              <a:t>10-10-2026</a:t>
            </a:fld>
            <a:endParaRPr lang="en-IN"/>
          </a:p>
        </p:txBody>
      </p:sp>
      <p:sp>
        <p:nvSpPr>
          <p:cNvPr id="8" name="Footer Placeholder 7">
            <a:extLst>
              <a:ext uri="{FF2B5EF4-FFF2-40B4-BE49-F238E27FC236}">
                <a16:creationId xmlns:a16="http://schemas.microsoft.com/office/drawing/2014/main" id="{248AC79B-1FA4-6094-A1AE-38CB7343244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3E53CCD-76E2-8E5F-1CAE-A375B6B0C5FF}"/>
              </a:ext>
            </a:extLst>
          </p:cNvPr>
          <p:cNvSpPr>
            <a:spLocks noGrp="1"/>
          </p:cNvSpPr>
          <p:nvPr>
            <p:ph type="sldNum" sz="quarter" idx="12"/>
          </p:nvPr>
        </p:nvSpPr>
        <p:spPr/>
        <p:txBody>
          <a:bodyPr/>
          <a:lstStyle/>
          <a:p>
            <a:fld id="{BC521164-D398-4FE1-B8B2-611A41D98B47}" type="slidenum">
              <a:rPr lang="en-IN" smtClean="0"/>
              <a:t>‹#›</a:t>
            </a:fld>
            <a:endParaRPr lang="en-IN"/>
          </a:p>
        </p:txBody>
      </p:sp>
    </p:spTree>
    <p:extLst>
      <p:ext uri="{BB962C8B-B14F-4D97-AF65-F5344CB8AC3E}">
        <p14:creationId xmlns:p14="http://schemas.microsoft.com/office/powerpoint/2010/main" val="31163564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46148-EA36-B398-92A7-5A13CE540E3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E845371-EFEE-ACF8-CAC8-764CA4391727}"/>
              </a:ext>
            </a:extLst>
          </p:cNvPr>
          <p:cNvSpPr>
            <a:spLocks noGrp="1"/>
          </p:cNvSpPr>
          <p:nvPr>
            <p:ph type="dt" sz="half" idx="10"/>
          </p:nvPr>
        </p:nvSpPr>
        <p:spPr/>
        <p:txBody>
          <a:bodyPr/>
          <a:lstStyle/>
          <a:p>
            <a:fld id="{B6864995-2E30-4277-96F4-12B773202A66}" type="datetimeFigureOut">
              <a:rPr lang="en-IN" smtClean="0"/>
              <a:t>10-10-2026</a:t>
            </a:fld>
            <a:endParaRPr lang="en-IN"/>
          </a:p>
        </p:txBody>
      </p:sp>
      <p:sp>
        <p:nvSpPr>
          <p:cNvPr id="4" name="Footer Placeholder 3">
            <a:extLst>
              <a:ext uri="{FF2B5EF4-FFF2-40B4-BE49-F238E27FC236}">
                <a16:creationId xmlns:a16="http://schemas.microsoft.com/office/drawing/2014/main" id="{58B0DD29-35A3-6F13-D355-B3EB4615D71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91E0480-5AB7-C69F-F6A4-BF7039BC6CBC}"/>
              </a:ext>
            </a:extLst>
          </p:cNvPr>
          <p:cNvSpPr>
            <a:spLocks noGrp="1"/>
          </p:cNvSpPr>
          <p:nvPr>
            <p:ph type="sldNum" sz="quarter" idx="12"/>
          </p:nvPr>
        </p:nvSpPr>
        <p:spPr/>
        <p:txBody>
          <a:bodyPr/>
          <a:lstStyle/>
          <a:p>
            <a:fld id="{BC521164-D398-4FE1-B8B2-611A41D98B47}" type="slidenum">
              <a:rPr lang="en-IN" smtClean="0"/>
              <a:t>‹#›</a:t>
            </a:fld>
            <a:endParaRPr lang="en-IN"/>
          </a:p>
        </p:txBody>
      </p:sp>
    </p:spTree>
    <p:extLst>
      <p:ext uri="{BB962C8B-B14F-4D97-AF65-F5344CB8AC3E}">
        <p14:creationId xmlns:p14="http://schemas.microsoft.com/office/powerpoint/2010/main" val="1032904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BE7774-9F38-091F-5AB7-C69708E14B95}"/>
              </a:ext>
            </a:extLst>
          </p:cNvPr>
          <p:cNvSpPr>
            <a:spLocks noGrp="1"/>
          </p:cNvSpPr>
          <p:nvPr>
            <p:ph type="dt" sz="half" idx="10"/>
          </p:nvPr>
        </p:nvSpPr>
        <p:spPr/>
        <p:txBody>
          <a:bodyPr/>
          <a:lstStyle/>
          <a:p>
            <a:fld id="{B6864995-2E30-4277-96F4-12B773202A66}" type="datetimeFigureOut">
              <a:rPr lang="en-IN" smtClean="0"/>
              <a:t>10-10-2026</a:t>
            </a:fld>
            <a:endParaRPr lang="en-IN"/>
          </a:p>
        </p:txBody>
      </p:sp>
      <p:sp>
        <p:nvSpPr>
          <p:cNvPr id="3" name="Footer Placeholder 2">
            <a:extLst>
              <a:ext uri="{FF2B5EF4-FFF2-40B4-BE49-F238E27FC236}">
                <a16:creationId xmlns:a16="http://schemas.microsoft.com/office/drawing/2014/main" id="{9FEA1E32-CDD8-EF99-5D42-5E05D89B332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196049E-C867-0E43-FF95-778E6E0AB92D}"/>
              </a:ext>
            </a:extLst>
          </p:cNvPr>
          <p:cNvSpPr>
            <a:spLocks noGrp="1"/>
          </p:cNvSpPr>
          <p:nvPr>
            <p:ph type="sldNum" sz="quarter" idx="12"/>
          </p:nvPr>
        </p:nvSpPr>
        <p:spPr/>
        <p:txBody>
          <a:bodyPr/>
          <a:lstStyle/>
          <a:p>
            <a:fld id="{BC521164-D398-4FE1-B8B2-611A41D98B47}" type="slidenum">
              <a:rPr lang="en-IN" smtClean="0"/>
              <a:t>‹#›</a:t>
            </a:fld>
            <a:endParaRPr lang="en-IN"/>
          </a:p>
        </p:txBody>
      </p:sp>
    </p:spTree>
    <p:extLst>
      <p:ext uri="{BB962C8B-B14F-4D97-AF65-F5344CB8AC3E}">
        <p14:creationId xmlns:p14="http://schemas.microsoft.com/office/powerpoint/2010/main" val="3548829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99DD7-C0CD-B50F-B51B-830AFC9AAF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96F40FE-8472-0EE1-BBF9-0FB7CA7C5F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6FBC6C4-69FF-C87B-3CB7-4BFB6B45F6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E10955-C567-B21B-428C-DB9216DA8B3D}"/>
              </a:ext>
            </a:extLst>
          </p:cNvPr>
          <p:cNvSpPr>
            <a:spLocks noGrp="1"/>
          </p:cNvSpPr>
          <p:nvPr>
            <p:ph type="dt" sz="half" idx="10"/>
          </p:nvPr>
        </p:nvSpPr>
        <p:spPr/>
        <p:txBody>
          <a:bodyPr/>
          <a:lstStyle/>
          <a:p>
            <a:fld id="{B6864995-2E30-4277-96F4-12B773202A66}" type="datetimeFigureOut">
              <a:rPr lang="en-IN" smtClean="0"/>
              <a:t>10-10-2026</a:t>
            </a:fld>
            <a:endParaRPr lang="en-IN"/>
          </a:p>
        </p:txBody>
      </p:sp>
      <p:sp>
        <p:nvSpPr>
          <p:cNvPr id="6" name="Footer Placeholder 5">
            <a:extLst>
              <a:ext uri="{FF2B5EF4-FFF2-40B4-BE49-F238E27FC236}">
                <a16:creationId xmlns:a16="http://schemas.microsoft.com/office/drawing/2014/main" id="{7D453B55-2510-EC22-7FE8-7CAC0E4055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138F4B-ACC1-5829-2859-646C7CD0F1FC}"/>
              </a:ext>
            </a:extLst>
          </p:cNvPr>
          <p:cNvSpPr>
            <a:spLocks noGrp="1"/>
          </p:cNvSpPr>
          <p:nvPr>
            <p:ph type="sldNum" sz="quarter" idx="12"/>
          </p:nvPr>
        </p:nvSpPr>
        <p:spPr/>
        <p:txBody>
          <a:bodyPr/>
          <a:lstStyle/>
          <a:p>
            <a:fld id="{BC521164-D398-4FE1-B8B2-611A41D98B47}" type="slidenum">
              <a:rPr lang="en-IN" smtClean="0"/>
              <a:t>‹#›</a:t>
            </a:fld>
            <a:endParaRPr lang="en-IN"/>
          </a:p>
        </p:txBody>
      </p:sp>
    </p:spTree>
    <p:extLst>
      <p:ext uri="{BB962C8B-B14F-4D97-AF65-F5344CB8AC3E}">
        <p14:creationId xmlns:p14="http://schemas.microsoft.com/office/powerpoint/2010/main" val="3507486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23BD-7DDC-1D33-36CB-4692A26FF1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1C6135A-9579-459E-F517-9F1EC5D411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FEFB01A-8707-66D1-3A25-450FA236B1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067473-5897-E10B-0447-8CCCB04271CA}"/>
              </a:ext>
            </a:extLst>
          </p:cNvPr>
          <p:cNvSpPr>
            <a:spLocks noGrp="1"/>
          </p:cNvSpPr>
          <p:nvPr>
            <p:ph type="dt" sz="half" idx="10"/>
          </p:nvPr>
        </p:nvSpPr>
        <p:spPr/>
        <p:txBody>
          <a:bodyPr/>
          <a:lstStyle/>
          <a:p>
            <a:fld id="{B6864995-2E30-4277-96F4-12B773202A66}" type="datetimeFigureOut">
              <a:rPr lang="en-IN" smtClean="0"/>
              <a:t>10-10-2026</a:t>
            </a:fld>
            <a:endParaRPr lang="en-IN"/>
          </a:p>
        </p:txBody>
      </p:sp>
      <p:sp>
        <p:nvSpPr>
          <p:cNvPr id="6" name="Footer Placeholder 5">
            <a:extLst>
              <a:ext uri="{FF2B5EF4-FFF2-40B4-BE49-F238E27FC236}">
                <a16:creationId xmlns:a16="http://schemas.microsoft.com/office/drawing/2014/main" id="{E3C9B479-A014-BB80-328A-3856F8C353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DF814C-FFF1-6F1D-A164-84BCAFC62954}"/>
              </a:ext>
            </a:extLst>
          </p:cNvPr>
          <p:cNvSpPr>
            <a:spLocks noGrp="1"/>
          </p:cNvSpPr>
          <p:nvPr>
            <p:ph type="sldNum" sz="quarter" idx="12"/>
          </p:nvPr>
        </p:nvSpPr>
        <p:spPr/>
        <p:txBody>
          <a:bodyPr/>
          <a:lstStyle/>
          <a:p>
            <a:fld id="{BC521164-D398-4FE1-B8B2-611A41D98B47}" type="slidenum">
              <a:rPr lang="en-IN" smtClean="0"/>
              <a:t>‹#›</a:t>
            </a:fld>
            <a:endParaRPr lang="en-IN"/>
          </a:p>
        </p:txBody>
      </p:sp>
    </p:spTree>
    <p:extLst>
      <p:ext uri="{BB962C8B-B14F-4D97-AF65-F5344CB8AC3E}">
        <p14:creationId xmlns:p14="http://schemas.microsoft.com/office/powerpoint/2010/main" val="2483020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66B15-2658-4F4E-C625-8D7FA3147B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DFB70B-B472-F1BF-A89C-53DA39D3C5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05B91F-E10A-519E-FC42-DB191690F651}"/>
              </a:ext>
            </a:extLst>
          </p:cNvPr>
          <p:cNvSpPr>
            <a:spLocks noGrp="1"/>
          </p:cNvSpPr>
          <p:nvPr>
            <p:ph type="dt" sz="half" idx="10"/>
          </p:nvPr>
        </p:nvSpPr>
        <p:spPr/>
        <p:txBody>
          <a:bodyPr/>
          <a:lstStyle/>
          <a:p>
            <a:fld id="{B6864995-2E30-4277-96F4-12B773202A66}" type="datetimeFigureOut">
              <a:rPr lang="en-IN" smtClean="0"/>
              <a:t>10-10-2026</a:t>
            </a:fld>
            <a:endParaRPr lang="en-IN"/>
          </a:p>
        </p:txBody>
      </p:sp>
      <p:sp>
        <p:nvSpPr>
          <p:cNvPr id="5" name="Footer Placeholder 4">
            <a:extLst>
              <a:ext uri="{FF2B5EF4-FFF2-40B4-BE49-F238E27FC236}">
                <a16:creationId xmlns:a16="http://schemas.microsoft.com/office/drawing/2014/main" id="{FADACADF-FC6E-B996-0F0D-43106B85F8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2CEC07-C3A1-237F-5C16-A6B076AAE9AD}"/>
              </a:ext>
            </a:extLst>
          </p:cNvPr>
          <p:cNvSpPr>
            <a:spLocks noGrp="1"/>
          </p:cNvSpPr>
          <p:nvPr>
            <p:ph type="sldNum" sz="quarter" idx="12"/>
          </p:nvPr>
        </p:nvSpPr>
        <p:spPr/>
        <p:txBody>
          <a:bodyPr/>
          <a:lstStyle/>
          <a:p>
            <a:fld id="{BC521164-D398-4FE1-B8B2-611A41D98B47}" type="slidenum">
              <a:rPr lang="en-IN" smtClean="0"/>
              <a:t>‹#›</a:t>
            </a:fld>
            <a:endParaRPr lang="en-IN"/>
          </a:p>
        </p:txBody>
      </p:sp>
    </p:spTree>
    <p:extLst>
      <p:ext uri="{BB962C8B-B14F-4D97-AF65-F5344CB8AC3E}">
        <p14:creationId xmlns:p14="http://schemas.microsoft.com/office/powerpoint/2010/main" val="3571551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396B4C-D564-DBE9-A8BC-18C9C0AD145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24D552-9293-4E7B-4D6C-46DB2A7098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D561AA-D16D-E360-BEC0-E422A9A26F39}"/>
              </a:ext>
            </a:extLst>
          </p:cNvPr>
          <p:cNvSpPr>
            <a:spLocks noGrp="1"/>
          </p:cNvSpPr>
          <p:nvPr>
            <p:ph type="dt" sz="half" idx="10"/>
          </p:nvPr>
        </p:nvSpPr>
        <p:spPr/>
        <p:txBody>
          <a:bodyPr/>
          <a:lstStyle/>
          <a:p>
            <a:fld id="{B6864995-2E30-4277-96F4-12B773202A66}" type="datetimeFigureOut">
              <a:rPr lang="en-IN" smtClean="0"/>
              <a:t>10-10-2026</a:t>
            </a:fld>
            <a:endParaRPr lang="en-IN"/>
          </a:p>
        </p:txBody>
      </p:sp>
      <p:sp>
        <p:nvSpPr>
          <p:cNvPr id="5" name="Footer Placeholder 4">
            <a:extLst>
              <a:ext uri="{FF2B5EF4-FFF2-40B4-BE49-F238E27FC236}">
                <a16:creationId xmlns:a16="http://schemas.microsoft.com/office/drawing/2014/main" id="{6673EA60-81FF-4488-4861-5747A27BF3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B1C093-F83F-9310-304B-28CD0A50FF3E}"/>
              </a:ext>
            </a:extLst>
          </p:cNvPr>
          <p:cNvSpPr>
            <a:spLocks noGrp="1"/>
          </p:cNvSpPr>
          <p:nvPr>
            <p:ph type="sldNum" sz="quarter" idx="12"/>
          </p:nvPr>
        </p:nvSpPr>
        <p:spPr/>
        <p:txBody>
          <a:bodyPr/>
          <a:lstStyle/>
          <a:p>
            <a:fld id="{BC521164-D398-4FE1-B8B2-611A41D98B47}" type="slidenum">
              <a:rPr lang="en-IN" smtClean="0"/>
              <a:t>‹#›</a:t>
            </a:fld>
            <a:endParaRPr lang="en-IN"/>
          </a:p>
        </p:txBody>
      </p:sp>
    </p:spTree>
    <p:extLst>
      <p:ext uri="{BB962C8B-B14F-4D97-AF65-F5344CB8AC3E}">
        <p14:creationId xmlns:p14="http://schemas.microsoft.com/office/powerpoint/2010/main" val="703023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52081A-2CF5-0109-5EA8-53C12A896F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C5FB16-3D79-4488-42B2-9BB13C7D23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582394-8230-3565-E0FF-C24529733A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864995-2E30-4277-96F4-12B773202A66}" type="datetimeFigureOut">
              <a:rPr lang="en-IN" smtClean="0"/>
              <a:t>10-10-2026</a:t>
            </a:fld>
            <a:endParaRPr lang="en-IN"/>
          </a:p>
        </p:txBody>
      </p:sp>
      <p:sp>
        <p:nvSpPr>
          <p:cNvPr id="5" name="Footer Placeholder 4">
            <a:extLst>
              <a:ext uri="{FF2B5EF4-FFF2-40B4-BE49-F238E27FC236}">
                <a16:creationId xmlns:a16="http://schemas.microsoft.com/office/drawing/2014/main" id="{66D38237-CFFA-F494-7E7C-AA7A5F343B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BEFBA18-AB39-218C-6E0A-6F5E39838A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521164-D398-4FE1-B8B2-611A41D98B47}" type="slidenum">
              <a:rPr lang="en-IN" smtClean="0"/>
              <a:t>‹#›</a:t>
            </a:fld>
            <a:endParaRPr lang="en-IN"/>
          </a:p>
        </p:txBody>
      </p:sp>
    </p:spTree>
    <p:extLst>
      <p:ext uri="{BB962C8B-B14F-4D97-AF65-F5344CB8AC3E}">
        <p14:creationId xmlns:p14="http://schemas.microsoft.com/office/powerpoint/2010/main" val="26275007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image" Target="../media/image6.png"/><Relationship Id="rId16"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3.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24.png"/><Relationship Id="rId4" Type="http://schemas.openxmlformats.org/officeDocument/2006/relationships/image" Target="../media/image23.png"/></Relationships>
</file>

<file path=ppt/slides/_rels/slide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6.png"/><Relationship Id="rId7"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16.png"/><Relationship Id="rId4" Type="http://schemas.openxmlformats.org/officeDocument/2006/relationships/image" Target="../media/image3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9.jpe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001" name="HiH hero photo" descr="Hack in Hills banner"/>
          <p:cNvPicPr>
            <a:picLocks noChangeAspect="1"/>
          </p:cNvPicPr>
          <p:nvPr/>
        </p:nvPicPr>
        <p:blipFill>
          <a:blip r:embed="rId2"/>
          <a:stretch>
            <a:fillRect/>
          </a:stretch>
        </p:blipFill>
        <p:spPr>
          <a:xfrm>
            <a:off x="0" y="0"/>
            <a:ext cx="12192000" cy="1463040"/>
          </a:xfrm>
          <a:prstGeom prst="rect">
            <a:avLst/>
          </a:prstGeom>
        </p:spPr>
      </p:pic>
      <p:pic>
        <p:nvPicPr>
          <p:cNvPr id="9002" name="HiH logos left" descr="Hack in Hills banner"/>
          <p:cNvPicPr>
            <a:picLocks noChangeAspect="1"/>
          </p:cNvPicPr>
          <p:nvPr/>
        </p:nvPicPr>
        <p:blipFill>
          <a:blip r:embed="rId3"/>
          <a:stretch>
            <a:fillRect/>
          </a:stretch>
        </p:blipFill>
        <p:spPr>
          <a:xfrm>
            <a:off x="212450" y="197483"/>
            <a:ext cx="4826897" cy="527950"/>
          </a:xfrm>
          <a:prstGeom prst="rect">
            <a:avLst/>
          </a:prstGeom>
        </p:spPr>
      </p:pic>
      <p:pic>
        <p:nvPicPr>
          <p:cNvPr id="9003" name="HiH logo right" descr="Hack in Hills banner"/>
          <p:cNvPicPr>
            <a:picLocks noChangeAspect="1"/>
          </p:cNvPicPr>
          <p:nvPr/>
        </p:nvPicPr>
        <p:blipFill>
          <a:blip r:embed="rId4"/>
          <a:stretch>
            <a:fillRect/>
          </a:stretch>
        </p:blipFill>
        <p:spPr>
          <a:xfrm>
            <a:off x="8347050" y="197487"/>
            <a:ext cx="3733067" cy="527950"/>
          </a:xfrm>
          <a:prstGeom prst="rect">
            <a:avLst/>
          </a:prstGeom>
        </p:spPr>
      </p:pic>
      <p:sp>
        <p:nvSpPr>
          <p:cNvPr id="4" name="!!Kicker"/>
          <p:cNvSpPr txBox="1"/>
          <p:nvPr/>
        </p:nvSpPr>
        <p:spPr>
          <a:xfrm>
            <a:off x="1273849" y="1572768"/>
            <a:ext cx="9649662" cy="203200"/>
          </a:xfrm>
          <a:prstGeom prst="rect">
            <a:avLst/>
          </a:prstGeom>
          <a:noFill/>
          <a:ln>
            <a:noFill/>
          </a:ln>
        </p:spPr>
        <p:txBody>
          <a:bodyPr vert="horz" wrap="square" lIns="0" tIns="0" rIns="0" bIns="0" rtlCol="0" anchor="t">
            <a:noAutofit/>
          </a:bodyPr>
          <a:lstStyle/>
          <a:p>
            <a:pPr algn="l"/>
            <a:r>
              <a:rPr lang="en-US" sz="1000" b="1" i="0" spc="300">
                <a:solidFill>
                  <a:srgbClr val="C2410C"/>
                </a:solidFill>
                <a:latin typeface="IBM Plex Sans"/>
                <a:ea typeface="IBM Plex Sans"/>
                <a:cs typeface="IBM Plex Sans"/>
              </a:rPr>
              <a:t>TEAM</a:t>
            </a:r>
          </a:p>
        </p:txBody>
      </p:sp>
      <p:sp>
        <p:nvSpPr>
          <p:cNvPr id="5" name="!!Title"/>
          <p:cNvSpPr txBox="1"/>
          <p:nvPr/>
        </p:nvSpPr>
        <p:spPr>
          <a:xfrm>
            <a:off x="1273849" y="1746504"/>
            <a:ext cx="9649662" cy="558800"/>
          </a:xfrm>
          <a:prstGeom prst="rect">
            <a:avLst/>
          </a:prstGeom>
          <a:noFill/>
          <a:ln>
            <a:noFill/>
          </a:ln>
        </p:spPr>
        <p:txBody>
          <a:bodyPr vert="horz" wrap="square" lIns="0" tIns="0" rIns="0" bIns="0" rtlCol="0" anchor="t">
            <a:noAutofit/>
          </a:bodyPr>
          <a:lstStyle/>
          <a:p>
            <a:pPr algn="l"/>
            <a:r>
              <a:rPr lang="en-US" sz="3000" b="1" i="0">
                <a:solidFill>
                  <a:srgbClr val="111827"/>
                </a:solidFill>
                <a:latin typeface="Montserrat"/>
                <a:ea typeface="Montserrat"/>
                <a:cs typeface="Montserrat"/>
              </a:rPr>
              <a:t>Meet the team</a:t>
            </a:r>
          </a:p>
        </p:txBody>
      </p:sp>
      <p:sp>
        <p:nvSpPr>
          <p:cNvPr id="6" name="!!Footer"/>
          <p:cNvSpPr txBox="1"/>
          <p:nvPr/>
        </p:nvSpPr>
        <p:spPr>
          <a:xfrm>
            <a:off x="1273849" y="6574536"/>
            <a:ext cx="8229600" cy="177800"/>
          </a:xfrm>
          <a:prstGeom prst="rect">
            <a:avLst/>
          </a:prstGeom>
          <a:noFill/>
          <a:ln>
            <a:noFill/>
          </a:ln>
        </p:spPr>
        <p:txBody>
          <a:bodyPr vert="horz" wrap="square" lIns="0" tIns="0" rIns="0" bIns="0" rtlCol="0" anchor="t">
            <a:noAutofit/>
          </a:bodyPr>
          <a:lstStyle/>
          <a:p>
            <a:pPr algn="l"/>
            <a:r>
              <a:rPr lang="en-US" sz="800" b="0" i="0" spc="150">
                <a:solidFill>
                  <a:srgbClr val="475467"/>
                </a:solidFill>
                <a:latin typeface="IBM Plex Sans"/>
                <a:ea typeface="IBM Plex Sans"/>
                <a:cs typeface="IBM Plex Sans"/>
              </a:rPr>
              <a:t>HACK IN HILLS  ·  VISION-BASED AUTONOMOUS ROBOT  ·  TECH MINIONS</a:t>
            </a:r>
          </a:p>
        </p:txBody>
      </p:sp>
      <p:sp>
        <p:nvSpPr>
          <p:cNvPr id="7" name="!!Page"/>
          <p:cNvSpPr txBox="1"/>
          <p:nvPr/>
        </p:nvSpPr>
        <p:spPr>
          <a:xfrm>
            <a:off x="9653512" y="6574536"/>
            <a:ext cx="1270000" cy="177800"/>
          </a:xfrm>
          <a:prstGeom prst="rect">
            <a:avLst/>
          </a:prstGeom>
          <a:noFill/>
          <a:ln>
            <a:noFill/>
          </a:ln>
        </p:spPr>
        <p:txBody>
          <a:bodyPr vert="horz" wrap="square" lIns="0" tIns="0" rIns="0" bIns="0" rtlCol="0" anchor="t">
            <a:noAutofit/>
          </a:bodyPr>
          <a:lstStyle/>
          <a:p>
            <a:pPr algn="r"/>
            <a:r>
              <a:rPr lang="en-US" sz="800" b="1" i="0">
                <a:solidFill>
                  <a:srgbClr val="475467"/>
                </a:solidFill>
                <a:latin typeface="IBM Plex Sans"/>
                <a:ea typeface="IBM Plex Sans"/>
                <a:cs typeface="IBM Plex Sans"/>
              </a:rPr>
              <a:t>01 / 09</a:t>
            </a:r>
          </a:p>
        </p:txBody>
      </p:sp>
      <p:grpSp>
        <p:nvGrpSpPr>
          <p:cNvPr id="13" name="Team name group"/>
          <p:cNvGrpSpPr/>
          <p:nvPr/>
        </p:nvGrpSpPr>
        <p:grpSpPr>
          <a:xfrm>
            <a:off x="1271169" y="2304288"/>
            <a:ext cx="9649663" cy="791475"/>
            <a:chOff x="609600" y="1450000"/>
            <a:chExt cx="10972800" cy="900000"/>
          </a:xfrm>
        </p:grpSpPr>
        <p:sp>
          <p:nvSpPr>
            <p:cNvPr id="8" name="Team name card"/>
            <p:cNvSpPr/>
            <p:nvPr/>
          </p:nvSpPr>
          <p:spPr>
            <a:xfrm>
              <a:off x="609600" y="1450000"/>
              <a:ext cx="10972800" cy="900000"/>
            </a:xfrm>
            <a:prstGeom prst="roundRect">
              <a:avLst>
                <a:gd name="adj" fmla="val 6000"/>
              </a:avLst>
            </a:prstGeom>
            <a:solidFill>
              <a:srgbClr val="F5F7FA"/>
            </a:solidFill>
            <a:ln w="11169">
              <a:solidFill>
                <a:srgbClr val="D5DBE5"/>
              </a:solidFill>
            </a:ln>
          </p:spPr>
          <p:txBody>
            <a:bodyPr vert="horz" wrap="square" lIns="0" tIns="0" rIns="0" bIns="0" rtlCol="0" anchor="ctr">
              <a:noAutofit/>
            </a:bodyPr>
            <a:lstStyle/>
            <a:p>
              <a:endParaRPr lang="en-US"/>
            </a:p>
          </p:txBody>
        </p:sp>
        <p:sp>
          <p:nvSpPr>
            <p:cNvPr id="9" name="Team circle"/>
            <p:cNvSpPr/>
            <p:nvPr/>
          </p:nvSpPr>
          <p:spPr>
            <a:xfrm>
              <a:off x="839600" y="1640000"/>
              <a:ext cx="520000" cy="520000"/>
            </a:xfrm>
            <a:prstGeom prst="ellipse">
              <a:avLst/>
            </a:prstGeom>
            <a:solidFill>
              <a:srgbClr val="C2410C"/>
            </a:solidFill>
            <a:ln>
              <a:noFill/>
            </a:ln>
          </p:spPr>
          <p:txBody>
            <a:bodyPr vert="horz" wrap="square" lIns="0" tIns="0" rIns="0" bIns="0" rtlCol="0" anchor="ctr">
              <a:noAutofit/>
            </a:bodyPr>
            <a:lstStyle/>
            <a:p>
              <a:endParaRPr lang="en-US"/>
            </a:p>
          </p:txBody>
        </p:sp>
        <p:pic>
          <p:nvPicPr>
            <p:cNvPr id="10" name="Icon Team" descr="Team icon"/>
            <p:cNvPicPr preferRelativeResize="0"/>
            <p:nvPr/>
          </p:nvPicPr>
          <p:blipFill>
            <a:blip r:embed="rId5"/>
            <a:stretch>
              <a:fillRect/>
            </a:stretch>
          </p:blipFill>
          <p:spPr>
            <a:xfrm>
              <a:off x="964400" y="1764800"/>
              <a:ext cx="270400" cy="270400"/>
            </a:xfrm>
            <a:prstGeom prst="rect">
              <a:avLst/>
            </a:prstGeom>
          </p:spPr>
        </p:pic>
        <p:sp>
          <p:nvSpPr>
            <p:cNvPr id="11" name="Team name label"/>
            <p:cNvSpPr txBox="1"/>
            <p:nvPr/>
          </p:nvSpPr>
          <p:spPr>
            <a:xfrm>
              <a:off x="1559600" y="1610000"/>
              <a:ext cx="4000000" cy="220000"/>
            </a:xfrm>
            <a:prstGeom prst="rect">
              <a:avLst/>
            </a:prstGeom>
            <a:noFill/>
            <a:ln>
              <a:noFill/>
            </a:ln>
          </p:spPr>
          <p:txBody>
            <a:bodyPr vert="horz" wrap="square" lIns="0" tIns="0" rIns="0" bIns="0" rtlCol="0" anchor="t">
              <a:noAutofit/>
            </a:bodyPr>
            <a:lstStyle/>
            <a:p>
              <a:pPr algn="l"/>
              <a:r>
                <a:rPr lang="en-US" sz="879" b="1" i="0" spc="300">
                  <a:solidFill>
                    <a:srgbClr val="C2410C"/>
                  </a:solidFill>
                  <a:latin typeface="IBM Plex Sans"/>
                  <a:ea typeface="IBM Plex Sans"/>
                  <a:cs typeface="IBM Plex Sans"/>
                </a:rPr>
                <a:t>TEAM NAME</a:t>
              </a:r>
            </a:p>
          </p:txBody>
        </p:sp>
        <p:sp>
          <p:nvSpPr>
            <p:cNvPr id="12" name="Team name"/>
            <p:cNvSpPr txBox="1"/>
            <p:nvPr/>
          </p:nvSpPr>
          <p:spPr>
            <a:xfrm>
              <a:off x="1559600" y="1850000"/>
              <a:ext cx="8000000" cy="380000"/>
            </a:xfrm>
            <a:prstGeom prst="rect">
              <a:avLst/>
            </a:prstGeom>
            <a:noFill/>
            <a:ln>
              <a:noFill/>
            </a:ln>
          </p:spPr>
          <p:txBody>
            <a:bodyPr vert="horz" wrap="square" lIns="0" tIns="0" rIns="0" bIns="0" rtlCol="0" anchor="t">
              <a:noAutofit/>
            </a:bodyPr>
            <a:lstStyle/>
            <a:p>
              <a:pPr algn="l"/>
              <a:r>
                <a:rPr lang="en-US" sz="1759" b="1" i="0">
                  <a:solidFill>
                    <a:srgbClr val="111827"/>
                  </a:solidFill>
                  <a:latin typeface="Montserrat"/>
                  <a:ea typeface="Montserrat"/>
                  <a:cs typeface="Montserrat"/>
                </a:rPr>
                <a:t>Tech Minions</a:t>
              </a:r>
            </a:p>
          </p:txBody>
        </p:sp>
      </p:grpSp>
      <p:grpSp>
        <p:nvGrpSpPr>
          <p:cNvPr id="20" name="Member group 0"/>
          <p:cNvGrpSpPr/>
          <p:nvPr/>
        </p:nvGrpSpPr>
        <p:grpSpPr>
          <a:xfrm>
            <a:off x="1271169" y="3315617"/>
            <a:ext cx="2280503" cy="2550308"/>
            <a:chOff x="609600" y="2600000"/>
            <a:chExt cx="2593200" cy="2900000"/>
          </a:xfrm>
        </p:grpSpPr>
        <p:sp>
          <p:nvSpPr>
            <p:cNvPr id="14" name="Member card 0"/>
            <p:cNvSpPr/>
            <p:nvPr/>
          </p:nvSpPr>
          <p:spPr>
            <a:xfrm>
              <a:off x="609600" y="2600000"/>
              <a:ext cx="2593200" cy="2900000"/>
            </a:xfrm>
            <a:prstGeom prst="roundRect">
              <a:avLst>
                <a:gd name="adj" fmla="val 6000"/>
              </a:avLst>
            </a:prstGeom>
            <a:solidFill>
              <a:srgbClr val="F5F7FA"/>
            </a:solidFill>
            <a:ln w="11169">
              <a:solidFill>
                <a:srgbClr val="D5DBE5"/>
              </a:solidFill>
            </a:ln>
          </p:spPr>
          <p:txBody>
            <a:bodyPr vert="horz" wrap="square" lIns="0" tIns="0" rIns="0" bIns="0" rtlCol="0" anchor="ctr">
              <a:noAutofit/>
            </a:bodyPr>
            <a:lstStyle/>
            <a:p>
              <a:endParaRPr lang="en-US"/>
            </a:p>
          </p:txBody>
        </p:sp>
        <p:sp>
          <p:nvSpPr>
            <p:cNvPr id="15" name="Member 1 circle"/>
            <p:cNvSpPr/>
            <p:nvPr/>
          </p:nvSpPr>
          <p:spPr>
            <a:xfrm>
              <a:off x="859600" y="2850000"/>
              <a:ext cx="700000" cy="700000"/>
            </a:xfrm>
            <a:prstGeom prst="ellipse">
              <a:avLst/>
            </a:prstGeom>
            <a:solidFill>
              <a:srgbClr val="2F5D8A"/>
            </a:solidFill>
            <a:ln>
              <a:noFill/>
            </a:ln>
          </p:spPr>
          <p:txBody>
            <a:bodyPr vert="horz" wrap="square" lIns="0" tIns="0" rIns="0" bIns="0" rtlCol="0" anchor="ctr">
              <a:noAutofit/>
            </a:bodyPr>
            <a:lstStyle/>
            <a:p>
              <a:endParaRPr lang="en-US"/>
            </a:p>
          </p:txBody>
        </p:sp>
        <p:pic>
          <p:nvPicPr>
            <p:cNvPr id="16" name="Icon Member 1" descr="Member 1 icon"/>
            <p:cNvPicPr preferRelativeResize="0"/>
            <p:nvPr/>
          </p:nvPicPr>
          <p:blipFill>
            <a:blip r:embed="rId5"/>
            <a:stretch>
              <a:fillRect/>
            </a:stretch>
          </p:blipFill>
          <p:spPr>
            <a:xfrm>
              <a:off x="1027600" y="3018000"/>
              <a:ext cx="364000" cy="364000"/>
            </a:xfrm>
            <a:prstGeom prst="rect">
              <a:avLst/>
            </a:prstGeom>
          </p:spPr>
        </p:pic>
        <p:sp>
          <p:nvSpPr>
            <p:cNvPr id="17" name="Member label 0"/>
            <p:cNvSpPr txBox="1"/>
            <p:nvPr/>
          </p:nvSpPr>
          <p:spPr>
            <a:xfrm>
              <a:off x="859600" y="3750000"/>
              <a:ext cx="2093200" cy="220000"/>
            </a:xfrm>
            <a:prstGeom prst="rect">
              <a:avLst/>
            </a:prstGeom>
            <a:noFill/>
            <a:ln>
              <a:noFill/>
            </a:ln>
          </p:spPr>
          <p:txBody>
            <a:bodyPr vert="horz" wrap="square" lIns="0" tIns="0" rIns="0" bIns="0" rtlCol="0" anchor="t">
              <a:noAutofit/>
            </a:bodyPr>
            <a:lstStyle/>
            <a:p>
              <a:pPr algn="l"/>
              <a:r>
                <a:rPr lang="en-US" sz="879" b="1" i="0" spc="300">
                  <a:solidFill>
                    <a:srgbClr val="C2410C"/>
                  </a:solidFill>
                  <a:latin typeface="IBM Plex Sans"/>
                  <a:ea typeface="IBM Plex Sans"/>
                  <a:cs typeface="IBM Plex Sans"/>
                </a:rPr>
                <a:t>MEMBER 1</a:t>
              </a:r>
            </a:p>
          </p:txBody>
        </p:sp>
        <p:sp>
          <p:nvSpPr>
            <p:cNvPr id="18" name="Member name 0"/>
            <p:cNvSpPr txBox="1"/>
            <p:nvPr/>
          </p:nvSpPr>
          <p:spPr>
            <a:xfrm>
              <a:off x="859600" y="4020000"/>
              <a:ext cx="2093200" cy="380000"/>
            </a:xfrm>
            <a:prstGeom prst="rect">
              <a:avLst/>
            </a:prstGeom>
            <a:noFill/>
            <a:ln>
              <a:noFill/>
            </a:ln>
          </p:spPr>
          <p:txBody>
            <a:bodyPr vert="horz" wrap="square" lIns="0" tIns="0" rIns="0" bIns="0" rtlCol="0" anchor="t">
              <a:noAutofit/>
            </a:bodyPr>
            <a:lstStyle/>
            <a:p>
              <a:r>
                <a:rPr>
                  <a:solidFill>
                    <a:srgbClr val="111827"/>
                  </a:solidFill>
                </a:rPr>
                <a:t>Bhawna Singh</a:t>
              </a:r>
            </a:p>
          </p:txBody>
        </p:sp>
        <p:sp>
          <p:nvSpPr>
            <p:cNvPr id="19" name="Member role 0"/>
            <p:cNvSpPr txBox="1"/>
            <p:nvPr/>
          </p:nvSpPr>
          <p:spPr>
            <a:xfrm>
              <a:off x="859600" y="4500000"/>
              <a:ext cx="2093200" cy="700000"/>
            </a:xfrm>
            <a:prstGeom prst="rect">
              <a:avLst/>
            </a:prstGeom>
            <a:noFill/>
            <a:ln>
              <a:noFill/>
            </a:ln>
          </p:spPr>
          <p:txBody>
            <a:bodyPr vert="horz" wrap="square" lIns="0" tIns="0" rIns="0" bIns="0" rtlCol="0" anchor="t">
              <a:noAutofit/>
            </a:bodyPr>
            <a:lstStyle/>
            <a:p>
              <a:pPr algn="l"/>
              <a:r>
                <a:rPr lang="en-US" sz="879" b="1" i="0" spc="300">
                  <a:solidFill>
                    <a:srgbClr val="475467"/>
                  </a:solidFill>
                  <a:latin typeface="IBM Plex Sans"/>
                  <a:ea typeface="IBM Plex Sans"/>
                  <a:cs typeface="IBM Plex Sans"/>
                </a:rPr>
                <a:t>ROLE</a:t>
              </a:r>
            </a:p>
            <a:p>
              <a:pPr algn="l">
                <a:spcBef>
                  <a:spcPts val="264"/>
                </a:spcBef>
              </a:pPr>
              <a:r>
                <a:rPr lang="en-US" sz="1055" b="0" i="0">
                  <a:solidFill>
                    <a:srgbClr val="475467"/>
                  </a:solidFill>
                  <a:latin typeface="IBM Plex Sans"/>
                  <a:ea typeface="IBM Plex Sans"/>
                  <a:cs typeface="IBM Plex Sans"/>
                </a:rPr>
                <a:t>Perception &amp; ML</a:t>
              </a:r>
            </a:p>
          </p:txBody>
        </p:sp>
      </p:grpSp>
      <p:grpSp>
        <p:nvGrpSpPr>
          <p:cNvPr id="27" name="Member group 1"/>
          <p:cNvGrpSpPr/>
          <p:nvPr/>
        </p:nvGrpSpPr>
        <p:grpSpPr>
          <a:xfrm>
            <a:off x="3727555" y="3315617"/>
            <a:ext cx="2280503" cy="2550308"/>
            <a:chOff x="3402800" y="2600000"/>
            <a:chExt cx="2593200" cy="2900000"/>
          </a:xfrm>
        </p:grpSpPr>
        <p:sp>
          <p:nvSpPr>
            <p:cNvPr id="21" name="Member card 1"/>
            <p:cNvSpPr/>
            <p:nvPr/>
          </p:nvSpPr>
          <p:spPr>
            <a:xfrm>
              <a:off x="3402800" y="2600000"/>
              <a:ext cx="2593200" cy="2900000"/>
            </a:xfrm>
            <a:prstGeom prst="roundRect">
              <a:avLst>
                <a:gd name="adj" fmla="val 6000"/>
              </a:avLst>
            </a:prstGeom>
            <a:solidFill>
              <a:srgbClr val="F5F7FA"/>
            </a:solidFill>
            <a:ln w="11169">
              <a:solidFill>
                <a:srgbClr val="D5DBE5"/>
              </a:solidFill>
            </a:ln>
          </p:spPr>
          <p:txBody>
            <a:bodyPr vert="horz" wrap="square" lIns="0" tIns="0" rIns="0" bIns="0" rtlCol="0" anchor="ctr">
              <a:noAutofit/>
            </a:bodyPr>
            <a:lstStyle/>
            <a:p>
              <a:endParaRPr lang="en-US"/>
            </a:p>
          </p:txBody>
        </p:sp>
        <p:sp>
          <p:nvSpPr>
            <p:cNvPr id="22" name="Member 2 circle"/>
            <p:cNvSpPr/>
            <p:nvPr/>
          </p:nvSpPr>
          <p:spPr>
            <a:xfrm>
              <a:off x="3652800" y="2850000"/>
              <a:ext cx="700000" cy="700000"/>
            </a:xfrm>
            <a:prstGeom prst="ellipse">
              <a:avLst/>
            </a:prstGeom>
            <a:solidFill>
              <a:srgbClr val="C2410C"/>
            </a:solidFill>
            <a:ln>
              <a:noFill/>
            </a:ln>
          </p:spPr>
          <p:txBody>
            <a:bodyPr vert="horz" wrap="square" lIns="0" tIns="0" rIns="0" bIns="0" rtlCol="0" anchor="ctr">
              <a:noAutofit/>
            </a:bodyPr>
            <a:lstStyle/>
            <a:p>
              <a:endParaRPr lang="en-US"/>
            </a:p>
          </p:txBody>
        </p:sp>
        <p:pic>
          <p:nvPicPr>
            <p:cNvPr id="23" name="Icon Member 2" descr="Member 2 icon"/>
            <p:cNvPicPr preferRelativeResize="0"/>
            <p:nvPr/>
          </p:nvPicPr>
          <p:blipFill>
            <a:blip r:embed="rId5"/>
            <a:stretch>
              <a:fillRect/>
            </a:stretch>
          </p:blipFill>
          <p:spPr>
            <a:xfrm>
              <a:off x="3820800" y="3018000"/>
              <a:ext cx="364000" cy="364000"/>
            </a:xfrm>
            <a:prstGeom prst="rect">
              <a:avLst/>
            </a:prstGeom>
          </p:spPr>
        </p:pic>
        <p:sp>
          <p:nvSpPr>
            <p:cNvPr id="24" name="Member label 1"/>
            <p:cNvSpPr txBox="1"/>
            <p:nvPr/>
          </p:nvSpPr>
          <p:spPr>
            <a:xfrm>
              <a:off x="3652800" y="3750000"/>
              <a:ext cx="2093200" cy="220000"/>
            </a:xfrm>
            <a:prstGeom prst="rect">
              <a:avLst/>
            </a:prstGeom>
            <a:noFill/>
            <a:ln>
              <a:noFill/>
            </a:ln>
          </p:spPr>
          <p:txBody>
            <a:bodyPr vert="horz" wrap="square" lIns="0" tIns="0" rIns="0" bIns="0" rtlCol="0" anchor="t">
              <a:noAutofit/>
            </a:bodyPr>
            <a:lstStyle/>
            <a:p>
              <a:pPr algn="l"/>
              <a:r>
                <a:rPr lang="en-US" sz="879" b="1" i="0" spc="300">
                  <a:solidFill>
                    <a:srgbClr val="C2410C"/>
                  </a:solidFill>
                  <a:latin typeface="IBM Plex Sans"/>
                  <a:ea typeface="IBM Plex Sans"/>
                  <a:cs typeface="IBM Plex Sans"/>
                </a:rPr>
                <a:t>MEMBER 2</a:t>
              </a:r>
            </a:p>
          </p:txBody>
        </p:sp>
        <p:sp>
          <p:nvSpPr>
            <p:cNvPr id="25" name="Member name 1"/>
            <p:cNvSpPr txBox="1"/>
            <p:nvPr/>
          </p:nvSpPr>
          <p:spPr>
            <a:xfrm>
              <a:off x="3652800" y="4020000"/>
              <a:ext cx="2093200" cy="380000"/>
            </a:xfrm>
            <a:prstGeom prst="rect">
              <a:avLst/>
            </a:prstGeom>
            <a:noFill/>
            <a:ln>
              <a:noFill/>
            </a:ln>
          </p:spPr>
          <p:txBody>
            <a:bodyPr vert="horz" wrap="square" lIns="0" tIns="0" rIns="0" bIns="0" rtlCol="0" anchor="t">
              <a:noAutofit/>
            </a:bodyPr>
            <a:lstStyle/>
            <a:p>
              <a:r>
                <a:rPr>
                  <a:solidFill>
                    <a:srgbClr val="111827"/>
                  </a:solidFill>
                </a:rPr>
                <a:t>Aditya Singh</a:t>
              </a:r>
            </a:p>
          </p:txBody>
        </p:sp>
        <p:sp>
          <p:nvSpPr>
            <p:cNvPr id="26" name="Member role 1"/>
            <p:cNvSpPr txBox="1"/>
            <p:nvPr/>
          </p:nvSpPr>
          <p:spPr>
            <a:xfrm>
              <a:off x="3652800" y="4500000"/>
              <a:ext cx="2093200" cy="700000"/>
            </a:xfrm>
            <a:prstGeom prst="rect">
              <a:avLst/>
            </a:prstGeom>
            <a:noFill/>
            <a:ln>
              <a:noFill/>
            </a:ln>
          </p:spPr>
          <p:txBody>
            <a:bodyPr vert="horz" wrap="square" lIns="0" tIns="0" rIns="0" bIns="0" rtlCol="0" anchor="t">
              <a:noAutofit/>
            </a:bodyPr>
            <a:lstStyle/>
            <a:p>
              <a:pPr algn="l"/>
              <a:r>
                <a:rPr lang="en-US" sz="879" b="1" i="0" spc="300">
                  <a:solidFill>
                    <a:srgbClr val="475467"/>
                  </a:solidFill>
                  <a:latin typeface="IBM Plex Sans"/>
                  <a:ea typeface="IBM Plex Sans"/>
                  <a:cs typeface="IBM Plex Sans"/>
                </a:rPr>
                <a:t>ROLE</a:t>
              </a:r>
            </a:p>
            <a:p>
              <a:pPr algn="l">
                <a:spcBef>
                  <a:spcPts val="264"/>
                </a:spcBef>
              </a:pPr>
              <a:r>
                <a:rPr lang="en-US" sz="1055" b="0" i="0">
                  <a:solidFill>
                    <a:srgbClr val="475467"/>
                  </a:solidFill>
                  <a:latin typeface="IBM Plex Sans"/>
                  <a:ea typeface="IBM Plex Sans"/>
                  <a:cs typeface="IBM Plex Sans"/>
                </a:rPr>
                <a:t>Hardware &amp; embedded</a:t>
              </a:r>
            </a:p>
          </p:txBody>
        </p:sp>
      </p:grpSp>
      <p:grpSp>
        <p:nvGrpSpPr>
          <p:cNvPr id="34" name="Member group 2"/>
          <p:cNvGrpSpPr/>
          <p:nvPr/>
        </p:nvGrpSpPr>
        <p:grpSpPr>
          <a:xfrm>
            <a:off x="6183942" y="3315617"/>
            <a:ext cx="2280503" cy="2550308"/>
            <a:chOff x="6196000" y="2600000"/>
            <a:chExt cx="2593200" cy="2900000"/>
          </a:xfrm>
        </p:grpSpPr>
        <p:sp>
          <p:nvSpPr>
            <p:cNvPr id="28" name="Member card 2"/>
            <p:cNvSpPr/>
            <p:nvPr/>
          </p:nvSpPr>
          <p:spPr>
            <a:xfrm>
              <a:off x="6196000" y="2600000"/>
              <a:ext cx="2593200" cy="2900000"/>
            </a:xfrm>
            <a:prstGeom prst="roundRect">
              <a:avLst>
                <a:gd name="adj" fmla="val 6000"/>
              </a:avLst>
            </a:prstGeom>
            <a:solidFill>
              <a:srgbClr val="F5F7FA"/>
            </a:solidFill>
            <a:ln w="11169">
              <a:solidFill>
                <a:srgbClr val="D5DBE5"/>
              </a:solidFill>
            </a:ln>
          </p:spPr>
          <p:txBody>
            <a:bodyPr vert="horz" wrap="square" lIns="0" tIns="0" rIns="0" bIns="0" rtlCol="0" anchor="ctr">
              <a:noAutofit/>
            </a:bodyPr>
            <a:lstStyle/>
            <a:p>
              <a:endParaRPr lang="en-US"/>
            </a:p>
          </p:txBody>
        </p:sp>
        <p:sp>
          <p:nvSpPr>
            <p:cNvPr id="29" name="Member 3 circle"/>
            <p:cNvSpPr/>
            <p:nvPr/>
          </p:nvSpPr>
          <p:spPr>
            <a:xfrm>
              <a:off x="6446000" y="2850000"/>
              <a:ext cx="700000" cy="700000"/>
            </a:xfrm>
            <a:prstGeom prst="ellipse">
              <a:avLst/>
            </a:prstGeom>
            <a:solidFill>
              <a:srgbClr val="0F766E"/>
            </a:solidFill>
            <a:ln>
              <a:noFill/>
            </a:ln>
          </p:spPr>
          <p:txBody>
            <a:bodyPr vert="horz" wrap="square" lIns="0" tIns="0" rIns="0" bIns="0" rtlCol="0" anchor="ctr">
              <a:noAutofit/>
            </a:bodyPr>
            <a:lstStyle/>
            <a:p>
              <a:endParaRPr lang="en-US"/>
            </a:p>
          </p:txBody>
        </p:sp>
        <p:pic>
          <p:nvPicPr>
            <p:cNvPr id="30" name="Icon Member 3" descr="Member 3 icon"/>
            <p:cNvPicPr preferRelativeResize="0"/>
            <p:nvPr/>
          </p:nvPicPr>
          <p:blipFill>
            <a:blip r:embed="rId5"/>
            <a:stretch>
              <a:fillRect/>
            </a:stretch>
          </p:blipFill>
          <p:spPr>
            <a:xfrm>
              <a:off x="6614000" y="3018000"/>
              <a:ext cx="364000" cy="364000"/>
            </a:xfrm>
            <a:prstGeom prst="rect">
              <a:avLst/>
            </a:prstGeom>
          </p:spPr>
        </p:pic>
        <p:sp>
          <p:nvSpPr>
            <p:cNvPr id="31" name="Member label 2"/>
            <p:cNvSpPr txBox="1"/>
            <p:nvPr/>
          </p:nvSpPr>
          <p:spPr>
            <a:xfrm>
              <a:off x="6446000" y="3750000"/>
              <a:ext cx="2093200" cy="220000"/>
            </a:xfrm>
            <a:prstGeom prst="rect">
              <a:avLst/>
            </a:prstGeom>
            <a:noFill/>
            <a:ln>
              <a:noFill/>
            </a:ln>
          </p:spPr>
          <p:txBody>
            <a:bodyPr vert="horz" wrap="square" lIns="0" tIns="0" rIns="0" bIns="0" rtlCol="0" anchor="t">
              <a:noAutofit/>
            </a:bodyPr>
            <a:lstStyle/>
            <a:p>
              <a:pPr algn="l"/>
              <a:r>
                <a:rPr lang="en-US" sz="879" b="1" i="0" spc="300">
                  <a:solidFill>
                    <a:srgbClr val="C2410C"/>
                  </a:solidFill>
                  <a:latin typeface="IBM Plex Sans"/>
                  <a:ea typeface="IBM Plex Sans"/>
                  <a:cs typeface="IBM Plex Sans"/>
                </a:rPr>
                <a:t>MEMBER 3</a:t>
              </a:r>
            </a:p>
          </p:txBody>
        </p:sp>
        <p:sp>
          <p:nvSpPr>
            <p:cNvPr id="32" name="Member name 2"/>
            <p:cNvSpPr txBox="1"/>
            <p:nvPr/>
          </p:nvSpPr>
          <p:spPr>
            <a:xfrm>
              <a:off x="6446000" y="4020000"/>
              <a:ext cx="2093200" cy="380000"/>
            </a:xfrm>
            <a:prstGeom prst="rect">
              <a:avLst/>
            </a:prstGeom>
            <a:noFill/>
            <a:ln>
              <a:noFill/>
            </a:ln>
          </p:spPr>
          <p:txBody>
            <a:bodyPr vert="horz" wrap="square" lIns="0" tIns="0" rIns="0" bIns="0" rtlCol="0" anchor="t">
              <a:noAutofit/>
            </a:bodyPr>
            <a:lstStyle/>
            <a:p>
              <a:r>
                <a:rPr>
                  <a:solidFill>
                    <a:srgbClr val="111827"/>
                  </a:solidFill>
                </a:rPr>
                <a:t>Harshit Vats</a:t>
              </a:r>
            </a:p>
          </p:txBody>
        </p:sp>
        <p:sp>
          <p:nvSpPr>
            <p:cNvPr id="33" name="Member role 2"/>
            <p:cNvSpPr txBox="1"/>
            <p:nvPr/>
          </p:nvSpPr>
          <p:spPr>
            <a:xfrm>
              <a:off x="6446000" y="4500000"/>
              <a:ext cx="2093200" cy="700000"/>
            </a:xfrm>
            <a:prstGeom prst="rect">
              <a:avLst/>
            </a:prstGeom>
            <a:noFill/>
            <a:ln>
              <a:noFill/>
            </a:ln>
          </p:spPr>
          <p:txBody>
            <a:bodyPr vert="horz" wrap="square" lIns="0" tIns="0" rIns="0" bIns="0" rtlCol="0" anchor="t">
              <a:noAutofit/>
            </a:bodyPr>
            <a:lstStyle/>
            <a:p>
              <a:pPr algn="l"/>
              <a:r>
                <a:rPr lang="en-US" sz="879" b="1" i="0" spc="300">
                  <a:solidFill>
                    <a:srgbClr val="475467"/>
                  </a:solidFill>
                  <a:latin typeface="IBM Plex Sans"/>
                  <a:ea typeface="IBM Plex Sans"/>
                  <a:cs typeface="IBM Plex Sans"/>
                </a:rPr>
                <a:t>ROLE</a:t>
              </a:r>
            </a:p>
            <a:p>
              <a:pPr algn="l">
                <a:spcBef>
                  <a:spcPts val="264"/>
                </a:spcBef>
              </a:pPr>
              <a:r>
                <a:rPr lang="en-US" sz="1055" b="0" i="0">
                  <a:solidFill>
                    <a:srgbClr val="475467"/>
                  </a:solidFill>
                  <a:latin typeface="IBM Plex Sans"/>
                  <a:ea typeface="IBM Plex Sans"/>
                  <a:cs typeface="IBM Plex Sans"/>
                </a:rPr>
                <a:t>Navigation &amp; control</a:t>
              </a:r>
            </a:p>
          </p:txBody>
        </p:sp>
      </p:grpSp>
      <p:grpSp>
        <p:nvGrpSpPr>
          <p:cNvPr id="43" name="Tagline group"/>
          <p:cNvGrpSpPr/>
          <p:nvPr/>
        </p:nvGrpSpPr>
        <p:grpSpPr>
          <a:xfrm>
            <a:off x="1271169" y="6129750"/>
            <a:ext cx="9649663" cy="335058"/>
            <a:chOff x="609600" y="5800000"/>
            <a:chExt cx="10972800" cy="381000"/>
          </a:xfrm>
        </p:grpSpPr>
        <p:sp>
          <p:nvSpPr>
            <p:cNvPr id="42" name="Team tagline"/>
            <p:cNvSpPr txBox="1"/>
            <p:nvPr/>
          </p:nvSpPr>
          <p:spPr>
            <a:xfrm>
              <a:off x="609600" y="5800000"/>
              <a:ext cx="10972800" cy="381000"/>
            </a:xfrm>
            <a:prstGeom prst="rect">
              <a:avLst/>
            </a:prstGeom>
            <a:noFill/>
            <a:ln>
              <a:noFill/>
            </a:ln>
          </p:spPr>
          <p:txBody>
            <a:bodyPr vert="horz" wrap="square" lIns="0" tIns="0" rIns="0" bIns="0" rtlCol="0" anchor="t">
              <a:noAutofit/>
            </a:bodyPr>
            <a:lstStyle/>
            <a:p>
              <a:pPr algn="l"/>
              <a:r>
                <a:rPr lang="en-US" sz="1407" b="0" i="1" dirty="0">
                  <a:solidFill>
                    <a:srgbClr val="C2410C"/>
                  </a:solidFill>
                  <a:latin typeface="IBM Plex Sans"/>
                  <a:ea typeface="IBM Plex Sans"/>
                  <a:cs typeface="IBM Plex Sans"/>
                </a:rPr>
                <a:t>Problem Statement 01  </a:t>
              </a:r>
              <a:r>
                <a:rPr lang="en-US" sz="1407" b="0" i="1" dirty="0" smtClean="0">
                  <a:solidFill>
                    <a:srgbClr val="C2410C"/>
                  </a:solidFill>
                  <a:latin typeface="IBM Plex Sans"/>
                  <a:ea typeface="IBM Plex Sans"/>
                  <a:cs typeface="IBM Plex Sans"/>
                </a:rPr>
                <a:t>·  </a:t>
              </a:r>
              <a:r>
                <a:rPr lang="en-US" sz="1407" b="0" i="1" dirty="0">
                  <a:solidFill>
                    <a:srgbClr val="C2410C"/>
                  </a:solidFill>
                  <a:latin typeface="IBM Plex Sans"/>
                  <a:ea typeface="IBM Plex Sans"/>
                  <a:cs typeface="IBM Plex Sans"/>
                </a:rPr>
                <a:t>Vision-Based Autonomous Robot</a:t>
              </a:r>
            </a:p>
          </p:txBody>
        </p:sp>
      </p:grpSp>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84299" y="3694636"/>
            <a:ext cx="3210437" cy="215191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001" name="HiH banner" descr="Hack in Hills banner"/>
          <p:cNvPicPr>
            <a:picLocks noChangeAspect="1"/>
          </p:cNvPicPr>
          <p:nvPr/>
        </p:nvPicPr>
        <p:blipFill>
          <a:blip r:embed="rId2"/>
          <a:stretch>
            <a:fillRect/>
          </a:stretch>
        </p:blipFill>
        <p:spPr>
          <a:xfrm>
            <a:off x="0" y="0"/>
            <a:ext cx="12192000" cy="803671"/>
          </a:xfrm>
          <a:prstGeom prst="rect">
            <a:avLst/>
          </a:prstGeom>
        </p:spPr>
      </p:pic>
      <p:sp>
        <p:nvSpPr>
          <p:cNvPr id="4" name="!!Kicker"/>
          <p:cNvSpPr txBox="1"/>
          <p:nvPr/>
        </p:nvSpPr>
        <p:spPr>
          <a:xfrm>
            <a:off x="996483" y="922543"/>
            <a:ext cx="10204704" cy="203200"/>
          </a:xfrm>
          <a:prstGeom prst="rect">
            <a:avLst/>
          </a:prstGeom>
          <a:noFill/>
          <a:ln>
            <a:noFill/>
          </a:ln>
        </p:spPr>
        <p:txBody>
          <a:bodyPr vert="horz" wrap="square" lIns="0" tIns="0" rIns="0" bIns="0" rtlCol="0" anchor="t">
            <a:noAutofit/>
          </a:bodyPr>
          <a:lstStyle/>
          <a:p>
            <a:pPr algn="l"/>
            <a:r>
              <a:rPr lang="en-US" sz="1000" b="1" i="0" spc="300">
                <a:solidFill>
                  <a:srgbClr val="C2410C"/>
                </a:solidFill>
                <a:latin typeface="IBM Plex Sans"/>
                <a:ea typeface="IBM Plex Sans"/>
                <a:cs typeface="IBM Plex Sans"/>
              </a:rPr>
              <a:t>PROBLEM STATEMENT &amp; THEME</a:t>
            </a:r>
          </a:p>
        </p:txBody>
      </p:sp>
      <p:sp>
        <p:nvSpPr>
          <p:cNvPr id="5" name="!!Title"/>
          <p:cNvSpPr txBox="1"/>
          <p:nvPr/>
        </p:nvSpPr>
        <p:spPr>
          <a:xfrm>
            <a:off x="996483" y="1096279"/>
            <a:ext cx="10204704" cy="558800"/>
          </a:xfrm>
          <a:prstGeom prst="rect">
            <a:avLst/>
          </a:prstGeom>
          <a:noFill/>
          <a:ln>
            <a:noFill/>
          </a:ln>
        </p:spPr>
        <p:txBody>
          <a:bodyPr vert="horz" wrap="square" lIns="0" tIns="0" rIns="0" bIns="0" rtlCol="0" anchor="t">
            <a:noAutofit/>
          </a:bodyPr>
          <a:lstStyle/>
          <a:p>
            <a:pPr algn="l"/>
            <a:r>
              <a:rPr lang="en-US" sz="3000" b="1" i="0">
                <a:solidFill>
                  <a:srgbClr val="111827"/>
                </a:solidFill>
                <a:latin typeface="Montserrat"/>
                <a:ea typeface="Montserrat"/>
                <a:cs typeface="Montserrat"/>
              </a:rPr>
              <a:t>Vision-Based Autonomous Robot</a:t>
            </a:r>
          </a:p>
        </p:txBody>
      </p:sp>
      <p:sp>
        <p:nvSpPr>
          <p:cNvPr id="6" name="!!Footer"/>
          <p:cNvSpPr txBox="1"/>
          <p:nvPr/>
        </p:nvSpPr>
        <p:spPr>
          <a:xfrm>
            <a:off x="996483" y="6574536"/>
            <a:ext cx="8229600" cy="177800"/>
          </a:xfrm>
          <a:prstGeom prst="rect">
            <a:avLst/>
          </a:prstGeom>
          <a:noFill/>
          <a:ln>
            <a:noFill/>
          </a:ln>
        </p:spPr>
        <p:txBody>
          <a:bodyPr vert="horz" wrap="square" lIns="0" tIns="0" rIns="0" bIns="0" rtlCol="0" anchor="t">
            <a:noAutofit/>
          </a:bodyPr>
          <a:lstStyle/>
          <a:p>
            <a:pPr algn="l"/>
            <a:r>
              <a:rPr lang="en-US" sz="800" b="0" i="0" spc="150">
                <a:solidFill>
                  <a:srgbClr val="475467"/>
                </a:solidFill>
                <a:latin typeface="IBM Plex Sans"/>
                <a:ea typeface="IBM Plex Sans"/>
                <a:cs typeface="IBM Plex Sans"/>
              </a:rPr>
              <a:t>HACK IN HILLS  ·  VISION-BASED AUTONOMOUS ROBOT  ·  TECH MINIONS</a:t>
            </a:r>
          </a:p>
        </p:txBody>
      </p:sp>
      <p:sp>
        <p:nvSpPr>
          <p:cNvPr id="7" name="!!Page"/>
          <p:cNvSpPr txBox="1"/>
          <p:nvPr/>
        </p:nvSpPr>
        <p:spPr>
          <a:xfrm>
            <a:off x="9931187" y="6574536"/>
            <a:ext cx="1270000" cy="177800"/>
          </a:xfrm>
          <a:prstGeom prst="rect">
            <a:avLst/>
          </a:prstGeom>
          <a:noFill/>
          <a:ln>
            <a:noFill/>
          </a:ln>
        </p:spPr>
        <p:txBody>
          <a:bodyPr vert="horz" wrap="square" lIns="0" tIns="0" rIns="0" bIns="0" rtlCol="0" anchor="t">
            <a:noAutofit/>
          </a:bodyPr>
          <a:lstStyle/>
          <a:p>
            <a:pPr algn="r"/>
            <a:r>
              <a:rPr lang="en-US" sz="800" b="1" i="0">
                <a:solidFill>
                  <a:srgbClr val="475467"/>
                </a:solidFill>
                <a:latin typeface="IBM Plex Sans"/>
                <a:ea typeface="IBM Plex Sans"/>
                <a:cs typeface="IBM Plex Sans"/>
              </a:rPr>
              <a:t>02 / 09</a:t>
            </a:r>
          </a:p>
        </p:txBody>
      </p:sp>
      <p:grpSp>
        <p:nvGrpSpPr>
          <p:cNvPr id="19" name="Problem group"/>
          <p:cNvGrpSpPr/>
          <p:nvPr/>
        </p:nvGrpSpPr>
        <p:grpSpPr>
          <a:xfrm>
            <a:off x="993648" y="1700784"/>
            <a:ext cx="3255000" cy="1999500"/>
            <a:chOff x="609600" y="1300000"/>
            <a:chExt cx="3500000" cy="2150000"/>
          </a:xfrm>
        </p:grpSpPr>
        <p:sp>
          <p:nvSpPr>
            <p:cNvPr id="8" name="Problem card"/>
            <p:cNvSpPr/>
            <p:nvPr/>
          </p:nvSpPr>
          <p:spPr>
            <a:xfrm>
              <a:off x="609600" y="1300000"/>
              <a:ext cx="3500000" cy="2150000"/>
            </a:xfrm>
            <a:prstGeom prst="roundRect">
              <a:avLst>
                <a:gd name="adj" fmla="val 6000"/>
              </a:avLst>
            </a:prstGeom>
            <a:solidFill>
              <a:srgbClr val="F5F7FA"/>
            </a:solidFill>
            <a:ln w="11811">
              <a:solidFill>
                <a:srgbClr val="D5DBE5"/>
              </a:solidFill>
            </a:ln>
          </p:spPr>
          <p:txBody>
            <a:bodyPr vert="horz" wrap="square" lIns="0" tIns="0" rIns="0" bIns="0" rtlCol="0" anchor="ctr">
              <a:noAutofit/>
            </a:bodyPr>
            <a:lstStyle/>
            <a:p>
              <a:endParaRPr lang="en-US"/>
            </a:p>
          </p:txBody>
        </p:sp>
        <p:sp>
          <p:nvSpPr>
            <p:cNvPr id="9" name="Problem circle"/>
            <p:cNvSpPr/>
            <p:nvPr/>
          </p:nvSpPr>
          <p:spPr>
            <a:xfrm>
              <a:off x="809600" y="1470000"/>
              <a:ext cx="400000" cy="400000"/>
            </a:xfrm>
            <a:prstGeom prst="ellipse">
              <a:avLst/>
            </a:prstGeom>
            <a:solidFill>
              <a:srgbClr val="2F5D8A"/>
            </a:solidFill>
            <a:ln>
              <a:noFill/>
            </a:ln>
          </p:spPr>
          <p:txBody>
            <a:bodyPr vert="horz" wrap="square" lIns="0" tIns="0" rIns="0" bIns="0" rtlCol="0" anchor="ctr">
              <a:noAutofit/>
            </a:bodyPr>
            <a:lstStyle/>
            <a:p>
              <a:endParaRPr lang="en-US"/>
            </a:p>
          </p:txBody>
        </p:sp>
        <p:pic>
          <p:nvPicPr>
            <p:cNvPr id="10" name="Icon Problem" descr="Problem icon"/>
            <p:cNvPicPr preferRelativeResize="0"/>
            <p:nvPr/>
          </p:nvPicPr>
          <p:blipFill>
            <a:blip r:embed="rId3"/>
            <a:stretch>
              <a:fillRect/>
            </a:stretch>
          </p:blipFill>
          <p:spPr>
            <a:xfrm>
              <a:off x="899600" y="1560000"/>
              <a:ext cx="220000" cy="220000"/>
            </a:xfrm>
            <a:prstGeom prst="rect">
              <a:avLst/>
            </a:prstGeom>
          </p:spPr>
        </p:pic>
        <p:sp>
          <p:nvSpPr>
            <p:cNvPr id="11" name="Problem label"/>
            <p:cNvSpPr txBox="1"/>
            <p:nvPr/>
          </p:nvSpPr>
          <p:spPr>
            <a:xfrm>
              <a:off x="1309600" y="1470000"/>
              <a:ext cx="2500000" cy="400000"/>
            </a:xfrm>
            <a:prstGeom prst="rect">
              <a:avLst/>
            </a:prstGeom>
            <a:noFill/>
            <a:ln>
              <a:noFill/>
            </a:ln>
          </p:spPr>
          <p:txBody>
            <a:bodyPr vert="horz" wrap="square" lIns="0" tIns="0" rIns="0" bIns="0" rtlCol="0" anchor="ctr">
              <a:noAutofit/>
            </a:bodyPr>
            <a:lstStyle/>
            <a:p>
              <a:pPr algn="l"/>
              <a:r>
                <a:rPr lang="en-US" sz="930" b="1" i="0" spc="300">
                  <a:solidFill>
                    <a:srgbClr val="C2410C"/>
                  </a:solidFill>
                  <a:latin typeface="IBM Plex Sans"/>
                  <a:ea typeface="IBM Plex Sans"/>
                  <a:cs typeface="IBM Plex Sans"/>
                </a:rPr>
                <a:t>THE PROBLEM</a:t>
              </a:r>
            </a:p>
          </p:txBody>
        </p:sp>
        <p:sp>
          <p:nvSpPr>
            <p:cNvPr id="12" name="Problem headline"/>
            <p:cNvSpPr txBox="1"/>
            <p:nvPr/>
          </p:nvSpPr>
          <p:spPr>
            <a:xfrm>
              <a:off x="809600" y="2000000"/>
              <a:ext cx="3100000" cy="700000"/>
            </a:xfrm>
            <a:prstGeom prst="rect">
              <a:avLst/>
            </a:prstGeom>
            <a:noFill/>
            <a:ln>
              <a:noFill/>
            </a:ln>
          </p:spPr>
          <p:txBody>
            <a:bodyPr vert="horz" wrap="square" lIns="0" tIns="0" rIns="0" bIns="0" rtlCol="0" anchor="t">
              <a:noAutofit/>
            </a:bodyPr>
            <a:lstStyle/>
            <a:p>
              <a:r>
                <a:rPr lang="en-US" sz="1100" dirty="0">
                  <a:latin typeface="Arial Black" panose="020B0A04020102020204" pitchFamily="34" charset="0"/>
                </a:rPr>
                <a:t>How can a robot autonomously navigate unfamiliar campuses, hospitals, and </a:t>
              </a:r>
              <a:r>
                <a:rPr lang="en-US" sz="1100" dirty="0" smtClean="0">
                  <a:latin typeface="Arial Black" panose="020B0A04020102020204" pitchFamily="34" charset="0"/>
                </a:rPr>
                <a:t>warehouses</a:t>
              </a:r>
              <a:r>
                <a:rPr lang="en-US" sz="1100" dirty="0"/>
                <a:t>—</a:t>
              </a:r>
              <a:r>
                <a:rPr lang="en-US" sz="1100" dirty="0" smtClean="0">
                  <a:latin typeface="Arial Black" panose="020B0A04020102020204" pitchFamily="34" charset="0"/>
                </a:rPr>
                <a:t>without </a:t>
              </a:r>
              <a:r>
                <a:rPr lang="en-US" sz="1100" dirty="0">
                  <a:latin typeface="Arial Black" panose="020B0A04020102020204" pitchFamily="34" charset="0"/>
                </a:rPr>
                <a:t>a pre-built map?</a:t>
              </a:r>
              <a:endParaRPr lang="en-US" sz="1100" b="1" i="0" dirty="0">
                <a:solidFill>
                  <a:srgbClr val="111827"/>
                </a:solidFill>
                <a:latin typeface="Arial Black" panose="020B0A04020102020204" pitchFamily="34" charset="0"/>
                <a:ea typeface="Montserrat"/>
                <a:cs typeface="Montserrat"/>
              </a:endParaRPr>
            </a:p>
          </p:txBody>
        </p:sp>
        <p:sp>
          <p:nvSpPr>
            <p:cNvPr id="13" name="Pdot0"/>
            <p:cNvSpPr/>
            <p:nvPr/>
          </p:nvSpPr>
          <p:spPr>
            <a:xfrm>
              <a:off x="819600" y="2845000"/>
              <a:ext cx="70000" cy="70000"/>
            </a:xfrm>
            <a:prstGeom prst="ellipse">
              <a:avLst/>
            </a:prstGeom>
            <a:solidFill>
              <a:srgbClr val="C2410C"/>
            </a:solidFill>
            <a:ln>
              <a:noFill/>
            </a:ln>
          </p:spPr>
          <p:txBody>
            <a:bodyPr vert="horz" wrap="square" lIns="0" tIns="0" rIns="0" bIns="0" rtlCol="0" anchor="ctr">
              <a:noAutofit/>
            </a:bodyPr>
            <a:lstStyle/>
            <a:p>
              <a:endParaRPr lang="en-US"/>
            </a:p>
          </p:txBody>
        </p:sp>
        <p:sp>
          <p:nvSpPr>
            <p:cNvPr id="14" name="Pbul0"/>
            <p:cNvSpPr txBox="1"/>
            <p:nvPr/>
          </p:nvSpPr>
          <p:spPr>
            <a:xfrm>
              <a:off x="969600" y="2770000"/>
              <a:ext cx="2940000" cy="215000"/>
            </a:xfrm>
            <a:prstGeom prst="rect">
              <a:avLst/>
            </a:prstGeom>
            <a:noFill/>
            <a:ln>
              <a:noFill/>
            </a:ln>
          </p:spPr>
          <p:txBody>
            <a:bodyPr vert="horz" wrap="square" lIns="0" tIns="0" rIns="0" bIns="0" rtlCol="0" anchor="ctr">
              <a:noAutofit/>
            </a:bodyPr>
            <a:lstStyle/>
            <a:p>
              <a:pPr algn="l"/>
              <a:r>
                <a:rPr lang="en-US" sz="930" b="0" i="0">
                  <a:solidFill>
                    <a:srgbClr val="475467"/>
                  </a:solidFill>
                  <a:latin typeface="IBM Plex Sans"/>
                  <a:ea typeface="IBM Plex Sans"/>
                  <a:cs typeface="IBM Plex Sans"/>
                </a:rPr>
                <a:t>Cluttered, changing scenes defeat fixed rules</a:t>
              </a:r>
            </a:p>
          </p:txBody>
        </p:sp>
        <p:sp>
          <p:nvSpPr>
            <p:cNvPr id="15" name="Pdot1"/>
            <p:cNvSpPr/>
            <p:nvPr/>
          </p:nvSpPr>
          <p:spPr>
            <a:xfrm>
              <a:off x="819600" y="3060000"/>
              <a:ext cx="70000" cy="70000"/>
            </a:xfrm>
            <a:prstGeom prst="ellipse">
              <a:avLst/>
            </a:prstGeom>
            <a:solidFill>
              <a:srgbClr val="C2410C"/>
            </a:solidFill>
            <a:ln>
              <a:noFill/>
            </a:ln>
          </p:spPr>
          <p:txBody>
            <a:bodyPr vert="horz" wrap="square" lIns="0" tIns="0" rIns="0" bIns="0" rtlCol="0" anchor="ctr">
              <a:noAutofit/>
            </a:bodyPr>
            <a:lstStyle/>
            <a:p>
              <a:endParaRPr lang="en-US"/>
            </a:p>
          </p:txBody>
        </p:sp>
        <p:sp>
          <p:nvSpPr>
            <p:cNvPr id="16" name="Pbul1"/>
            <p:cNvSpPr txBox="1"/>
            <p:nvPr/>
          </p:nvSpPr>
          <p:spPr>
            <a:xfrm>
              <a:off x="969600" y="2985000"/>
              <a:ext cx="2940000" cy="215000"/>
            </a:xfrm>
            <a:prstGeom prst="rect">
              <a:avLst/>
            </a:prstGeom>
            <a:noFill/>
            <a:ln>
              <a:noFill/>
            </a:ln>
          </p:spPr>
          <p:txBody>
            <a:bodyPr vert="horz" wrap="square" lIns="0" tIns="0" rIns="0" bIns="0" rtlCol="0" anchor="ctr">
              <a:noAutofit/>
            </a:bodyPr>
            <a:lstStyle/>
            <a:p>
              <a:pPr algn="l"/>
              <a:r>
                <a:rPr lang="en-US" sz="930" b="0" i="0">
                  <a:solidFill>
                    <a:srgbClr val="475467"/>
                  </a:solidFill>
                  <a:latin typeface="IBM Plex Sans"/>
                  <a:ea typeface="IBM Plex Sans"/>
                  <a:cs typeface="IBM Plex Sans"/>
                </a:rPr>
                <a:t>Perception-to-action in ~0.2 s</a:t>
              </a:r>
            </a:p>
          </p:txBody>
        </p:sp>
        <p:sp>
          <p:nvSpPr>
            <p:cNvPr id="17" name="Pdot2"/>
            <p:cNvSpPr/>
            <p:nvPr/>
          </p:nvSpPr>
          <p:spPr>
            <a:xfrm>
              <a:off x="819600" y="3275000"/>
              <a:ext cx="70000" cy="70000"/>
            </a:xfrm>
            <a:prstGeom prst="ellipse">
              <a:avLst/>
            </a:prstGeom>
            <a:solidFill>
              <a:srgbClr val="C2410C"/>
            </a:solidFill>
            <a:ln>
              <a:noFill/>
            </a:ln>
          </p:spPr>
          <p:txBody>
            <a:bodyPr vert="horz" wrap="square" lIns="0" tIns="0" rIns="0" bIns="0" rtlCol="0" anchor="ctr">
              <a:noAutofit/>
            </a:bodyPr>
            <a:lstStyle/>
            <a:p>
              <a:endParaRPr lang="en-US"/>
            </a:p>
          </p:txBody>
        </p:sp>
        <p:sp>
          <p:nvSpPr>
            <p:cNvPr id="18" name="Pbul2"/>
            <p:cNvSpPr txBox="1"/>
            <p:nvPr/>
          </p:nvSpPr>
          <p:spPr>
            <a:xfrm>
              <a:off x="969600" y="3200000"/>
              <a:ext cx="2940000" cy="215000"/>
            </a:xfrm>
            <a:prstGeom prst="rect">
              <a:avLst/>
            </a:prstGeom>
            <a:noFill/>
            <a:ln>
              <a:noFill/>
            </a:ln>
          </p:spPr>
          <p:txBody>
            <a:bodyPr vert="horz" wrap="square" lIns="0" tIns="0" rIns="0" bIns="0" rtlCol="0" anchor="ctr">
              <a:noAutofit/>
            </a:bodyPr>
            <a:lstStyle/>
            <a:p>
              <a:pPr algn="l"/>
              <a:r>
                <a:rPr lang="en-US" sz="930" b="0" i="0">
                  <a:solidFill>
                    <a:srgbClr val="475467"/>
                  </a:solidFill>
                  <a:latin typeface="IBM Plex Sans"/>
                  <a:ea typeface="IBM Plex Sans"/>
                  <a:cs typeface="IBM Plex Sans"/>
                </a:rPr>
                <a:t>Goals arrive as words, not coordinates</a:t>
              </a:r>
            </a:p>
          </p:txBody>
        </p:sp>
      </p:grpSp>
      <p:grpSp>
        <p:nvGrpSpPr>
          <p:cNvPr id="36" name="Impact group"/>
          <p:cNvGrpSpPr/>
          <p:nvPr/>
        </p:nvGrpSpPr>
        <p:grpSpPr>
          <a:xfrm>
            <a:off x="993648" y="3839784"/>
            <a:ext cx="3255000" cy="2557500"/>
            <a:chOff x="609600" y="3600000"/>
            <a:chExt cx="3500000" cy="2750000"/>
          </a:xfrm>
        </p:grpSpPr>
        <p:sp>
          <p:nvSpPr>
            <p:cNvPr id="20" name="Impact card"/>
            <p:cNvSpPr/>
            <p:nvPr/>
          </p:nvSpPr>
          <p:spPr>
            <a:xfrm>
              <a:off x="609600" y="3600000"/>
              <a:ext cx="3500000" cy="2750000"/>
            </a:xfrm>
            <a:prstGeom prst="roundRect">
              <a:avLst>
                <a:gd name="adj" fmla="val 6000"/>
              </a:avLst>
            </a:prstGeom>
            <a:solidFill>
              <a:srgbClr val="F5F7FA"/>
            </a:solidFill>
            <a:ln w="11811">
              <a:solidFill>
                <a:srgbClr val="D5DBE5"/>
              </a:solidFill>
            </a:ln>
          </p:spPr>
          <p:txBody>
            <a:bodyPr vert="horz" wrap="square" lIns="0" tIns="0" rIns="0" bIns="0" rtlCol="0" anchor="ctr">
              <a:noAutofit/>
            </a:bodyPr>
            <a:lstStyle/>
            <a:p>
              <a:endParaRPr lang="en-US"/>
            </a:p>
          </p:txBody>
        </p:sp>
        <p:sp>
          <p:nvSpPr>
            <p:cNvPr id="21" name="Impact circle"/>
            <p:cNvSpPr/>
            <p:nvPr/>
          </p:nvSpPr>
          <p:spPr>
            <a:xfrm>
              <a:off x="809600" y="3770000"/>
              <a:ext cx="400000" cy="400000"/>
            </a:xfrm>
            <a:prstGeom prst="ellipse">
              <a:avLst/>
            </a:prstGeom>
            <a:solidFill>
              <a:srgbClr val="C2410C"/>
            </a:solidFill>
            <a:ln>
              <a:noFill/>
            </a:ln>
          </p:spPr>
          <p:txBody>
            <a:bodyPr vert="horz" wrap="square" lIns="0" tIns="0" rIns="0" bIns="0" rtlCol="0" anchor="ctr">
              <a:noAutofit/>
            </a:bodyPr>
            <a:lstStyle/>
            <a:p>
              <a:endParaRPr lang="en-US"/>
            </a:p>
          </p:txBody>
        </p:sp>
        <p:pic>
          <p:nvPicPr>
            <p:cNvPr id="22" name="Icon Impact" descr="Impact icon"/>
            <p:cNvPicPr preferRelativeResize="0"/>
            <p:nvPr/>
          </p:nvPicPr>
          <p:blipFill>
            <a:blip r:embed="rId4"/>
            <a:stretch>
              <a:fillRect/>
            </a:stretch>
          </p:blipFill>
          <p:spPr>
            <a:xfrm>
              <a:off x="899600" y="3860000"/>
              <a:ext cx="220000" cy="220000"/>
            </a:xfrm>
            <a:prstGeom prst="rect">
              <a:avLst/>
            </a:prstGeom>
          </p:spPr>
        </p:pic>
        <p:sp>
          <p:nvSpPr>
            <p:cNvPr id="23" name="Impact label"/>
            <p:cNvSpPr txBox="1"/>
            <p:nvPr/>
          </p:nvSpPr>
          <p:spPr>
            <a:xfrm>
              <a:off x="1309600" y="3770000"/>
              <a:ext cx="2500000" cy="400000"/>
            </a:xfrm>
            <a:prstGeom prst="rect">
              <a:avLst/>
            </a:prstGeom>
            <a:noFill/>
            <a:ln>
              <a:noFill/>
            </a:ln>
          </p:spPr>
          <p:txBody>
            <a:bodyPr vert="horz" wrap="square" lIns="0" tIns="0" rIns="0" bIns="0" rtlCol="0" anchor="ctr">
              <a:noAutofit/>
            </a:bodyPr>
            <a:lstStyle/>
            <a:p>
              <a:pPr algn="l"/>
              <a:r>
                <a:rPr lang="en-US" sz="930" b="1" i="0" spc="300">
                  <a:solidFill>
                    <a:srgbClr val="C2410C"/>
                  </a:solidFill>
                  <a:latin typeface="IBM Plex Sans"/>
                  <a:ea typeface="IBM Plex Sans"/>
                  <a:cs typeface="IBM Plex Sans"/>
                </a:rPr>
                <a:t>IMPACT</a:t>
              </a:r>
            </a:p>
          </p:txBody>
        </p:sp>
        <p:sp>
          <p:nvSpPr>
            <p:cNvPr id="24" name="Itile0"/>
            <p:cNvSpPr/>
            <p:nvPr/>
          </p:nvSpPr>
          <p:spPr>
            <a:xfrm>
              <a:off x="759600" y="4280000"/>
              <a:ext cx="3200000" cy="630000"/>
            </a:xfrm>
            <a:prstGeom prst="roundRect">
              <a:avLst>
                <a:gd name="adj" fmla="val 10000"/>
              </a:avLst>
            </a:prstGeom>
            <a:solidFill>
              <a:srgbClr val="FFFFFF"/>
            </a:solidFill>
            <a:ln w="11811">
              <a:solidFill>
                <a:srgbClr val="D5DBE5"/>
              </a:solidFill>
            </a:ln>
          </p:spPr>
          <p:txBody>
            <a:bodyPr vert="horz" wrap="square" lIns="0" tIns="0" rIns="0" bIns="0" rtlCol="0" anchor="ctr">
              <a:noAutofit/>
            </a:bodyPr>
            <a:lstStyle/>
            <a:p>
              <a:endParaRPr lang="en-US"/>
            </a:p>
          </p:txBody>
        </p:sp>
        <p:sp>
          <p:nvSpPr>
            <p:cNvPr id="25" name="Logistics circle"/>
            <p:cNvSpPr/>
            <p:nvPr/>
          </p:nvSpPr>
          <p:spPr>
            <a:xfrm>
              <a:off x="859600" y="4385000"/>
              <a:ext cx="420000" cy="420000"/>
            </a:xfrm>
            <a:prstGeom prst="ellipse">
              <a:avLst/>
            </a:prstGeom>
            <a:solidFill>
              <a:srgbClr val="0F766E"/>
            </a:solidFill>
            <a:ln>
              <a:noFill/>
            </a:ln>
          </p:spPr>
          <p:txBody>
            <a:bodyPr vert="horz" wrap="square" lIns="0" tIns="0" rIns="0" bIns="0" rtlCol="0" anchor="ctr">
              <a:noAutofit/>
            </a:bodyPr>
            <a:lstStyle/>
            <a:p>
              <a:endParaRPr lang="en-US"/>
            </a:p>
          </p:txBody>
        </p:sp>
        <p:pic>
          <p:nvPicPr>
            <p:cNvPr id="26" name="Icon Logistics" descr="Logistics icon"/>
            <p:cNvPicPr preferRelativeResize="0"/>
            <p:nvPr/>
          </p:nvPicPr>
          <p:blipFill>
            <a:blip r:embed="rId5"/>
            <a:stretch>
              <a:fillRect/>
            </a:stretch>
          </p:blipFill>
          <p:spPr>
            <a:xfrm>
              <a:off x="964600" y="4490000"/>
              <a:ext cx="210000" cy="210000"/>
            </a:xfrm>
            <a:prstGeom prst="rect">
              <a:avLst/>
            </a:prstGeom>
          </p:spPr>
        </p:pic>
        <p:sp>
          <p:nvSpPr>
            <p:cNvPr id="27" name="Itext0"/>
            <p:cNvSpPr txBox="1"/>
            <p:nvPr/>
          </p:nvSpPr>
          <p:spPr>
            <a:xfrm>
              <a:off x="1389600" y="4280000"/>
              <a:ext cx="2450000" cy="630000"/>
            </a:xfrm>
            <a:prstGeom prst="rect">
              <a:avLst/>
            </a:prstGeom>
            <a:noFill/>
            <a:ln>
              <a:noFill/>
            </a:ln>
          </p:spPr>
          <p:txBody>
            <a:bodyPr vert="horz" wrap="square" lIns="0" tIns="0" rIns="0" bIns="0" rtlCol="0" anchor="ctr">
              <a:noAutofit/>
            </a:bodyPr>
            <a:lstStyle/>
            <a:p>
              <a:pPr algn="l"/>
              <a:r>
                <a:rPr lang="en-US" sz="1023" b="1" i="0">
                  <a:solidFill>
                    <a:srgbClr val="111827"/>
                  </a:solidFill>
                  <a:latin typeface="Montserrat"/>
                  <a:ea typeface="Montserrat"/>
                  <a:cs typeface="Montserrat"/>
                </a:rPr>
                <a:t>Logistics</a:t>
              </a:r>
            </a:p>
            <a:p>
              <a:pPr algn="l">
                <a:spcBef>
                  <a:spcPts val="93"/>
                </a:spcBef>
              </a:pPr>
              <a:r>
                <a:rPr lang="en-US" sz="837" b="0" i="0">
                  <a:solidFill>
                    <a:srgbClr val="475467"/>
                  </a:solidFill>
                  <a:latin typeface="IBM Plex Sans"/>
                  <a:ea typeface="IBM Plex Sans"/>
                  <a:cs typeface="IBM Plex Sans"/>
                </a:rPr>
                <a:t>Fetch-and-carry without fixed tracks or QR markers</a:t>
              </a:r>
            </a:p>
          </p:txBody>
        </p:sp>
        <p:sp>
          <p:nvSpPr>
            <p:cNvPr id="28" name="Itile1"/>
            <p:cNvSpPr/>
            <p:nvPr/>
          </p:nvSpPr>
          <p:spPr>
            <a:xfrm>
              <a:off x="759600" y="4960000"/>
              <a:ext cx="3200000" cy="630000"/>
            </a:xfrm>
            <a:prstGeom prst="roundRect">
              <a:avLst>
                <a:gd name="adj" fmla="val 10000"/>
              </a:avLst>
            </a:prstGeom>
            <a:solidFill>
              <a:srgbClr val="FFFFFF"/>
            </a:solidFill>
            <a:ln w="11811">
              <a:solidFill>
                <a:srgbClr val="D5DBE5"/>
              </a:solidFill>
            </a:ln>
          </p:spPr>
          <p:txBody>
            <a:bodyPr vert="horz" wrap="square" lIns="0" tIns="0" rIns="0" bIns="0" rtlCol="0" anchor="ctr">
              <a:noAutofit/>
            </a:bodyPr>
            <a:lstStyle/>
            <a:p>
              <a:endParaRPr lang="en-US"/>
            </a:p>
          </p:txBody>
        </p:sp>
        <p:sp>
          <p:nvSpPr>
            <p:cNvPr id="29" name="Healthcare circle"/>
            <p:cNvSpPr/>
            <p:nvPr/>
          </p:nvSpPr>
          <p:spPr>
            <a:xfrm>
              <a:off x="859600" y="5065000"/>
              <a:ext cx="420000" cy="420000"/>
            </a:xfrm>
            <a:prstGeom prst="ellipse">
              <a:avLst/>
            </a:prstGeom>
            <a:solidFill>
              <a:srgbClr val="2F5D8A"/>
            </a:solidFill>
            <a:ln>
              <a:noFill/>
            </a:ln>
          </p:spPr>
          <p:txBody>
            <a:bodyPr vert="horz" wrap="square" lIns="0" tIns="0" rIns="0" bIns="0" rtlCol="0" anchor="ctr">
              <a:noAutofit/>
            </a:bodyPr>
            <a:lstStyle/>
            <a:p>
              <a:endParaRPr lang="en-US"/>
            </a:p>
          </p:txBody>
        </p:sp>
        <p:pic>
          <p:nvPicPr>
            <p:cNvPr id="30" name="Icon Healthcare" descr="Healthcare icon"/>
            <p:cNvPicPr preferRelativeResize="0"/>
            <p:nvPr/>
          </p:nvPicPr>
          <p:blipFill>
            <a:blip r:embed="rId6"/>
            <a:stretch>
              <a:fillRect/>
            </a:stretch>
          </p:blipFill>
          <p:spPr>
            <a:xfrm>
              <a:off x="964600" y="5170000"/>
              <a:ext cx="210000" cy="210000"/>
            </a:xfrm>
            <a:prstGeom prst="rect">
              <a:avLst/>
            </a:prstGeom>
          </p:spPr>
        </p:pic>
        <p:sp>
          <p:nvSpPr>
            <p:cNvPr id="31" name="Itext1"/>
            <p:cNvSpPr txBox="1"/>
            <p:nvPr/>
          </p:nvSpPr>
          <p:spPr>
            <a:xfrm>
              <a:off x="1389600" y="4960000"/>
              <a:ext cx="2450000" cy="630000"/>
            </a:xfrm>
            <a:prstGeom prst="rect">
              <a:avLst/>
            </a:prstGeom>
            <a:noFill/>
            <a:ln>
              <a:noFill/>
            </a:ln>
          </p:spPr>
          <p:txBody>
            <a:bodyPr vert="horz" wrap="square" lIns="0" tIns="0" rIns="0" bIns="0" rtlCol="0" anchor="ctr">
              <a:noAutofit/>
            </a:bodyPr>
            <a:lstStyle/>
            <a:p>
              <a:pPr algn="l"/>
              <a:r>
                <a:rPr lang="en-US" sz="1023" b="1" i="0">
                  <a:solidFill>
                    <a:srgbClr val="111827"/>
                  </a:solidFill>
                  <a:latin typeface="Montserrat"/>
                  <a:ea typeface="Montserrat"/>
                  <a:cs typeface="Montserrat"/>
                </a:rPr>
                <a:t>Healthcare</a:t>
              </a:r>
            </a:p>
            <a:p>
              <a:pPr algn="l">
                <a:spcBef>
                  <a:spcPts val="93"/>
                </a:spcBef>
              </a:pPr>
              <a:r>
                <a:rPr lang="en-US" sz="837" b="0" i="0">
                  <a:solidFill>
                    <a:srgbClr val="475467"/>
                  </a:solidFill>
                  <a:latin typeface="IBM Plex Sans"/>
                  <a:ea typeface="IBM Plex Sans"/>
                  <a:cs typeface="IBM Plex Sans"/>
                </a:rPr>
                <a:t>Safe delivery around patients and staff</a:t>
              </a:r>
            </a:p>
          </p:txBody>
        </p:sp>
        <p:sp>
          <p:nvSpPr>
            <p:cNvPr id="32" name="Itile2"/>
            <p:cNvSpPr/>
            <p:nvPr/>
          </p:nvSpPr>
          <p:spPr>
            <a:xfrm>
              <a:off x="759600" y="5640000"/>
              <a:ext cx="3200000" cy="630000"/>
            </a:xfrm>
            <a:prstGeom prst="roundRect">
              <a:avLst>
                <a:gd name="adj" fmla="val 10000"/>
              </a:avLst>
            </a:prstGeom>
            <a:solidFill>
              <a:srgbClr val="FFFFFF"/>
            </a:solidFill>
            <a:ln w="11811">
              <a:solidFill>
                <a:srgbClr val="D5DBE5"/>
              </a:solidFill>
            </a:ln>
          </p:spPr>
          <p:txBody>
            <a:bodyPr vert="horz" wrap="square" lIns="0" tIns="0" rIns="0" bIns="0" rtlCol="0" anchor="ctr">
              <a:noAutofit/>
            </a:bodyPr>
            <a:lstStyle/>
            <a:p>
              <a:endParaRPr lang="en-US"/>
            </a:p>
          </p:txBody>
        </p:sp>
        <p:sp>
          <p:nvSpPr>
            <p:cNvPr id="33" name="Assistive circle"/>
            <p:cNvSpPr/>
            <p:nvPr/>
          </p:nvSpPr>
          <p:spPr>
            <a:xfrm>
              <a:off x="859600" y="5745000"/>
              <a:ext cx="420000" cy="420000"/>
            </a:xfrm>
            <a:prstGeom prst="ellipse">
              <a:avLst/>
            </a:prstGeom>
            <a:solidFill>
              <a:srgbClr val="2F5D8A"/>
            </a:solidFill>
            <a:ln>
              <a:noFill/>
            </a:ln>
          </p:spPr>
          <p:txBody>
            <a:bodyPr vert="horz" wrap="square" lIns="0" tIns="0" rIns="0" bIns="0" rtlCol="0" anchor="ctr">
              <a:noAutofit/>
            </a:bodyPr>
            <a:lstStyle/>
            <a:p>
              <a:endParaRPr lang="en-US"/>
            </a:p>
          </p:txBody>
        </p:sp>
        <p:pic>
          <p:nvPicPr>
            <p:cNvPr id="34" name="Icon Assistive" descr="Assistive icon"/>
            <p:cNvPicPr preferRelativeResize="0"/>
            <p:nvPr/>
          </p:nvPicPr>
          <p:blipFill>
            <a:blip r:embed="rId7"/>
            <a:stretch>
              <a:fillRect/>
            </a:stretch>
          </p:blipFill>
          <p:spPr>
            <a:xfrm>
              <a:off x="964600" y="5850000"/>
              <a:ext cx="210000" cy="210000"/>
            </a:xfrm>
            <a:prstGeom prst="rect">
              <a:avLst/>
            </a:prstGeom>
          </p:spPr>
        </p:pic>
        <p:sp>
          <p:nvSpPr>
            <p:cNvPr id="35" name="Itext2"/>
            <p:cNvSpPr txBox="1"/>
            <p:nvPr/>
          </p:nvSpPr>
          <p:spPr>
            <a:xfrm>
              <a:off x="1389600" y="5640000"/>
              <a:ext cx="2450000" cy="630000"/>
            </a:xfrm>
            <a:prstGeom prst="rect">
              <a:avLst/>
            </a:prstGeom>
            <a:noFill/>
            <a:ln>
              <a:noFill/>
            </a:ln>
          </p:spPr>
          <p:txBody>
            <a:bodyPr vert="horz" wrap="square" lIns="0" tIns="0" rIns="0" bIns="0" rtlCol="0" anchor="ctr">
              <a:noAutofit/>
            </a:bodyPr>
            <a:lstStyle/>
            <a:p>
              <a:pPr algn="l"/>
              <a:r>
                <a:rPr lang="en-US" sz="1023" b="1" i="0">
                  <a:solidFill>
                    <a:srgbClr val="111827"/>
                  </a:solidFill>
                  <a:latin typeface="Montserrat"/>
                  <a:ea typeface="Montserrat"/>
                  <a:cs typeface="Montserrat"/>
                </a:rPr>
                <a:t>Assistive</a:t>
              </a:r>
            </a:p>
            <a:p>
              <a:pPr algn="l">
                <a:spcBef>
                  <a:spcPts val="93"/>
                </a:spcBef>
              </a:pPr>
              <a:r>
                <a:rPr lang="en-US" sz="837" b="0" i="0">
                  <a:solidFill>
                    <a:srgbClr val="475467"/>
                  </a:solidFill>
                  <a:latin typeface="IBM Plex Sans"/>
                  <a:ea typeface="IBM Plex Sans"/>
                  <a:cs typeface="IBM Plex Sans"/>
                </a:rPr>
                <a:t>Finds objects for visually impaired users</a:t>
              </a:r>
            </a:p>
          </p:txBody>
        </p:sp>
      </p:grpSp>
      <p:grpSp>
        <p:nvGrpSpPr>
          <p:cNvPr id="42" name="Theme header group"/>
          <p:cNvGrpSpPr/>
          <p:nvPr/>
        </p:nvGrpSpPr>
        <p:grpSpPr>
          <a:xfrm>
            <a:off x="4425720" y="1700784"/>
            <a:ext cx="6772632" cy="4696500"/>
            <a:chOff x="4300000" y="1300000"/>
            <a:chExt cx="7282400" cy="5050000"/>
          </a:xfrm>
        </p:grpSpPr>
        <p:sp>
          <p:nvSpPr>
            <p:cNvPr id="37" name="Theme panel"/>
            <p:cNvSpPr/>
            <p:nvPr/>
          </p:nvSpPr>
          <p:spPr>
            <a:xfrm>
              <a:off x="4300000" y="1300000"/>
              <a:ext cx="7282400" cy="5050000"/>
            </a:xfrm>
            <a:prstGeom prst="roundRect">
              <a:avLst>
                <a:gd name="adj" fmla="val 6000"/>
              </a:avLst>
            </a:prstGeom>
            <a:solidFill>
              <a:srgbClr val="F5F7FA"/>
            </a:solidFill>
            <a:ln w="11811">
              <a:solidFill>
                <a:srgbClr val="D5DBE5"/>
              </a:solidFill>
            </a:ln>
          </p:spPr>
          <p:txBody>
            <a:bodyPr vert="horz" wrap="square" lIns="0" tIns="0" rIns="0" bIns="0" rtlCol="0" anchor="ctr">
              <a:noAutofit/>
            </a:bodyPr>
            <a:lstStyle/>
            <a:p>
              <a:endParaRPr lang="en-US"/>
            </a:p>
          </p:txBody>
        </p:sp>
        <p:sp>
          <p:nvSpPr>
            <p:cNvPr id="38" name="Theme circle"/>
            <p:cNvSpPr/>
            <p:nvPr/>
          </p:nvSpPr>
          <p:spPr>
            <a:xfrm>
              <a:off x="4500000" y="1470000"/>
              <a:ext cx="400000" cy="400000"/>
            </a:xfrm>
            <a:prstGeom prst="ellipse">
              <a:avLst/>
            </a:prstGeom>
            <a:solidFill>
              <a:srgbClr val="16A34A"/>
            </a:solidFill>
            <a:ln>
              <a:noFill/>
            </a:ln>
          </p:spPr>
          <p:txBody>
            <a:bodyPr vert="horz" wrap="square" lIns="0" tIns="0" rIns="0" bIns="0" rtlCol="0" anchor="ctr">
              <a:noAutofit/>
            </a:bodyPr>
            <a:lstStyle/>
            <a:p>
              <a:endParaRPr lang="en-US"/>
            </a:p>
          </p:txBody>
        </p:sp>
        <p:pic>
          <p:nvPicPr>
            <p:cNvPr id="39" name="Icon Theme" descr="Theme icon"/>
            <p:cNvPicPr preferRelativeResize="0"/>
            <p:nvPr/>
          </p:nvPicPr>
          <p:blipFill>
            <a:blip r:embed="rId8"/>
            <a:stretch>
              <a:fillRect/>
            </a:stretch>
          </p:blipFill>
          <p:spPr>
            <a:xfrm>
              <a:off x="4580000" y="1550000"/>
              <a:ext cx="240000" cy="240000"/>
            </a:xfrm>
            <a:prstGeom prst="rect">
              <a:avLst/>
            </a:prstGeom>
          </p:spPr>
        </p:pic>
        <p:sp>
          <p:nvSpPr>
            <p:cNvPr id="40" name="Theme label"/>
            <p:cNvSpPr txBox="1"/>
            <p:nvPr/>
          </p:nvSpPr>
          <p:spPr>
            <a:xfrm>
              <a:off x="5000000" y="1430000"/>
              <a:ext cx="5000000" cy="250000"/>
            </a:xfrm>
            <a:prstGeom prst="rect">
              <a:avLst/>
            </a:prstGeom>
            <a:noFill/>
            <a:ln>
              <a:noFill/>
            </a:ln>
          </p:spPr>
          <p:txBody>
            <a:bodyPr vert="horz" wrap="square" lIns="0" tIns="0" rIns="0" bIns="0" rtlCol="0" anchor="t">
              <a:noAutofit/>
            </a:bodyPr>
            <a:lstStyle/>
            <a:p>
              <a:pPr algn="l"/>
              <a:r>
                <a:rPr lang="en-US" sz="930" b="1" i="0" spc="300">
                  <a:solidFill>
                    <a:srgbClr val="C2410C"/>
                  </a:solidFill>
                  <a:latin typeface="IBM Plex Sans"/>
                  <a:ea typeface="IBM Plex Sans"/>
                  <a:cs typeface="IBM Plex Sans"/>
                </a:rPr>
                <a:t>THEME ALIGNMENT</a:t>
              </a:r>
            </a:p>
          </p:txBody>
        </p:sp>
        <p:sp>
          <p:nvSpPr>
            <p:cNvPr id="41" name="Theme sub"/>
            <p:cNvSpPr txBox="1"/>
            <p:nvPr/>
          </p:nvSpPr>
          <p:spPr>
            <a:xfrm>
              <a:off x="5000000" y="1680000"/>
              <a:ext cx="5500000" cy="230000"/>
            </a:xfrm>
            <a:prstGeom prst="rect">
              <a:avLst/>
            </a:prstGeom>
            <a:noFill/>
            <a:ln>
              <a:noFill/>
            </a:ln>
          </p:spPr>
          <p:txBody>
            <a:bodyPr vert="horz" wrap="square" lIns="0" tIns="0" rIns="0" bIns="0" rtlCol="0" anchor="t">
              <a:noAutofit/>
            </a:bodyPr>
            <a:lstStyle/>
            <a:p>
              <a:pPr algn="l"/>
              <a:r>
                <a:rPr lang="en-US" sz="930" b="0" i="0">
                  <a:solidFill>
                    <a:srgbClr val="475467"/>
                  </a:solidFill>
                  <a:latin typeface="IBM Plex Sans"/>
                  <a:ea typeface="IBM Plex Sans"/>
                  <a:cs typeface="IBM Plex Sans"/>
                </a:rPr>
                <a:t>All 9 suggested technical directions are covered</a:t>
              </a:r>
            </a:p>
          </p:txBody>
        </p:sp>
      </p:grpSp>
      <p:grpSp>
        <p:nvGrpSpPr>
          <p:cNvPr id="50" name="Theme tile 0"/>
          <p:cNvGrpSpPr/>
          <p:nvPr/>
        </p:nvGrpSpPr>
        <p:grpSpPr>
          <a:xfrm>
            <a:off x="4565220" y="2351784"/>
            <a:ext cx="2083944" cy="1236900"/>
            <a:chOff x="4450000" y="2000000"/>
            <a:chExt cx="2240800" cy="1330000"/>
          </a:xfrm>
        </p:grpSpPr>
        <p:sp>
          <p:nvSpPr>
            <p:cNvPr id="43" name="Ttile0"/>
            <p:cNvSpPr/>
            <p:nvPr/>
          </p:nvSpPr>
          <p:spPr>
            <a:xfrm>
              <a:off x="4450000" y="2000000"/>
              <a:ext cx="2240800" cy="1330000"/>
            </a:xfrm>
            <a:prstGeom prst="roundRect">
              <a:avLst>
                <a:gd name="adj" fmla="val 7000"/>
              </a:avLst>
            </a:prstGeom>
            <a:solidFill>
              <a:srgbClr val="FFFFFF"/>
            </a:solidFill>
            <a:ln w="11811">
              <a:solidFill>
                <a:srgbClr val="D5DBE5"/>
              </a:solidFill>
            </a:ln>
          </p:spPr>
          <p:txBody>
            <a:bodyPr vert="horz" wrap="square" lIns="0" tIns="0" rIns="0" bIns="0" rtlCol="0" anchor="ctr">
              <a:noAutofit/>
            </a:bodyPr>
            <a:lstStyle/>
            <a:p>
              <a:endParaRPr lang="en-US"/>
            </a:p>
          </p:txBody>
        </p:sp>
        <p:sp>
          <p:nvSpPr>
            <p:cNvPr id="44" name="Object detection circle"/>
            <p:cNvSpPr/>
            <p:nvPr/>
          </p:nvSpPr>
          <p:spPr>
            <a:xfrm>
              <a:off x="4580000" y="2130000"/>
              <a:ext cx="420000" cy="420000"/>
            </a:xfrm>
            <a:prstGeom prst="ellipse">
              <a:avLst/>
            </a:prstGeom>
            <a:solidFill>
              <a:srgbClr val="C2410C"/>
            </a:solidFill>
            <a:ln>
              <a:noFill/>
            </a:ln>
          </p:spPr>
          <p:txBody>
            <a:bodyPr vert="horz" wrap="square" lIns="0" tIns="0" rIns="0" bIns="0" rtlCol="0" anchor="ctr">
              <a:noAutofit/>
            </a:bodyPr>
            <a:lstStyle/>
            <a:p>
              <a:endParaRPr lang="en-US"/>
            </a:p>
          </p:txBody>
        </p:sp>
        <p:pic>
          <p:nvPicPr>
            <p:cNvPr id="45" name="Icon Object detection" descr="Object detection icon"/>
            <p:cNvPicPr preferRelativeResize="0"/>
            <p:nvPr/>
          </p:nvPicPr>
          <p:blipFill>
            <a:blip r:embed="rId9"/>
            <a:stretch>
              <a:fillRect/>
            </a:stretch>
          </p:blipFill>
          <p:spPr>
            <a:xfrm>
              <a:off x="4685000" y="2235000"/>
              <a:ext cx="210000" cy="210000"/>
            </a:xfrm>
            <a:prstGeom prst="rect">
              <a:avLst/>
            </a:prstGeom>
          </p:spPr>
        </p:pic>
        <p:sp>
          <p:nvSpPr>
            <p:cNvPr id="46" name="checkObject detection circle"/>
            <p:cNvSpPr/>
            <p:nvPr/>
          </p:nvSpPr>
          <p:spPr>
            <a:xfrm>
              <a:off x="6330800" y="2140000"/>
              <a:ext cx="230000" cy="230000"/>
            </a:xfrm>
            <a:prstGeom prst="ellipse">
              <a:avLst/>
            </a:prstGeom>
            <a:solidFill>
              <a:srgbClr val="16A34A"/>
            </a:solidFill>
            <a:ln>
              <a:noFill/>
            </a:ln>
          </p:spPr>
          <p:txBody>
            <a:bodyPr vert="horz" wrap="square" lIns="0" tIns="0" rIns="0" bIns="0" rtlCol="0" anchor="ctr">
              <a:noAutofit/>
            </a:bodyPr>
            <a:lstStyle/>
            <a:p>
              <a:endParaRPr lang="en-US"/>
            </a:p>
          </p:txBody>
        </p:sp>
        <p:pic>
          <p:nvPicPr>
            <p:cNvPr id="47" name="Icon checkObject detection" descr="checkObject detection icon"/>
            <p:cNvPicPr preferRelativeResize="0"/>
            <p:nvPr/>
          </p:nvPicPr>
          <p:blipFill>
            <a:blip r:embed="rId8"/>
            <a:stretch>
              <a:fillRect/>
            </a:stretch>
          </p:blipFill>
          <p:spPr>
            <a:xfrm>
              <a:off x="6374500" y="2183700"/>
              <a:ext cx="142600" cy="142600"/>
            </a:xfrm>
            <a:prstGeom prst="rect">
              <a:avLst/>
            </a:prstGeom>
          </p:spPr>
        </p:pic>
        <p:sp>
          <p:nvSpPr>
            <p:cNvPr id="48" name="Tt0"/>
            <p:cNvSpPr txBox="1"/>
            <p:nvPr/>
          </p:nvSpPr>
          <p:spPr>
            <a:xfrm>
              <a:off x="4580000" y="2640000"/>
              <a:ext cx="2040800" cy="250000"/>
            </a:xfrm>
            <a:prstGeom prst="rect">
              <a:avLst/>
            </a:prstGeom>
            <a:noFill/>
            <a:ln>
              <a:noFill/>
            </a:ln>
          </p:spPr>
          <p:txBody>
            <a:bodyPr vert="horz" wrap="square" lIns="0" tIns="0" rIns="0" bIns="0" rtlCol="0" anchor="t">
              <a:noAutofit/>
            </a:bodyPr>
            <a:lstStyle/>
            <a:p>
              <a:pPr algn="l"/>
              <a:r>
                <a:rPr lang="en-US" sz="1023" b="1" i="0">
                  <a:solidFill>
                    <a:srgbClr val="111827"/>
                  </a:solidFill>
                  <a:latin typeface="Montserrat"/>
                  <a:ea typeface="Montserrat"/>
                  <a:cs typeface="Montserrat"/>
                </a:rPr>
                <a:t>Object detection</a:t>
              </a:r>
            </a:p>
          </p:txBody>
        </p:sp>
        <p:sp>
          <p:nvSpPr>
            <p:cNvPr id="49" name="Td0"/>
            <p:cNvSpPr txBox="1"/>
            <p:nvPr/>
          </p:nvSpPr>
          <p:spPr>
            <a:xfrm>
              <a:off x="4580000" y="2900000"/>
              <a:ext cx="2010800" cy="400000"/>
            </a:xfrm>
            <a:prstGeom prst="rect">
              <a:avLst/>
            </a:prstGeom>
            <a:noFill/>
            <a:ln>
              <a:noFill/>
            </a:ln>
          </p:spPr>
          <p:txBody>
            <a:bodyPr vert="horz" wrap="square" lIns="0" tIns="0" rIns="0" bIns="0" rtlCol="0" anchor="t">
              <a:noAutofit/>
            </a:bodyPr>
            <a:lstStyle/>
            <a:p>
              <a:pPr algn="l"/>
              <a:r>
                <a:rPr lang="en-US" sz="837" b="0" i="0">
                  <a:solidFill>
                    <a:srgbClr val="475467"/>
                  </a:solidFill>
                  <a:latin typeface="IBM Plex Sans"/>
                  <a:ea typeface="IBM Plex Sans"/>
                  <a:cs typeface="IBM Plex Sans"/>
                </a:rPr>
                <a:t>YOLO finds people, chairs, bottles and more</a:t>
              </a:r>
            </a:p>
          </p:txBody>
        </p:sp>
      </p:grpSp>
      <p:grpSp>
        <p:nvGrpSpPr>
          <p:cNvPr id="58" name="Theme tile 1"/>
          <p:cNvGrpSpPr/>
          <p:nvPr/>
        </p:nvGrpSpPr>
        <p:grpSpPr>
          <a:xfrm>
            <a:off x="6770064" y="2351784"/>
            <a:ext cx="2083944" cy="1236900"/>
            <a:chOff x="6820800" y="2000000"/>
            <a:chExt cx="2240800" cy="1330000"/>
          </a:xfrm>
        </p:grpSpPr>
        <p:sp>
          <p:nvSpPr>
            <p:cNvPr id="51" name="Ttile1"/>
            <p:cNvSpPr/>
            <p:nvPr/>
          </p:nvSpPr>
          <p:spPr>
            <a:xfrm>
              <a:off x="6820800" y="2000000"/>
              <a:ext cx="2240800" cy="1330000"/>
            </a:xfrm>
            <a:prstGeom prst="roundRect">
              <a:avLst>
                <a:gd name="adj" fmla="val 7000"/>
              </a:avLst>
            </a:prstGeom>
            <a:solidFill>
              <a:srgbClr val="FFFFFF"/>
            </a:solidFill>
            <a:ln w="11811">
              <a:solidFill>
                <a:srgbClr val="D5DBE5"/>
              </a:solidFill>
            </a:ln>
          </p:spPr>
          <p:txBody>
            <a:bodyPr vert="horz" wrap="square" lIns="0" tIns="0" rIns="0" bIns="0" rtlCol="0" anchor="ctr">
              <a:noAutofit/>
            </a:bodyPr>
            <a:lstStyle/>
            <a:p>
              <a:endParaRPr lang="en-US"/>
            </a:p>
          </p:txBody>
        </p:sp>
        <p:sp>
          <p:nvSpPr>
            <p:cNvPr id="52" name="Image classification circle"/>
            <p:cNvSpPr/>
            <p:nvPr/>
          </p:nvSpPr>
          <p:spPr>
            <a:xfrm>
              <a:off x="6950800" y="2130000"/>
              <a:ext cx="420000" cy="420000"/>
            </a:xfrm>
            <a:prstGeom prst="ellipse">
              <a:avLst/>
            </a:prstGeom>
            <a:solidFill>
              <a:srgbClr val="C2410C"/>
            </a:solidFill>
            <a:ln>
              <a:noFill/>
            </a:ln>
          </p:spPr>
          <p:txBody>
            <a:bodyPr vert="horz" wrap="square" lIns="0" tIns="0" rIns="0" bIns="0" rtlCol="0" anchor="ctr">
              <a:noAutofit/>
            </a:bodyPr>
            <a:lstStyle/>
            <a:p>
              <a:endParaRPr lang="en-US"/>
            </a:p>
          </p:txBody>
        </p:sp>
        <p:pic>
          <p:nvPicPr>
            <p:cNvPr id="53" name="Icon Image classification" descr="Image classification icon"/>
            <p:cNvPicPr preferRelativeResize="0"/>
            <p:nvPr/>
          </p:nvPicPr>
          <p:blipFill>
            <a:blip r:embed="rId10"/>
            <a:stretch>
              <a:fillRect/>
            </a:stretch>
          </p:blipFill>
          <p:spPr>
            <a:xfrm>
              <a:off x="7055800" y="2235000"/>
              <a:ext cx="210000" cy="210000"/>
            </a:xfrm>
            <a:prstGeom prst="rect">
              <a:avLst/>
            </a:prstGeom>
          </p:spPr>
        </p:pic>
        <p:sp>
          <p:nvSpPr>
            <p:cNvPr id="54" name="checkImage classification circle"/>
            <p:cNvSpPr/>
            <p:nvPr/>
          </p:nvSpPr>
          <p:spPr>
            <a:xfrm>
              <a:off x="8701600" y="2140000"/>
              <a:ext cx="230000" cy="230000"/>
            </a:xfrm>
            <a:prstGeom prst="ellipse">
              <a:avLst/>
            </a:prstGeom>
            <a:solidFill>
              <a:srgbClr val="16A34A"/>
            </a:solidFill>
            <a:ln>
              <a:noFill/>
            </a:ln>
          </p:spPr>
          <p:txBody>
            <a:bodyPr vert="horz" wrap="square" lIns="0" tIns="0" rIns="0" bIns="0" rtlCol="0" anchor="ctr">
              <a:noAutofit/>
            </a:bodyPr>
            <a:lstStyle/>
            <a:p>
              <a:endParaRPr lang="en-US"/>
            </a:p>
          </p:txBody>
        </p:sp>
        <p:pic>
          <p:nvPicPr>
            <p:cNvPr id="55" name="Icon checkImage classification" descr="checkImage classification icon"/>
            <p:cNvPicPr preferRelativeResize="0"/>
            <p:nvPr/>
          </p:nvPicPr>
          <p:blipFill>
            <a:blip r:embed="rId8"/>
            <a:stretch>
              <a:fillRect/>
            </a:stretch>
          </p:blipFill>
          <p:spPr>
            <a:xfrm>
              <a:off x="8745300" y="2183700"/>
              <a:ext cx="142600" cy="142600"/>
            </a:xfrm>
            <a:prstGeom prst="rect">
              <a:avLst/>
            </a:prstGeom>
          </p:spPr>
        </p:pic>
        <p:sp>
          <p:nvSpPr>
            <p:cNvPr id="56" name="Tt1"/>
            <p:cNvSpPr txBox="1"/>
            <p:nvPr/>
          </p:nvSpPr>
          <p:spPr>
            <a:xfrm>
              <a:off x="6950800" y="2640000"/>
              <a:ext cx="2040800" cy="250000"/>
            </a:xfrm>
            <a:prstGeom prst="rect">
              <a:avLst/>
            </a:prstGeom>
            <a:noFill/>
            <a:ln>
              <a:noFill/>
            </a:ln>
          </p:spPr>
          <p:txBody>
            <a:bodyPr vert="horz" wrap="square" lIns="0" tIns="0" rIns="0" bIns="0" rtlCol="0" anchor="t">
              <a:noAutofit/>
            </a:bodyPr>
            <a:lstStyle/>
            <a:p>
              <a:pPr algn="l"/>
              <a:r>
                <a:rPr lang="en-US" sz="1023" b="1" i="0">
                  <a:solidFill>
                    <a:srgbClr val="111827"/>
                  </a:solidFill>
                  <a:latin typeface="Montserrat"/>
                  <a:ea typeface="Montserrat"/>
                  <a:cs typeface="Montserrat"/>
                </a:rPr>
                <a:t>Image classification</a:t>
              </a:r>
            </a:p>
          </p:txBody>
        </p:sp>
        <p:sp>
          <p:nvSpPr>
            <p:cNvPr id="57" name="Td1"/>
            <p:cNvSpPr txBox="1"/>
            <p:nvPr/>
          </p:nvSpPr>
          <p:spPr>
            <a:xfrm>
              <a:off x="6950800" y="2900000"/>
              <a:ext cx="2010800" cy="400000"/>
            </a:xfrm>
            <a:prstGeom prst="rect">
              <a:avLst/>
            </a:prstGeom>
            <a:noFill/>
            <a:ln>
              <a:noFill/>
            </a:ln>
          </p:spPr>
          <p:txBody>
            <a:bodyPr vert="horz" wrap="square" lIns="0" tIns="0" rIns="0" bIns="0" rtlCol="0" anchor="t">
              <a:noAutofit/>
            </a:bodyPr>
            <a:lstStyle/>
            <a:p>
              <a:pPr algn="l"/>
              <a:r>
                <a:rPr lang="en-US" sz="837" b="0" i="0">
                  <a:solidFill>
                    <a:srgbClr val="475467"/>
                  </a:solidFill>
                  <a:latin typeface="IBM Plex Sans"/>
                  <a:ea typeface="IBM Plex Sans"/>
                  <a:cs typeface="IBM Plex Sans"/>
                </a:rPr>
                <a:t>Labels each detected object where needed</a:t>
              </a:r>
            </a:p>
          </p:txBody>
        </p:sp>
      </p:grpSp>
      <p:grpSp>
        <p:nvGrpSpPr>
          <p:cNvPr id="66" name="Theme tile 2"/>
          <p:cNvGrpSpPr/>
          <p:nvPr/>
        </p:nvGrpSpPr>
        <p:grpSpPr>
          <a:xfrm>
            <a:off x="8974908" y="2351784"/>
            <a:ext cx="2083944" cy="1236900"/>
            <a:chOff x="9191600" y="2000000"/>
            <a:chExt cx="2240800" cy="1330000"/>
          </a:xfrm>
        </p:grpSpPr>
        <p:sp>
          <p:nvSpPr>
            <p:cNvPr id="59" name="Ttile2"/>
            <p:cNvSpPr/>
            <p:nvPr/>
          </p:nvSpPr>
          <p:spPr>
            <a:xfrm>
              <a:off x="9191600" y="2000000"/>
              <a:ext cx="2240800" cy="1330000"/>
            </a:xfrm>
            <a:prstGeom prst="roundRect">
              <a:avLst>
                <a:gd name="adj" fmla="val 7000"/>
              </a:avLst>
            </a:prstGeom>
            <a:solidFill>
              <a:srgbClr val="FFFFFF"/>
            </a:solidFill>
            <a:ln w="11811">
              <a:solidFill>
                <a:srgbClr val="D5DBE5"/>
              </a:solidFill>
            </a:ln>
          </p:spPr>
          <p:txBody>
            <a:bodyPr vert="horz" wrap="square" lIns="0" tIns="0" rIns="0" bIns="0" rtlCol="0" anchor="ctr">
              <a:noAutofit/>
            </a:bodyPr>
            <a:lstStyle/>
            <a:p>
              <a:endParaRPr lang="en-US"/>
            </a:p>
          </p:txBody>
        </p:sp>
        <p:sp>
          <p:nvSpPr>
            <p:cNvPr id="60" name="Scene understanding circle"/>
            <p:cNvSpPr/>
            <p:nvPr/>
          </p:nvSpPr>
          <p:spPr>
            <a:xfrm>
              <a:off x="9321600" y="2130000"/>
              <a:ext cx="420000" cy="420000"/>
            </a:xfrm>
            <a:prstGeom prst="ellipse">
              <a:avLst/>
            </a:prstGeom>
            <a:solidFill>
              <a:srgbClr val="C2410C"/>
            </a:solidFill>
            <a:ln>
              <a:noFill/>
            </a:ln>
          </p:spPr>
          <p:txBody>
            <a:bodyPr vert="horz" wrap="square" lIns="0" tIns="0" rIns="0" bIns="0" rtlCol="0" anchor="ctr">
              <a:noAutofit/>
            </a:bodyPr>
            <a:lstStyle/>
            <a:p>
              <a:endParaRPr lang="en-US"/>
            </a:p>
          </p:txBody>
        </p:sp>
        <p:pic>
          <p:nvPicPr>
            <p:cNvPr id="61" name="Icon Scene understanding" descr="Scene understanding icon"/>
            <p:cNvPicPr preferRelativeResize="0"/>
            <p:nvPr/>
          </p:nvPicPr>
          <p:blipFill>
            <a:blip r:embed="rId11"/>
            <a:stretch>
              <a:fillRect/>
            </a:stretch>
          </p:blipFill>
          <p:spPr>
            <a:xfrm>
              <a:off x="9426600" y="2235000"/>
              <a:ext cx="210000" cy="210000"/>
            </a:xfrm>
            <a:prstGeom prst="rect">
              <a:avLst/>
            </a:prstGeom>
          </p:spPr>
        </p:pic>
        <p:sp>
          <p:nvSpPr>
            <p:cNvPr id="62" name="checkScene understanding circle"/>
            <p:cNvSpPr/>
            <p:nvPr/>
          </p:nvSpPr>
          <p:spPr>
            <a:xfrm>
              <a:off x="11072400" y="2140000"/>
              <a:ext cx="230000" cy="230000"/>
            </a:xfrm>
            <a:prstGeom prst="ellipse">
              <a:avLst/>
            </a:prstGeom>
            <a:solidFill>
              <a:srgbClr val="16A34A"/>
            </a:solidFill>
            <a:ln>
              <a:noFill/>
            </a:ln>
          </p:spPr>
          <p:txBody>
            <a:bodyPr vert="horz" wrap="square" lIns="0" tIns="0" rIns="0" bIns="0" rtlCol="0" anchor="ctr">
              <a:noAutofit/>
            </a:bodyPr>
            <a:lstStyle/>
            <a:p>
              <a:endParaRPr lang="en-US"/>
            </a:p>
          </p:txBody>
        </p:sp>
        <p:pic>
          <p:nvPicPr>
            <p:cNvPr id="63" name="Icon checkScene understanding" descr="checkScene understanding icon"/>
            <p:cNvPicPr preferRelativeResize="0"/>
            <p:nvPr/>
          </p:nvPicPr>
          <p:blipFill>
            <a:blip r:embed="rId8"/>
            <a:stretch>
              <a:fillRect/>
            </a:stretch>
          </p:blipFill>
          <p:spPr>
            <a:xfrm>
              <a:off x="11116100" y="2183700"/>
              <a:ext cx="142600" cy="142600"/>
            </a:xfrm>
            <a:prstGeom prst="rect">
              <a:avLst/>
            </a:prstGeom>
          </p:spPr>
        </p:pic>
        <p:sp>
          <p:nvSpPr>
            <p:cNvPr id="64" name="Tt2"/>
            <p:cNvSpPr txBox="1"/>
            <p:nvPr/>
          </p:nvSpPr>
          <p:spPr>
            <a:xfrm>
              <a:off x="9321600" y="2640000"/>
              <a:ext cx="2040800" cy="250000"/>
            </a:xfrm>
            <a:prstGeom prst="rect">
              <a:avLst/>
            </a:prstGeom>
            <a:noFill/>
            <a:ln>
              <a:noFill/>
            </a:ln>
          </p:spPr>
          <p:txBody>
            <a:bodyPr vert="horz" wrap="square" lIns="0" tIns="0" rIns="0" bIns="0" rtlCol="0" anchor="t">
              <a:noAutofit/>
            </a:bodyPr>
            <a:lstStyle/>
            <a:p>
              <a:pPr algn="l"/>
              <a:r>
                <a:rPr lang="en-US" sz="1023" b="1" i="0">
                  <a:solidFill>
                    <a:srgbClr val="111827"/>
                  </a:solidFill>
                  <a:latin typeface="Montserrat"/>
                  <a:ea typeface="Montserrat"/>
                  <a:cs typeface="Montserrat"/>
                </a:rPr>
                <a:t>Scene understanding</a:t>
              </a:r>
            </a:p>
          </p:txBody>
        </p:sp>
        <p:sp>
          <p:nvSpPr>
            <p:cNvPr id="65" name="Td2"/>
            <p:cNvSpPr txBox="1"/>
            <p:nvPr/>
          </p:nvSpPr>
          <p:spPr>
            <a:xfrm>
              <a:off x="9321600" y="2900000"/>
              <a:ext cx="2010800" cy="400000"/>
            </a:xfrm>
            <a:prstGeom prst="rect">
              <a:avLst/>
            </a:prstGeom>
            <a:noFill/>
            <a:ln>
              <a:noFill/>
            </a:ln>
          </p:spPr>
          <p:txBody>
            <a:bodyPr vert="horz" wrap="square" lIns="0" tIns="0" rIns="0" bIns="0" rtlCol="0" anchor="t">
              <a:noAutofit/>
            </a:bodyPr>
            <a:lstStyle/>
            <a:p>
              <a:pPr algn="l"/>
              <a:r>
                <a:rPr lang="en-US" sz="837" b="0" i="0">
                  <a:solidFill>
                    <a:srgbClr val="475467"/>
                  </a:solidFill>
                  <a:latin typeface="IBM Plex Sans"/>
                  <a:ea typeface="IBM Plex Sans"/>
                  <a:cs typeface="IBM Plex Sans"/>
                </a:rPr>
                <a:t>Objects + sensor readings give the full picture</a:t>
              </a:r>
            </a:p>
          </p:txBody>
        </p:sp>
      </p:grpSp>
      <p:grpSp>
        <p:nvGrpSpPr>
          <p:cNvPr id="74" name="Theme tile 3"/>
          <p:cNvGrpSpPr/>
          <p:nvPr/>
        </p:nvGrpSpPr>
        <p:grpSpPr>
          <a:xfrm>
            <a:off x="4565220" y="3709584"/>
            <a:ext cx="2083944" cy="1236900"/>
            <a:chOff x="4450000" y="3460000"/>
            <a:chExt cx="2240800" cy="1330000"/>
          </a:xfrm>
        </p:grpSpPr>
        <p:sp>
          <p:nvSpPr>
            <p:cNvPr id="67" name="Ttile3"/>
            <p:cNvSpPr/>
            <p:nvPr/>
          </p:nvSpPr>
          <p:spPr>
            <a:xfrm>
              <a:off x="4450000" y="3460000"/>
              <a:ext cx="2240800" cy="1330000"/>
            </a:xfrm>
            <a:prstGeom prst="roundRect">
              <a:avLst>
                <a:gd name="adj" fmla="val 7000"/>
              </a:avLst>
            </a:prstGeom>
            <a:solidFill>
              <a:srgbClr val="FFFFFF"/>
            </a:solidFill>
            <a:ln w="11811">
              <a:solidFill>
                <a:srgbClr val="D5DBE5"/>
              </a:solidFill>
            </a:ln>
          </p:spPr>
          <p:txBody>
            <a:bodyPr vert="horz" wrap="square" lIns="0" tIns="0" rIns="0" bIns="0" rtlCol="0" anchor="ctr">
              <a:noAutofit/>
            </a:bodyPr>
            <a:lstStyle/>
            <a:p>
              <a:endParaRPr lang="en-US"/>
            </a:p>
          </p:txBody>
        </p:sp>
        <p:sp>
          <p:nvSpPr>
            <p:cNvPr id="68" name="Vision-language model circle"/>
            <p:cNvSpPr/>
            <p:nvPr/>
          </p:nvSpPr>
          <p:spPr>
            <a:xfrm>
              <a:off x="4580000" y="3590000"/>
              <a:ext cx="420000" cy="420000"/>
            </a:xfrm>
            <a:prstGeom prst="ellipse">
              <a:avLst/>
            </a:prstGeom>
            <a:solidFill>
              <a:srgbClr val="2F5D8A"/>
            </a:solidFill>
            <a:ln>
              <a:noFill/>
            </a:ln>
          </p:spPr>
          <p:txBody>
            <a:bodyPr vert="horz" wrap="square" lIns="0" tIns="0" rIns="0" bIns="0" rtlCol="0" anchor="ctr">
              <a:noAutofit/>
            </a:bodyPr>
            <a:lstStyle/>
            <a:p>
              <a:endParaRPr lang="en-US"/>
            </a:p>
          </p:txBody>
        </p:sp>
        <p:pic>
          <p:nvPicPr>
            <p:cNvPr id="69" name="Icon Vision-language model" descr="Vision-language model icon"/>
            <p:cNvPicPr preferRelativeResize="0"/>
            <p:nvPr/>
          </p:nvPicPr>
          <p:blipFill>
            <a:blip r:embed="rId12"/>
            <a:stretch>
              <a:fillRect/>
            </a:stretch>
          </p:blipFill>
          <p:spPr>
            <a:xfrm>
              <a:off x="4685000" y="3695000"/>
              <a:ext cx="210000" cy="210000"/>
            </a:xfrm>
            <a:prstGeom prst="rect">
              <a:avLst/>
            </a:prstGeom>
          </p:spPr>
        </p:pic>
        <p:sp>
          <p:nvSpPr>
            <p:cNvPr id="70" name="checkVision-language model circle"/>
            <p:cNvSpPr/>
            <p:nvPr/>
          </p:nvSpPr>
          <p:spPr>
            <a:xfrm>
              <a:off x="6330800" y="3600000"/>
              <a:ext cx="230000" cy="230000"/>
            </a:xfrm>
            <a:prstGeom prst="ellipse">
              <a:avLst/>
            </a:prstGeom>
            <a:solidFill>
              <a:srgbClr val="16A34A"/>
            </a:solidFill>
            <a:ln>
              <a:noFill/>
            </a:ln>
          </p:spPr>
          <p:txBody>
            <a:bodyPr vert="horz" wrap="square" lIns="0" tIns="0" rIns="0" bIns="0" rtlCol="0" anchor="ctr">
              <a:noAutofit/>
            </a:bodyPr>
            <a:lstStyle/>
            <a:p>
              <a:endParaRPr lang="en-US"/>
            </a:p>
          </p:txBody>
        </p:sp>
        <p:pic>
          <p:nvPicPr>
            <p:cNvPr id="71" name="Icon checkVision-language model" descr="checkVision-language model icon"/>
            <p:cNvPicPr preferRelativeResize="0"/>
            <p:nvPr/>
          </p:nvPicPr>
          <p:blipFill>
            <a:blip r:embed="rId8"/>
            <a:stretch>
              <a:fillRect/>
            </a:stretch>
          </p:blipFill>
          <p:spPr>
            <a:xfrm>
              <a:off x="6374500" y="3643700"/>
              <a:ext cx="142600" cy="142600"/>
            </a:xfrm>
            <a:prstGeom prst="rect">
              <a:avLst/>
            </a:prstGeom>
          </p:spPr>
        </p:pic>
        <p:sp>
          <p:nvSpPr>
            <p:cNvPr id="72" name="Tt3"/>
            <p:cNvSpPr txBox="1"/>
            <p:nvPr/>
          </p:nvSpPr>
          <p:spPr>
            <a:xfrm>
              <a:off x="4580000" y="4100000"/>
              <a:ext cx="2040800" cy="250000"/>
            </a:xfrm>
            <a:prstGeom prst="rect">
              <a:avLst/>
            </a:prstGeom>
            <a:noFill/>
            <a:ln>
              <a:noFill/>
            </a:ln>
          </p:spPr>
          <p:txBody>
            <a:bodyPr vert="horz" wrap="square" lIns="0" tIns="0" rIns="0" bIns="0" rtlCol="0" anchor="t">
              <a:noAutofit/>
            </a:bodyPr>
            <a:lstStyle/>
            <a:p>
              <a:pPr algn="l"/>
              <a:r>
                <a:rPr lang="en-US" sz="1023" b="1" i="0">
                  <a:solidFill>
                    <a:srgbClr val="111827"/>
                  </a:solidFill>
                  <a:latin typeface="Montserrat"/>
                  <a:ea typeface="Montserrat"/>
                  <a:cs typeface="Montserrat"/>
                </a:rPr>
                <a:t>Vision-language model</a:t>
              </a:r>
            </a:p>
          </p:txBody>
        </p:sp>
        <p:sp>
          <p:nvSpPr>
            <p:cNvPr id="73" name="Td3"/>
            <p:cNvSpPr txBox="1"/>
            <p:nvPr/>
          </p:nvSpPr>
          <p:spPr>
            <a:xfrm>
              <a:off x="4580000" y="4360000"/>
              <a:ext cx="2010800" cy="400000"/>
            </a:xfrm>
            <a:prstGeom prst="rect">
              <a:avLst/>
            </a:prstGeom>
            <a:noFill/>
            <a:ln>
              <a:noFill/>
            </a:ln>
          </p:spPr>
          <p:txBody>
            <a:bodyPr vert="horz" wrap="square" lIns="0" tIns="0" rIns="0" bIns="0" rtlCol="0" anchor="t">
              <a:noAutofit/>
            </a:bodyPr>
            <a:lstStyle/>
            <a:p>
              <a:pPr algn="l"/>
              <a:r>
                <a:rPr lang="en-US" sz="837" b="0" i="0">
                  <a:solidFill>
                    <a:srgbClr val="475467"/>
                  </a:solidFill>
                  <a:latin typeface="IBM Plex Sans"/>
                  <a:ea typeface="IBM Plex Sans"/>
                  <a:cs typeface="IBM Plex Sans"/>
                </a:rPr>
                <a:t>Optional layer for “Go to the chair” commands</a:t>
              </a:r>
            </a:p>
          </p:txBody>
        </p:sp>
      </p:grpSp>
      <p:grpSp>
        <p:nvGrpSpPr>
          <p:cNvPr id="82" name="Theme tile 4"/>
          <p:cNvGrpSpPr/>
          <p:nvPr/>
        </p:nvGrpSpPr>
        <p:grpSpPr>
          <a:xfrm>
            <a:off x="6770064" y="3709584"/>
            <a:ext cx="2083944" cy="1236900"/>
            <a:chOff x="6820800" y="3460000"/>
            <a:chExt cx="2240800" cy="1330000"/>
          </a:xfrm>
        </p:grpSpPr>
        <p:sp>
          <p:nvSpPr>
            <p:cNvPr id="75" name="Ttile4"/>
            <p:cNvSpPr/>
            <p:nvPr/>
          </p:nvSpPr>
          <p:spPr>
            <a:xfrm>
              <a:off x="6820800" y="3460000"/>
              <a:ext cx="2240800" cy="1330000"/>
            </a:xfrm>
            <a:prstGeom prst="roundRect">
              <a:avLst>
                <a:gd name="adj" fmla="val 7000"/>
              </a:avLst>
            </a:prstGeom>
            <a:solidFill>
              <a:srgbClr val="FFFFFF"/>
            </a:solidFill>
            <a:ln w="11811">
              <a:solidFill>
                <a:srgbClr val="D5DBE5"/>
              </a:solidFill>
            </a:ln>
          </p:spPr>
          <p:txBody>
            <a:bodyPr vert="horz" wrap="square" lIns="0" tIns="0" rIns="0" bIns="0" rtlCol="0" anchor="ctr">
              <a:noAutofit/>
            </a:bodyPr>
            <a:lstStyle/>
            <a:p>
              <a:endParaRPr lang="en-US"/>
            </a:p>
          </p:txBody>
        </p:sp>
        <p:sp>
          <p:nvSpPr>
            <p:cNvPr id="76" name="Motor control circle"/>
            <p:cNvSpPr/>
            <p:nvPr/>
          </p:nvSpPr>
          <p:spPr>
            <a:xfrm>
              <a:off x="6950800" y="3590000"/>
              <a:ext cx="420000" cy="420000"/>
            </a:xfrm>
            <a:prstGeom prst="ellipse">
              <a:avLst/>
            </a:prstGeom>
            <a:solidFill>
              <a:srgbClr val="2F5D8A"/>
            </a:solidFill>
            <a:ln>
              <a:noFill/>
            </a:ln>
          </p:spPr>
          <p:txBody>
            <a:bodyPr vert="horz" wrap="square" lIns="0" tIns="0" rIns="0" bIns="0" rtlCol="0" anchor="ctr">
              <a:noAutofit/>
            </a:bodyPr>
            <a:lstStyle/>
            <a:p>
              <a:endParaRPr lang="en-US"/>
            </a:p>
          </p:txBody>
        </p:sp>
        <p:pic>
          <p:nvPicPr>
            <p:cNvPr id="77" name="Icon Motor control" descr="Motor control icon"/>
            <p:cNvPicPr preferRelativeResize="0"/>
            <p:nvPr/>
          </p:nvPicPr>
          <p:blipFill>
            <a:blip r:embed="rId13"/>
            <a:stretch>
              <a:fillRect/>
            </a:stretch>
          </p:blipFill>
          <p:spPr>
            <a:xfrm>
              <a:off x="7055800" y="3695000"/>
              <a:ext cx="210000" cy="210000"/>
            </a:xfrm>
            <a:prstGeom prst="rect">
              <a:avLst/>
            </a:prstGeom>
          </p:spPr>
        </p:pic>
        <p:sp>
          <p:nvSpPr>
            <p:cNvPr id="78" name="checkMotor control circle"/>
            <p:cNvSpPr/>
            <p:nvPr/>
          </p:nvSpPr>
          <p:spPr>
            <a:xfrm>
              <a:off x="8701600" y="3600000"/>
              <a:ext cx="230000" cy="230000"/>
            </a:xfrm>
            <a:prstGeom prst="ellipse">
              <a:avLst/>
            </a:prstGeom>
            <a:solidFill>
              <a:srgbClr val="16A34A"/>
            </a:solidFill>
            <a:ln>
              <a:noFill/>
            </a:ln>
          </p:spPr>
          <p:txBody>
            <a:bodyPr vert="horz" wrap="square" lIns="0" tIns="0" rIns="0" bIns="0" rtlCol="0" anchor="ctr">
              <a:noAutofit/>
            </a:bodyPr>
            <a:lstStyle/>
            <a:p>
              <a:endParaRPr lang="en-US"/>
            </a:p>
          </p:txBody>
        </p:sp>
        <p:pic>
          <p:nvPicPr>
            <p:cNvPr id="79" name="Icon checkMotor control" descr="checkMotor control icon"/>
            <p:cNvPicPr preferRelativeResize="0"/>
            <p:nvPr/>
          </p:nvPicPr>
          <p:blipFill>
            <a:blip r:embed="rId8"/>
            <a:stretch>
              <a:fillRect/>
            </a:stretch>
          </p:blipFill>
          <p:spPr>
            <a:xfrm>
              <a:off x="8745300" y="3643700"/>
              <a:ext cx="142600" cy="142600"/>
            </a:xfrm>
            <a:prstGeom prst="rect">
              <a:avLst/>
            </a:prstGeom>
          </p:spPr>
        </p:pic>
        <p:sp>
          <p:nvSpPr>
            <p:cNvPr id="80" name="Tt4"/>
            <p:cNvSpPr txBox="1"/>
            <p:nvPr/>
          </p:nvSpPr>
          <p:spPr>
            <a:xfrm>
              <a:off x="6950800" y="4100000"/>
              <a:ext cx="2040800" cy="250000"/>
            </a:xfrm>
            <a:prstGeom prst="rect">
              <a:avLst/>
            </a:prstGeom>
            <a:noFill/>
            <a:ln>
              <a:noFill/>
            </a:ln>
          </p:spPr>
          <p:txBody>
            <a:bodyPr vert="horz" wrap="square" lIns="0" tIns="0" rIns="0" bIns="0" rtlCol="0" anchor="t">
              <a:noAutofit/>
            </a:bodyPr>
            <a:lstStyle/>
            <a:p>
              <a:pPr algn="l"/>
              <a:r>
                <a:rPr lang="en-US" sz="1023" b="1" i="0">
                  <a:solidFill>
                    <a:srgbClr val="111827"/>
                  </a:solidFill>
                  <a:latin typeface="Montserrat"/>
                  <a:ea typeface="Montserrat"/>
                  <a:cs typeface="Montserrat"/>
                </a:rPr>
                <a:t>Motor control</a:t>
              </a:r>
            </a:p>
          </p:txBody>
        </p:sp>
        <p:sp>
          <p:nvSpPr>
            <p:cNvPr id="81" name="Td4"/>
            <p:cNvSpPr txBox="1"/>
            <p:nvPr/>
          </p:nvSpPr>
          <p:spPr>
            <a:xfrm>
              <a:off x="6950800" y="4360000"/>
              <a:ext cx="2010800" cy="400000"/>
            </a:xfrm>
            <a:prstGeom prst="rect">
              <a:avLst/>
            </a:prstGeom>
            <a:noFill/>
            <a:ln>
              <a:noFill/>
            </a:ln>
          </p:spPr>
          <p:txBody>
            <a:bodyPr vert="horz" wrap="square" lIns="0" tIns="0" rIns="0" bIns="0" rtlCol="0" anchor="t">
              <a:noAutofit/>
            </a:bodyPr>
            <a:lstStyle/>
            <a:p>
              <a:pPr algn="l"/>
              <a:r>
                <a:rPr lang="en-US" sz="837" b="0" i="0">
                  <a:solidFill>
                    <a:srgbClr val="475467"/>
                  </a:solidFill>
                  <a:latin typeface="IBM Plex Sans"/>
                  <a:ea typeface="IBM Plex Sans"/>
                  <a:cs typeface="IBM Plex Sans"/>
                </a:rPr>
                <a:t>Arduino Mega drives the four mecanum motors</a:t>
              </a:r>
            </a:p>
          </p:txBody>
        </p:sp>
      </p:grpSp>
      <p:grpSp>
        <p:nvGrpSpPr>
          <p:cNvPr id="90" name="Theme tile 5"/>
          <p:cNvGrpSpPr/>
          <p:nvPr/>
        </p:nvGrpSpPr>
        <p:grpSpPr>
          <a:xfrm>
            <a:off x="8974908" y="3709584"/>
            <a:ext cx="2083944" cy="1236900"/>
            <a:chOff x="9191600" y="3460000"/>
            <a:chExt cx="2240800" cy="1330000"/>
          </a:xfrm>
        </p:grpSpPr>
        <p:sp>
          <p:nvSpPr>
            <p:cNvPr id="83" name="Ttile5"/>
            <p:cNvSpPr/>
            <p:nvPr/>
          </p:nvSpPr>
          <p:spPr>
            <a:xfrm>
              <a:off x="9191600" y="3460000"/>
              <a:ext cx="2240800" cy="1330000"/>
            </a:xfrm>
            <a:prstGeom prst="roundRect">
              <a:avLst>
                <a:gd name="adj" fmla="val 7000"/>
              </a:avLst>
            </a:prstGeom>
            <a:solidFill>
              <a:srgbClr val="FFFFFF"/>
            </a:solidFill>
            <a:ln w="11811">
              <a:solidFill>
                <a:srgbClr val="D5DBE5"/>
              </a:solidFill>
            </a:ln>
          </p:spPr>
          <p:txBody>
            <a:bodyPr vert="horz" wrap="square" lIns="0" tIns="0" rIns="0" bIns="0" rtlCol="0" anchor="ctr">
              <a:noAutofit/>
            </a:bodyPr>
            <a:lstStyle/>
            <a:p>
              <a:endParaRPr lang="en-US"/>
            </a:p>
          </p:txBody>
        </p:sp>
        <p:sp>
          <p:nvSpPr>
            <p:cNvPr id="84" name="Sensors &amp; perception circle"/>
            <p:cNvSpPr/>
            <p:nvPr/>
          </p:nvSpPr>
          <p:spPr>
            <a:xfrm>
              <a:off x="9321600" y="3590000"/>
              <a:ext cx="420000" cy="420000"/>
            </a:xfrm>
            <a:prstGeom prst="ellipse">
              <a:avLst/>
            </a:prstGeom>
            <a:solidFill>
              <a:srgbClr val="2F5D8A"/>
            </a:solidFill>
            <a:ln>
              <a:noFill/>
            </a:ln>
          </p:spPr>
          <p:txBody>
            <a:bodyPr vert="horz" wrap="square" lIns="0" tIns="0" rIns="0" bIns="0" rtlCol="0" anchor="ctr">
              <a:noAutofit/>
            </a:bodyPr>
            <a:lstStyle/>
            <a:p>
              <a:endParaRPr lang="en-US"/>
            </a:p>
          </p:txBody>
        </p:sp>
        <p:pic>
          <p:nvPicPr>
            <p:cNvPr id="85" name="Icon Sensors &amp; perception" descr="Sensors &amp; perception icon"/>
            <p:cNvPicPr preferRelativeResize="0"/>
            <p:nvPr/>
          </p:nvPicPr>
          <p:blipFill>
            <a:blip r:embed="rId14"/>
            <a:stretch>
              <a:fillRect/>
            </a:stretch>
          </p:blipFill>
          <p:spPr>
            <a:xfrm>
              <a:off x="9426600" y="3695000"/>
              <a:ext cx="210000" cy="210000"/>
            </a:xfrm>
            <a:prstGeom prst="rect">
              <a:avLst/>
            </a:prstGeom>
          </p:spPr>
        </p:pic>
        <p:sp>
          <p:nvSpPr>
            <p:cNvPr id="86" name="checkSensors &amp; perception circle"/>
            <p:cNvSpPr/>
            <p:nvPr/>
          </p:nvSpPr>
          <p:spPr>
            <a:xfrm>
              <a:off x="11072400" y="3600000"/>
              <a:ext cx="230000" cy="230000"/>
            </a:xfrm>
            <a:prstGeom prst="ellipse">
              <a:avLst/>
            </a:prstGeom>
            <a:solidFill>
              <a:srgbClr val="16A34A"/>
            </a:solidFill>
            <a:ln>
              <a:noFill/>
            </a:ln>
          </p:spPr>
          <p:txBody>
            <a:bodyPr vert="horz" wrap="square" lIns="0" tIns="0" rIns="0" bIns="0" rtlCol="0" anchor="ctr">
              <a:noAutofit/>
            </a:bodyPr>
            <a:lstStyle/>
            <a:p>
              <a:endParaRPr lang="en-US"/>
            </a:p>
          </p:txBody>
        </p:sp>
        <p:pic>
          <p:nvPicPr>
            <p:cNvPr id="87" name="Icon checkSensors &amp; perception" descr="checkSensors &amp; perception icon"/>
            <p:cNvPicPr preferRelativeResize="0"/>
            <p:nvPr/>
          </p:nvPicPr>
          <p:blipFill>
            <a:blip r:embed="rId8"/>
            <a:stretch>
              <a:fillRect/>
            </a:stretch>
          </p:blipFill>
          <p:spPr>
            <a:xfrm>
              <a:off x="11116100" y="3643700"/>
              <a:ext cx="142600" cy="142600"/>
            </a:xfrm>
            <a:prstGeom prst="rect">
              <a:avLst/>
            </a:prstGeom>
          </p:spPr>
        </p:pic>
        <p:sp>
          <p:nvSpPr>
            <p:cNvPr id="88" name="Tt5"/>
            <p:cNvSpPr txBox="1"/>
            <p:nvPr/>
          </p:nvSpPr>
          <p:spPr>
            <a:xfrm>
              <a:off x="9321600" y="4100000"/>
              <a:ext cx="2040800" cy="250000"/>
            </a:xfrm>
            <a:prstGeom prst="rect">
              <a:avLst/>
            </a:prstGeom>
            <a:noFill/>
            <a:ln>
              <a:noFill/>
            </a:ln>
          </p:spPr>
          <p:txBody>
            <a:bodyPr vert="horz" wrap="square" lIns="0" tIns="0" rIns="0" bIns="0" rtlCol="0" anchor="t">
              <a:noAutofit/>
            </a:bodyPr>
            <a:lstStyle/>
            <a:p>
              <a:pPr algn="l"/>
              <a:r>
                <a:rPr lang="en-US" sz="1023" b="1" i="0">
                  <a:solidFill>
                    <a:srgbClr val="111827"/>
                  </a:solidFill>
                  <a:latin typeface="Montserrat"/>
                  <a:ea typeface="Montserrat"/>
                  <a:cs typeface="Montserrat"/>
                </a:rPr>
                <a:t>Sensors &amp; perception</a:t>
              </a:r>
            </a:p>
          </p:txBody>
        </p:sp>
        <p:sp>
          <p:nvSpPr>
            <p:cNvPr id="89" name="Td5"/>
            <p:cNvSpPr txBox="1"/>
            <p:nvPr/>
          </p:nvSpPr>
          <p:spPr>
            <a:xfrm>
              <a:off x="9321600" y="4360000"/>
              <a:ext cx="2010800" cy="400000"/>
            </a:xfrm>
            <a:prstGeom prst="rect">
              <a:avLst/>
            </a:prstGeom>
            <a:noFill/>
            <a:ln>
              <a:noFill/>
            </a:ln>
          </p:spPr>
          <p:txBody>
            <a:bodyPr vert="horz" wrap="square" lIns="0" tIns="0" rIns="0" bIns="0" rtlCol="0" anchor="t">
              <a:noAutofit/>
            </a:bodyPr>
            <a:lstStyle/>
            <a:p>
              <a:pPr algn="l"/>
              <a:r>
                <a:rPr lang="en-US" sz="837" b="0" i="0">
                  <a:solidFill>
                    <a:srgbClr val="475467"/>
                  </a:solidFill>
                  <a:latin typeface="IBM Plex Sans"/>
                  <a:ea typeface="IBM Plex Sans"/>
                  <a:cs typeface="IBM Plex Sans"/>
                </a:rPr>
                <a:t>Ultrasonic, LiDAR + camera see the surroundings</a:t>
              </a:r>
            </a:p>
          </p:txBody>
        </p:sp>
      </p:grpSp>
      <p:grpSp>
        <p:nvGrpSpPr>
          <p:cNvPr id="98" name="Theme tile 6"/>
          <p:cNvGrpSpPr/>
          <p:nvPr/>
        </p:nvGrpSpPr>
        <p:grpSpPr>
          <a:xfrm>
            <a:off x="4565220" y="5067384"/>
            <a:ext cx="2083944" cy="1236900"/>
            <a:chOff x="4450000" y="4920000"/>
            <a:chExt cx="2240800" cy="1330000"/>
          </a:xfrm>
        </p:grpSpPr>
        <p:sp>
          <p:nvSpPr>
            <p:cNvPr id="91" name="Ttile6"/>
            <p:cNvSpPr/>
            <p:nvPr/>
          </p:nvSpPr>
          <p:spPr>
            <a:xfrm>
              <a:off x="4450000" y="4920000"/>
              <a:ext cx="2240800" cy="1330000"/>
            </a:xfrm>
            <a:prstGeom prst="roundRect">
              <a:avLst>
                <a:gd name="adj" fmla="val 7000"/>
              </a:avLst>
            </a:prstGeom>
            <a:solidFill>
              <a:srgbClr val="FFFFFF"/>
            </a:solidFill>
            <a:ln w="11811">
              <a:solidFill>
                <a:srgbClr val="D5DBE5"/>
              </a:solidFill>
            </a:ln>
          </p:spPr>
          <p:txBody>
            <a:bodyPr vert="horz" wrap="square" lIns="0" tIns="0" rIns="0" bIns="0" rtlCol="0" anchor="ctr">
              <a:noAutofit/>
            </a:bodyPr>
            <a:lstStyle/>
            <a:p>
              <a:endParaRPr lang="en-US"/>
            </a:p>
          </p:txBody>
        </p:sp>
        <p:sp>
          <p:nvSpPr>
            <p:cNvPr id="92" name="Autonomous navigation circle"/>
            <p:cNvSpPr/>
            <p:nvPr/>
          </p:nvSpPr>
          <p:spPr>
            <a:xfrm>
              <a:off x="4580000" y="5050000"/>
              <a:ext cx="420000" cy="420000"/>
            </a:xfrm>
            <a:prstGeom prst="ellipse">
              <a:avLst/>
            </a:prstGeom>
            <a:solidFill>
              <a:srgbClr val="2F5D8A"/>
            </a:solidFill>
            <a:ln>
              <a:noFill/>
            </a:ln>
          </p:spPr>
          <p:txBody>
            <a:bodyPr vert="horz" wrap="square" lIns="0" tIns="0" rIns="0" bIns="0" rtlCol="0" anchor="ctr">
              <a:noAutofit/>
            </a:bodyPr>
            <a:lstStyle/>
            <a:p>
              <a:endParaRPr lang="en-US"/>
            </a:p>
          </p:txBody>
        </p:sp>
        <p:pic>
          <p:nvPicPr>
            <p:cNvPr id="93" name="Icon Autonomous navigation" descr="Autonomous navigation icon"/>
            <p:cNvPicPr preferRelativeResize="0"/>
            <p:nvPr/>
          </p:nvPicPr>
          <p:blipFill>
            <a:blip r:embed="rId15"/>
            <a:stretch>
              <a:fillRect/>
            </a:stretch>
          </p:blipFill>
          <p:spPr>
            <a:xfrm>
              <a:off x="4685000" y="5155000"/>
              <a:ext cx="210000" cy="210000"/>
            </a:xfrm>
            <a:prstGeom prst="rect">
              <a:avLst/>
            </a:prstGeom>
          </p:spPr>
        </p:pic>
        <p:sp>
          <p:nvSpPr>
            <p:cNvPr id="94" name="checkAutonomous navigation circle"/>
            <p:cNvSpPr/>
            <p:nvPr/>
          </p:nvSpPr>
          <p:spPr>
            <a:xfrm>
              <a:off x="6330800" y="5060000"/>
              <a:ext cx="230000" cy="230000"/>
            </a:xfrm>
            <a:prstGeom prst="ellipse">
              <a:avLst/>
            </a:prstGeom>
            <a:solidFill>
              <a:srgbClr val="16A34A"/>
            </a:solidFill>
            <a:ln>
              <a:noFill/>
            </a:ln>
          </p:spPr>
          <p:txBody>
            <a:bodyPr vert="horz" wrap="square" lIns="0" tIns="0" rIns="0" bIns="0" rtlCol="0" anchor="ctr">
              <a:noAutofit/>
            </a:bodyPr>
            <a:lstStyle/>
            <a:p>
              <a:endParaRPr lang="en-US"/>
            </a:p>
          </p:txBody>
        </p:sp>
        <p:pic>
          <p:nvPicPr>
            <p:cNvPr id="95" name="Icon checkAutonomous navigation" descr="checkAutonomous navigation icon"/>
            <p:cNvPicPr preferRelativeResize="0"/>
            <p:nvPr/>
          </p:nvPicPr>
          <p:blipFill>
            <a:blip r:embed="rId8"/>
            <a:stretch>
              <a:fillRect/>
            </a:stretch>
          </p:blipFill>
          <p:spPr>
            <a:xfrm>
              <a:off x="6374500" y="5103700"/>
              <a:ext cx="142600" cy="142600"/>
            </a:xfrm>
            <a:prstGeom prst="rect">
              <a:avLst/>
            </a:prstGeom>
          </p:spPr>
        </p:pic>
        <p:sp>
          <p:nvSpPr>
            <p:cNvPr id="96" name="Tt6"/>
            <p:cNvSpPr txBox="1"/>
            <p:nvPr/>
          </p:nvSpPr>
          <p:spPr>
            <a:xfrm>
              <a:off x="4580000" y="5560000"/>
              <a:ext cx="2040800" cy="250000"/>
            </a:xfrm>
            <a:prstGeom prst="rect">
              <a:avLst/>
            </a:prstGeom>
            <a:noFill/>
            <a:ln>
              <a:noFill/>
            </a:ln>
          </p:spPr>
          <p:txBody>
            <a:bodyPr vert="horz" wrap="square" lIns="0" tIns="0" rIns="0" bIns="0" rtlCol="0" anchor="t">
              <a:noAutofit/>
            </a:bodyPr>
            <a:lstStyle/>
            <a:p>
              <a:pPr algn="l"/>
              <a:r>
                <a:rPr lang="en-US" sz="1023" b="1" i="0">
                  <a:solidFill>
                    <a:srgbClr val="111827"/>
                  </a:solidFill>
                  <a:latin typeface="Montserrat"/>
                  <a:ea typeface="Montserrat"/>
                  <a:cs typeface="Montserrat"/>
                </a:rPr>
                <a:t>Autonomous navigation</a:t>
              </a:r>
            </a:p>
          </p:txBody>
        </p:sp>
        <p:sp>
          <p:nvSpPr>
            <p:cNvPr id="97" name="Td6"/>
            <p:cNvSpPr txBox="1"/>
            <p:nvPr/>
          </p:nvSpPr>
          <p:spPr>
            <a:xfrm>
              <a:off x="4580000" y="5820000"/>
              <a:ext cx="2010800" cy="400000"/>
            </a:xfrm>
            <a:prstGeom prst="rect">
              <a:avLst/>
            </a:prstGeom>
            <a:noFill/>
            <a:ln>
              <a:noFill/>
            </a:ln>
          </p:spPr>
          <p:txBody>
            <a:bodyPr vert="horz" wrap="square" lIns="0" tIns="0" rIns="0" bIns="0" rtlCol="0" anchor="t">
              <a:noAutofit/>
            </a:bodyPr>
            <a:lstStyle/>
            <a:p>
              <a:pPr algn="l"/>
              <a:r>
                <a:rPr lang="en-US" sz="837" b="0" i="0">
                  <a:solidFill>
                    <a:srgbClr val="475467"/>
                  </a:solidFill>
                  <a:latin typeface="IBM Plex Sans"/>
                  <a:ea typeface="IBM Plex Sans"/>
                  <a:cs typeface="IBM Plex Sans"/>
                </a:rPr>
                <a:t>Robot picks its own path toward the target</a:t>
              </a:r>
            </a:p>
          </p:txBody>
        </p:sp>
      </p:grpSp>
      <p:grpSp>
        <p:nvGrpSpPr>
          <p:cNvPr id="106" name="Theme tile 7"/>
          <p:cNvGrpSpPr/>
          <p:nvPr/>
        </p:nvGrpSpPr>
        <p:grpSpPr>
          <a:xfrm>
            <a:off x="6770064" y="5067384"/>
            <a:ext cx="2083944" cy="1236900"/>
            <a:chOff x="6820800" y="4920000"/>
            <a:chExt cx="2240800" cy="1330000"/>
          </a:xfrm>
        </p:grpSpPr>
        <p:sp>
          <p:nvSpPr>
            <p:cNvPr id="99" name="Ttile7"/>
            <p:cNvSpPr/>
            <p:nvPr/>
          </p:nvSpPr>
          <p:spPr>
            <a:xfrm>
              <a:off x="6820800" y="4920000"/>
              <a:ext cx="2240800" cy="1330000"/>
            </a:xfrm>
            <a:prstGeom prst="roundRect">
              <a:avLst>
                <a:gd name="adj" fmla="val 7000"/>
              </a:avLst>
            </a:prstGeom>
            <a:solidFill>
              <a:srgbClr val="FFFFFF"/>
            </a:solidFill>
            <a:ln w="11811">
              <a:solidFill>
                <a:srgbClr val="D5DBE5"/>
              </a:solidFill>
            </a:ln>
          </p:spPr>
          <p:txBody>
            <a:bodyPr vert="horz" wrap="square" lIns="0" tIns="0" rIns="0" bIns="0" rtlCol="0" anchor="ctr">
              <a:noAutofit/>
            </a:bodyPr>
            <a:lstStyle/>
            <a:p>
              <a:endParaRPr lang="en-US"/>
            </a:p>
          </p:txBody>
        </p:sp>
        <p:sp>
          <p:nvSpPr>
            <p:cNvPr id="100" name="Obstacle avoidance circle"/>
            <p:cNvSpPr/>
            <p:nvPr/>
          </p:nvSpPr>
          <p:spPr>
            <a:xfrm>
              <a:off x="6950800" y="5050000"/>
              <a:ext cx="420000" cy="420000"/>
            </a:xfrm>
            <a:prstGeom prst="ellipse">
              <a:avLst/>
            </a:prstGeom>
            <a:solidFill>
              <a:srgbClr val="0F766E"/>
            </a:solidFill>
            <a:ln>
              <a:noFill/>
            </a:ln>
          </p:spPr>
          <p:txBody>
            <a:bodyPr vert="horz" wrap="square" lIns="0" tIns="0" rIns="0" bIns="0" rtlCol="0" anchor="ctr">
              <a:noAutofit/>
            </a:bodyPr>
            <a:lstStyle/>
            <a:p>
              <a:endParaRPr lang="en-US"/>
            </a:p>
          </p:txBody>
        </p:sp>
        <p:pic>
          <p:nvPicPr>
            <p:cNvPr id="101" name="Icon Obstacle avoidance" descr="Obstacle avoidance icon"/>
            <p:cNvPicPr preferRelativeResize="0"/>
            <p:nvPr/>
          </p:nvPicPr>
          <p:blipFill>
            <a:blip r:embed="rId16"/>
            <a:stretch>
              <a:fillRect/>
            </a:stretch>
          </p:blipFill>
          <p:spPr>
            <a:xfrm>
              <a:off x="7055800" y="5155000"/>
              <a:ext cx="210000" cy="210000"/>
            </a:xfrm>
            <a:prstGeom prst="rect">
              <a:avLst/>
            </a:prstGeom>
          </p:spPr>
        </p:pic>
        <p:sp>
          <p:nvSpPr>
            <p:cNvPr id="102" name="checkObstacle avoidance circle"/>
            <p:cNvSpPr/>
            <p:nvPr/>
          </p:nvSpPr>
          <p:spPr>
            <a:xfrm>
              <a:off x="8701600" y="5060000"/>
              <a:ext cx="230000" cy="230000"/>
            </a:xfrm>
            <a:prstGeom prst="ellipse">
              <a:avLst/>
            </a:prstGeom>
            <a:solidFill>
              <a:srgbClr val="16A34A"/>
            </a:solidFill>
            <a:ln>
              <a:noFill/>
            </a:ln>
          </p:spPr>
          <p:txBody>
            <a:bodyPr vert="horz" wrap="square" lIns="0" tIns="0" rIns="0" bIns="0" rtlCol="0" anchor="ctr">
              <a:noAutofit/>
            </a:bodyPr>
            <a:lstStyle/>
            <a:p>
              <a:endParaRPr lang="en-US"/>
            </a:p>
          </p:txBody>
        </p:sp>
        <p:pic>
          <p:nvPicPr>
            <p:cNvPr id="103" name="Icon checkObstacle avoidance" descr="checkObstacle avoidance icon"/>
            <p:cNvPicPr preferRelativeResize="0"/>
            <p:nvPr/>
          </p:nvPicPr>
          <p:blipFill>
            <a:blip r:embed="rId8"/>
            <a:stretch>
              <a:fillRect/>
            </a:stretch>
          </p:blipFill>
          <p:spPr>
            <a:xfrm>
              <a:off x="8745300" y="5103700"/>
              <a:ext cx="142600" cy="142600"/>
            </a:xfrm>
            <a:prstGeom prst="rect">
              <a:avLst/>
            </a:prstGeom>
          </p:spPr>
        </p:pic>
        <p:sp>
          <p:nvSpPr>
            <p:cNvPr id="104" name="Tt7"/>
            <p:cNvSpPr txBox="1"/>
            <p:nvPr/>
          </p:nvSpPr>
          <p:spPr>
            <a:xfrm>
              <a:off x="6950800" y="5560000"/>
              <a:ext cx="2040800" cy="250000"/>
            </a:xfrm>
            <a:prstGeom prst="rect">
              <a:avLst/>
            </a:prstGeom>
            <a:noFill/>
            <a:ln>
              <a:noFill/>
            </a:ln>
          </p:spPr>
          <p:txBody>
            <a:bodyPr vert="horz" wrap="square" lIns="0" tIns="0" rIns="0" bIns="0" rtlCol="0" anchor="t">
              <a:noAutofit/>
            </a:bodyPr>
            <a:lstStyle/>
            <a:p>
              <a:pPr algn="l"/>
              <a:r>
                <a:rPr lang="en-US" sz="1023" b="1" i="0">
                  <a:solidFill>
                    <a:srgbClr val="111827"/>
                  </a:solidFill>
                  <a:latin typeface="Montserrat"/>
                  <a:ea typeface="Montserrat"/>
                  <a:cs typeface="Montserrat"/>
                </a:rPr>
                <a:t>Obstacle avoidance</a:t>
              </a:r>
            </a:p>
          </p:txBody>
        </p:sp>
        <p:sp>
          <p:nvSpPr>
            <p:cNvPr id="105" name="Td7"/>
            <p:cNvSpPr txBox="1"/>
            <p:nvPr/>
          </p:nvSpPr>
          <p:spPr>
            <a:xfrm>
              <a:off x="6950800" y="5820000"/>
              <a:ext cx="2010800" cy="400000"/>
            </a:xfrm>
            <a:prstGeom prst="rect">
              <a:avLst/>
            </a:prstGeom>
            <a:noFill/>
            <a:ln>
              <a:noFill/>
            </a:ln>
          </p:spPr>
          <p:txBody>
            <a:bodyPr vert="horz" wrap="square" lIns="0" tIns="0" rIns="0" bIns="0" rtlCol="0" anchor="t">
              <a:noAutofit/>
            </a:bodyPr>
            <a:lstStyle/>
            <a:p>
              <a:pPr algn="l"/>
              <a:r>
                <a:rPr lang="en-US" sz="837" b="0" i="0">
                  <a:solidFill>
                    <a:srgbClr val="475467"/>
                  </a:solidFill>
                  <a:latin typeface="IBM Plex Sans"/>
                  <a:ea typeface="IBM Plex Sans"/>
                  <a:cs typeface="IBM Plex Sans"/>
                </a:rPr>
                <a:t>Spots nearby obstacles and changes direction</a:t>
              </a:r>
            </a:p>
          </p:txBody>
        </p:sp>
      </p:grpSp>
      <p:grpSp>
        <p:nvGrpSpPr>
          <p:cNvPr id="114" name="Theme tile 8"/>
          <p:cNvGrpSpPr/>
          <p:nvPr/>
        </p:nvGrpSpPr>
        <p:grpSpPr>
          <a:xfrm>
            <a:off x="8974908" y="5067384"/>
            <a:ext cx="2083944" cy="1236900"/>
            <a:chOff x="9191600" y="4920000"/>
            <a:chExt cx="2240800" cy="1330000"/>
          </a:xfrm>
        </p:grpSpPr>
        <p:sp>
          <p:nvSpPr>
            <p:cNvPr id="107" name="Ttile8"/>
            <p:cNvSpPr/>
            <p:nvPr/>
          </p:nvSpPr>
          <p:spPr>
            <a:xfrm>
              <a:off x="9191600" y="4920000"/>
              <a:ext cx="2240800" cy="1330000"/>
            </a:xfrm>
            <a:prstGeom prst="roundRect">
              <a:avLst>
                <a:gd name="adj" fmla="val 7000"/>
              </a:avLst>
            </a:prstGeom>
            <a:solidFill>
              <a:srgbClr val="FFFFFF"/>
            </a:solidFill>
            <a:ln w="11811">
              <a:solidFill>
                <a:srgbClr val="D5DBE5"/>
              </a:solidFill>
            </a:ln>
          </p:spPr>
          <p:txBody>
            <a:bodyPr vert="horz" wrap="square" lIns="0" tIns="0" rIns="0" bIns="0" rtlCol="0" anchor="ctr">
              <a:noAutofit/>
            </a:bodyPr>
            <a:lstStyle/>
            <a:p>
              <a:endParaRPr lang="en-US"/>
            </a:p>
          </p:txBody>
        </p:sp>
        <p:sp>
          <p:nvSpPr>
            <p:cNvPr id="108" name="Real-time decisions circle"/>
            <p:cNvSpPr/>
            <p:nvPr/>
          </p:nvSpPr>
          <p:spPr>
            <a:xfrm>
              <a:off x="9321600" y="5050000"/>
              <a:ext cx="420000" cy="420000"/>
            </a:xfrm>
            <a:prstGeom prst="ellipse">
              <a:avLst/>
            </a:prstGeom>
            <a:solidFill>
              <a:srgbClr val="0F766E"/>
            </a:solidFill>
            <a:ln>
              <a:noFill/>
            </a:ln>
          </p:spPr>
          <p:txBody>
            <a:bodyPr vert="horz" wrap="square" lIns="0" tIns="0" rIns="0" bIns="0" rtlCol="0" anchor="ctr">
              <a:noAutofit/>
            </a:bodyPr>
            <a:lstStyle/>
            <a:p>
              <a:endParaRPr lang="en-US"/>
            </a:p>
          </p:txBody>
        </p:sp>
        <p:pic>
          <p:nvPicPr>
            <p:cNvPr id="109" name="Icon Real-time decisions" descr="Real-time decisions icon"/>
            <p:cNvPicPr preferRelativeResize="0"/>
            <p:nvPr/>
          </p:nvPicPr>
          <p:blipFill>
            <a:blip r:embed="rId17"/>
            <a:stretch>
              <a:fillRect/>
            </a:stretch>
          </p:blipFill>
          <p:spPr>
            <a:xfrm>
              <a:off x="9426600" y="5155000"/>
              <a:ext cx="210000" cy="210000"/>
            </a:xfrm>
            <a:prstGeom prst="rect">
              <a:avLst/>
            </a:prstGeom>
          </p:spPr>
        </p:pic>
        <p:sp>
          <p:nvSpPr>
            <p:cNvPr id="110" name="checkReal-time decisions circle"/>
            <p:cNvSpPr/>
            <p:nvPr/>
          </p:nvSpPr>
          <p:spPr>
            <a:xfrm>
              <a:off x="11072400" y="5060000"/>
              <a:ext cx="230000" cy="230000"/>
            </a:xfrm>
            <a:prstGeom prst="ellipse">
              <a:avLst/>
            </a:prstGeom>
            <a:solidFill>
              <a:srgbClr val="16A34A"/>
            </a:solidFill>
            <a:ln>
              <a:noFill/>
            </a:ln>
          </p:spPr>
          <p:txBody>
            <a:bodyPr vert="horz" wrap="square" lIns="0" tIns="0" rIns="0" bIns="0" rtlCol="0" anchor="ctr">
              <a:noAutofit/>
            </a:bodyPr>
            <a:lstStyle/>
            <a:p>
              <a:endParaRPr lang="en-US"/>
            </a:p>
          </p:txBody>
        </p:sp>
        <p:pic>
          <p:nvPicPr>
            <p:cNvPr id="111" name="Icon checkReal-time decisions" descr="checkReal-time decisions icon"/>
            <p:cNvPicPr preferRelativeResize="0"/>
            <p:nvPr/>
          </p:nvPicPr>
          <p:blipFill>
            <a:blip r:embed="rId8"/>
            <a:stretch>
              <a:fillRect/>
            </a:stretch>
          </p:blipFill>
          <p:spPr>
            <a:xfrm>
              <a:off x="11116100" y="5103700"/>
              <a:ext cx="142600" cy="142600"/>
            </a:xfrm>
            <a:prstGeom prst="rect">
              <a:avLst/>
            </a:prstGeom>
          </p:spPr>
        </p:pic>
        <p:sp>
          <p:nvSpPr>
            <p:cNvPr id="112" name="Tt8"/>
            <p:cNvSpPr txBox="1"/>
            <p:nvPr/>
          </p:nvSpPr>
          <p:spPr>
            <a:xfrm>
              <a:off x="9321600" y="5560000"/>
              <a:ext cx="2040800" cy="250000"/>
            </a:xfrm>
            <a:prstGeom prst="rect">
              <a:avLst/>
            </a:prstGeom>
            <a:noFill/>
            <a:ln>
              <a:noFill/>
            </a:ln>
          </p:spPr>
          <p:txBody>
            <a:bodyPr vert="horz" wrap="square" lIns="0" tIns="0" rIns="0" bIns="0" rtlCol="0" anchor="t">
              <a:noAutofit/>
            </a:bodyPr>
            <a:lstStyle/>
            <a:p>
              <a:pPr algn="l"/>
              <a:r>
                <a:rPr lang="en-US" sz="1023" b="1" i="0">
                  <a:solidFill>
                    <a:srgbClr val="111827"/>
                  </a:solidFill>
                  <a:latin typeface="Montserrat"/>
                  <a:ea typeface="Montserrat"/>
                  <a:cs typeface="Montserrat"/>
                </a:rPr>
                <a:t>Real-time decisions</a:t>
              </a:r>
            </a:p>
          </p:txBody>
        </p:sp>
        <p:sp>
          <p:nvSpPr>
            <p:cNvPr id="113" name="Td8"/>
            <p:cNvSpPr txBox="1"/>
            <p:nvPr/>
          </p:nvSpPr>
          <p:spPr>
            <a:xfrm>
              <a:off x="9321600" y="5820000"/>
              <a:ext cx="2010800" cy="400000"/>
            </a:xfrm>
            <a:prstGeom prst="rect">
              <a:avLst/>
            </a:prstGeom>
            <a:noFill/>
            <a:ln>
              <a:noFill/>
            </a:ln>
          </p:spPr>
          <p:txBody>
            <a:bodyPr vert="horz" wrap="square" lIns="0" tIns="0" rIns="0" bIns="0" rtlCol="0" anchor="t">
              <a:noAutofit/>
            </a:bodyPr>
            <a:lstStyle/>
            <a:p>
              <a:pPr algn="l"/>
              <a:r>
                <a:rPr lang="en-US" sz="837" b="0" i="0">
                  <a:solidFill>
                    <a:srgbClr val="475467"/>
                  </a:solidFill>
                  <a:latin typeface="IBM Plex Sans"/>
                  <a:ea typeface="IBM Plex Sans"/>
                  <a:cs typeface="IBM Plex Sans"/>
                </a:rPr>
                <a:t>Sense → decide → move → check, in a loop</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8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anim calcmode="lin" valueType="num">
                                      <p:cBhvr>
                                        <p:cTn id="8" dur="500" fill="hold"/>
                                        <p:tgtEl>
                                          <p:spTgt spid="19"/>
                                        </p:tgtEl>
                                        <p:attrNameLst>
                                          <p:attrName>ppt_x</p:attrName>
                                        </p:attrNameLst>
                                      </p:cBhvr>
                                      <p:tavLst>
                                        <p:tav tm="0">
                                          <p:val>
                                            <p:strVal val="#ppt_x"/>
                                          </p:val>
                                        </p:tav>
                                        <p:tav tm="100000">
                                          <p:val>
                                            <p:strVal val="#ppt_x"/>
                                          </p:val>
                                        </p:tav>
                                      </p:tavLst>
                                    </p:anim>
                                    <p:anim calcmode="lin" valueType="num">
                                      <p:cBhvr>
                                        <p:cTn id="9" dur="5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nodeType="afterEffect">
                                  <p:stCondLst>
                                    <p:cond delay="15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anim calcmode="lin" valueType="num">
                                      <p:cBhvr>
                                        <p:cTn id="13" dur="500" fill="hold"/>
                                        <p:tgtEl>
                                          <p:spTgt spid="36"/>
                                        </p:tgtEl>
                                        <p:attrNameLst>
                                          <p:attrName>ppt_x</p:attrName>
                                        </p:attrNameLst>
                                      </p:cBhvr>
                                      <p:tavLst>
                                        <p:tav tm="0">
                                          <p:val>
                                            <p:strVal val="#ppt_x"/>
                                          </p:val>
                                        </p:tav>
                                        <p:tav tm="100000">
                                          <p:val>
                                            <p:strVal val="#ppt_x"/>
                                          </p:val>
                                        </p:tav>
                                      </p:tavLst>
                                    </p:anim>
                                    <p:anim calcmode="lin" valueType="num">
                                      <p:cBhvr>
                                        <p:cTn id="14" dur="500" fill="hold"/>
                                        <p:tgtEl>
                                          <p:spTgt spid="36"/>
                                        </p:tgtEl>
                                        <p:attrNameLst>
                                          <p:attrName>ppt_y</p:attrName>
                                        </p:attrNameLst>
                                      </p:cBhvr>
                                      <p:tavLst>
                                        <p:tav tm="0">
                                          <p:val>
                                            <p:strVal val="#ppt_y+.1"/>
                                          </p:val>
                                        </p:tav>
                                        <p:tav tm="100000">
                                          <p:val>
                                            <p:strVal val="#ppt_y"/>
                                          </p:val>
                                        </p:tav>
                                      </p:tavLst>
                                    </p:anim>
                                  </p:childTnLst>
                                </p:cTn>
                              </p:par>
                              <p:par>
                                <p:cTn id="15" presetID="42" presetClass="entr" presetSubtype="0" fill="hold" nodeType="afterEffect">
                                  <p:stCondLst>
                                    <p:cond delay="220"/>
                                  </p:stCondLst>
                                  <p:childTnLst>
                                    <p:set>
                                      <p:cBhvr>
                                        <p:cTn id="16" dur="1" fill="hold">
                                          <p:stCondLst>
                                            <p:cond delay="0"/>
                                          </p:stCondLst>
                                        </p:cTn>
                                        <p:tgtEl>
                                          <p:spTgt spid="42"/>
                                        </p:tgtEl>
                                        <p:attrNameLst>
                                          <p:attrName>style.visibility</p:attrName>
                                        </p:attrNameLst>
                                      </p:cBhvr>
                                      <p:to>
                                        <p:strVal val="visible"/>
                                      </p:to>
                                    </p:set>
                                    <p:animEffect transition="in" filter="fade">
                                      <p:cBhvr>
                                        <p:cTn id="17" dur="500"/>
                                        <p:tgtEl>
                                          <p:spTgt spid="42"/>
                                        </p:tgtEl>
                                      </p:cBhvr>
                                    </p:animEffect>
                                    <p:anim calcmode="lin" valueType="num">
                                      <p:cBhvr>
                                        <p:cTn id="18" dur="500" fill="hold"/>
                                        <p:tgtEl>
                                          <p:spTgt spid="42"/>
                                        </p:tgtEl>
                                        <p:attrNameLst>
                                          <p:attrName>ppt_x</p:attrName>
                                        </p:attrNameLst>
                                      </p:cBhvr>
                                      <p:tavLst>
                                        <p:tav tm="0">
                                          <p:val>
                                            <p:strVal val="#ppt_x"/>
                                          </p:val>
                                        </p:tav>
                                        <p:tav tm="100000">
                                          <p:val>
                                            <p:strVal val="#ppt_x"/>
                                          </p:val>
                                        </p:tav>
                                      </p:tavLst>
                                    </p:anim>
                                    <p:anim calcmode="lin" valueType="num">
                                      <p:cBhvr>
                                        <p:cTn id="19" dur="500" fill="hold"/>
                                        <p:tgtEl>
                                          <p:spTgt spid="42"/>
                                        </p:tgtEl>
                                        <p:attrNameLst>
                                          <p:attrName>ppt_y</p:attrName>
                                        </p:attrNameLst>
                                      </p:cBhvr>
                                      <p:tavLst>
                                        <p:tav tm="0">
                                          <p:val>
                                            <p:strVal val="#ppt_y+.1"/>
                                          </p:val>
                                        </p:tav>
                                        <p:tav tm="100000">
                                          <p:val>
                                            <p:strVal val="#ppt_y"/>
                                          </p:val>
                                        </p:tav>
                                      </p:tavLst>
                                    </p:anim>
                                  </p:childTnLst>
                                </p:cTn>
                              </p:par>
                              <p:par>
                                <p:cTn id="20" presetID="42" presetClass="entr" presetSubtype="0" fill="hold" nodeType="afterEffect">
                                  <p:stCondLst>
                                    <p:cond delay="29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500"/>
                                        <p:tgtEl>
                                          <p:spTgt spid="50"/>
                                        </p:tgtEl>
                                      </p:cBhvr>
                                    </p:animEffect>
                                    <p:anim calcmode="lin" valueType="num">
                                      <p:cBhvr>
                                        <p:cTn id="23" dur="500" fill="hold"/>
                                        <p:tgtEl>
                                          <p:spTgt spid="50"/>
                                        </p:tgtEl>
                                        <p:attrNameLst>
                                          <p:attrName>ppt_x</p:attrName>
                                        </p:attrNameLst>
                                      </p:cBhvr>
                                      <p:tavLst>
                                        <p:tav tm="0">
                                          <p:val>
                                            <p:strVal val="#ppt_x"/>
                                          </p:val>
                                        </p:tav>
                                        <p:tav tm="100000">
                                          <p:val>
                                            <p:strVal val="#ppt_x"/>
                                          </p:val>
                                        </p:tav>
                                      </p:tavLst>
                                    </p:anim>
                                    <p:anim calcmode="lin" valueType="num">
                                      <p:cBhvr>
                                        <p:cTn id="24" dur="500" fill="hold"/>
                                        <p:tgtEl>
                                          <p:spTgt spid="50"/>
                                        </p:tgtEl>
                                        <p:attrNameLst>
                                          <p:attrName>ppt_y</p:attrName>
                                        </p:attrNameLst>
                                      </p:cBhvr>
                                      <p:tavLst>
                                        <p:tav tm="0">
                                          <p:val>
                                            <p:strVal val="#ppt_y+.1"/>
                                          </p:val>
                                        </p:tav>
                                        <p:tav tm="100000">
                                          <p:val>
                                            <p:strVal val="#ppt_y"/>
                                          </p:val>
                                        </p:tav>
                                      </p:tavLst>
                                    </p:anim>
                                  </p:childTnLst>
                                </p:cTn>
                              </p:par>
                              <p:par>
                                <p:cTn id="25" presetID="42" presetClass="entr" presetSubtype="0" fill="hold" nodeType="afterEffect">
                                  <p:stCondLst>
                                    <p:cond delay="360"/>
                                  </p:stCondLst>
                                  <p:childTnLst>
                                    <p:set>
                                      <p:cBhvr>
                                        <p:cTn id="26" dur="1" fill="hold">
                                          <p:stCondLst>
                                            <p:cond delay="0"/>
                                          </p:stCondLst>
                                        </p:cTn>
                                        <p:tgtEl>
                                          <p:spTgt spid="58"/>
                                        </p:tgtEl>
                                        <p:attrNameLst>
                                          <p:attrName>style.visibility</p:attrName>
                                        </p:attrNameLst>
                                      </p:cBhvr>
                                      <p:to>
                                        <p:strVal val="visible"/>
                                      </p:to>
                                    </p:set>
                                    <p:animEffect transition="in" filter="fade">
                                      <p:cBhvr>
                                        <p:cTn id="27" dur="500"/>
                                        <p:tgtEl>
                                          <p:spTgt spid="58"/>
                                        </p:tgtEl>
                                      </p:cBhvr>
                                    </p:animEffect>
                                    <p:anim calcmode="lin" valueType="num">
                                      <p:cBhvr>
                                        <p:cTn id="28" dur="500" fill="hold"/>
                                        <p:tgtEl>
                                          <p:spTgt spid="58"/>
                                        </p:tgtEl>
                                        <p:attrNameLst>
                                          <p:attrName>ppt_x</p:attrName>
                                        </p:attrNameLst>
                                      </p:cBhvr>
                                      <p:tavLst>
                                        <p:tav tm="0">
                                          <p:val>
                                            <p:strVal val="#ppt_x"/>
                                          </p:val>
                                        </p:tav>
                                        <p:tav tm="100000">
                                          <p:val>
                                            <p:strVal val="#ppt_x"/>
                                          </p:val>
                                        </p:tav>
                                      </p:tavLst>
                                    </p:anim>
                                    <p:anim calcmode="lin" valueType="num">
                                      <p:cBhvr>
                                        <p:cTn id="29" dur="500" fill="hold"/>
                                        <p:tgtEl>
                                          <p:spTgt spid="58"/>
                                        </p:tgtEl>
                                        <p:attrNameLst>
                                          <p:attrName>ppt_y</p:attrName>
                                        </p:attrNameLst>
                                      </p:cBhvr>
                                      <p:tavLst>
                                        <p:tav tm="0">
                                          <p:val>
                                            <p:strVal val="#ppt_y+.1"/>
                                          </p:val>
                                        </p:tav>
                                        <p:tav tm="100000">
                                          <p:val>
                                            <p:strVal val="#ppt_y"/>
                                          </p:val>
                                        </p:tav>
                                      </p:tavLst>
                                    </p:anim>
                                  </p:childTnLst>
                                </p:cTn>
                              </p:par>
                              <p:par>
                                <p:cTn id="30" presetID="42" presetClass="entr" presetSubtype="0" fill="hold" nodeType="afterEffect">
                                  <p:stCondLst>
                                    <p:cond delay="430"/>
                                  </p:stCondLst>
                                  <p:childTnLst>
                                    <p:set>
                                      <p:cBhvr>
                                        <p:cTn id="31" dur="1" fill="hold">
                                          <p:stCondLst>
                                            <p:cond delay="0"/>
                                          </p:stCondLst>
                                        </p:cTn>
                                        <p:tgtEl>
                                          <p:spTgt spid="66"/>
                                        </p:tgtEl>
                                        <p:attrNameLst>
                                          <p:attrName>style.visibility</p:attrName>
                                        </p:attrNameLst>
                                      </p:cBhvr>
                                      <p:to>
                                        <p:strVal val="visible"/>
                                      </p:to>
                                    </p:set>
                                    <p:animEffect transition="in" filter="fade">
                                      <p:cBhvr>
                                        <p:cTn id="32" dur="500"/>
                                        <p:tgtEl>
                                          <p:spTgt spid="66"/>
                                        </p:tgtEl>
                                      </p:cBhvr>
                                    </p:animEffect>
                                    <p:anim calcmode="lin" valueType="num">
                                      <p:cBhvr>
                                        <p:cTn id="33" dur="500" fill="hold"/>
                                        <p:tgtEl>
                                          <p:spTgt spid="66"/>
                                        </p:tgtEl>
                                        <p:attrNameLst>
                                          <p:attrName>ppt_x</p:attrName>
                                        </p:attrNameLst>
                                      </p:cBhvr>
                                      <p:tavLst>
                                        <p:tav tm="0">
                                          <p:val>
                                            <p:strVal val="#ppt_x"/>
                                          </p:val>
                                        </p:tav>
                                        <p:tav tm="100000">
                                          <p:val>
                                            <p:strVal val="#ppt_x"/>
                                          </p:val>
                                        </p:tav>
                                      </p:tavLst>
                                    </p:anim>
                                    <p:anim calcmode="lin" valueType="num">
                                      <p:cBhvr>
                                        <p:cTn id="34" dur="500" fill="hold"/>
                                        <p:tgtEl>
                                          <p:spTgt spid="66"/>
                                        </p:tgtEl>
                                        <p:attrNameLst>
                                          <p:attrName>ppt_y</p:attrName>
                                        </p:attrNameLst>
                                      </p:cBhvr>
                                      <p:tavLst>
                                        <p:tav tm="0">
                                          <p:val>
                                            <p:strVal val="#ppt_y+.1"/>
                                          </p:val>
                                        </p:tav>
                                        <p:tav tm="100000">
                                          <p:val>
                                            <p:strVal val="#ppt_y"/>
                                          </p:val>
                                        </p:tav>
                                      </p:tavLst>
                                    </p:anim>
                                  </p:childTnLst>
                                </p:cTn>
                              </p:par>
                              <p:par>
                                <p:cTn id="35" presetID="42" presetClass="entr" presetSubtype="0" fill="hold" nodeType="afterEffect">
                                  <p:stCondLst>
                                    <p:cond delay="500"/>
                                  </p:stCondLst>
                                  <p:childTnLst>
                                    <p:set>
                                      <p:cBhvr>
                                        <p:cTn id="36" dur="1" fill="hold">
                                          <p:stCondLst>
                                            <p:cond delay="0"/>
                                          </p:stCondLst>
                                        </p:cTn>
                                        <p:tgtEl>
                                          <p:spTgt spid="74"/>
                                        </p:tgtEl>
                                        <p:attrNameLst>
                                          <p:attrName>style.visibility</p:attrName>
                                        </p:attrNameLst>
                                      </p:cBhvr>
                                      <p:to>
                                        <p:strVal val="visible"/>
                                      </p:to>
                                    </p:set>
                                    <p:animEffect transition="in" filter="fade">
                                      <p:cBhvr>
                                        <p:cTn id="37" dur="500"/>
                                        <p:tgtEl>
                                          <p:spTgt spid="74"/>
                                        </p:tgtEl>
                                      </p:cBhvr>
                                    </p:animEffect>
                                    <p:anim calcmode="lin" valueType="num">
                                      <p:cBhvr>
                                        <p:cTn id="38" dur="500" fill="hold"/>
                                        <p:tgtEl>
                                          <p:spTgt spid="74"/>
                                        </p:tgtEl>
                                        <p:attrNameLst>
                                          <p:attrName>ppt_x</p:attrName>
                                        </p:attrNameLst>
                                      </p:cBhvr>
                                      <p:tavLst>
                                        <p:tav tm="0">
                                          <p:val>
                                            <p:strVal val="#ppt_x"/>
                                          </p:val>
                                        </p:tav>
                                        <p:tav tm="100000">
                                          <p:val>
                                            <p:strVal val="#ppt_x"/>
                                          </p:val>
                                        </p:tav>
                                      </p:tavLst>
                                    </p:anim>
                                    <p:anim calcmode="lin" valueType="num">
                                      <p:cBhvr>
                                        <p:cTn id="39" dur="500" fill="hold"/>
                                        <p:tgtEl>
                                          <p:spTgt spid="74"/>
                                        </p:tgtEl>
                                        <p:attrNameLst>
                                          <p:attrName>ppt_y</p:attrName>
                                        </p:attrNameLst>
                                      </p:cBhvr>
                                      <p:tavLst>
                                        <p:tav tm="0">
                                          <p:val>
                                            <p:strVal val="#ppt_y+.1"/>
                                          </p:val>
                                        </p:tav>
                                        <p:tav tm="100000">
                                          <p:val>
                                            <p:strVal val="#ppt_y"/>
                                          </p:val>
                                        </p:tav>
                                      </p:tavLst>
                                    </p:anim>
                                  </p:childTnLst>
                                </p:cTn>
                              </p:par>
                              <p:par>
                                <p:cTn id="40" presetID="42" presetClass="entr" presetSubtype="0" fill="hold" nodeType="afterEffect">
                                  <p:stCondLst>
                                    <p:cond delay="570"/>
                                  </p:stCondLst>
                                  <p:childTnLst>
                                    <p:set>
                                      <p:cBhvr>
                                        <p:cTn id="41" dur="1" fill="hold">
                                          <p:stCondLst>
                                            <p:cond delay="0"/>
                                          </p:stCondLst>
                                        </p:cTn>
                                        <p:tgtEl>
                                          <p:spTgt spid="82"/>
                                        </p:tgtEl>
                                        <p:attrNameLst>
                                          <p:attrName>style.visibility</p:attrName>
                                        </p:attrNameLst>
                                      </p:cBhvr>
                                      <p:to>
                                        <p:strVal val="visible"/>
                                      </p:to>
                                    </p:set>
                                    <p:animEffect transition="in" filter="fade">
                                      <p:cBhvr>
                                        <p:cTn id="42" dur="500"/>
                                        <p:tgtEl>
                                          <p:spTgt spid="82"/>
                                        </p:tgtEl>
                                      </p:cBhvr>
                                    </p:animEffect>
                                    <p:anim calcmode="lin" valueType="num">
                                      <p:cBhvr>
                                        <p:cTn id="43" dur="500" fill="hold"/>
                                        <p:tgtEl>
                                          <p:spTgt spid="82"/>
                                        </p:tgtEl>
                                        <p:attrNameLst>
                                          <p:attrName>ppt_x</p:attrName>
                                        </p:attrNameLst>
                                      </p:cBhvr>
                                      <p:tavLst>
                                        <p:tav tm="0">
                                          <p:val>
                                            <p:strVal val="#ppt_x"/>
                                          </p:val>
                                        </p:tav>
                                        <p:tav tm="100000">
                                          <p:val>
                                            <p:strVal val="#ppt_x"/>
                                          </p:val>
                                        </p:tav>
                                      </p:tavLst>
                                    </p:anim>
                                    <p:anim calcmode="lin" valueType="num">
                                      <p:cBhvr>
                                        <p:cTn id="44" dur="500" fill="hold"/>
                                        <p:tgtEl>
                                          <p:spTgt spid="82"/>
                                        </p:tgtEl>
                                        <p:attrNameLst>
                                          <p:attrName>ppt_y</p:attrName>
                                        </p:attrNameLst>
                                      </p:cBhvr>
                                      <p:tavLst>
                                        <p:tav tm="0">
                                          <p:val>
                                            <p:strVal val="#ppt_y+.1"/>
                                          </p:val>
                                        </p:tav>
                                        <p:tav tm="100000">
                                          <p:val>
                                            <p:strVal val="#ppt_y"/>
                                          </p:val>
                                        </p:tav>
                                      </p:tavLst>
                                    </p:anim>
                                  </p:childTnLst>
                                </p:cTn>
                              </p:par>
                              <p:par>
                                <p:cTn id="45" presetID="42" presetClass="entr" presetSubtype="0" fill="hold" nodeType="afterEffect">
                                  <p:stCondLst>
                                    <p:cond delay="640"/>
                                  </p:stCondLst>
                                  <p:childTnLst>
                                    <p:set>
                                      <p:cBhvr>
                                        <p:cTn id="46" dur="1" fill="hold">
                                          <p:stCondLst>
                                            <p:cond delay="0"/>
                                          </p:stCondLst>
                                        </p:cTn>
                                        <p:tgtEl>
                                          <p:spTgt spid="90"/>
                                        </p:tgtEl>
                                        <p:attrNameLst>
                                          <p:attrName>style.visibility</p:attrName>
                                        </p:attrNameLst>
                                      </p:cBhvr>
                                      <p:to>
                                        <p:strVal val="visible"/>
                                      </p:to>
                                    </p:set>
                                    <p:animEffect transition="in" filter="fade">
                                      <p:cBhvr>
                                        <p:cTn id="47" dur="500"/>
                                        <p:tgtEl>
                                          <p:spTgt spid="90"/>
                                        </p:tgtEl>
                                      </p:cBhvr>
                                    </p:animEffect>
                                    <p:anim calcmode="lin" valueType="num">
                                      <p:cBhvr>
                                        <p:cTn id="48" dur="500" fill="hold"/>
                                        <p:tgtEl>
                                          <p:spTgt spid="90"/>
                                        </p:tgtEl>
                                        <p:attrNameLst>
                                          <p:attrName>ppt_x</p:attrName>
                                        </p:attrNameLst>
                                      </p:cBhvr>
                                      <p:tavLst>
                                        <p:tav tm="0">
                                          <p:val>
                                            <p:strVal val="#ppt_x"/>
                                          </p:val>
                                        </p:tav>
                                        <p:tav tm="100000">
                                          <p:val>
                                            <p:strVal val="#ppt_x"/>
                                          </p:val>
                                        </p:tav>
                                      </p:tavLst>
                                    </p:anim>
                                    <p:anim calcmode="lin" valueType="num">
                                      <p:cBhvr>
                                        <p:cTn id="49" dur="500" fill="hold"/>
                                        <p:tgtEl>
                                          <p:spTgt spid="90"/>
                                        </p:tgtEl>
                                        <p:attrNameLst>
                                          <p:attrName>ppt_y</p:attrName>
                                        </p:attrNameLst>
                                      </p:cBhvr>
                                      <p:tavLst>
                                        <p:tav tm="0">
                                          <p:val>
                                            <p:strVal val="#ppt_y+.1"/>
                                          </p:val>
                                        </p:tav>
                                        <p:tav tm="100000">
                                          <p:val>
                                            <p:strVal val="#ppt_y"/>
                                          </p:val>
                                        </p:tav>
                                      </p:tavLst>
                                    </p:anim>
                                  </p:childTnLst>
                                </p:cTn>
                              </p:par>
                              <p:par>
                                <p:cTn id="50" presetID="42" presetClass="entr" presetSubtype="0" fill="hold" nodeType="afterEffect">
                                  <p:stCondLst>
                                    <p:cond delay="710"/>
                                  </p:stCondLst>
                                  <p:childTnLst>
                                    <p:set>
                                      <p:cBhvr>
                                        <p:cTn id="51" dur="1" fill="hold">
                                          <p:stCondLst>
                                            <p:cond delay="0"/>
                                          </p:stCondLst>
                                        </p:cTn>
                                        <p:tgtEl>
                                          <p:spTgt spid="98"/>
                                        </p:tgtEl>
                                        <p:attrNameLst>
                                          <p:attrName>style.visibility</p:attrName>
                                        </p:attrNameLst>
                                      </p:cBhvr>
                                      <p:to>
                                        <p:strVal val="visible"/>
                                      </p:to>
                                    </p:set>
                                    <p:animEffect transition="in" filter="fade">
                                      <p:cBhvr>
                                        <p:cTn id="52" dur="500"/>
                                        <p:tgtEl>
                                          <p:spTgt spid="98"/>
                                        </p:tgtEl>
                                      </p:cBhvr>
                                    </p:animEffect>
                                    <p:anim calcmode="lin" valueType="num">
                                      <p:cBhvr>
                                        <p:cTn id="53" dur="500" fill="hold"/>
                                        <p:tgtEl>
                                          <p:spTgt spid="98"/>
                                        </p:tgtEl>
                                        <p:attrNameLst>
                                          <p:attrName>ppt_x</p:attrName>
                                        </p:attrNameLst>
                                      </p:cBhvr>
                                      <p:tavLst>
                                        <p:tav tm="0">
                                          <p:val>
                                            <p:strVal val="#ppt_x"/>
                                          </p:val>
                                        </p:tav>
                                        <p:tav tm="100000">
                                          <p:val>
                                            <p:strVal val="#ppt_x"/>
                                          </p:val>
                                        </p:tav>
                                      </p:tavLst>
                                    </p:anim>
                                    <p:anim calcmode="lin" valueType="num">
                                      <p:cBhvr>
                                        <p:cTn id="54" dur="500" fill="hold"/>
                                        <p:tgtEl>
                                          <p:spTgt spid="98"/>
                                        </p:tgtEl>
                                        <p:attrNameLst>
                                          <p:attrName>ppt_y</p:attrName>
                                        </p:attrNameLst>
                                      </p:cBhvr>
                                      <p:tavLst>
                                        <p:tav tm="0">
                                          <p:val>
                                            <p:strVal val="#ppt_y+.1"/>
                                          </p:val>
                                        </p:tav>
                                        <p:tav tm="100000">
                                          <p:val>
                                            <p:strVal val="#ppt_y"/>
                                          </p:val>
                                        </p:tav>
                                      </p:tavLst>
                                    </p:anim>
                                  </p:childTnLst>
                                </p:cTn>
                              </p:par>
                              <p:par>
                                <p:cTn id="55" presetID="42" presetClass="entr" presetSubtype="0" fill="hold" nodeType="afterEffect">
                                  <p:stCondLst>
                                    <p:cond delay="780"/>
                                  </p:stCondLst>
                                  <p:childTnLst>
                                    <p:set>
                                      <p:cBhvr>
                                        <p:cTn id="56" dur="1" fill="hold">
                                          <p:stCondLst>
                                            <p:cond delay="0"/>
                                          </p:stCondLst>
                                        </p:cTn>
                                        <p:tgtEl>
                                          <p:spTgt spid="106"/>
                                        </p:tgtEl>
                                        <p:attrNameLst>
                                          <p:attrName>style.visibility</p:attrName>
                                        </p:attrNameLst>
                                      </p:cBhvr>
                                      <p:to>
                                        <p:strVal val="visible"/>
                                      </p:to>
                                    </p:set>
                                    <p:animEffect transition="in" filter="fade">
                                      <p:cBhvr>
                                        <p:cTn id="57" dur="500"/>
                                        <p:tgtEl>
                                          <p:spTgt spid="106"/>
                                        </p:tgtEl>
                                      </p:cBhvr>
                                    </p:animEffect>
                                    <p:anim calcmode="lin" valueType="num">
                                      <p:cBhvr>
                                        <p:cTn id="58" dur="500" fill="hold"/>
                                        <p:tgtEl>
                                          <p:spTgt spid="106"/>
                                        </p:tgtEl>
                                        <p:attrNameLst>
                                          <p:attrName>ppt_x</p:attrName>
                                        </p:attrNameLst>
                                      </p:cBhvr>
                                      <p:tavLst>
                                        <p:tav tm="0">
                                          <p:val>
                                            <p:strVal val="#ppt_x"/>
                                          </p:val>
                                        </p:tav>
                                        <p:tav tm="100000">
                                          <p:val>
                                            <p:strVal val="#ppt_x"/>
                                          </p:val>
                                        </p:tav>
                                      </p:tavLst>
                                    </p:anim>
                                    <p:anim calcmode="lin" valueType="num">
                                      <p:cBhvr>
                                        <p:cTn id="59" dur="500" fill="hold"/>
                                        <p:tgtEl>
                                          <p:spTgt spid="106"/>
                                        </p:tgtEl>
                                        <p:attrNameLst>
                                          <p:attrName>ppt_y</p:attrName>
                                        </p:attrNameLst>
                                      </p:cBhvr>
                                      <p:tavLst>
                                        <p:tav tm="0">
                                          <p:val>
                                            <p:strVal val="#ppt_y+.1"/>
                                          </p:val>
                                        </p:tav>
                                        <p:tav tm="100000">
                                          <p:val>
                                            <p:strVal val="#ppt_y"/>
                                          </p:val>
                                        </p:tav>
                                      </p:tavLst>
                                    </p:anim>
                                  </p:childTnLst>
                                </p:cTn>
                              </p:par>
                              <p:par>
                                <p:cTn id="60" presetID="42" presetClass="entr" presetSubtype="0" fill="hold" nodeType="afterEffect">
                                  <p:stCondLst>
                                    <p:cond delay="850"/>
                                  </p:stCondLst>
                                  <p:childTnLst>
                                    <p:set>
                                      <p:cBhvr>
                                        <p:cTn id="61" dur="1" fill="hold">
                                          <p:stCondLst>
                                            <p:cond delay="0"/>
                                          </p:stCondLst>
                                        </p:cTn>
                                        <p:tgtEl>
                                          <p:spTgt spid="114"/>
                                        </p:tgtEl>
                                        <p:attrNameLst>
                                          <p:attrName>style.visibility</p:attrName>
                                        </p:attrNameLst>
                                      </p:cBhvr>
                                      <p:to>
                                        <p:strVal val="visible"/>
                                      </p:to>
                                    </p:set>
                                    <p:animEffect transition="in" filter="fade">
                                      <p:cBhvr>
                                        <p:cTn id="62" dur="500"/>
                                        <p:tgtEl>
                                          <p:spTgt spid="114"/>
                                        </p:tgtEl>
                                      </p:cBhvr>
                                    </p:animEffect>
                                    <p:anim calcmode="lin" valueType="num">
                                      <p:cBhvr>
                                        <p:cTn id="63" dur="500" fill="hold"/>
                                        <p:tgtEl>
                                          <p:spTgt spid="114"/>
                                        </p:tgtEl>
                                        <p:attrNameLst>
                                          <p:attrName>ppt_x</p:attrName>
                                        </p:attrNameLst>
                                      </p:cBhvr>
                                      <p:tavLst>
                                        <p:tav tm="0">
                                          <p:val>
                                            <p:strVal val="#ppt_x"/>
                                          </p:val>
                                        </p:tav>
                                        <p:tav tm="100000">
                                          <p:val>
                                            <p:strVal val="#ppt_x"/>
                                          </p:val>
                                        </p:tav>
                                      </p:tavLst>
                                    </p:anim>
                                    <p:anim calcmode="lin" valueType="num">
                                      <p:cBhvr>
                                        <p:cTn id="64" dur="500" fill="hold"/>
                                        <p:tgtEl>
                                          <p:spTgt spid="1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001" name="HiH banner" descr="Hack in Hills banner"/>
          <p:cNvPicPr>
            <a:picLocks noChangeAspect="1"/>
          </p:cNvPicPr>
          <p:nvPr/>
        </p:nvPicPr>
        <p:blipFill>
          <a:blip r:embed="rId2"/>
          <a:stretch>
            <a:fillRect/>
          </a:stretch>
        </p:blipFill>
        <p:spPr>
          <a:xfrm>
            <a:off x="0" y="0"/>
            <a:ext cx="12192000" cy="803671"/>
          </a:xfrm>
          <a:prstGeom prst="rect">
            <a:avLst/>
          </a:prstGeom>
        </p:spPr>
      </p:pic>
      <p:sp>
        <p:nvSpPr>
          <p:cNvPr id="4" name="!!Kicker"/>
          <p:cNvSpPr txBox="1"/>
          <p:nvPr/>
        </p:nvSpPr>
        <p:spPr>
          <a:xfrm>
            <a:off x="996483" y="922543"/>
            <a:ext cx="10204704" cy="203200"/>
          </a:xfrm>
          <a:prstGeom prst="rect">
            <a:avLst/>
          </a:prstGeom>
          <a:noFill/>
          <a:ln>
            <a:noFill/>
          </a:ln>
        </p:spPr>
        <p:txBody>
          <a:bodyPr vert="horz" wrap="square" lIns="0" tIns="0" rIns="0" bIns="0" rtlCol="0" anchor="t">
            <a:noAutofit/>
          </a:bodyPr>
          <a:lstStyle/>
          <a:p>
            <a:pPr algn="l"/>
            <a:r>
              <a:rPr lang="en-US" sz="1000" b="1" i="0" spc="300">
                <a:solidFill>
                  <a:srgbClr val="C2410C"/>
                </a:solidFill>
                <a:latin typeface="IBM Plex Sans"/>
                <a:ea typeface="IBM Plex Sans"/>
                <a:cs typeface="IBM Plex Sans"/>
              </a:rPr>
              <a:t>THE SOLUTION</a:t>
            </a:r>
          </a:p>
        </p:txBody>
      </p:sp>
      <p:sp>
        <p:nvSpPr>
          <p:cNvPr id="5" name="!!Title"/>
          <p:cNvSpPr txBox="1"/>
          <p:nvPr/>
        </p:nvSpPr>
        <p:spPr>
          <a:xfrm>
            <a:off x="996483" y="1096279"/>
            <a:ext cx="10204704" cy="558800"/>
          </a:xfrm>
          <a:prstGeom prst="rect">
            <a:avLst/>
          </a:prstGeom>
          <a:noFill/>
          <a:ln>
            <a:noFill/>
          </a:ln>
        </p:spPr>
        <p:txBody>
          <a:bodyPr vert="horz" wrap="square" lIns="0" tIns="0" rIns="0" bIns="0" rtlCol="0" anchor="t">
            <a:noAutofit/>
          </a:bodyPr>
          <a:lstStyle/>
          <a:p>
            <a:pPr algn="l"/>
            <a:r>
              <a:rPr lang="en-US" sz="3000" b="1" i="0">
                <a:solidFill>
                  <a:srgbClr val="111827"/>
                </a:solidFill>
                <a:latin typeface="Montserrat"/>
                <a:ea typeface="Montserrat"/>
                <a:cs typeface="Montserrat"/>
              </a:rPr>
              <a:t>Say what to find. The robot goes there.</a:t>
            </a:r>
          </a:p>
        </p:txBody>
      </p:sp>
      <p:sp>
        <p:nvSpPr>
          <p:cNvPr id="6" name="!!Footer"/>
          <p:cNvSpPr txBox="1"/>
          <p:nvPr/>
        </p:nvSpPr>
        <p:spPr>
          <a:xfrm>
            <a:off x="996483" y="6574536"/>
            <a:ext cx="8229600" cy="177800"/>
          </a:xfrm>
          <a:prstGeom prst="rect">
            <a:avLst/>
          </a:prstGeom>
          <a:noFill/>
          <a:ln>
            <a:noFill/>
          </a:ln>
        </p:spPr>
        <p:txBody>
          <a:bodyPr vert="horz" wrap="square" lIns="0" tIns="0" rIns="0" bIns="0" rtlCol="0" anchor="t">
            <a:noAutofit/>
          </a:bodyPr>
          <a:lstStyle/>
          <a:p>
            <a:pPr algn="l"/>
            <a:r>
              <a:rPr lang="en-US" sz="800" b="0" i="0" spc="150">
                <a:solidFill>
                  <a:srgbClr val="475467"/>
                </a:solidFill>
                <a:latin typeface="IBM Plex Sans"/>
                <a:ea typeface="IBM Plex Sans"/>
                <a:cs typeface="IBM Plex Sans"/>
              </a:rPr>
              <a:t>HACK IN HILLS  ·  VISION-BASED AUTONOMOUS ROBOT  ·  TECH MINIONS</a:t>
            </a:r>
          </a:p>
        </p:txBody>
      </p:sp>
      <p:sp>
        <p:nvSpPr>
          <p:cNvPr id="7" name="!!Page"/>
          <p:cNvSpPr txBox="1"/>
          <p:nvPr/>
        </p:nvSpPr>
        <p:spPr>
          <a:xfrm>
            <a:off x="9931187" y="6574536"/>
            <a:ext cx="1270000" cy="177800"/>
          </a:xfrm>
          <a:prstGeom prst="rect">
            <a:avLst/>
          </a:prstGeom>
          <a:noFill/>
          <a:ln>
            <a:noFill/>
          </a:ln>
        </p:spPr>
        <p:txBody>
          <a:bodyPr vert="horz" wrap="square" lIns="0" tIns="0" rIns="0" bIns="0" rtlCol="0" anchor="t">
            <a:noAutofit/>
          </a:bodyPr>
          <a:lstStyle/>
          <a:p>
            <a:pPr algn="r"/>
            <a:r>
              <a:rPr lang="en-US" sz="800" b="1" i="0">
                <a:solidFill>
                  <a:srgbClr val="475467"/>
                </a:solidFill>
                <a:latin typeface="IBM Plex Sans"/>
                <a:ea typeface="IBM Plex Sans"/>
                <a:cs typeface="IBM Plex Sans"/>
              </a:rPr>
              <a:t>03 / 09</a:t>
            </a:r>
          </a:p>
        </p:txBody>
      </p:sp>
      <p:grpSp>
        <p:nvGrpSpPr>
          <p:cNvPr id="23" name="View group"/>
          <p:cNvGrpSpPr/>
          <p:nvPr/>
        </p:nvGrpSpPr>
        <p:grpSpPr>
          <a:xfrm>
            <a:off x="993648" y="1712214"/>
            <a:ext cx="3720000" cy="4696500"/>
            <a:chOff x="609600" y="1300000"/>
            <a:chExt cx="4000000" cy="5050000"/>
          </a:xfrm>
        </p:grpSpPr>
        <p:sp>
          <p:nvSpPr>
            <p:cNvPr id="8" name="View panel"/>
            <p:cNvSpPr/>
            <p:nvPr/>
          </p:nvSpPr>
          <p:spPr>
            <a:xfrm>
              <a:off x="609600" y="1300000"/>
              <a:ext cx="4000000" cy="5050000"/>
            </a:xfrm>
            <a:prstGeom prst="roundRect">
              <a:avLst>
                <a:gd name="adj" fmla="val 6000"/>
              </a:avLst>
            </a:prstGeom>
            <a:solidFill>
              <a:srgbClr val="F5F7FA"/>
            </a:solidFill>
            <a:ln w="11811">
              <a:solidFill>
                <a:srgbClr val="D5DBE5"/>
              </a:solidFill>
            </a:ln>
          </p:spPr>
          <p:txBody>
            <a:bodyPr vert="horz" wrap="square" lIns="0" tIns="0" rIns="0" bIns="0" rtlCol="0" anchor="ctr">
              <a:noAutofit/>
            </a:bodyPr>
            <a:lstStyle/>
            <a:p>
              <a:endParaRPr lang="en-US"/>
            </a:p>
          </p:txBody>
        </p:sp>
        <p:sp>
          <p:nvSpPr>
            <p:cNvPr id="9" name="View label"/>
            <p:cNvSpPr txBox="1"/>
            <p:nvPr/>
          </p:nvSpPr>
          <p:spPr>
            <a:xfrm>
              <a:off x="809600" y="1450000"/>
              <a:ext cx="3000000" cy="230000"/>
            </a:xfrm>
            <a:prstGeom prst="rect">
              <a:avLst/>
            </a:prstGeom>
            <a:noFill/>
            <a:ln>
              <a:noFill/>
            </a:ln>
          </p:spPr>
          <p:txBody>
            <a:bodyPr vert="horz" wrap="square" lIns="0" tIns="0" rIns="0" bIns="0" rtlCol="0" anchor="t">
              <a:noAutofit/>
            </a:bodyPr>
            <a:lstStyle/>
            <a:p>
              <a:pPr algn="l"/>
              <a:r>
                <a:rPr lang="en-US" sz="930" b="1" i="0" spc="300">
                  <a:solidFill>
                    <a:srgbClr val="C2410C"/>
                  </a:solidFill>
                  <a:latin typeface="IBM Plex Sans"/>
                  <a:ea typeface="IBM Plex Sans"/>
                  <a:cs typeface="IBM Plex Sans"/>
                </a:rPr>
                <a:t>WHAT THE ROBOT SEES</a:t>
              </a:r>
            </a:p>
          </p:txBody>
        </p:sp>
        <p:sp>
          <p:nvSpPr>
            <p:cNvPr id="10" name="View bg"/>
            <p:cNvSpPr/>
            <p:nvPr/>
          </p:nvSpPr>
          <p:spPr>
            <a:xfrm>
              <a:off x="760000" y="1720000"/>
              <a:ext cx="3700000" cy="4050000"/>
            </a:xfrm>
            <a:prstGeom prst="roundRect">
              <a:avLst>
                <a:gd name="adj" fmla="val 3500"/>
              </a:avLst>
            </a:prstGeom>
            <a:solidFill>
              <a:srgbClr val="FFFFFF"/>
            </a:solidFill>
            <a:ln w="11811">
              <a:solidFill>
                <a:srgbClr val="D5DBE5"/>
              </a:solidFill>
            </a:ln>
          </p:spPr>
          <p:txBody>
            <a:bodyPr vert="horz" wrap="square" lIns="0" tIns="0" rIns="0" bIns="0" rtlCol="0" anchor="ctr">
              <a:noAutofit/>
            </a:bodyPr>
            <a:lstStyle/>
            <a:p>
              <a:endParaRPr lang="en-US"/>
            </a:p>
          </p:txBody>
        </p:sp>
        <p:sp>
          <p:nvSpPr>
            <p:cNvPr id="11" name="Live dot"/>
            <p:cNvSpPr/>
            <p:nvPr/>
          </p:nvSpPr>
          <p:spPr>
            <a:xfrm>
              <a:off x="910000" y="1850000"/>
              <a:ext cx="80000" cy="80000"/>
            </a:xfrm>
            <a:prstGeom prst="ellipse">
              <a:avLst/>
            </a:prstGeom>
            <a:solidFill>
              <a:srgbClr val="C2410C"/>
            </a:solidFill>
            <a:ln>
              <a:noFill/>
            </a:ln>
          </p:spPr>
          <p:txBody>
            <a:bodyPr vert="horz" wrap="square" lIns="0" tIns="0" rIns="0" bIns="0" rtlCol="0" anchor="ctr">
              <a:noAutofit/>
            </a:bodyPr>
            <a:lstStyle/>
            <a:p>
              <a:endParaRPr lang="en-US"/>
            </a:p>
          </p:txBody>
        </p:sp>
        <p:sp>
          <p:nvSpPr>
            <p:cNvPr id="12" name="Live text"/>
            <p:cNvSpPr txBox="1"/>
            <p:nvPr/>
          </p:nvSpPr>
          <p:spPr>
            <a:xfrm>
              <a:off x="1040000" y="1810000"/>
              <a:ext cx="2800000" cy="160000"/>
            </a:xfrm>
            <a:prstGeom prst="rect">
              <a:avLst/>
            </a:prstGeom>
            <a:noFill/>
            <a:ln>
              <a:noFill/>
            </a:ln>
          </p:spPr>
          <p:txBody>
            <a:bodyPr vert="horz" wrap="square" lIns="0" tIns="0" rIns="0" bIns="0" rtlCol="0" anchor="ctr">
              <a:noAutofit/>
            </a:bodyPr>
            <a:lstStyle/>
            <a:p>
              <a:pPr algn="l"/>
              <a:r>
                <a:rPr lang="en-US" sz="744" b="1" i="0" dirty="0">
                  <a:latin typeface="IBM Plex Sans"/>
                  <a:ea typeface="IBM Plex Sans"/>
                  <a:cs typeface="IBM Plex Sans"/>
                </a:rPr>
                <a:t>LIVE   CAM-0   10 FPS</a:t>
              </a:r>
            </a:p>
          </p:txBody>
        </p:sp>
        <p:cxnSp>
          <p:nvCxnSpPr>
            <p:cNvPr id="13" name="Lane L"/>
            <p:cNvCxnSpPr/>
            <p:nvPr/>
          </p:nvCxnSpPr>
          <p:spPr>
            <a:xfrm flipV="1">
              <a:off x="1210000" y="4170000"/>
              <a:ext cx="800000" cy="1520000"/>
            </a:xfrm>
            <a:prstGeom prst="line">
              <a:avLst/>
            </a:prstGeom>
            <a:ln w="17716">
              <a:solidFill>
                <a:srgbClr val="8A94A6"/>
              </a:solidFill>
              <a:prstDash val="dash"/>
            </a:ln>
          </p:spPr>
        </p:cxnSp>
        <p:cxnSp>
          <p:nvCxnSpPr>
            <p:cNvPr id="14" name="Lane R"/>
            <p:cNvCxnSpPr/>
            <p:nvPr/>
          </p:nvCxnSpPr>
          <p:spPr>
            <a:xfrm>
              <a:off x="3210000" y="4170000"/>
              <a:ext cx="800000" cy="1520000"/>
            </a:xfrm>
            <a:prstGeom prst="line">
              <a:avLst/>
            </a:prstGeom>
            <a:ln w="17716">
              <a:solidFill>
                <a:srgbClr val="8A94A6"/>
              </a:solidFill>
              <a:prstDash val="dash"/>
            </a:ln>
          </p:spPr>
        </p:cxnSp>
        <p:sp>
          <p:nvSpPr>
            <p:cNvPr id="15" name="Person label"/>
            <p:cNvSpPr txBox="1"/>
            <p:nvPr/>
          </p:nvSpPr>
          <p:spPr>
            <a:xfrm>
              <a:off x="1060000" y="2200000"/>
              <a:ext cx="1500000" cy="170000"/>
            </a:xfrm>
            <a:prstGeom prst="rect">
              <a:avLst/>
            </a:prstGeom>
            <a:noFill/>
            <a:ln>
              <a:noFill/>
            </a:ln>
          </p:spPr>
          <p:txBody>
            <a:bodyPr vert="horz" wrap="square" lIns="0" tIns="0" rIns="0" bIns="0" rtlCol="0" anchor="ctr">
              <a:noAutofit/>
            </a:bodyPr>
            <a:lstStyle/>
            <a:p>
              <a:pPr algn="l"/>
              <a:r>
                <a:rPr lang="en-US" sz="790" b="1" i="0">
                  <a:solidFill>
                    <a:srgbClr val="C2410C"/>
                  </a:solidFill>
                  <a:latin typeface="IBM Plex Sans"/>
                  <a:ea typeface="IBM Plex Sans"/>
                  <a:cs typeface="IBM Plex Sans"/>
                </a:rPr>
                <a:t>person 0.94</a:t>
              </a:r>
            </a:p>
          </p:txBody>
        </p:sp>
        <p:sp>
          <p:nvSpPr>
            <p:cNvPr id="16" name="Person box"/>
            <p:cNvSpPr/>
            <p:nvPr/>
          </p:nvSpPr>
          <p:spPr>
            <a:xfrm>
              <a:off x="1060000" y="2400000"/>
              <a:ext cx="850000" cy="2250000"/>
            </a:xfrm>
            <a:prstGeom prst="rect">
              <a:avLst/>
            </a:prstGeom>
            <a:noFill/>
            <a:ln w="26575">
              <a:solidFill>
                <a:srgbClr val="C2410C"/>
              </a:solidFill>
            </a:ln>
          </p:spPr>
          <p:txBody>
            <a:bodyPr vert="horz" wrap="square" lIns="0" tIns="0" rIns="0" bIns="0" rtlCol="0" anchor="ctr">
              <a:noAutofit/>
            </a:bodyPr>
            <a:lstStyle/>
            <a:p>
              <a:endParaRPr lang="en-US"/>
            </a:p>
          </p:txBody>
        </p:sp>
        <p:sp>
          <p:nvSpPr>
            <p:cNvPr id="17" name="Target label"/>
            <p:cNvSpPr txBox="1"/>
            <p:nvPr/>
          </p:nvSpPr>
          <p:spPr>
            <a:xfrm>
              <a:off x="2610000" y="2900000"/>
              <a:ext cx="1800000" cy="170000"/>
            </a:xfrm>
            <a:prstGeom prst="rect">
              <a:avLst/>
            </a:prstGeom>
            <a:noFill/>
            <a:ln>
              <a:noFill/>
            </a:ln>
          </p:spPr>
          <p:txBody>
            <a:bodyPr vert="horz" wrap="square" lIns="0" tIns="0" rIns="0" bIns="0" rtlCol="0" anchor="ctr">
              <a:noAutofit/>
            </a:bodyPr>
            <a:lstStyle/>
            <a:p>
              <a:pPr algn="l"/>
              <a:r>
                <a:rPr lang="en-US" sz="790" b="1" i="0">
                  <a:solidFill>
                    <a:srgbClr val="2F5D8A"/>
                  </a:solidFill>
                  <a:latin typeface="IBM Plex Sans"/>
                  <a:ea typeface="IBM Plex Sans"/>
                  <a:cs typeface="IBM Plex Sans"/>
                </a:rPr>
                <a:t>TARGET chair 0.88</a:t>
              </a:r>
            </a:p>
          </p:txBody>
        </p:sp>
        <p:sp>
          <p:nvSpPr>
            <p:cNvPr id="18" name="Target box"/>
            <p:cNvSpPr/>
            <p:nvPr/>
          </p:nvSpPr>
          <p:spPr>
            <a:xfrm>
              <a:off x="2660000" y="3100000"/>
              <a:ext cx="1450000" cy="1450000"/>
            </a:xfrm>
            <a:prstGeom prst="rect">
              <a:avLst/>
            </a:prstGeom>
            <a:noFill/>
            <a:ln w="26575">
              <a:solidFill>
                <a:srgbClr val="2F5D8A"/>
              </a:solidFill>
            </a:ln>
          </p:spPr>
          <p:txBody>
            <a:bodyPr vert="horz" wrap="square" lIns="0" tIns="0" rIns="0" bIns="0" rtlCol="0" anchor="ctr">
              <a:noAutofit/>
            </a:bodyPr>
            <a:lstStyle/>
            <a:p>
              <a:endParaRPr lang="en-US"/>
            </a:p>
          </p:txBody>
        </p:sp>
        <p:sp>
          <p:nvSpPr>
            <p:cNvPr id="19" name="Obstacle box"/>
            <p:cNvSpPr/>
            <p:nvPr/>
          </p:nvSpPr>
          <p:spPr>
            <a:xfrm>
              <a:off x="1960000" y="4670000"/>
              <a:ext cx="950000" cy="520000"/>
            </a:xfrm>
            <a:prstGeom prst="rect">
              <a:avLst/>
            </a:prstGeom>
            <a:noFill/>
            <a:ln w="20669">
              <a:solidFill>
                <a:srgbClr val="B45309"/>
              </a:solidFill>
              <a:prstDash val="dash"/>
            </a:ln>
          </p:spPr>
          <p:txBody>
            <a:bodyPr vert="horz" wrap="square" lIns="0" tIns="0" rIns="0" bIns="0" rtlCol="0" anchor="ctr">
              <a:noAutofit/>
            </a:bodyPr>
            <a:lstStyle/>
            <a:p>
              <a:endParaRPr lang="en-US"/>
            </a:p>
          </p:txBody>
        </p:sp>
        <p:sp>
          <p:nvSpPr>
            <p:cNvPr id="20" name="Obstacle label"/>
            <p:cNvSpPr txBox="1"/>
            <p:nvPr/>
          </p:nvSpPr>
          <p:spPr>
            <a:xfrm>
              <a:off x="1760000" y="5220000"/>
              <a:ext cx="1350000" cy="170000"/>
            </a:xfrm>
            <a:prstGeom prst="rect">
              <a:avLst/>
            </a:prstGeom>
            <a:noFill/>
            <a:ln>
              <a:noFill/>
            </a:ln>
          </p:spPr>
          <p:txBody>
            <a:bodyPr vert="horz" wrap="square" lIns="0" tIns="0" rIns="0" bIns="0" rtlCol="0" anchor="ctr">
              <a:noAutofit/>
            </a:bodyPr>
            <a:lstStyle/>
            <a:p>
              <a:pPr algn="ctr"/>
              <a:r>
                <a:rPr lang="en-US" sz="744" b="1" i="0">
                  <a:solidFill>
                    <a:srgbClr val="B45309"/>
                  </a:solidFill>
                  <a:latin typeface="IBM Plex Sans"/>
                  <a:ea typeface="IBM Plex Sans"/>
                  <a:cs typeface="IBM Plex Sans"/>
                </a:rPr>
                <a:t>obstacle 0.6 m</a:t>
              </a:r>
            </a:p>
          </p:txBody>
        </p:sp>
        <p:sp>
          <p:nvSpPr>
            <p:cNvPr id="21" name="Steer arrow"/>
            <p:cNvSpPr/>
            <p:nvPr/>
          </p:nvSpPr>
          <p:spPr>
            <a:xfrm rot="1500000">
              <a:off x="3210000" y="4420000"/>
              <a:ext cx="230000" cy="900000"/>
            </a:xfrm>
            <a:prstGeom prst="upArrow">
              <a:avLst/>
            </a:prstGeom>
            <a:solidFill>
              <a:srgbClr val="2F5D8A"/>
            </a:solidFill>
            <a:ln>
              <a:noFill/>
            </a:ln>
          </p:spPr>
          <p:txBody>
            <a:bodyPr vert="horz" wrap="square" lIns="0" tIns="0" rIns="0" bIns="0" rtlCol="0" anchor="ctr">
              <a:noAutofit/>
            </a:bodyPr>
            <a:lstStyle/>
            <a:p>
              <a:endParaRPr lang="en-US"/>
            </a:p>
          </p:txBody>
        </p:sp>
        <p:sp>
          <p:nvSpPr>
            <p:cNvPr id="22" name="View caption"/>
            <p:cNvSpPr txBox="1"/>
            <p:nvPr/>
          </p:nvSpPr>
          <p:spPr>
            <a:xfrm>
              <a:off x="809600" y="5800000"/>
              <a:ext cx="3600000" cy="400000"/>
            </a:xfrm>
            <a:prstGeom prst="rect">
              <a:avLst/>
            </a:prstGeom>
            <a:noFill/>
            <a:ln>
              <a:noFill/>
            </a:ln>
          </p:spPr>
          <p:txBody>
            <a:bodyPr vert="horz" wrap="square" lIns="0" tIns="0" rIns="0" bIns="0" rtlCol="0" anchor="t">
              <a:noAutofit/>
            </a:bodyPr>
            <a:lstStyle/>
            <a:p>
              <a:pPr algn="l"/>
              <a:r>
                <a:rPr lang="en-US" sz="790" b="0" i="0">
                  <a:solidFill>
                    <a:srgbClr val="475467"/>
                  </a:solidFill>
                  <a:latin typeface="IBM Plex Sans"/>
                  <a:ea typeface="IBM Plex Sans"/>
                  <a:cs typeface="IBM Plex Sans"/>
                </a:rPr>
                <a:t>Illustration of the live dashboard: target found, obstacle ahead, robot steers around it.</a:t>
              </a:r>
            </a:p>
          </p:txBody>
        </p:sp>
      </p:grpSp>
      <p:grpSp>
        <p:nvGrpSpPr>
          <p:cNvPr id="27" name="Overview group"/>
          <p:cNvGrpSpPr/>
          <p:nvPr/>
        </p:nvGrpSpPr>
        <p:grpSpPr>
          <a:xfrm>
            <a:off x="4890720" y="1700784"/>
            <a:ext cx="6307632" cy="1116000"/>
            <a:chOff x="4800000" y="1300000"/>
            <a:chExt cx="6782400" cy="1200000"/>
          </a:xfrm>
        </p:grpSpPr>
        <p:sp>
          <p:nvSpPr>
            <p:cNvPr id="24" name="Overview card"/>
            <p:cNvSpPr/>
            <p:nvPr/>
          </p:nvSpPr>
          <p:spPr>
            <a:xfrm>
              <a:off x="4800000" y="1300000"/>
              <a:ext cx="6782400" cy="1200000"/>
            </a:xfrm>
            <a:prstGeom prst="roundRect">
              <a:avLst>
                <a:gd name="adj" fmla="val 6000"/>
              </a:avLst>
            </a:prstGeom>
            <a:solidFill>
              <a:srgbClr val="F5F7FA"/>
            </a:solidFill>
            <a:ln w="11811">
              <a:solidFill>
                <a:srgbClr val="D5DBE5"/>
              </a:solidFill>
            </a:ln>
          </p:spPr>
          <p:txBody>
            <a:bodyPr vert="horz" wrap="square" lIns="0" tIns="0" rIns="0" bIns="0" rtlCol="0" anchor="ctr">
              <a:noAutofit/>
            </a:bodyPr>
            <a:lstStyle/>
            <a:p>
              <a:endParaRPr lang="en-US"/>
            </a:p>
          </p:txBody>
        </p:sp>
        <p:sp>
          <p:nvSpPr>
            <p:cNvPr id="25" name="Overview label"/>
            <p:cNvSpPr txBox="1"/>
            <p:nvPr/>
          </p:nvSpPr>
          <p:spPr>
            <a:xfrm>
              <a:off x="5050000" y="1450000"/>
              <a:ext cx="4000000" cy="230000"/>
            </a:xfrm>
            <a:prstGeom prst="rect">
              <a:avLst/>
            </a:prstGeom>
            <a:noFill/>
            <a:ln>
              <a:noFill/>
            </a:ln>
          </p:spPr>
          <p:txBody>
            <a:bodyPr vert="horz" wrap="square" lIns="0" tIns="0" rIns="0" bIns="0" rtlCol="0" anchor="t">
              <a:noAutofit/>
            </a:bodyPr>
            <a:lstStyle/>
            <a:p>
              <a:pPr algn="l"/>
              <a:r>
                <a:rPr lang="en-US" sz="930" b="1" i="0" spc="300">
                  <a:solidFill>
                    <a:srgbClr val="C2410C"/>
                  </a:solidFill>
                  <a:latin typeface="IBM Plex Sans"/>
                  <a:ea typeface="IBM Plex Sans"/>
                  <a:cs typeface="IBM Plex Sans"/>
                </a:rPr>
                <a:t>SOLUTION OVERVIEW</a:t>
              </a:r>
            </a:p>
          </p:txBody>
        </p:sp>
        <p:sp>
          <p:nvSpPr>
            <p:cNvPr id="26" name="Overview text"/>
            <p:cNvSpPr txBox="1"/>
            <p:nvPr/>
          </p:nvSpPr>
          <p:spPr>
            <a:xfrm>
              <a:off x="5050000" y="1730000"/>
              <a:ext cx="6282400" cy="700000"/>
            </a:xfrm>
            <a:prstGeom prst="rect">
              <a:avLst/>
            </a:prstGeom>
            <a:noFill/>
            <a:ln>
              <a:noFill/>
            </a:ln>
          </p:spPr>
          <p:txBody>
            <a:bodyPr vert="horz" wrap="square" lIns="0" tIns="0" rIns="0" bIns="0" rtlCol="0" anchor="t">
              <a:noAutofit/>
            </a:bodyPr>
            <a:lstStyle/>
            <a:p>
              <a:pPr algn="l"/>
              <a:r>
                <a:rPr lang="en-US" sz="1209" b="0" i="0">
                  <a:solidFill>
                    <a:srgbClr val="111827"/>
                  </a:solidFill>
                  <a:latin typeface="IBM Plex Sans"/>
                  <a:ea typeface="IBM Plex Sans"/>
                  <a:cs typeface="IBM Plex Sans"/>
                </a:rPr>
                <a:t>Say what to find, for example “go to the chair”. The robot sees it, picks its own path and drives there, sliding around obstacles and stopping for anything in the way.</a:t>
              </a:r>
            </a:p>
          </p:txBody>
        </p:sp>
      </p:grpSp>
      <p:sp>
        <p:nvSpPr>
          <p:cNvPr id="28" name="Features label"/>
          <p:cNvSpPr txBox="1"/>
          <p:nvPr/>
        </p:nvSpPr>
        <p:spPr>
          <a:xfrm>
            <a:off x="4890720" y="2946984"/>
            <a:ext cx="3720000" cy="213900"/>
          </a:xfrm>
          <a:prstGeom prst="rect">
            <a:avLst/>
          </a:prstGeom>
          <a:noFill/>
          <a:ln>
            <a:noFill/>
          </a:ln>
        </p:spPr>
        <p:txBody>
          <a:bodyPr vert="horz" wrap="square" lIns="0" tIns="0" rIns="0" bIns="0" rtlCol="0" anchor="t">
            <a:noAutofit/>
          </a:bodyPr>
          <a:lstStyle/>
          <a:p>
            <a:pPr algn="l"/>
            <a:r>
              <a:rPr lang="en-US" sz="930" b="1" i="0" spc="300">
                <a:solidFill>
                  <a:srgbClr val="C2410C"/>
                </a:solidFill>
                <a:latin typeface="IBM Plex Sans"/>
                <a:ea typeface="IBM Plex Sans"/>
                <a:cs typeface="IBM Plex Sans"/>
              </a:rPr>
              <a:t>KEY FEATURES</a:t>
            </a:r>
          </a:p>
        </p:txBody>
      </p:sp>
      <p:grpSp>
        <p:nvGrpSpPr>
          <p:cNvPr id="33" name="Feature 0"/>
          <p:cNvGrpSpPr/>
          <p:nvPr/>
        </p:nvGrpSpPr>
        <p:grpSpPr>
          <a:xfrm>
            <a:off x="4890720" y="3225984"/>
            <a:ext cx="3098016" cy="1050900"/>
            <a:chOff x="4800000" y="2940000"/>
            <a:chExt cx="3331200" cy="1130000"/>
          </a:xfrm>
        </p:grpSpPr>
        <p:sp>
          <p:nvSpPr>
            <p:cNvPr id="29" name="Ftile0"/>
            <p:cNvSpPr/>
            <p:nvPr/>
          </p:nvSpPr>
          <p:spPr>
            <a:xfrm>
              <a:off x="4800000" y="2940000"/>
              <a:ext cx="3331200" cy="1130000"/>
            </a:xfrm>
            <a:prstGeom prst="roundRect">
              <a:avLst>
                <a:gd name="adj" fmla="val 6000"/>
              </a:avLst>
            </a:prstGeom>
            <a:solidFill>
              <a:srgbClr val="F5F7FA"/>
            </a:solidFill>
            <a:ln w="11811">
              <a:solidFill>
                <a:srgbClr val="D5DBE5"/>
              </a:solidFill>
            </a:ln>
          </p:spPr>
          <p:txBody>
            <a:bodyPr vert="horz" wrap="square" lIns="0" tIns="0" rIns="0" bIns="0" rtlCol="0" anchor="ctr">
              <a:noAutofit/>
            </a:bodyPr>
            <a:lstStyle/>
            <a:p>
              <a:endParaRPr lang="en-US"/>
            </a:p>
          </p:txBody>
        </p:sp>
        <p:sp>
          <p:nvSpPr>
            <p:cNvPr id="30" name="Voice-guided circle"/>
            <p:cNvSpPr/>
            <p:nvPr/>
          </p:nvSpPr>
          <p:spPr>
            <a:xfrm>
              <a:off x="5000000" y="3140000"/>
              <a:ext cx="450000" cy="450000"/>
            </a:xfrm>
            <a:prstGeom prst="ellipse">
              <a:avLst/>
            </a:prstGeom>
            <a:solidFill>
              <a:srgbClr val="C2410C"/>
            </a:solidFill>
            <a:ln>
              <a:noFill/>
            </a:ln>
          </p:spPr>
          <p:txBody>
            <a:bodyPr vert="horz" wrap="square" lIns="0" tIns="0" rIns="0" bIns="0" rtlCol="0" anchor="ctr">
              <a:noAutofit/>
            </a:bodyPr>
            <a:lstStyle/>
            <a:p>
              <a:endParaRPr lang="en-US"/>
            </a:p>
          </p:txBody>
        </p:sp>
        <p:pic>
          <p:nvPicPr>
            <p:cNvPr id="31" name="Icon Voice-guided" descr="Voice-guided icon"/>
            <p:cNvPicPr preferRelativeResize="0"/>
            <p:nvPr/>
          </p:nvPicPr>
          <p:blipFill>
            <a:blip r:embed="rId3"/>
            <a:stretch>
              <a:fillRect/>
            </a:stretch>
          </p:blipFill>
          <p:spPr>
            <a:xfrm>
              <a:off x="5112500" y="3252500"/>
              <a:ext cx="225000" cy="225000"/>
            </a:xfrm>
            <a:prstGeom prst="rect">
              <a:avLst/>
            </a:prstGeom>
          </p:spPr>
        </p:pic>
        <p:sp>
          <p:nvSpPr>
            <p:cNvPr id="32" name="Ft0"/>
            <p:cNvSpPr txBox="1"/>
            <p:nvPr/>
          </p:nvSpPr>
          <p:spPr>
            <a:xfrm>
              <a:off x="5600000" y="3070000"/>
              <a:ext cx="2381200" cy="900000"/>
            </a:xfrm>
            <a:prstGeom prst="rect">
              <a:avLst/>
            </a:prstGeom>
            <a:noFill/>
            <a:ln>
              <a:noFill/>
            </a:ln>
          </p:spPr>
          <p:txBody>
            <a:bodyPr vert="horz" wrap="square" lIns="0" tIns="0" rIns="0" bIns="0" rtlCol="0" anchor="t">
              <a:noAutofit/>
            </a:bodyPr>
            <a:lstStyle/>
            <a:p>
              <a:pPr algn="l"/>
              <a:r>
                <a:rPr lang="en-US" sz="1116" b="1" i="0">
                  <a:solidFill>
                    <a:srgbClr val="111827"/>
                  </a:solidFill>
                  <a:latin typeface="Montserrat"/>
                  <a:ea typeface="Montserrat"/>
                  <a:cs typeface="Montserrat"/>
                </a:rPr>
                <a:t>Voice-guided</a:t>
              </a:r>
            </a:p>
            <a:p>
              <a:pPr algn="l">
                <a:spcBef>
                  <a:spcPts val="279"/>
                </a:spcBef>
              </a:pPr>
              <a:r>
                <a:rPr lang="en-US" sz="884" b="0" i="0">
                  <a:solidFill>
                    <a:srgbClr val="475467"/>
                  </a:solidFill>
                  <a:latin typeface="IBM Plex Sans"/>
                  <a:ea typeface="IBM Plex Sans"/>
                  <a:cs typeface="IBM Plex Sans"/>
                </a:rPr>
                <a:t>Say the target and the robot finds and reaches it, no remote control needed.</a:t>
              </a:r>
            </a:p>
          </p:txBody>
        </p:sp>
      </p:grpSp>
      <p:grpSp>
        <p:nvGrpSpPr>
          <p:cNvPr id="38" name="Feature 1"/>
          <p:cNvGrpSpPr/>
          <p:nvPr/>
        </p:nvGrpSpPr>
        <p:grpSpPr>
          <a:xfrm>
            <a:off x="8100336" y="3225984"/>
            <a:ext cx="3098016" cy="1050900"/>
            <a:chOff x="8251200" y="2940000"/>
            <a:chExt cx="3331200" cy="1130000"/>
          </a:xfrm>
        </p:grpSpPr>
        <p:sp>
          <p:nvSpPr>
            <p:cNvPr id="34" name="Ftile1"/>
            <p:cNvSpPr/>
            <p:nvPr/>
          </p:nvSpPr>
          <p:spPr>
            <a:xfrm>
              <a:off x="8251200" y="2940000"/>
              <a:ext cx="3331200" cy="1130000"/>
            </a:xfrm>
            <a:prstGeom prst="roundRect">
              <a:avLst>
                <a:gd name="adj" fmla="val 6000"/>
              </a:avLst>
            </a:prstGeom>
            <a:solidFill>
              <a:srgbClr val="F5F7FA"/>
            </a:solidFill>
            <a:ln w="11811">
              <a:solidFill>
                <a:srgbClr val="D5DBE5"/>
              </a:solidFill>
            </a:ln>
          </p:spPr>
          <p:txBody>
            <a:bodyPr vert="horz" wrap="square" lIns="0" tIns="0" rIns="0" bIns="0" rtlCol="0" anchor="ctr">
              <a:noAutofit/>
            </a:bodyPr>
            <a:lstStyle/>
            <a:p>
              <a:endParaRPr lang="en-US"/>
            </a:p>
          </p:txBody>
        </p:sp>
        <p:sp>
          <p:nvSpPr>
            <p:cNvPr id="35" name="Moves in any direction circle"/>
            <p:cNvSpPr/>
            <p:nvPr/>
          </p:nvSpPr>
          <p:spPr>
            <a:xfrm>
              <a:off x="8451200" y="3140000"/>
              <a:ext cx="450000" cy="450000"/>
            </a:xfrm>
            <a:prstGeom prst="ellipse">
              <a:avLst/>
            </a:prstGeom>
            <a:solidFill>
              <a:srgbClr val="2F5D8A"/>
            </a:solidFill>
            <a:ln>
              <a:noFill/>
            </a:ln>
          </p:spPr>
          <p:txBody>
            <a:bodyPr vert="horz" wrap="square" lIns="0" tIns="0" rIns="0" bIns="0" rtlCol="0" anchor="ctr">
              <a:noAutofit/>
            </a:bodyPr>
            <a:lstStyle/>
            <a:p>
              <a:endParaRPr lang="en-US"/>
            </a:p>
          </p:txBody>
        </p:sp>
        <p:pic>
          <p:nvPicPr>
            <p:cNvPr id="36" name="Icon Moves in any direction" descr="Moves in any direction icon"/>
            <p:cNvPicPr preferRelativeResize="0"/>
            <p:nvPr/>
          </p:nvPicPr>
          <p:blipFill>
            <a:blip r:embed="rId4"/>
            <a:stretch>
              <a:fillRect/>
            </a:stretch>
          </p:blipFill>
          <p:spPr>
            <a:xfrm>
              <a:off x="8563700" y="3252500"/>
              <a:ext cx="225000" cy="225000"/>
            </a:xfrm>
            <a:prstGeom prst="rect">
              <a:avLst/>
            </a:prstGeom>
          </p:spPr>
        </p:pic>
        <p:sp>
          <p:nvSpPr>
            <p:cNvPr id="37" name="Ft1"/>
            <p:cNvSpPr txBox="1"/>
            <p:nvPr/>
          </p:nvSpPr>
          <p:spPr>
            <a:xfrm>
              <a:off x="9051200" y="3070000"/>
              <a:ext cx="2381200" cy="900000"/>
            </a:xfrm>
            <a:prstGeom prst="rect">
              <a:avLst/>
            </a:prstGeom>
            <a:noFill/>
            <a:ln>
              <a:noFill/>
            </a:ln>
          </p:spPr>
          <p:txBody>
            <a:bodyPr vert="horz" wrap="square" lIns="0" tIns="0" rIns="0" bIns="0" rtlCol="0" anchor="t">
              <a:noAutofit/>
            </a:bodyPr>
            <a:lstStyle/>
            <a:p>
              <a:pPr algn="l"/>
              <a:r>
                <a:rPr lang="en-US" sz="1116" b="1" i="0">
                  <a:solidFill>
                    <a:srgbClr val="111827"/>
                  </a:solidFill>
                  <a:latin typeface="Montserrat"/>
                  <a:ea typeface="Montserrat"/>
                  <a:cs typeface="Montserrat"/>
                </a:rPr>
                <a:t>Moves in any direction</a:t>
              </a:r>
            </a:p>
            <a:p>
              <a:pPr algn="l">
                <a:spcBef>
                  <a:spcPts val="279"/>
                </a:spcBef>
              </a:pPr>
              <a:r>
                <a:rPr lang="en-US" sz="884" b="0" i="0">
                  <a:solidFill>
                    <a:srgbClr val="475467"/>
                  </a:solidFill>
                  <a:latin typeface="IBM Plex Sans"/>
                  <a:ea typeface="IBM Plex Sans"/>
                  <a:cs typeface="IBM Plex Sans"/>
                </a:rPr>
                <a:t>Mecanum wheels slide sideways and spin in place, so it manoeuvres easily in narrow spaces.</a:t>
              </a:r>
            </a:p>
          </p:txBody>
        </p:sp>
      </p:grpSp>
      <p:grpSp>
        <p:nvGrpSpPr>
          <p:cNvPr id="43" name="Feature 2"/>
          <p:cNvGrpSpPr/>
          <p:nvPr/>
        </p:nvGrpSpPr>
        <p:grpSpPr>
          <a:xfrm>
            <a:off x="4890720" y="4388484"/>
            <a:ext cx="3098016" cy="1050900"/>
            <a:chOff x="4800000" y="4190000"/>
            <a:chExt cx="3331200" cy="1130000"/>
          </a:xfrm>
        </p:grpSpPr>
        <p:sp>
          <p:nvSpPr>
            <p:cNvPr id="39" name="Ftile2"/>
            <p:cNvSpPr/>
            <p:nvPr/>
          </p:nvSpPr>
          <p:spPr>
            <a:xfrm>
              <a:off x="4800000" y="4190000"/>
              <a:ext cx="3331200" cy="1130000"/>
            </a:xfrm>
            <a:prstGeom prst="roundRect">
              <a:avLst>
                <a:gd name="adj" fmla="val 6000"/>
              </a:avLst>
            </a:prstGeom>
            <a:solidFill>
              <a:srgbClr val="F5F7FA"/>
            </a:solidFill>
            <a:ln w="11811">
              <a:solidFill>
                <a:srgbClr val="D5DBE5"/>
              </a:solidFill>
            </a:ln>
          </p:spPr>
          <p:txBody>
            <a:bodyPr vert="horz" wrap="square" lIns="0" tIns="0" rIns="0" bIns="0" rtlCol="0" anchor="ctr">
              <a:noAutofit/>
            </a:bodyPr>
            <a:lstStyle/>
            <a:p>
              <a:endParaRPr lang="en-US"/>
            </a:p>
          </p:txBody>
        </p:sp>
        <p:sp>
          <p:nvSpPr>
            <p:cNvPr id="40" name="Stable omnidirectional base circle"/>
            <p:cNvSpPr/>
            <p:nvPr/>
          </p:nvSpPr>
          <p:spPr>
            <a:xfrm>
              <a:off x="5000000" y="4390000"/>
              <a:ext cx="450000" cy="450000"/>
            </a:xfrm>
            <a:prstGeom prst="ellipse">
              <a:avLst/>
            </a:prstGeom>
            <a:solidFill>
              <a:srgbClr val="2F5D8A"/>
            </a:solidFill>
            <a:ln>
              <a:noFill/>
            </a:ln>
          </p:spPr>
          <p:txBody>
            <a:bodyPr vert="horz" wrap="square" lIns="0" tIns="0" rIns="0" bIns="0" rtlCol="0" anchor="ctr">
              <a:noAutofit/>
            </a:bodyPr>
            <a:lstStyle/>
            <a:p>
              <a:endParaRPr lang="en-US"/>
            </a:p>
          </p:txBody>
        </p:sp>
        <p:pic>
          <p:nvPicPr>
            <p:cNvPr id="41" name="Icon Stable omnidirectional base" descr="Stable omnidirectional base icon"/>
            <p:cNvPicPr preferRelativeResize="0"/>
            <p:nvPr/>
          </p:nvPicPr>
          <p:blipFill>
            <a:blip r:embed="rId5"/>
            <a:stretch>
              <a:fillRect/>
            </a:stretch>
          </p:blipFill>
          <p:spPr>
            <a:xfrm>
              <a:off x="5112500" y="4502500"/>
              <a:ext cx="225000" cy="225000"/>
            </a:xfrm>
            <a:prstGeom prst="rect">
              <a:avLst/>
            </a:prstGeom>
          </p:spPr>
        </p:pic>
        <p:sp>
          <p:nvSpPr>
            <p:cNvPr id="42" name="Ft2"/>
            <p:cNvSpPr txBox="1"/>
            <p:nvPr/>
          </p:nvSpPr>
          <p:spPr>
            <a:xfrm>
              <a:off x="5600000" y="4320000"/>
              <a:ext cx="2381200" cy="900000"/>
            </a:xfrm>
            <a:prstGeom prst="rect">
              <a:avLst/>
            </a:prstGeom>
            <a:noFill/>
            <a:ln>
              <a:noFill/>
            </a:ln>
          </p:spPr>
          <p:txBody>
            <a:bodyPr vert="horz" wrap="square" lIns="0" tIns="0" rIns="0" bIns="0" rtlCol="0" anchor="t">
              <a:noAutofit/>
            </a:bodyPr>
            <a:lstStyle/>
            <a:p>
              <a:pPr algn="l"/>
              <a:r>
                <a:rPr lang="en-US" sz="1116" b="1" i="0">
                  <a:solidFill>
                    <a:srgbClr val="111827"/>
                  </a:solidFill>
                  <a:latin typeface="Montserrat"/>
                  <a:ea typeface="Montserrat"/>
                  <a:cs typeface="Montserrat"/>
                </a:rPr>
                <a:t>Stable omnidirectional base</a:t>
              </a:r>
            </a:p>
            <a:p>
              <a:pPr algn="l">
                <a:spcBef>
                  <a:spcPts val="279"/>
                </a:spcBef>
              </a:pPr>
              <a:r>
                <a:rPr lang="en-US" sz="884" b="0" i="0">
                  <a:solidFill>
                    <a:srgbClr val="475467"/>
                  </a:solidFill>
                  <a:latin typeface="IBM Plex Sans"/>
                  <a:ea typeface="IBM Plex Sans"/>
                  <a:cs typeface="IBM Plex Sans"/>
                </a:rPr>
                <a:t>Aluminium chassis with the sensors built in, designed in Fusion 360.</a:t>
              </a:r>
            </a:p>
          </p:txBody>
        </p:sp>
      </p:grpSp>
      <p:grpSp>
        <p:nvGrpSpPr>
          <p:cNvPr id="48" name="Feature 3"/>
          <p:cNvGrpSpPr/>
          <p:nvPr/>
        </p:nvGrpSpPr>
        <p:grpSpPr>
          <a:xfrm>
            <a:off x="8100336" y="4388484"/>
            <a:ext cx="3098016" cy="1050900"/>
            <a:chOff x="8251200" y="4190000"/>
            <a:chExt cx="3331200" cy="1130000"/>
          </a:xfrm>
        </p:grpSpPr>
        <p:sp>
          <p:nvSpPr>
            <p:cNvPr id="44" name="Ftile3"/>
            <p:cNvSpPr/>
            <p:nvPr/>
          </p:nvSpPr>
          <p:spPr>
            <a:xfrm>
              <a:off x="8251200" y="4190000"/>
              <a:ext cx="3331200" cy="1130000"/>
            </a:xfrm>
            <a:prstGeom prst="roundRect">
              <a:avLst>
                <a:gd name="adj" fmla="val 6000"/>
              </a:avLst>
            </a:prstGeom>
            <a:solidFill>
              <a:srgbClr val="F5F7FA"/>
            </a:solidFill>
            <a:ln w="11811">
              <a:solidFill>
                <a:srgbClr val="D5DBE5"/>
              </a:solidFill>
            </a:ln>
          </p:spPr>
          <p:txBody>
            <a:bodyPr vert="horz" wrap="square" lIns="0" tIns="0" rIns="0" bIns="0" rtlCol="0" anchor="ctr">
              <a:noAutofit/>
            </a:bodyPr>
            <a:lstStyle/>
            <a:p>
              <a:endParaRPr lang="en-US"/>
            </a:p>
          </p:txBody>
        </p:sp>
        <p:sp>
          <p:nvSpPr>
            <p:cNvPr id="45" name="Safe by design circle"/>
            <p:cNvSpPr/>
            <p:nvPr/>
          </p:nvSpPr>
          <p:spPr>
            <a:xfrm>
              <a:off x="8451200" y="4390000"/>
              <a:ext cx="450000" cy="450000"/>
            </a:xfrm>
            <a:prstGeom prst="ellipse">
              <a:avLst/>
            </a:prstGeom>
            <a:solidFill>
              <a:srgbClr val="0F766E"/>
            </a:solidFill>
            <a:ln>
              <a:noFill/>
            </a:ln>
          </p:spPr>
          <p:txBody>
            <a:bodyPr vert="horz" wrap="square" lIns="0" tIns="0" rIns="0" bIns="0" rtlCol="0" anchor="ctr">
              <a:noAutofit/>
            </a:bodyPr>
            <a:lstStyle/>
            <a:p>
              <a:endParaRPr lang="en-US"/>
            </a:p>
          </p:txBody>
        </p:sp>
        <p:pic>
          <p:nvPicPr>
            <p:cNvPr id="46" name="Icon Safe by design" descr="Safe by design icon"/>
            <p:cNvPicPr preferRelativeResize="0"/>
            <p:nvPr/>
          </p:nvPicPr>
          <p:blipFill>
            <a:blip r:embed="rId6"/>
            <a:stretch>
              <a:fillRect/>
            </a:stretch>
          </p:blipFill>
          <p:spPr>
            <a:xfrm>
              <a:off x="8563700" y="4502500"/>
              <a:ext cx="225000" cy="225000"/>
            </a:xfrm>
            <a:prstGeom prst="rect">
              <a:avLst/>
            </a:prstGeom>
          </p:spPr>
        </p:pic>
        <p:sp>
          <p:nvSpPr>
            <p:cNvPr id="47" name="Ft3"/>
            <p:cNvSpPr txBox="1"/>
            <p:nvPr/>
          </p:nvSpPr>
          <p:spPr>
            <a:xfrm>
              <a:off x="9051200" y="4320000"/>
              <a:ext cx="2381200" cy="900000"/>
            </a:xfrm>
            <a:prstGeom prst="rect">
              <a:avLst/>
            </a:prstGeom>
            <a:noFill/>
            <a:ln>
              <a:noFill/>
            </a:ln>
          </p:spPr>
          <p:txBody>
            <a:bodyPr vert="horz" wrap="square" lIns="0" tIns="0" rIns="0" bIns="0" rtlCol="0" anchor="t">
              <a:noAutofit/>
            </a:bodyPr>
            <a:lstStyle/>
            <a:p>
              <a:pPr algn="l"/>
              <a:r>
                <a:rPr lang="en-US" sz="1116" b="1" i="0">
                  <a:solidFill>
                    <a:srgbClr val="111827"/>
                  </a:solidFill>
                  <a:latin typeface="Montserrat"/>
                  <a:ea typeface="Montserrat"/>
                  <a:cs typeface="Montserrat"/>
                </a:rPr>
                <a:t>Safe by design</a:t>
              </a:r>
            </a:p>
            <a:p>
              <a:pPr algn="l">
                <a:spcBef>
                  <a:spcPts val="279"/>
                </a:spcBef>
              </a:pPr>
              <a:r>
                <a:rPr lang="en-US" sz="884" b="0" i="0">
                  <a:solidFill>
                    <a:srgbClr val="475467"/>
                  </a:solidFill>
                  <a:latin typeface="IBM Plex Sans"/>
                  <a:ea typeface="IBM Plex Sans"/>
                  <a:cs typeface="IBM Plex Sans"/>
                </a:rPr>
                <a:t>Stops if something is under 25 cm, the link drops or STOP is touched.</a:t>
              </a:r>
            </a:p>
          </p:txBody>
        </p:sp>
      </p:grpSp>
      <p:grpSp>
        <p:nvGrpSpPr>
          <p:cNvPr id="52" name="Unique group"/>
          <p:cNvGrpSpPr/>
          <p:nvPr/>
        </p:nvGrpSpPr>
        <p:grpSpPr>
          <a:xfrm>
            <a:off x="4890720" y="5550984"/>
            <a:ext cx="6307632" cy="846300"/>
            <a:chOff x="4800000" y="5440000"/>
            <a:chExt cx="6782400" cy="910000"/>
          </a:xfrm>
        </p:grpSpPr>
        <p:sp>
          <p:nvSpPr>
            <p:cNvPr id="49" name="Unique card"/>
            <p:cNvSpPr/>
            <p:nvPr/>
          </p:nvSpPr>
          <p:spPr>
            <a:xfrm>
              <a:off x="4800000" y="5440000"/>
              <a:ext cx="6782400" cy="910000"/>
            </a:xfrm>
            <a:prstGeom prst="roundRect">
              <a:avLst>
                <a:gd name="adj" fmla="val 6000"/>
              </a:avLst>
            </a:prstGeom>
            <a:solidFill>
              <a:srgbClr val="F5F7FA"/>
            </a:solidFill>
            <a:ln w="11811">
              <a:solidFill>
                <a:srgbClr val="C2410C"/>
              </a:solidFill>
            </a:ln>
          </p:spPr>
          <p:txBody>
            <a:bodyPr vert="horz" wrap="square" lIns="0" tIns="0" rIns="0" bIns="0" rtlCol="0" anchor="ctr">
              <a:noAutofit/>
            </a:bodyPr>
            <a:lstStyle/>
            <a:p>
              <a:endParaRPr lang="en-US"/>
            </a:p>
          </p:txBody>
        </p:sp>
        <p:sp>
          <p:nvSpPr>
            <p:cNvPr id="50" name="Unique label"/>
            <p:cNvSpPr txBox="1"/>
            <p:nvPr/>
          </p:nvSpPr>
          <p:spPr>
            <a:xfrm>
              <a:off x="5050000" y="5570000"/>
              <a:ext cx="4000000" cy="230000"/>
            </a:xfrm>
            <a:prstGeom prst="rect">
              <a:avLst/>
            </a:prstGeom>
            <a:noFill/>
            <a:ln>
              <a:noFill/>
            </a:ln>
          </p:spPr>
          <p:txBody>
            <a:bodyPr vert="horz" wrap="square" lIns="0" tIns="0" rIns="0" bIns="0" rtlCol="0" anchor="t">
              <a:noAutofit/>
            </a:bodyPr>
            <a:lstStyle/>
            <a:p>
              <a:pPr algn="l"/>
              <a:r>
                <a:rPr lang="en-US" sz="930" b="1" i="0" spc="300">
                  <a:solidFill>
                    <a:srgbClr val="C2410C"/>
                  </a:solidFill>
                  <a:latin typeface="IBM Plex Sans"/>
                  <a:ea typeface="IBM Plex Sans"/>
                  <a:cs typeface="IBM Plex Sans"/>
                </a:rPr>
                <a:t>UNIQUE VALUE</a:t>
              </a:r>
            </a:p>
          </p:txBody>
        </p:sp>
        <p:sp>
          <p:nvSpPr>
            <p:cNvPr id="51" name="Unique text"/>
            <p:cNvSpPr txBox="1"/>
            <p:nvPr/>
          </p:nvSpPr>
          <p:spPr>
            <a:xfrm>
              <a:off x="5050000" y="5830000"/>
              <a:ext cx="6282400" cy="480000"/>
            </a:xfrm>
            <a:prstGeom prst="rect">
              <a:avLst/>
            </a:prstGeom>
            <a:noFill/>
            <a:ln>
              <a:noFill/>
            </a:ln>
          </p:spPr>
          <p:txBody>
            <a:bodyPr vert="horz" wrap="square" lIns="0" tIns="0" rIns="0" bIns="0" rtlCol="0" anchor="t">
              <a:noAutofit/>
            </a:bodyPr>
            <a:lstStyle/>
            <a:p>
              <a:pPr algn="l"/>
              <a:r>
                <a:rPr lang="en-US" sz="1116" b="1" i="0">
                  <a:solidFill>
                    <a:srgbClr val="111827"/>
                  </a:solidFill>
                  <a:latin typeface="IBM Plex Sans"/>
                  <a:ea typeface="IBM Plex Sans"/>
                  <a:cs typeface="IBM Plex Sans"/>
                </a:rPr>
                <a:t>A low-cost robot that understands spoken goals, yet keeps its safety reflexes on the robot, so it stays safe even when the AI lags.</a:t>
              </a:r>
            </a:p>
          </p:txBody>
        </p:sp>
      </p:grpSp>
      <p:pic>
        <p:nvPicPr>
          <p:cNvPr id="2" name="Picture 1" descr="Chair Png Image Transparent HQ PNG Download | FreePNGimg"/>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3323930" y="3589165"/>
            <a:ext cx="892871" cy="892871"/>
          </a:xfrm>
          <a:prstGeom prst="rect">
            <a:avLst/>
          </a:prstGeom>
        </p:spPr>
      </p:pic>
      <p:pic>
        <p:nvPicPr>
          <p:cNvPr id="54" name="Picture 53" descr="Person icon ~ TukTuk Design"/>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490723" y="3178299"/>
            <a:ext cx="652185" cy="652185"/>
          </a:xfrm>
          <a:prstGeom prst="rect">
            <a:avLst/>
          </a:prstGeom>
        </p:spPr>
      </p:pic>
      <p:sp>
        <p:nvSpPr>
          <p:cNvPr id="55" name="Rectangle 54"/>
          <p:cNvSpPr/>
          <p:nvPr/>
        </p:nvSpPr>
        <p:spPr>
          <a:xfrm>
            <a:off x="1490723" y="3225984"/>
            <a:ext cx="228540" cy="79191"/>
          </a:xfrm>
          <a:prstGeom prst="rect">
            <a:avLst/>
          </a:prstGeom>
          <a:solidFill>
            <a:srgbClr val="FFFFFC"/>
          </a:solidFill>
          <a:ln>
            <a:solidFill>
              <a:srgbClr val="FFFF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8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anim calcmode="lin" valueType="num">
                                      <p:cBhvr>
                                        <p:cTn id="8" dur="500" fill="hold"/>
                                        <p:tgtEl>
                                          <p:spTgt spid="23"/>
                                        </p:tgtEl>
                                        <p:attrNameLst>
                                          <p:attrName>ppt_x</p:attrName>
                                        </p:attrNameLst>
                                      </p:cBhvr>
                                      <p:tavLst>
                                        <p:tav tm="0">
                                          <p:val>
                                            <p:strVal val="#ppt_x"/>
                                          </p:val>
                                        </p:tav>
                                        <p:tav tm="100000">
                                          <p:val>
                                            <p:strVal val="#ppt_x"/>
                                          </p:val>
                                        </p:tav>
                                      </p:tavLst>
                                    </p:anim>
                                    <p:anim calcmode="lin" valueType="num">
                                      <p:cBhvr>
                                        <p:cTn id="9" dur="500" fill="hold"/>
                                        <p:tgtEl>
                                          <p:spTgt spid="23"/>
                                        </p:tgtEl>
                                        <p:attrNameLst>
                                          <p:attrName>ppt_y</p:attrName>
                                        </p:attrNameLst>
                                      </p:cBhvr>
                                      <p:tavLst>
                                        <p:tav tm="0">
                                          <p:val>
                                            <p:strVal val="#ppt_y+.1"/>
                                          </p:val>
                                        </p:tav>
                                        <p:tav tm="100000">
                                          <p:val>
                                            <p:strVal val="#ppt_y"/>
                                          </p:val>
                                        </p:tav>
                                      </p:tavLst>
                                    </p:anim>
                                  </p:childTnLst>
                                </p:cTn>
                              </p:par>
                              <p:par>
                                <p:cTn id="10" presetID="42" presetClass="entr" presetSubtype="0" fill="hold" nodeType="afterEffect">
                                  <p:stCondLst>
                                    <p:cond delay="15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anim calcmode="lin" valueType="num">
                                      <p:cBhvr>
                                        <p:cTn id="13" dur="500" fill="hold"/>
                                        <p:tgtEl>
                                          <p:spTgt spid="27"/>
                                        </p:tgtEl>
                                        <p:attrNameLst>
                                          <p:attrName>ppt_x</p:attrName>
                                        </p:attrNameLst>
                                      </p:cBhvr>
                                      <p:tavLst>
                                        <p:tav tm="0">
                                          <p:val>
                                            <p:strVal val="#ppt_x"/>
                                          </p:val>
                                        </p:tav>
                                        <p:tav tm="100000">
                                          <p:val>
                                            <p:strVal val="#ppt_x"/>
                                          </p:val>
                                        </p:tav>
                                      </p:tavLst>
                                    </p:anim>
                                    <p:anim calcmode="lin" valueType="num">
                                      <p:cBhvr>
                                        <p:cTn id="14" dur="500" fill="hold"/>
                                        <p:tgtEl>
                                          <p:spTgt spid="27"/>
                                        </p:tgtEl>
                                        <p:attrNameLst>
                                          <p:attrName>ppt_y</p:attrName>
                                        </p:attrNameLst>
                                      </p:cBhvr>
                                      <p:tavLst>
                                        <p:tav tm="0">
                                          <p:val>
                                            <p:strVal val="#ppt_y+.1"/>
                                          </p:val>
                                        </p:tav>
                                        <p:tav tm="100000">
                                          <p:val>
                                            <p:strVal val="#ppt_y"/>
                                          </p:val>
                                        </p:tav>
                                      </p:tavLst>
                                    </p:anim>
                                  </p:childTnLst>
                                </p:cTn>
                              </p:par>
                              <p:par>
                                <p:cTn id="15" presetID="42" presetClass="entr" presetSubtype="0" fill="hold" nodeType="afterEffect">
                                  <p:stCondLst>
                                    <p:cond delay="22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500"/>
                                        <p:tgtEl>
                                          <p:spTgt spid="33"/>
                                        </p:tgtEl>
                                      </p:cBhvr>
                                    </p:animEffect>
                                    <p:anim calcmode="lin" valueType="num">
                                      <p:cBhvr>
                                        <p:cTn id="18" dur="500" fill="hold"/>
                                        <p:tgtEl>
                                          <p:spTgt spid="33"/>
                                        </p:tgtEl>
                                        <p:attrNameLst>
                                          <p:attrName>ppt_x</p:attrName>
                                        </p:attrNameLst>
                                      </p:cBhvr>
                                      <p:tavLst>
                                        <p:tav tm="0">
                                          <p:val>
                                            <p:strVal val="#ppt_x"/>
                                          </p:val>
                                        </p:tav>
                                        <p:tav tm="100000">
                                          <p:val>
                                            <p:strVal val="#ppt_x"/>
                                          </p:val>
                                        </p:tav>
                                      </p:tavLst>
                                    </p:anim>
                                    <p:anim calcmode="lin" valueType="num">
                                      <p:cBhvr>
                                        <p:cTn id="19" dur="500" fill="hold"/>
                                        <p:tgtEl>
                                          <p:spTgt spid="33"/>
                                        </p:tgtEl>
                                        <p:attrNameLst>
                                          <p:attrName>ppt_y</p:attrName>
                                        </p:attrNameLst>
                                      </p:cBhvr>
                                      <p:tavLst>
                                        <p:tav tm="0">
                                          <p:val>
                                            <p:strVal val="#ppt_y+.1"/>
                                          </p:val>
                                        </p:tav>
                                        <p:tav tm="100000">
                                          <p:val>
                                            <p:strVal val="#ppt_y"/>
                                          </p:val>
                                        </p:tav>
                                      </p:tavLst>
                                    </p:anim>
                                  </p:childTnLst>
                                </p:cTn>
                              </p:par>
                              <p:par>
                                <p:cTn id="20" presetID="42" presetClass="entr" presetSubtype="0" fill="hold" nodeType="afterEffect">
                                  <p:stCondLst>
                                    <p:cond delay="29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anim calcmode="lin" valueType="num">
                                      <p:cBhvr>
                                        <p:cTn id="23" dur="500" fill="hold"/>
                                        <p:tgtEl>
                                          <p:spTgt spid="38"/>
                                        </p:tgtEl>
                                        <p:attrNameLst>
                                          <p:attrName>ppt_x</p:attrName>
                                        </p:attrNameLst>
                                      </p:cBhvr>
                                      <p:tavLst>
                                        <p:tav tm="0">
                                          <p:val>
                                            <p:strVal val="#ppt_x"/>
                                          </p:val>
                                        </p:tav>
                                        <p:tav tm="100000">
                                          <p:val>
                                            <p:strVal val="#ppt_x"/>
                                          </p:val>
                                        </p:tav>
                                      </p:tavLst>
                                    </p:anim>
                                    <p:anim calcmode="lin" valueType="num">
                                      <p:cBhvr>
                                        <p:cTn id="24" dur="500" fill="hold"/>
                                        <p:tgtEl>
                                          <p:spTgt spid="38"/>
                                        </p:tgtEl>
                                        <p:attrNameLst>
                                          <p:attrName>ppt_y</p:attrName>
                                        </p:attrNameLst>
                                      </p:cBhvr>
                                      <p:tavLst>
                                        <p:tav tm="0">
                                          <p:val>
                                            <p:strVal val="#ppt_y+.1"/>
                                          </p:val>
                                        </p:tav>
                                        <p:tav tm="100000">
                                          <p:val>
                                            <p:strVal val="#ppt_y"/>
                                          </p:val>
                                        </p:tav>
                                      </p:tavLst>
                                    </p:anim>
                                  </p:childTnLst>
                                </p:cTn>
                              </p:par>
                              <p:par>
                                <p:cTn id="25" presetID="42" presetClass="entr" presetSubtype="0" fill="hold" nodeType="afterEffect">
                                  <p:stCondLst>
                                    <p:cond delay="360"/>
                                  </p:stCondLst>
                                  <p:childTnLst>
                                    <p:set>
                                      <p:cBhvr>
                                        <p:cTn id="26" dur="1" fill="hold">
                                          <p:stCondLst>
                                            <p:cond delay="0"/>
                                          </p:stCondLst>
                                        </p:cTn>
                                        <p:tgtEl>
                                          <p:spTgt spid="43"/>
                                        </p:tgtEl>
                                        <p:attrNameLst>
                                          <p:attrName>style.visibility</p:attrName>
                                        </p:attrNameLst>
                                      </p:cBhvr>
                                      <p:to>
                                        <p:strVal val="visible"/>
                                      </p:to>
                                    </p:set>
                                    <p:animEffect transition="in" filter="fade">
                                      <p:cBhvr>
                                        <p:cTn id="27" dur="500"/>
                                        <p:tgtEl>
                                          <p:spTgt spid="43"/>
                                        </p:tgtEl>
                                      </p:cBhvr>
                                    </p:animEffect>
                                    <p:anim calcmode="lin" valueType="num">
                                      <p:cBhvr>
                                        <p:cTn id="28" dur="500" fill="hold"/>
                                        <p:tgtEl>
                                          <p:spTgt spid="43"/>
                                        </p:tgtEl>
                                        <p:attrNameLst>
                                          <p:attrName>ppt_x</p:attrName>
                                        </p:attrNameLst>
                                      </p:cBhvr>
                                      <p:tavLst>
                                        <p:tav tm="0">
                                          <p:val>
                                            <p:strVal val="#ppt_x"/>
                                          </p:val>
                                        </p:tav>
                                        <p:tav tm="100000">
                                          <p:val>
                                            <p:strVal val="#ppt_x"/>
                                          </p:val>
                                        </p:tav>
                                      </p:tavLst>
                                    </p:anim>
                                    <p:anim calcmode="lin" valueType="num">
                                      <p:cBhvr>
                                        <p:cTn id="29" dur="500" fill="hold"/>
                                        <p:tgtEl>
                                          <p:spTgt spid="43"/>
                                        </p:tgtEl>
                                        <p:attrNameLst>
                                          <p:attrName>ppt_y</p:attrName>
                                        </p:attrNameLst>
                                      </p:cBhvr>
                                      <p:tavLst>
                                        <p:tav tm="0">
                                          <p:val>
                                            <p:strVal val="#ppt_y+.1"/>
                                          </p:val>
                                        </p:tav>
                                        <p:tav tm="100000">
                                          <p:val>
                                            <p:strVal val="#ppt_y"/>
                                          </p:val>
                                        </p:tav>
                                      </p:tavLst>
                                    </p:anim>
                                  </p:childTnLst>
                                </p:cTn>
                              </p:par>
                              <p:par>
                                <p:cTn id="30" presetID="42" presetClass="entr" presetSubtype="0" fill="hold" nodeType="afterEffect">
                                  <p:stCondLst>
                                    <p:cond delay="430"/>
                                  </p:stCondLst>
                                  <p:childTnLst>
                                    <p:set>
                                      <p:cBhvr>
                                        <p:cTn id="31" dur="1" fill="hold">
                                          <p:stCondLst>
                                            <p:cond delay="0"/>
                                          </p:stCondLst>
                                        </p:cTn>
                                        <p:tgtEl>
                                          <p:spTgt spid="48"/>
                                        </p:tgtEl>
                                        <p:attrNameLst>
                                          <p:attrName>style.visibility</p:attrName>
                                        </p:attrNameLst>
                                      </p:cBhvr>
                                      <p:to>
                                        <p:strVal val="visible"/>
                                      </p:to>
                                    </p:set>
                                    <p:animEffect transition="in" filter="fade">
                                      <p:cBhvr>
                                        <p:cTn id="32" dur="500"/>
                                        <p:tgtEl>
                                          <p:spTgt spid="48"/>
                                        </p:tgtEl>
                                      </p:cBhvr>
                                    </p:animEffect>
                                    <p:anim calcmode="lin" valueType="num">
                                      <p:cBhvr>
                                        <p:cTn id="33" dur="500" fill="hold"/>
                                        <p:tgtEl>
                                          <p:spTgt spid="48"/>
                                        </p:tgtEl>
                                        <p:attrNameLst>
                                          <p:attrName>ppt_x</p:attrName>
                                        </p:attrNameLst>
                                      </p:cBhvr>
                                      <p:tavLst>
                                        <p:tav tm="0">
                                          <p:val>
                                            <p:strVal val="#ppt_x"/>
                                          </p:val>
                                        </p:tav>
                                        <p:tav tm="100000">
                                          <p:val>
                                            <p:strVal val="#ppt_x"/>
                                          </p:val>
                                        </p:tav>
                                      </p:tavLst>
                                    </p:anim>
                                    <p:anim calcmode="lin" valueType="num">
                                      <p:cBhvr>
                                        <p:cTn id="34" dur="500" fill="hold"/>
                                        <p:tgtEl>
                                          <p:spTgt spid="48"/>
                                        </p:tgtEl>
                                        <p:attrNameLst>
                                          <p:attrName>ppt_y</p:attrName>
                                        </p:attrNameLst>
                                      </p:cBhvr>
                                      <p:tavLst>
                                        <p:tav tm="0">
                                          <p:val>
                                            <p:strVal val="#ppt_y+.1"/>
                                          </p:val>
                                        </p:tav>
                                        <p:tav tm="100000">
                                          <p:val>
                                            <p:strVal val="#ppt_y"/>
                                          </p:val>
                                        </p:tav>
                                      </p:tavLst>
                                    </p:anim>
                                  </p:childTnLst>
                                </p:cTn>
                              </p:par>
                              <p:par>
                                <p:cTn id="35" presetID="42" presetClass="entr" presetSubtype="0" fill="hold" nodeType="afterEffect">
                                  <p:stCondLst>
                                    <p:cond delay="500"/>
                                  </p:stCondLst>
                                  <p:childTnLst>
                                    <p:set>
                                      <p:cBhvr>
                                        <p:cTn id="36" dur="1" fill="hold">
                                          <p:stCondLst>
                                            <p:cond delay="0"/>
                                          </p:stCondLst>
                                        </p:cTn>
                                        <p:tgtEl>
                                          <p:spTgt spid="52"/>
                                        </p:tgtEl>
                                        <p:attrNameLst>
                                          <p:attrName>style.visibility</p:attrName>
                                        </p:attrNameLst>
                                      </p:cBhvr>
                                      <p:to>
                                        <p:strVal val="visible"/>
                                      </p:to>
                                    </p:set>
                                    <p:animEffect transition="in" filter="fade">
                                      <p:cBhvr>
                                        <p:cTn id="37" dur="500"/>
                                        <p:tgtEl>
                                          <p:spTgt spid="52"/>
                                        </p:tgtEl>
                                      </p:cBhvr>
                                    </p:animEffect>
                                    <p:anim calcmode="lin" valueType="num">
                                      <p:cBhvr>
                                        <p:cTn id="38" dur="500" fill="hold"/>
                                        <p:tgtEl>
                                          <p:spTgt spid="52"/>
                                        </p:tgtEl>
                                        <p:attrNameLst>
                                          <p:attrName>ppt_x</p:attrName>
                                        </p:attrNameLst>
                                      </p:cBhvr>
                                      <p:tavLst>
                                        <p:tav tm="0">
                                          <p:val>
                                            <p:strVal val="#ppt_x"/>
                                          </p:val>
                                        </p:tav>
                                        <p:tav tm="100000">
                                          <p:val>
                                            <p:strVal val="#ppt_x"/>
                                          </p:val>
                                        </p:tav>
                                      </p:tavLst>
                                    </p:anim>
                                    <p:anim calcmode="lin" valueType="num">
                                      <p:cBhvr>
                                        <p:cTn id="39" dur="5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001" name="HiH banner" descr="Hack in Hills banner"/>
          <p:cNvPicPr>
            <a:picLocks noChangeAspect="1"/>
          </p:cNvPicPr>
          <p:nvPr/>
        </p:nvPicPr>
        <p:blipFill>
          <a:blip r:embed="rId3"/>
          <a:stretch>
            <a:fillRect/>
          </a:stretch>
        </p:blipFill>
        <p:spPr>
          <a:xfrm>
            <a:off x="0" y="-19050"/>
            <a:ext cx="12192000" cy="803671"/>
          </a:xfrm>
          <a:prstGeom prst="rect">
            <a:avLst/>
          </a:prstGeom>
        </p:spPr>
      </p:pic>
      <p:sp>
        <p:nvSpPr>
          <p:cNvPr id="4" name="!!Kicker">
            <a:extLst>
              <a:ext uri="{FF2B5EF4-FFF2-40B4-BE49-F238E27FC236}">
                <a16:creationId xmlns:a16="http://schemas.microsoft.com/office/drawing/2014/main" id="{9E3343FC-874B-A0D1-C7DC-8EA368C3D93F}"/>
              </a:ext>
            </a:extLst>
          </p:cNvPr>
          <p:cNvSpPr txBox="1"/>
          <p:nvPr/>
        </p:nvSpPr>
        <p:spPr>
          <a:xfrm>
            <a:off x="996483" y="925700"/>
            <a:ext cx="10204704" cy="203200"/>
          </a:xfrm>
          <a:prstGeom prst="rect">
            <a:avLst/>
          </a:prstGeom>
          <a:noFill/>
        </p:spPr>
        <p:txBody>
          <a:bodyPr vert="horz" wrap="square" lIns="0" tIns="0" rIns="0" bIns="0" rtlCol="0" anchor="t">
            <a:noAutofit/>
          </a:bodyPr>
          <a:lstStyle/>
          <a:p>
            <a:r>
              <a:rPr lang="en-IN" sz="1000" b="1" spc="300" dirty="0" smtClean="0">
                <a:solidFill>
                  <a:srgbClr val="C2410C"/>
                </a:solidFill>
                <a:latin typeface="IBM Plex Sans" panose="020B0503050203000203" pitchFamily="34" charset="0"/>
              </a:rPr>
              <a:t>ARCHITECTURE  1 </a:t>
            </a:r>
            <a:r>
              <a:rPr lang="en-IN" sz="1000" b="1" spc="300" dirty="0">
                <a:solidFill>
                  <a:srgbClr val="C2410C"/>
                </a:solidFill>
                <a:latin typeface="IBM Plex Sans" panose="020B0503050203000203" pitchFamily="34" charset="0"/>
              </a:rPr>
              <a:t>/ 2                                                                               ARCHITECTURE  </a:t>
            </a:r>
            <a:r>
              <a:rPr lang="en-IN" sz="1000" b="1" spc="300" dirty="0" smtClean="0">
                <a:solidFill>
                  <a:srgbClr val="C2410C"/>
                </a:solidFill>
                <a:latin typeface="IBM Plex Sans" panose="020B0503050203000203" pitchFamily="34" charset="0"/>
              </a:rPr>
              <a:t>2 </a:t>
            </a:r>
            <a:r>
              <a:rPr lang="en-IN" sz="1000" b="1" spc="300" dirty="0">
                <a:solidFill>
                  <a:srgbClr val="C2410C"/>
                </a:solidFill>
                <a:latin typeface="IBM Plex Sans" panose="020B0503050203000203" pitchFamily="34" charset="0"/>
              </a:rPr>
              <a:t>/ 2</a:t>
            </a:r>
          </a:p>
          <a:p>
            <a:endParaRPr lang="en-IN" sz="1000" b="1" spc="300" dirty="0">
              <a:solidFill>
                <a:srgbClr val="C2410C"/>
              </a:solidFill>
              <a:latin typeface="IBM Plex Sans" panose="020B0503050203000203" pitchFamily="34" charset="0"/>
            </a:endParaRPr>
          </a:p>
        </p:txBody>
      </p:sp>
      <p:sp>
        <p:nvSpPr>
          <p:cNvPr id="5" name="!!Title">
            <a:extLst>
              <a:ext uri="{FF2B5EF4-FFF2-40B4-BE49-F238E27FC236}">
                <a16:creationId xmlns:a16="http://schemas.microsoft.com/office/drawing/2014/main" id="{8419DFB8-E051-5F3A-864D-EF7AD0570659}"/>
              </a:ext>
            </a:extLst>
          </p:cNvPr>
          <p:cNvSpPr txBox="1"/>
          <p:nvPr/>
        </p:nvSpPr>
        <p:spPr>
          <a:xfrm>
            <a:off x="996483" y="1096279"/>
            <a:ext cx="10204704" cy="558800"/>
          </a:xfrm>
          <a:prstGeom prst="rect">
            <a:avLst/>
          </a:prstGeom>
          <a:noFill/>
        </p:spPr>
        <p:txBody>
          <a:bodyPr vert="horz" wrap="square" lIns="0" tIns="0" rIns="0" bIns="0" rtlCol="0" anchor="t">
            <a:noAutofit/>
          </a:bodyPr>
          <a:lstStyle/>
          <a:p>
            <a:r>
              <a:rPr lang="en-IN" sz="3000" b="1" dirty="0">
                <a:solidFill>
                  <a:srgbClr val="111827"/>
                </a:solidFill>
                <a:latin typeface="Montserrat" pitchFamily="2" charset="0"/>
              </a:rPr>
              <a:t>Hardware &amp; </a:t>
            </a:r>
            <a:r>
              <a:rPr lang="en-IN" sz="3000" b="1" dirty="0" smtClean="0">
                <a:solidFill>
                  <a:srgbClr val="111827"/>
                </a:solidFill>
                <a:latin typeface="Montserrat" pitchFamily="2" charset="0"/>
              </a:rPr>
              <a:t>circuit                           Software </a:t>
            </a:r>
            <a:r>
              <a:rPr lang="en-IN" sz="3000" b="1" dirty="0">
                <a:solidFill>
                  <a:srgbClr val="111827"/>
                </a:solidFill>
                <a:latin typeface="Montserrat" pitchFamily="2" charset="0"/>
              </a:rPr>
              <a:t>&amp; data flow</a:t>
            </a:r>
          </a:p>
          <a:p>
            <a:endParaRPr lang="en-IN" sz="3000" b="1" dirty="0">
              <a:solidFill>
                <a:srgbClr val="111827"/>
              </a:solidFill>
              <a:latin typeface="Montserrat" pitchFamily="2" charset="0"/>
            </a:endParaRPr>
          </a:p>
        </p:txBody>
      </p:sp>
      <p:sp>
        <p:nvSpPr>
          <p:cNvPr id="6" name="!!Footer">
            <a:extLst>
              <a:ext uri="{FF2B5EF4-FFF2-40B4-BE49-F238E27FC236}">
                <a16:creationId xmlns:a16="http://schemas.microsoft.com/office/drawing/2014/main" id="{9B33B503-1D5B-5B4F-0B63-62777F3D84AC}"/>
              </a:ext>
            </a:extLst>
          </p:cNvPr>
          <p:cNvSpPr txBox="1"/>
          <p:nvPr/>
        </p:nvSpPr>
        <p:spPr>
          <a:xfrm>
            <a:off x="996483" y="6574536"/>
            <a:ext cx="8229600" cy="177800"/>
          </a:xfrm>
          <a:prstGeom prst="rect">
            <a:avLst/>
          </a:prstGeom>
          <a:noFill/>
        </p:spPr>
        <p:txBody>
          <a:bodyPr vert="horz" wrap="square" lIns="0" tIns="0" rIns="0" bIns="0" rtlCol="0" anchor="t">
            <a:noAutofit/>
          </a:bodyPr>
          <a:lstStyle/>
          <a:p>
            <a:r>
              <a:rPr lang="en-IN" sz="800" spc="150">
                <a:solidFill>
                  <a:srgbClr val="475467"/>
                </a:solidFill>
                <a:latin typeface="IBM Plex Sans" panose="020B0503050203000203" pitchFamily="34" charset="0"/>
              </a:rPr>
              <a:t>HACK IN HILLS  ·  VISION-BASED AUTONOMOUS ROBOT  ·  TECH MINIONS</a:t>
            </a:r>
          </a:p>
        </p:txBody>
      </p:sp>
      <p:sp>
        <p:nvSpPr>
          <p:cNvPr id="7" name="!!Page">
            <a:extLst>
              <a:ext uri="{FF2B5EF4-FFF2-40B4-BE49-F238E27FC236}">
                <a16:creationId xmlns:a16="http://schemas.microsoft.com/office/drawing/2014/main" id="{A046A87E-F68F-99A1-9D46-79F9D0B42D8F}"/>
              </a:ext>
            </a:extLst>
          </p:cNvPr>
          <p:cNvSpPr txBox="1"/>
          <p:nvPr/>
        </p:nvSpPr>
        <p:spPr>
          <a:xfrm>
            <a:off x="9931187" y="6657452"/>
            <a:ext cx="1270000" cy="177800"/>
          </a:xfrm>
          <a:prstGeom prst="rect">
            <a:avLst/>
          </a:prstGeom>
          <a:noFill/>
        </p:spPr>
        <p:txBody>
          <a:bodyPr vert="horz" wrap="square" lIns="0" tIns="0" rIns="0" bIns="0" rtlCol="0" anchor="t">
            <a:noAutofit/>
          </a:bodyPr>
          <a:lstStyle/>
          <a:p>
            <a:pPr algn="r"/>
            <a:r>
              <a:rPr lang="en-IN" sz="800" b="1" dirty="0">
                <a:solidFill>
                  <a:srgbClr val="475467"/>
                </a:solidFill>
                <a:latin typeface="IBM Plex Sans" panose="020B0503050203000203" pitchFamily="34" charset="0"/>
              </a:rPr>
              <a:t>04 / 09</a:t>
            </a:r>
          </a:p>
        </p:txBody>
      </p:sp>
      <p:sp>
        <p:nvSpPr>
          <p:cNvPr id="8" name="s518">
            <a:extLst>
              <a:ext uri="{FF2B5EF4-FFF2-40B4-BE49-F238E27FC236}">
                <a16:creationId xmlns:a16="http://schemas.microsoft.com/office/drawing/2014/main" id="{CF676767-C77F-8F47-CD4B-A493203EE180}"/>
              </a:ext>
            </a:extLst>
          </p:cNvPr>
          <p:cNvSpPr txBox="1"/>
          <p:nvPr/>
        </p:nvSpPr>
        <p:spPr>
          <a:xfrm>
            <a:off x="4118787" y="1613166"/>
            <a:ext cx="2587757" cy="124254"/>
          </a:xfrm>
          <a:prstGeom prst="rect">
            <a:avLst/>
          </a:prstGeom>
          <a:noFill/>
        </p:spPr>
        <p:txBody>
          <a:bodyPr vert="horz" wrap="square" lIns="0" tIns="0" rIns="0" bIns="0" rtlCol="0" anchor="t">
            <a:noAutofit/>
          </a:bodyPr>
          <a:lstStyle/>
          <a:p>
            <a:endParaRPr lang="en-IN" sz="884" b="1" spc="200" dirty="0">
              <a:solidFill>
                <a:srgbClr val="475467"/>
              </a:solidFill>
              <a:latin typeface="IBM Plex Sans" panose="020B0503050203000203" pitchFamily="34" charset="0"/>
            </a:endParaRPr>
          </a:p>
        </p:txBody>
      </p:sp>
      <p:sp>
        <p:nvSpPr>
          <p:cNvPr id="9" name="s519">
            <a:extLst>
              <a:ext uri="{FF2B5EF4-FFF2-40B4-BE49-F238E27FC236}">
                <a16:creationId xmlns:a16="http://schemas.microsoft.com/office/drawing/2014/main" id="{15D2A892-2515-82E5-C0A8-47D3A26A3533}"/>
              </a:ext>
            </a:extLst>
          </p:cNvPr>
          <p:cNvSpPr txBox="1"/>
          <p:nvPr/>
        </p:nvSpPr>
        <p:spPr>
          <a:xfrm>
            <a:off x="11299884" y="1629153"/>
            <a:ext cx="2173716" cy="124254"/>
          </a:xfrm>
          <a:prstGeom prst="rect">
            <a:avLst/>
          </a:prstGeom>
          <a:noFill/>
        </p:spPr>
        <p:txBody>
          <a:bodyPr vert="horz" wrap="square" lIns="0" tIns="0" rIns="0" bIns="0" rtlCol="0" anchor="t">
            <a:noAutofit/>
          </a:bodyPr>
          <a:lstStyle/>
          <a:p>
            <a:endParaRPr lang="en-IN" sz="884" b="1" spc="200" dirty="0">
              <a:solidFill>
                <a:srgbClr val="475467"/>
              </a:solidFill>
              <a:latin typeface="IBM Plex Sans" panose="020B0503050203000203" pitchFamily="34"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797" y="1813827"/>
            <a:ext cx="5989105" cy="4889753"/>
          </a:xfrm>
          <a:prstGeom prst="rect">
            <a:avLst/>
          </a:prstGeom>
        </p:spPr>
      </p:pic>
      <p:grpSp>
        <p:nvGrpSpPr>
          <p:cNvPr id="120" name="s635">
            <a:extLst>
              <a:ext uri="{FF2B5EF4-FFF2-40B4-BE49-F238E27FC236}">
                <a16:creationId xmlns:a16="http://schemas.microsoft.com/office/drawing/2014/main" id="{DD9429CB-3C42-528F-FE3C-06AE2BC78457}"/>
              </a:ext>
            </a:extLst>
          </p:cNvPr>
          <p:cNvGrpSpPr/>
          <p:nvPr/>
        </p:nvGrpSpPr>
        <p:grpSpPr>
          <a:xfrm>
            <a:off x="6473603" y="4431628"/>
            <a:ext cx="2740664" cy="2142908"/>
            <a:chOff x="609600" y="3581400"/>
            <a:chExt cx="3556000" cy="2692400"/>
          </a:xfrm>
        </p:grpSpPr>
        <p:grpSp>
          <p:nvGrpSpPr>
            <p:cNvPr id="121" name="s629">
              <a:extLst>
                <a:ext uri="{FF2B5EF4-FFF2-40B4-BE49-F238E27FC236}">
                  <a16:creationId xmlns:a16="http://schemas.microsoft.com/office/drawing/2014/main" id="{18207719-9039-E161-EB58-A6E7AC00E96F}"/>
                </a:ext>
              </a:extLst>
            </p:cNvPr>
            <p:cNvGrpSpPr/>
            <p:nvPr/>
          </p:nvGrpSpPr>
          <p:grpSpPr>
            <a:xfrm>
              <a:off x="609600" y="3581400"/>
              <a:ext cx="406400" cy="406400"/>
              <a:chOff x="609600" y="3581400"/>
              <a:chExt cx="406400" cy="406400"/>
            </a:xfrm>
          </p:grpSpPr>
          <p:sp>
            <p:nvSpPr>
              <p:cNvPr id="127" name="s627">
                <a:extLst>
                  <a:ext uri="{FF2B5EF4-FFF2-40B4-BE49-F238E27FC236}">
                    <a16:creationId xmlns:a16="http://schemas.microsoft.com/office/drawing/2014/main" id="{867BBE98-28FA-2B63-4AA5-AEFDA75A4514}"/>
                  </a:ext>
                </a:extLst>
              </p:cNvPr>
              <p:cNvSpPr/>
              <p:nvPr/>
            </p:nvSpPr>
            <p:spPr>
              <a:xfrm>
                <a:off x="609600" y="3581400"/>
                <a:ext cx="406400" cy="406400"/>
              </a:xfrm>
              <a:prstGeom prst="ellipse">
                <a:avLst/>
              </a:prstGeom>
              <a:solidFill>
                <a:srgbClr val="0F766E"/>
              </a:solidFill>
              <a:ln w="11811"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8" name="s628">
                <a:extLst>
                  <a:ext uri="{FF2B5EF4-FFF2-40B4-BE49-F238E27FC236}">
                    <a16:creationId xmlns:a16="http://schemas.microsoft.com/office/drawing/2014/main" id="{2F0D8388-86AA-AE3B-8414-BFAC2886DE71}"/>
                  </a:ext>
                </a:extLst>
              </p:cNvPr>
              <p:cNvPicPr>
                <a:picLocks/>
              </p:cNvPicPr>
              <p:nvPr/>
            </p:nvPicPr>
            <p:blipFill>
              <a:blip r:embed="rId5" cstate="hqprint">
                <a:extLst>
                  <a:ext uri="{28A0092B-C50C-407E-A947-70E740481C1C}">
                    <a14:useLocalDpi xmlns:a14="http://schemas.microsoft.com/office/drawing/2010/main" val="0"/>
                  </a:ext>
                </a:extLst>
              </a:blip>
              <a:stretch>
                <a:fillRect/>
              </a:stretch>
            </p:blipFill>
            <p:spPr>
              <a:xfrm>
                <a:off x="711200" y="3683000"/>
                <a:ext cx="203200" cy="203200"/>
              </a:xfrm>
              <a:prstGeom prst="rect">
                <a:avLst/>
              </a:prstGeom>
            </p:spPr>
          </p:pic>
        </p:grpSp>
        <p:sp>
          <p:nvSpPr>
            <p:cNvPr id="122" name="s630">
              <a:extLst>
                <a:ext uri="{FF2B5EF4-FFF2-40B4-BE49-F238E27FC236}">
                  <a16:creationId xmlns:a16="http://schemas.microsoft.com/office/drawing/2014/main" id="{FC55752D-77C7-32C8-D585-7E885FA631CC}"/>
                </a:ext>
              </a:extLst>
            </p:cNvPr>
            <p:cNvSpPr txBox="1"/>
            <p:nvPr/>
          </p:nvSpPr>
          <p:spPr>
            <a:xfrm>
              <a:off x="1143000" y="3644900"/>
              <a:ext cx="2997200" cy="279400"/>
            </a:xfrm>
            <a:prstGeom prst="rect">
              <a:avLst/>
            </a:prstGeom>
            <a:noFill/>
          </p:spPr>
          <p:txBody>
            <a:bodyPr vert="horz" wrap="square" lIns="0" tIns="0" rIns="0" bIns="0" rtlCol="0" anchor="t">
              <a:noAutofit/>
            </a:bodyPr>
            <a:lstStyle/>
            <a:p>
              <a:r>
                <a:rPr lang="en-IN" sz="1395" b="1">
                  <a:solidFill>
                    <a:srgbClr val="111827"/>
                  </a:solidFill>
                  <a:latin typeface="Montserrat" pitchFamily="2" charset="0"/>
                </a:rPr>
                <a:t>Laptop · Python</a:t>
              </a:r>
            </a:p>
          </p:txBody>
        </p:sp>
        <p:sp>
          <p:nvSpPr>
            <p:cNvPr id="123" name="s631">
              <a:extLst>
                <a:ext uri="{FF2B5EF4-FFF2-40B4-BE49-F238E27FC236}">
                  <a16:creationId xmlns:a16="http://schemas.microsoft.com/office/drawing/2014/main" id="{ED0F097D-2E07-09C1-6029-2DBAD499089A}"/>
                </a:ext>
              </a:extLst>
            </p:cNvPr>
            <p:cNvSpPr/>
            <p:nvPr/>
          </p:nvSpPr>
          <p:spPr>
            <a:xfrm>
              <a:off x="609600" y="4114800"/>
              <a:ext cx="3556000" cy="482600"/>
            </a:xfrm>
            <a:prstGeom prst="roundRect">
              <a:avLst>
                <a:gd name="adj" fmla="val 12000"/>
              </a:avLst>
            </a:prstGeom>
            <a:solidFill>
              <a:srgbClr val="F5F7FA"/>
            </a:solidFill>
            <a:ln w="11811">
              <a:solidFill>
                <a:srgbClr val="D5DBE5"/>
              </a:solidFill>
            </a:ln>
          </p:spPr>
          <p:style>
            <a:lnRef idx="2">
              <a:schemeClr val="accent1">
                <a:shade val="15000"/>
              </a:schemeClr>
            </a:lnRef>
            <a:fillRef idx="1">
              <a:schemeClr val="accent1"/>
            </a:fillRef>
            <a:effectRef idx="0">
              <a:schemeClr val="accent1"/>
            </a:effectRef>
            <a:fontRef idx="minor">
              <a:schemeClr val="lt1"/>
            </a:fontRef>
          </p:style>
          <p:txBody>
            <a:bodyPr wrap="square" lIns="118110" tIns="23622" rIns="70866" bIns="23622" rtlCol="0" anchor="ctr">
              <a:noAutofit/>
            </a:bodyPr>
            <a:lstStyle/>
            <a:p>
              <a:r>
                <a:rPr lang="en-IN" sz="976" b="1" dirty="0">
                  <a:solidFill>
                    <a:srgbClr val="111827"/>
                  </a:solidFill>
                  <a:latin typeface="IBM Plex Sans" panose="020B0503050203000203" pitchFamily="34" charset="0"/>
                </a:rPr>
                <a:t>Vision</a:t>
              </a:r>
            </a:p>
            <a:p>
              <a:pPr>
                <a:spcBef>
                  <a:spcPts val="93"/>
                </a:spcBef>
              </a:pPr>
              <a:r>
                <a:rPr lang="en-IN" sz="884" dirty="0" err="1">
                  <a:solidFill>
                    <a:srgbClr val="475467"/>
                  </a:solidFill>
                  <a:latin typeface="IBM Plex Sans" panose="020B0503050203000203" pitchFamily="34" charset="0"/>
                </a:rPr>
                <a:t>OpenCV</a:t>
              </a:r>
              <a:r>
                <a:rPr lang="en-IN" sz="884" dirty="0">
                  <a:solidFill>
                    <a:srgbClr val="475467"/>
                  </a:solidFill>
                  <a:latin typeface="IBM Plex Sans" panose="020B0503050203000203" pitchFamily="34" charset="0"/>
                </a:rPr>
                <a:t> · </a:t>
              </a:r>
              <a:r>
                <a:rPr lang="en-IN" sz="884" dirty="0" err="1">
                  <a:solidFill>
                    <a:srgbClr val="475467"/>
                  </a:solidFill>
                  <a:latin typeface="IBM Plex Sans" panose="020B0503050203000203" pitchFamily="34" charset="0"/>
                </a:rPr>
                <a:t>Ultralytics</a:t>
              </a:r>
              <a:r>
                <a:rPr lang="en-IN" sz="884" dirty="0">
                  <a:solidFill>
                    <a:srgbClr val="475467"/>
                  </a:solidFill>
                  <a:latin typeface="IBM Plex Sans" panose="020B0503050203000203" pitchFamily="34" charset="0"/>
                </a:rPr>
                <a:t> · ESP32-CAM stream</a:t>
              </a:r>
            </a:p>
          </p:txBody>
        </p:sp>
        <p:sp>
          <p:nvSpPr>
            <p:cNvPr id="124" name="s632">
              <a:extLst>
                <a:ext uri="{FF2B5EF4-FFF2-40B4-BE49-F238E27FC236}">
                  <a16:creationId xmlns:a16="http://schemas.microsoft.com/office/drawing/2014/main" id="{5BE111B6-6866-5B16-539A-46AB043F2CB5}"/>
                </a:ext>
              </a:extLst>
            </p:cNvPr>
            <p:cNvSpPr/>
            <p:nvPr/>
          </p:nvSpPr>
          <p:spPr>
            <a:xfrm>
              <a:off x="609600" y="4673600"/>
              <a:ext cx="3556000" cy="482600"/>
            </a:xfrm>
            <a:prstGeom prst="roundRect">
              <a:avLst>
                <a:gd name="adj" fmla="val 12000"/>
              </a:avLst>
            </a:prstGeom>
            <a:solidFill>
              <a:srgbClr val="F5F7FA"/>
            </a:solidFill>
            <a:ln w="11811">
              <a:solidFill>
                <a:srgbClr val="D5DBE5"/>
              </a:solidFill>
            </a:ln>
          </p:spPr>
          <p:style>
            <a:lnRef idx="2">
              <a:schemeClr val="accent1">
                <a:shade val="15000"/>
              </a:schemeClr>
            </a:lnRef>
            <a:fillRef idx="1">
              <a:schemeClr val="accent1"/>
            </a:fillRef>
            <a:effectRef idx="0">
              <a:schemeClr val="accent1"/>
            </a:effectRef>
            <a:fontRef idx="minor">
              <a:schemeClr val="lt1"/>
            </a:fontRef>
          </p:style>
          <p:txBody>
            <a:bodyPr wrap="square" lIns="118110" tIns="23622" rIns="70866" bIns="23622" rtlCol="0" anchor="ctr">
              <a:noAutofit/>
            </a:bodyPr>
            <a:lstStyle/>
            <a:p>
              <a:r>
                <a:rPr lang="en-IN" sz="976" b="1" dirty="0">
                  <a:solidFill>
                    <a:srgbClr val="111827"/>
                  </a:solidFill>
                  <a:latin typeface="IBM Plex Sans" panose="020B0503050203000203" pitchFamily="34" charset="0"/>
                </a:rPr>
                <a:t>Voice</a:t>
              </a:r>
            </a:p>
            <a:p>
              <a:pPr>
                <a:spcBef>
                  <a:spcPts val="93"/>
                </a:spcBef>
              </a:pPr>
              <a:r>
                <a:rPr lang="en-IN" sz="884" dirty="0" err="1">
                  <a:solidFill>
                    <a:srgbClr val="475467"/>
                  </a:solidFill>
                  <a:latin typeface="IBM Plex Sans" panose="020B0503050203000203" pitchFamily="34" charset="0"/>
                </a:rPr>
                <a:t>SpeechRecognition</a:t>
              </a:r>
              <a:r>
                <a:rPr lang="en-IN" sz="884" dirty="0">
                  <a:solidFill>
                    <a:srgbClr val="475467"/>
                  </a:solidFill>
                  <a:latin typeface="IBM Plex Sans" panose="020B0503050203000203" pitchFamily="34" charset="0"/>
                </a:rPr>
                <a:t> + </a:t>
              </a:r>
              <a:r>
                <a:rPr lang="en-IN" sz="884" dirty="0" err="1">
                  <a:solidFill>
                    <a:srgbClr val="475467"/>
                  </a:solidFill>
                  <a:latin typeface="IBM Plex Sans" panose="020B0503050203000203" pitchFamily="34" charset="0"/>
                </a:rPr>
                <a:t>Vosk</a:t>
              </a:r>
              <a:r>
                <a:rPr lang="en-IN" sz="884" dirty="0">
                  <a:solidFill>
                    <a:srgbClr val="475467"/>
                  </a:solidFill>
                  <a:latin typeface="IBM Plex Sans" panose="020B0503050203000203" pitchFamily="34" charset="0"/>
                </a:rPr>
                <a:t> / Whisper</a:t>
              </a:r>
            </a:p>
          </p:txBody>
        </p:sp>
        <p:sp>
          <p:nvSpPr>
            <p:cNvPr id="125" name="s633">
              <a:extLst>
                <a:ext uri="{FF2B5EF4-FFF2-40B4-BE49-F238E27FC236}">
                  <a16:creationId xmlns:a16="http://schemas.microsoft.com/office/drawing/2014/main" id="{39696F43-20A7-B36C-4E07-E5E21F8DC404}"/>
                </a:ext>
              </a:extLst>
            </p:cNvPr>
            <p:cNvSpPr/>
            <p:nvPr/>
          </p:nvSpPr>
          <p:spPr>
            <a:xfrm>
              <a:off x="609600" y="5232400"/>
              <a:ext cx="3556000" cy="482600"/>
            </a:xfrm>
            <a:prstGeom prst="roundRect">
              <a:avLst>
                <a:gd name="adj" fmla="val 12000"/>
              </a:avLst>
            </a:prstGeom>
            <a:solidFill>
              <a:srgbClr val="F5F7FA"/>
            </a:solidFill>
            <a:ln w="11811">
              <a:solidFill>
                <a:srgbClr val="D5DBE5"/>
              </a:solidFill>
            </a:ln>
          </p:spPr>
          <p:style>
            <a:lnRef idx="2">
              <a:schemeClr val="accent1">
                <a:shade val="15000"/>
              </a:schemeClr>
            </a:lnRef>
            <a:fillRef idx="1">
              <a:schemeClr val="accent1"/>
            </a:fillRef>
            <a:effectRef idx="0">
              <a:schemeClr val="accent1"/>
            </a:effectRef>
            <a:fontRef idx="minor">
              <a:schemeClr val="lt1"/>
            </a:fontRef>
          </p:style>
          <p:txBody>
            <a:bodyPr wrap="square" lIns="118110" tIns="23622" rIns="70866" bIns="23622" rtlCol="0" anchor="ctr">
              <a:noAutofit/>
            </a:bodyPr>
            <a:lstStyle/>
            <a:p>
              <a:r>
                <a:rPr lang="en-US" sz="976" b="1">
                  <a:solidFill>
                    <a:srgbClr val="111827"/>
                  </a:solidFill>
                  <a:latin typeface="IBM Plex Sans" panose="020B0503050203000203" pitchFamily="34" charset="0"/>
                </a:rPr>
                <a:t>Mapping &amp; planning</a:t>
              </a:r>
            </a:p>
            <a:p>
              <a:pPr>
                <a:spcBef>
                  <a:spcPts val="93"/>
                </a:spcBef>
              </a:pPr>
              <a:r>
                <a:rPr lang="en-US" sz="884">
                  <a:solidFill>
                    <a:srgbClr val="475467"/>
                  </a:solidFill>
                  <a:latin typeface="IBM Plex Sans" panose="020B0503050203000203" pitchFamily="34" charset="0"/>
                </a:rPr>
                <a:t>BreezySLAM · NumPy · A* + DWA</a:t>
              </a:r>
              <a:endParaRPr lang="en-IN" sz="884">
                <a:solidFill>
                  <a:srgbClr val="475467"/>
                </a:solidFill>
                <a:latin typeface="IBM Plex Sans" panose="020B0503050203000203" pitchFamily="34" charset="0"/>
              </a:endParaRPr>
            </a:p>
          </p:txBody>
        </p:sp>
        <p:sp>
          <p:nvSpPr>
            <p:cNvPr id="126" name="s634">
              <a:extLst>
                <a:ext uri="{FF2B5EF4-FFF2-40B4-BE49-F238E27FC236}">
                  <a16:creationId xmlns:a16="http://schemas.microsoft.com/office/drawing/2014/main" id="{25A7DD3C-4B30-FAB5-40E2-38E989BAFFF9}"/>
                </a:ext>
              </a:extLst>
            </p:cNvPr>
            <p:cNvSpPr/>
            <p:nvPr/>
          </p:nvSpPr>
          <p:spPr>
            <a:xfrm>
              <a:off x="609600" y="5791200"/>
              <a:ext cx="3556000" cy="482600"/>
            </a:xfrm>
            <a:prstGeom prst="roundRect">
              <a:avLst>
                <a:gd name="adj" fmla="val 12000"/>
              </a:avLst>
            </a:prstGeom>
            <a:solidFill>
              <a:srgbClr val="F5F7FA"/>
            </a:solidFill>
            <a:ln w="11811">
              <a:solidFill>
                <a:srgbClr val="D5DBE5"/>
              </a:solidFill>
            </a:ln>
          </p:spPr>
          <p:style>
            <a:lnRef idx="2">
              <a:schemeClr val="accent1">
                <a:shade val="15000"/>
              </a:schemeClr>
            </a:lnRef>
            <a:fillRef idx="1">
              <a:schemeClr val="accent1"/>
            </a:fillRef>
            <a:effectRef idx="0">
              <a:schemeClr val="accent1"/>
            </a:effectRef>
            <a:fontRef idx="minor">
              <a:schemeClr val="lt1"/>
            </a:fontRef>
          </p:style>
          <p:txBody>
            <a:bodyPr wrap="square" lIns="118110" tIns="23622" rIns="70866" bIns="23622" rtlCol="0" anchor="ctr">
              <a:noAutofit/>
            </a:bodyPr>
            <a:lstStyle/>
            <a:p>
              <a:r>
                <a:rPr lang="en-IN" sz="976" b="1">
                  <a:solidFill>
                    <a:srgbClr val="111827"/>
                  </a:solidFill>
                  <a:latin typeface="IBM Plex Sans" panose="020B0503050203000203" pitchFamily="34" charset="0"/>
                </a:rPr>
                <a:t>Comms &amp; UI</a:t>
              </a:r>
            </a:p>
            <a:p>
              <a:pPr>
                <a:spcBef>
                  <a:spcPts val="93"/>
                </a:spcBef>
              </a:pPr>
              <a:r>
                <a:rPr lang="en-IN" sz="884">
                  <a:solidFill>
                    <a:srgbClr val="475467"/>
                  </a:solidFill>
                  <a:latin typeface="IBM Plex Sans" panose="020B0503050203000203" pitchFamily="34" charset="0"/>
                </a:rPr>
                <a:t>websockets · asyncio · Streamlit</a:t>
              </a:r>
            </a:p>
          </p:txBody>
        </p:sp>
      </p:grpSp>
      <p:grpSp>
        <p:nvGrpSpPr>
          <p:cNvPr id="129" name="s644">
            <a:extLst>
              <a:ext uri="{FF2B5EF4-FFF2-40B4-BE49-F238E27FC236}">
                <a16:creationId xmlns:a16="http://schemas.microsoft.com/office/drawing/2014/main" id="{7CCD5585-39F0-BAE1-B43A-61ACE597B946}"/>
              </a:ext>
            </a:extLst>
          </p:cNvPr>
          <p:cNvGrpSpPr/>
          <p:nvPr/>
        </p:nvGrpSpPr>
        <p:grpSpPr>
          <a:xfrm>
            <a:off x="9434428" y="4431628"/>
            <a:ext cx="2697958" cy="2142908"/>
            <a:chOff x="4318000" y="3581400"/>
            <a:chExt cx="3556000" cy="2692400"/>
          </a:xfrm>
        </p:grpSpPr>
        <p:grpSp>
          <p:nvGrpSpPr>
            <p:cNvPr id="130" name="s638">
              <a:extLst>
                <a:ext uri="{FF2B5EF4-FFF2-40B4-BE49-F238E27FC236}">
                  <a16:creationId xmlns:a16="http://schemas.microsoft.com/office/drawing/2014/main" id="{11E22130-B973-97CA-15AA-55E9E6421019}"/>
                </a:ext>
              </a:extLst>
            </p:cNvPr>
            <p:cNvGrpSpPr/>
            <p:nvPr/>
          </p:nvGrpSpPr>
          <p:grpSpPr>
            <a:xfrm>
              <a:off x="4318000" y="3581400"/>
              <a:ext cx="406400" cy="406400"/>
              <a:chOff x="4318000" y="3581400"/>
              <a:chExt cx="406400" cy="406400"/>
            </a:xfrm>
          </p:grpSpPr>
          <p:sp>
            <p:nvSpPr>
              <p:cNvPr id="136" name="s636">
                <a:extLst>
                  <a:ext uri="{FF2B5EF4-FFF2-40B4-BE49-F238E27FC236}">
                    <a16:creationId xmlns:a16="http://schemas.microsoft.com/office/drawing/2014/main" id="{2A052A40-3563-13C2-9682-DFC3C2230C65}"/>
                  </a:ext>
                </a:extLst>
              </p:cNvPr>
              <p:cNvSpPr/>
              <p:nvPr/>
            </p:nvSpPr>
            <p:spPr>
              <a:xfrm>
                <a:off x="4318000" y="3581400"/>
                <a:ext cx="406400" cy="406400"/>
              </a:xfrm>
              <a:prstGeom prst="ellipse">
                <a:avLst/>
              </a:prstGeom>
              <a:solidFill>
                <a:srgbClr val="2F5D8A"/>
              </a:solidFill>
              <a:ln w="11811"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7" name="s637">
                <a:extLst>
                  <a:ext uri="{FF2B5EF4-FFF2-40B4-BE49-F238E27FC236}">
                    <a16:creationId xmlns:a16="http://schemas.microsoft.com/office/drawing/2014/main" id="{E0551F0C-77C3-50A5-63C1-E4AC8D589574}"/>
                  </a:ext>
                </a:extLst>
              </p:cNvPr>
              <p:cNvPicPr>
                <a:picLocks/>
              </p:cNvPicPr>
              <p:nvPr/>
            </p:nvPicPr>
            <p:blipFill>
              <a:blip r:embed="rId6" cstate="hqprint">
                <a:extLst>
                  <a:ext uri="{28A0092B-C50C-407E-A947-70E740481C1C}">
                    <a14:useLocalDpi xmlns:a14="http://schemas.microsoft.com/office/drawing/2010/main" val="0"/>
                  </a:ext>
                </a:extLst>
              </a:blip>
              <a:stretch>
                <a:fillRect/>
              </a:stretch>
            </p:blipFill>
            <p:spPr>
              <a:xfrm>
                <a:off x="4419600" y="3683000"/>
                <a:ext cx="203200" cy="203200"/>
              </a:xfrm>
              <a:prstGeom prst="rect">
                <a:avLst/>
              </a:prstGeom>
            </p:spPr>
          </p:pic>
        </p:grpSp>
        <p:sp>
          <p:nvSpPr>
            <p:cNvPr id="131" name="s639">
              <a:extLst>
                <a:ext uri="{FF2B5EF4-FFF2-40B4-BE49-F238E27FC236}">
                  <a16:creationId xmlns:a16="http://schemas.microsoft.com/office/drawing/2014/main" id="{5EDE7FAA-C6BD-C577-9EF8-D8F34B5DD910}"/>
                </a:ext>
              </a:extLst>
            </p:cNvPr>
            <p:cNvSpPr txBox="1"/>
            <p:nvPr/>
          </p:nvSpPr>
          <p:spPr>
            <a:xfrm>
              <a:off x="4851400" y="3644900"/>
              <a:ext cx="2997200" cy="279400"/>
            </a:xfrm>
            <a:prstGeom prst="rect">
              <a:avLst/>
            </a:prstGeom>
            <a:noFill/>
          </p:spPr>
          <p:txBody>
            <a:bodyPr vert="horz" wrap="square" lIns="0" tIns="0" rIns="0" bIns="0" rtlCol="0" anchor="t">
              <a:noAutofit/>
            </a:bodyPr>
            <a:lstStyle/>
            <a:p>
              <a:r>
                <a:rPr lang="en-IN" sz="1395" b="1">
                  <a:solidFill>
                    <a:srgbClr val="111827"/>
                  </a:solidFill>
                  <a:latin typeface="Montserrat" pitchFamily="2" charset="0"/>
                </a:rPr>
                <a:t>Robot firmware · C++</a:t>
              </a:r>
            </a:p>
          </p:txBody>
        </p:sp>
        <p:sp>
          <p:nvSpPr>
            <p:cNvPr id="132" name="s640">
              <a:extLst>
                <a:ext uri="{FF2B5EF4-FFF2-40B4-BE49-F238E27FC236}">
                  <a16:creationId xmlns:a16="http://schemas.microsoft.com/office/drawing/2014/main" id="{17D2C966-BD20-4BB8-58CB-38A221E9ABA5}"/>
                </a:ext>
              </a:extLst>
            </p:cNvPr>
            <p:cNvSpPr/>
            <p:nvPr/>
          </p:nvSpPr>
          <p:spPr>
            <a:xfrm>
              <a:off x="4318000" y="4114800"/>
              <a:ext cx="3556000" cy="482600"/>
            </a:xfrm>
            <a:prstGeom prst="roundRect">
              <a:avLst>
                <a:gd name="adj" fmla="val 12000"/>
              </a:avLst>
            </a:prstGeom>
            <a:solidFill>
              <a:srgbClr val="F5F7FA"/>
            </a:solidFill>
            <a:ln w="11811">
              <a:solidFill>
                <a:srgbClr val="D5DBE5"/>
              </a:solidFill>
            </a:ln>
          </p:spPr>
          <p:style>
            <a:lnRef idx="2">
              <a:schemeClr val="accent1">
                <a:shade val="15000"/>
              </a:schemeClr>
            </a:lnRef>
            <a:fillRef idx="1">
              <a:schemeClr val="accent1"/>
            </a:fillRef>
            <a:effectRef idx="0">
              <a:schemeClr val="accent1"/>
            </a:effectRef>
            <a:fontRef idx="minor">
              <a:schemeClr val="lt1"/>
            </a:fontRef>
          </p:style>
          <p:txBody>
            <a:bodyPr wrap="square" lIns="118110" tIns="23622" rIns="70866" bIns="23622" rtlCol="0" anchor="ctr">
              <a:noAutofit/>
            </a:bodyPr>
            <a:lstStyle/>
            <a:p>
              <a:r>
                <a:rPr lang="en-US" sz="976" b="1" dirty="0">
                  <a:solidFill>
                    <a:srgbClr val="111827"/>
                  </a:solidFill>
                  <a:latin typeface="IBM Plex Sans" panose="020B0503050203000203" pitchFamily="34" charset="0"/>
                </a:rPr>
                <a:t>ESP32 (Arduino core)</a:t>
              </a:r>
            </a:p>
            <a:p>
              <a:pPr>
                <a:spcBef>
                  <a:spcPts val="93"/>
                </a:spcBef>
              </a:pPr>
              <a:r>
                <a:rPr lang="en-US" sz="884" dirty="0" err="1">
                  <a:solidFill>
                    <a:srgbClr val="475467"/>
                  </a:solidFill>
                  <a:latin typeface="IBM Plex Sans" panose="020B0503050203000203" pitchFamily="34" charset="0"/>
                </a:rPr>
                <a:t>WebSocket</a:t>
              </a:r>
              <a:r>
                <a:rPr lang="en-US" sz="884" dirty="0">
                  <a:solidFill>
                    <a:srgbClr val="475467"/>
                  </a:solidFill>
                  <a:latin typeface="IBM Plex Sans" panose="020B0503050203000203" pitchFamily="34" charset="0"/>
                </a:rPr>
                <a:t> · LiDAR (UART2) · relay</a:t>
              </a:r>
              <a:endParaRPr lang="en-IN" sz="884" dirty="0">
                <a:solidFill>
                  <a:srgbClr val="475467"/>
                </a:solidFill>
                <a:latin typeface="IBM Plex Sans" panose="020B0503050203000203" pitchFamily="34" charset="0"/>
              </a:endParaRPr>
            </a:p>
          </p:txBody>
        </p:sp>
        <p:sp>
          <p:nvSpPr>
            <p:cNvPr id="133" name="s641">
              <a:extLst>
                <a:ext uri="{FF2B5EF4-FFF2-40B4-BE49-F238E27FC236}">
                  <a16:creationId xmlns:a16="http://schemas.microsoft.com/office/drawing/2014/main" id="{D400BFC5-D315-C228-63B5-4860D4B64504}"/>
                </a:ext>
              </a:extLst>
            </p:cNvPr>
            <p:cNvSpPr/>
            <p:nvPr/>
          </p:nvSpPr>
          <p:spPr>
            <a:xfrm>
              <a:off x="4318000" y="4673600"/>
              <a:ext cx="3556000" cy="482600"/>
            </a:xfrm>
            <a:prstGeom prst="roundRect">
              <a:avLst>
                <a:gd name="adj" fmla="val 12000"/>
              </a:avLst>
            </a:prstGeom>
            <a:solidFill>
              <a:srgbClr val="F5F7FA"/>
            </a:solidFill>
            <a:ln w="11811">
              <a:solidFill>
                <a:srgbClr val="D5DBE5"/>
              </a:solidFill>
            </a:ln>
          </p:spPr>
          <p:style>
            <a:lnRef idx="2">
              <a:schemeClr val="accent1">
                <a:shade val="15000"/>
              </a:schemeClr>
            </a:lnRef>
            <a:fillRef idx="1">
              <a:schemeClr val="accent1"/>
            </a:fillRef>
            <a:effectRef idx="0">
              <a:schemeClr val="accent1"/>
            </a:effectRef>
            <a:fontRef idx="minor">
              <a:schemeClr val="lt1"/>
            </a:fontRef>
          </p:style>
          <p:txBody>
            <a:bodyPr wrap="square" lIns="118110" tIns="23622" rIns="70866" bIns="23622" rtlCol="0" anchor="ctr">
              <a:noAutofit/>
            </a:bodyPr>
            <a:lstStyle/>
            <a:p>
              <a:r>
                <a:rPr lang="en-IN" sz="976" b="1" dirty="0">
                  <a:solidFill>
                    <a:srgbClr val="111827"/>
                  </a:solidFill>
                  <a:latin typeface="IBM Plex Sans" panose="020B0503050203000203" pitchFamily="34" charset="0"/>
                </a:rPr>
                <a:t>Arduino Mega 2560</a:t>
              </a:r>
            </a:p>
            <a:p>
              <a:pPr>
                <a:spcBef>
                  <a:spcPts val="93"/>
                </a:spcBef>
              </a:pPr>
              <a:r>
                <a:rPr lang="en-IN" sz="884" dirty="0" err="1">
                  <a:solidFill>
                    <a:srgbClr val="475467"/>
                  </a:solidFill>
                  <a:latin typeface="IBM Plex Sans" panose="020B0503050203000203" pitchFamily="34" charset="0"/>
                </a:rPr>
                <a:t>Mecanum</a:t>
              </a:r>
              <a:r>
                <a:rPr lang="en-IN" sz="884" dirty="0">
                  <a:solidFill>
                    <a:srgbClr val="475467"/>
                  </a:solidFill>
                  <a:latin typeface="IBM Plex Sans" panose="020B0503050203000203" pitchFamily="34" charset="0"/>
                </a:rPr>
                <a:t> IK · PID · 50 Hz · watchdog</a:t>
              </a:r>
            </a:p>
          </p:txBody>
        </p:sp>
        <p:sp>
          <p:nvSpPr>
            <p:cNvPr id="134" name="s642">
              <a:extLst>
                <a:ext uri="{FF2B5EF4-FFF2-40B4-BE49-F238E27FC236}">
                  <a16:creationId xmlns:a16="http://schemas.microsoft.com/office/drawing/2014/main" id="{97E78688-B9BB-E4E7-603A-6F4E0645F06D}"/>
                </a:ext>
              </a:extLst>
            </p:cNvPr>
            <p:cNvSpPr/>
            <p:nvPr/>
          </p:nvSpPr>
          <p:spPr>
            <a:xfrm>
              <a:off x="4318000" y="5232400"/>
              <a:ext cx="3556000" cy="482600"/>
            </a:xfrm>
            <a:prstGeom prst="roundRect">
              <a:avLst>
                <a:gd name="adj" fmla="val 12000"/>
              </a:avLst>
            </a:prstGeom>
            <a:solidFill>
              <a:srgbClr val="F5F7FA"/>
            </a:solidFill>
            <a:ln w="11811">
              <a:solidFill>
                <a:srgbClr val="D5DBE5"/>
              </a:solidFill>
            </a:ln>
          </p:spPr>
          <p:style>
            <a:lnRef idx="2">
              <a:schemeClr val="accent1">
                <a:shade val="15000"/>
              </a:schemeClr>
            </a:lnRef>
            <a:fillRef idx="1">
              <a:schemeClr val="accent1"/>
            </a:fillRef>
            <a:effectRef idx="0">
              <a:schemeClr val="accent1"/>
            </a:effectRef>
            <a:fontRef idx="minor">
              <a:schemeClr val="lt1"/>
            </a:fontRef>
          </p:style>
          <p:txBody>
            <a:bodyPr wrap="square" lIns="118110" tIns="23622" rIns="70866" bIns="23622" rtlCol="0" anchor="ctr">
              <a:noAutofit/>
            </a:bodyPr>
            <a:lstStyle/>
            <a:p>
              <a:r>
                <a:rPr lang="en-IN" sz="976" b="1">
                  <a:solidFill>
                    <a:srgbClr val="111827"/>
                  </a:solidFill>
                  <a:latin typeface="IBM Plex Sans" panose="020B0503050203000203" pitchFamily="34" charset="0"/>
                </a:rPr>
                <a:t>Sensor libraries</a:t>
              </a:r>
            </a:p>
            <a:p>
              <a:pPr>
                <a:spcBef>
                  <a:spcPts val="93"/>
                </a:spcBef>
              </a:pPr>
              <a:r>
                <a:rPr lang="en-IN" sz="884">
                  <a:solidFill>
                    <a:srgbClr val="475467"/>
                  </a:solidFill>
                  <a:latin typeface="IBM Plex Sans" panose="020B0503050203000203" pitchFamily="34" charset="0"/>
                </a:rPr>
                <a:t>NewPing · MPU6050 · Encoder</a:t>
              </a:r>
            </a:p>
          </p:txBody>
        </p:sp>
        <p:sp>
          <p:nvSpPr>
            <p:cNvPr id="135" name="s643">
              <a:extLst>
                <a:ext uri="{FF2B5EF4-FFF2-40B4-BE49-F238E27FC236}">
                  <a16:creationId xmlns:a16="http://schemas.microsoft.com/office/drawing/2014/main" id="{402F5F6D-F8F4-8310-EC5D-1FD03E3B5699}"/>
                </a:ext>
              </a:extLst>
            </p:cNvPr>
            <p:cNvSpPr/>
            <p:nvPr/>
          </p:nvSpPr>
          <p:spPr>
            <a:xfrm>
              <a:off x="4318000" y="5791200"/>
              <a:ext cx="3556000" cy="482600"/>
            </a:xfrm>
            <a:prstGeom prst="roundRect">
              <a:avLst>
                <a:gd name="adj" fmla="val 12000"/>
              </a:avLst>
            </a:prstGeom>
            <a:solidFill>
              <a:srgbClr val="F5F7FA"/>
            </a:solidFill>
            <a:ln w="11811">
              <a:solidFill>
                <a:srgbClr val="D5DBE5"/>
              </a:solidFill>
            </a:ln>
          </p:spPr>
          <p:style>
            <a:lnRef idx="2">
              <a:schemeClr val="accent1">
                <a:shade val="15000"/>
              </a:schemeClr>
            </a:lnRef>
            <a:fillRef idx="1">
              <a:schemeClr val="accent1"/>
            </a:fillRef>
            <a:effectRef idx="0">
              <a:schemeClr val="accent1"/>
            </a:effectRef>
            <a:fontRef idx="minor">
              <a:schemeClr val="lt1"/>
            </a:fontRef>
          </p:style>
          <p:txBody>
            <a:bodyPr wrap="square" lIns="118110" tIns="23622" rIns="70866" bIns="23622" rtlCol="0" anchor="ctr">
              <a:noAutofit/>
            </a:bodyPr>
            <a:lstStyle/>
            <a:p>
              <a:r>
                <a:rPr lang="en-US" sz="976" b="1">
                  <a:solidFill>
                    <a:srgbClr val="111827"/>
                  </a:solidFill>
                  <a:latin typeface="IBM Plex Sans" panose="020B0503050203000203" pitchFamily="34" charset="0"/>
                </a:rPr>
                <a:t>Status display</a:t>
              </a:r>
            </a:p>
            <a:p>
              <a:pPr>
                <a:spcBef>
                  <a:spcPts val="93"/>
                </a:spcBef>
              </a:pPr>
              <a:r>
                <a:rPr lang="en-US" sz="884">
                  <a:solidFill>
                    <a:srgbClr val="475467"/>
                  </a:solidFill>
                  <a:latin typeface="IBM Plex Sans" panose="020B0503050203000203" pitchFamily="34" charset="0"/>
                </a:rPr>
                <a:t>Adafruit GFX: target, decision, battery</a:t>
              </a:r>
              <a:endParaRPr lang="en-IN" sz="884">
                <a:solidFill>
                  <a:srgbClr val="475467"/>
                </a:solidFill>
                <a:latin typeface="IBM Plex Sans" panose="020B0503050203000203" pitchFamily="34" charset="0"/>
              </a:endParaRPr>
            </a:p>
          </p:txBody>
        </p:sp>
      </p:grpSp>
      <p:pic>
        <p:nvPicPr>
          <p:cNvPr id="14" name="Picture 13" descr="Python Icon Png Python Icon Png Images | Klipartz"/>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8241522" y="4515414"/>
            <a:ext cx="157147" cy="156431"/>
          </a:xfrm>
          <a:prstGeom prst="rect">
            <a:avLst/>
          </a:prstGeom>
        </p:spPr>
      </p:pic>
      <p:grpSp>
        <p:nvGrpSpPr>
          <p:cNvPr id="35" name="s591">
            <a:extLst>
              <a:ext uri="{FF2B5EF4-FFF2-40B4-BE49-F238E27FC236}">
                <a16:creationId xmlns:a16="http://schemas.microsoft.com/office/drawing/2014/main" id="{B2E501F7-7BE6-2B05-359F-515FFE4A5C03}"/>
              </a:ext>
            </a:extLst>
          </p:cNvPr>
          <p:cNvGrpSpPr/>
          <p:nvPr/>
        </p:nvGrpSpPr>
        <p:grpSpPr>
          <a:xfrm>
            <a:off x="6191788" y="1920967"/>
            <a:ext cx="1197970" cy="959226"/>
            <a:chOff x="609600" y="1320800"/>
            <a:chExt cx="1701800" cy="1600200"/>
          </a:xfrm>
        </p:grpSpPr>
        <p:sp>
          <p:nvSpPr>
            <p:cNvPr id="36" name="s587">
              <a:extLst>
                <a:ext uri="{FF2B5EF4-FFF2-40B4-BE49-F238E27FC236}">
                  <a16:creationId xmlns:a16="http://schemas.microsoft.com/office/drawing/2014/main" id="{20F3294D-6AA8-5923-589F-B20F8F0882C1}"/>
                </a:ext>
              </a:extLst>
            </p:cNvPr>
            <p:cNvSpPr/>
            <p:nvPr/>
          </p:nvSpPr>
          <p:spPr>
            <a:xfrm>
              <a:off x="609600" y="1320800"/>
              <a:ext cx="1701800" cy="1600200"/>
            </a:xfrm>
            <a:prstGeom prst="roundRect">
              <a:avLst>
                <a:gd name="adj" fmla="val 8000"/>
              </a:avLst>
            </a:prstGeom>
            <a:solidFill>
              <a:srgbClr val="F5F7FA"/>
            </a:solidFill>
            <a:ln w="11811">
              <a:solidFill>
                <a:srgbClr val="D5DB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37" name="s588">
              <a:extLst>
                <a:ext uri="{FF2B5EF4-FFF2-40B4-BE49-F238E27FC236}">
                  <a16:creationId xmlns:a16="http://schemas.microsoft.com/office/drawing/2014/main" id="{99A3DB0C-84F7-C491-A9F5-58388F4F7B8A}"/>
                </a:ext>
              </a:extLst>
            </p:cNvPr>
            <p:cNvSpPr txBox="1"/>
            <p:nvPr/>
          </p:nvSpPr>
          <p:spPr>
            <a:xfrm>
              <a:off x="762000" y="1473200"/>
              <a:ext cx="762000" cy="177800"/>
            </a:xfrm>
            <a:prstGeom prst="rect">
              <a:avLst/>
            </a:prstGeom>
            <a:noFill/>
          </p:spPr>
          <p:txBody>
            <a:bodyPr vert="horz"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930" b="1">
                  <a:solidFill>
                    <a:srgbClr val="C2410C"/>
                  </a:solidFill>
                  <a:latin typeface="IBM Plex Sans" panose="020B0503050203000203" pitchFamily="34" charset="0"/>
                </a:rPr>
                <a:t>01</a:t>
              </a:r>
            </a:p>
          </p:txBody>
        </p:sp>
        <p:sp>
          <p:nvSpPr>
            <p:cNvPr id="38" name="s589">
              <a:extLst>
                <a:ext uri="{FF2B5EF4-FFF2-40B4-BE49-F238E27FC236}">
                  <a16:creationId xmlns:a16="http://schemas.microsoft.com/office/drawing/2014/main" id="{5C850E91-0D25-969E-3216-D0160C9F7E3A}"/>
                </a:ext>
              </a:extLst>
            </p:cNvPr>
            <p:cNvSpPr txBox="1"/>
            <p:nvPr/>
          </p:nvSpPr>
          <p:spPr>
            <a:xfrm>
              <a:off x="762000" y="1676400"/>
              <a:ext cx="1422400" cy="279400"/>
            </a:xfrm>
            <a:prstGeom prst="rect">
              <a:avLst/>
            </a:prstGeom>
            <a:noFill/>
          </p:spPr>
          <p:txBody>
            <a:bodyPr vert="horz"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395" b="1">
                  <a:solidFill>
                    <a:srgbClr val="111827"/>
                  </a:solidFill>
                  <a:latin typeface="Montserrat" pitchFamily="2" charset="0"/>
                </a:rPr>
                <a:t>Command</a:t>
              </a:r>
            </a:p>
          </p:txBody>
        </p:sp>
        <p:sp>
          <p:nvSpPr>
            <p:cNvPr id="39" name="s590">
              <a:extLst>
                <a:ext uri="{FF2B5EF4-FFF2-40B4-BE49-F238E27FC236}">
                  <a16:creationId xmlns:a16="http://schemas.microsoft.com/office/drawing/2014/main" id="{CBA3843A-7B29-F3E4-8D36-7721FC1762B4}"/>
                </a:ext>
              </a:extLst>
            </p:cNvPr>
            <p:cNvSpPr txBox="1"/>
            <p:nvPr/>
          </p:nvSpPr>
          <p:spPr>
            <a:xfrm>
              <a:off x="762000" y="2006600"/>
              <a:ext cx="1422400" cy="838200"/>
            </a:xfrm>
            <a:prstGeom prst="rect">
              <a:avLst/>
            </a:prstGeom>
            <a:noFill/>
          </p:spPr>
          <p:txBody>
            <a:bodyPr vert="horz"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76" dirty="0">
                  <a:solidFill>
                    <a:srgbClr val="475467"/>
                  </a:solidFill>
                  <a:latin typeface="IBM Plex Sans" panose="020B0503050203000203" pitchFamily="34" charset="0"/>
                </a:rPr>
                <a:t>Voice or text goal from the laptop mic</a:t>
              </a:r>
              <a:endParaRPr lang="en-IN" sz="976" dirty="0">
                <a:solidFill>
                  <a:srgbClr val="475467"/>
                </a:solidFill>
                <a:latin typeface="IBM Plex Sans" panose="020B0503050203000203" pitchFamily="34" charset="0"/>
              </a:endParaRPr>
            </a:p>
          </p:txBody>
        </p:sp>
      </p:grpSp>
      <p:grpSp>
        <p:nvGrpSpPr>
          <p:cNvPr id="40" name="s597">
            <a:extLst>
              <a:ext uri="{FF2B5EF4-FFF2-40B4-BE49-F238E27FC236}">
                <a16:creationId xmlns:a16="http://schemas.microsoft.com/office/drawing/2014/main" id="{B8388D70-1EB4-6730-909F-9EC3D00BCEEC}"/>
              </a:ext>
            </a:extLst>
          </p:cNvPr>
          <p:cNvGrpSpPr/>
          <p:nvPr/>
        </p:nvGrpSpPr>
        <p:grpSpPr>
          <a:xfrm>
            <a:off x="7436250" y="1907853"/>
            <a:ext cx="1295333" cy="959226"/>
            <a:chOff x="2324100" y="1320800"/>
            <a:chExt cx="1841500" cy="1600200"/>
          </a:xfrm>
        </p:grpSpPr>
        <p:sp>
          <p:nvSpPr>
            <p:cNvPr id="41" name="s592">
              <a:extLst>
                <a:ext uri="{FF2B5EF4-FFF2-40B4-BE49-F238E27FC236}">
                  <a16:creationId xmlns:a16="http://schemas.microsoft.com/office/drawing/2014/main" id="{2C98DF28-CD4E-4422-20AA-991E3CAD8962}"/>
                </a:ext>
              </a:extLst>
            </p:cNvPr>
            <p:cNvSpPr/>
            <p:nvPr/>
          </p:nvSpPr>
          <p:spPr>
            <a:xfrm>
              <a:off x="2463800" y="1320800"/>
              <a:ext cx="1701800" cy="1600200"/>
            </a:xfrm>
            <a:prstGeom prst="roundRect">
              <a:avLst>
                <a:gd name="adj" fmla="val 8000"/>
              </a:avLst>
            </a:prstGeom>
            <a:solidFill>
              <a:srgbClr val="F5F7FA"/>
            </a:solidFill>
            <a:ln w="11811">
              <a:solidFill>
                <a:srgbClr val="D5DB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2" name="s593">
              <a:extLst>
                <a:ext uri="{FF2B5EF4-FFF2-40B4-BE49-F238E27FC236}">
                  <a16:creationId xmlns:a16="http://schemas.microsoft.com/office/drawing/2014/main" id="{7BBAF609-A0DD-6B9A-7866-0E61604F1327}"/>
                </a:ext>
              </a:extLst>
            </p:cNvPr>
            <p:cNvSpPr txBox="1"/>
            <p:nvPr/>
          </p:nvSpPr>
          <p:spPr>
            <a:xfrm>
              <a:off x="2616200" y="1473200"/>
              <a:ext cx="762000" cy="177800"/>
            </a:xfrm>
            <a:prstGeom prst="rect">
              <a:avLst/>
            </a:prstGeom>
            <a:noFill/>
          </p:spPr>
          <p:txBody>
            <a:bodyPr vert="horz"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930" b="1">
                  <a:solidFill>
                    <a:srgbClr val="C2410C"/>
                  </a:solidFill>
                  <a:latin typeface="IBM Plex Sans" panose="020B0503050203000203" pitchFamily="34" charset="0"/>
                </a:rPr>
                <a:t>02</a:t>
              </a:r>
            </a:p>
          </p:txBody>
        </p:sp>
        <p:sp>
          <p:nvSpPr>
            <p:cNvPr id="43" name="s594">
              <a:extLst>
                <a:ext uri="{FF2B5EF4-FFF2-40B4-BE49-F238E27FC236}">
                  <a16:creationId xmlns:a16="http://schemas.microsoft.com/office/drawing/2014/main" id="{60AAA380-B04D-4452-0FED-2906FECF55F3}"/>
                </a:ext>
              </a:extLst>
            </p:cNvPr>
            <p:cNvSpPr txBox="1"/>
            <p:nvPr/>
          </p:nvSpPr>
          <p:spPr>
            <a:xfrm>
              <a:off x="2616200" y="1676400"/>
              <a:ext cx="1422400" cy="279400"/>
            </a:xfrm>
            <a:prstGeom prst="rect">
              <a:avLst/>
            </a:prstGeom>
            <a:noFill/>
          </p:spPr>
          <p:txBody>
            <a:bodyPr vert="horz"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395" b="1">
                  <a:solidFill>
                    <a:srgbClr val="111827"/>
                  </a:solidFill>
                  <a:latin typeface="Montserrat" pitchFamily="2" charset="0"/>
                </a:rPr>
                <a:t>Perceive</a:t>
              </a:r>
            </a:p>
          </p:txBody>
        </p:sp>
        <p:sp>
          <p:nvSpPr>
            <p:cNvPr id="44" name="s595">
              <a:extLst>
                <a:ext uri="{FF2B5EF4-FFF2-40B4-BE49-F238E27FC236}">
                  <a16:creationId xmlns:a16="http://schemas.microsoft.com/office/drawing/2014/main" id="{CA27FFE1-0129-6D25-2AF8-F11B1AD813E8}"/>
                </a:ext>
              </a:extLst>
            </p:cNvPr>
            <p:cNvSpPr txBox="1"/>
            <p:nvPr/>
          </p:nvSpPr>
          <p:spPr>
            <a:xfrm>
              <a:off x="2616200" y="2006600"/>
              <a:ext cx="1422400" cy="838200"/>
            </a:xfrm>
            <a:prstGeom prst="rect">
              <a:avLst/>
            </a:prstGeom>
            <a:noFill/>
          </p:spPr>
          <p:txBody>
            <a:bodyPr vert="horz"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76" dirty="0">
                  <a:solidFill>
                    <a:srgbClr val="475467"/>
                  </a:solidFill>
                  <a:latin typeface="IBM Plex Sans" panose="020B0503050203000203" pitchFamily="34" charset="0"/>
                </a:rPr>
                <a:t>YOLO11n detects and tracks objects in each frame</a:t>
              </a:r>
              <a:endParaRPr lang="en-IN" sz="976" dirty="0">
                <a:solidFill>
                  <a:srgbClr val="475467"/>
                </a:solidFill>
                <a:latin typeface="IBM Plex Sans" panose="020B0503050203000203" pitchFamily="34" charset="0"/>
              </a:endParaRPr>
            </a:p>
          </p:txBody>
        </p:sp>
        <p:cxnSp>
          <p:nvCxnSpPr>
            <p:cNvPr id="45" name="s596">
              <a:extLst>
                <a:ext uri="{FF2B5EF4-FFF2-40B4-BE49-F238E27FC236}">
                  <a16:creationId xmlns:a16="http://schemas.microsoft.com/office/drawing/2014/main" id="{D3102E5C-8182-B5DC-A1BB-215941FE7BD5}"/>
                </a:ext>
              </a:extLst>
            </p:cNvPr>
            <p:cNvCxnSpPr/>
            <p:nvPr/>
          </p:nvCxnSpPr>
          <p:spPr>
            <a:xfrm>
              <a:off x="2324100" y="2120900"/>
              <a:ext cx="127000" cy="0"/>
            </a:xfrm>
            <a:prstGeom prst="line">
              <a:avLst/>
            </a:prstGeom>
            <a:ln w="17716">
              <a:solidFill>
                <a:srgbClr val="C2410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s603">
            <a:extLst>
              <a:ext uri="{FF2B5EF4-FFF2-40B4-BE49-F238E27FC236}">
                <a16:creationId xmlns:a16="http://schemas.microsoft.com/office/drawing/2014/main" id="{FEC5375E-41B7-348C-96E2-9EB2FD7E2E78}"/>
              </a:ext>
            </a:extLst>
          </p:cNvPr>
          <p:cNvGrpSpPr/>
          <p:nvPr/>
        </p:nvGrpSpPr>
        <p:grpSpPr>
          <a:xfrm>
            <a:off x="8791794" y="1887041"/>
            <a:ext cx="1378306" cy="992281"/>
            <a:chOff x="4178300" y="1320800"/>
            <a:chExt cx="1841500" cy="1600200"/>
          </a:xfrm>
        </p:grpSpPr>
        <p:sp>
          <p:nvSpPr>
            <p:cNvPr id="47" name="s598">
              <a:extLst>
                <a:ext uri="{FF2B5EF4-FFF2-40B4-BE49-F238E27FC236}">
                  <a16:creationId xmlns:a16="http://schemas.microsoft.com/office/drawing/2014/main" id="{B6CDA2DE-3181-03D8-E1A2-450B2ED00D57}"/>
                </a:ext>
              </a:extLst>
            </p:cNvPr>
            <p:cNvSpPr/>
            <p:nvPr/>
          </p:nvSpPr>
          <p:spPr>
            <a:xfrm>
              <a:off x="4318000" y="1320800"/>
              <a:ext cx="1701800" cy="1600200"/>
            </a:xfrm>
            <a:prstGeom prst="roundRect">
              <a:avLst>
                <a:gd name="adj" fmla="val 8000"/>
              </a:avLst>
            </a:prstGeom>
            <a:solidFill>
              <a:srgbClr val="F5F7FA"/>
            </a:solidFill>
            <a:ln w="11811">
              <a:solidFill>
                <a:srgbClr val="D5DB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8" name="s599">
              <a:extLst>
                <a:ext uri="{FF2B5EF4-FFF2-40B4-BE49-F238E27FC236}">
                  <a16:creationId xmlns:a16="http://schemas.microsoft.com/office/drawing/2014/main" id="{ADC83AF4-E9E3-5DCA-5281-994BDEB47E11}"/>
                </a:ext>
              </a:extLst>
            </p:cNvPr>
            <p:cNvSpPr txBox="1"/>
            <p:nvPr/>
          </p:nvSpPr>
          <p:spPr>
            <a:xfrm>
              <a:off x="4448400" y="1409700"/>
              <a:ext cx="762000" cy="177800"/>
            </a:xfrm>
            <a:prstGeom prst="rect">
              <a:avLst/>
            </a:prstGeom>
            <a:noFill/>
          </p:spPr>
          <p:txBody>
            <a:bodyPr vert="horz"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930" b="1" dirty="0">
                  <a:solidFill>
                    <a:srgbClr val="C2410C"/>
                  </a:solidFill>
                  <a:latin typeface="IBM Plex Sans" panose="020B0503050203000203" pitchFamily="34" charset="0"/>
                </a:rPr>
                <a:t>03</a:t>
              </a:r>
            </a:p>
          </p:txBody>
        </p:sp>
        <p:sp>
          <p:nvSpPr>
            <p:cNvPr id="49" name="s600">
              <a:extLst>
                <a:ext uri="{FF2B5EF4-FFF2-40B4-BE49-F238E27FC236}">
                  <a16:creationId xmlns:a16="http://schemas.microsoft.com/office/drawing/2014/main" id="{3B39706D-42C3-8368-6CA0-2AEDC473ED6E}"/>
                </a:ext>
              </a:extLst>
            </p:cNvPr>
            <p:cNvSpPr txBox="1"/>
            <p:nvPr/>
          </p:nvSpPr>
          <p:spPr>
            <a:xfrm>
              <a:off x="4425288" y="1626381"/>
              <a:ext cx="1422400" cy="279400"/>
            </a:xfrm>
            <a:prstGeom prst="rect">
              <a:avLst/>
            </a:prstGeom>
            <a:noFill/>
          </p:spPr>
          <p:txBody>
            <a:bodyPr vert="horz"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395" b="1" dirty="0">
                  <a:solidFill>
                    <a:srgbClr val="111827"/>
                  </a:solidFill>
                  <a:latin typeface="Montserrat" pitchFamily="2" charset="0"/>
                </a:rPr>
                <a:t>Map</a:t>
              </a:r>
            </a:p>
          </p:txBody>
        </p:sp>
        <p:sp>
          <p:nvSpPr>
            <p:cNvPr id="50" name="s601">
              <a:extLst>
                <a:ext uri="{FF2B5EF4-FFF2-40B4-BE49-F238E27FC236}">
                  <a16:creationId xmlns:a16="http://schemas.microsoft.com/office/drawing/2014/main" id="{19F10A3C-A50D-387E-81DD-9AA7ED8636A3}"/>
                </a:ext>
              </a:extLst>
            </p:cNvPr>
            <p:cNvSpPr txBox="1"/>
            <p:nvPr/>
          </p:nvSpPr>
          <p:spPr>
            <a:xfrm>
              <a:off x="4419062" y="1953982"/>
              <a:ext cx="1422400" cy="838200"/>
            </a:xfrm>
            <a:prstGeom prst="rect">
              <a:avLst/>
            </a:prstGeom>
            <a:noFill/>
          </p:spPr>
          <p:txBody>
            <a:bodyPr vert="horz"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76" dirty="0">
                  <a:solidFill>
                    <a:srgbClr val="475467"/>
                  </a:solidFill>
                  <a:latin typeface="IBM Plex Sans" panose="020B0503050203000203" pitchFamily="34" charset="0"/>
                </a:rPr>
                <a:t>LiDAR + ultrasonic + IMU + encoders build </a:t>
              </a:r>
              <a:r>
                <a:rPr lang="en-US" sz="976" dirty="0" smtClean="0">
                  <a:solidFill>
                    <a:srgbClr val="475467"/>
                  </a:solidFill>
                  <a:latin typeface="IBM Plex Sans" panose="020B0503050203000203" pitchFamily="34" charset="0"/>
                </a:rPr>
                <a:t>an occupancy </a:t>
              </a:r>
              <a:r>
                <a:rPr lang="en-US" sz="976" dirty="0">
                  <a:solidFill>
                    <a:srgbClr val="475467"/>
                  </a:solidFill>
                  <a:latin typeface="IBM Plex Sans" panose="020B0503050203000203" pitchFamily="34" charset="0"/>
                </a:rPr>
                <a:t>grid</a:t>
              </a:r>
              <a:endParaRPr lang="en-IN" sz="976" dirty="0">
                <a:solidFill>
                  <a:srgbClr val="475467"/>
                </a:solidFill>
                <a:latin typeface="IBM Plex Sans" panose="020B0503050203000203" pitchFamily="34" charset="0"/>
              </a:endParaRPr>
            </a:p>
          </p:txBody>
        </p:sp>
        <p:cxnSp>
          <p:nvCxnSpPr>
            <p:cNvPr id="51" name="s602">
              <a:extLst>
                <a:ext uri="{FF2B5EF4-FFF2-40B4-BE49-F238E27FC236}">
                  <a16:creationId xmlns:a16="http://schemas.microsoft.com/office/drawing/2014/main" id="{49E77FAC-9EF1-C62E-0CA7-5CE02B9F03C4}"/>
                </a:ext>
              </a:extLst>
            </p:cNvPr>
            <p:cNvCxnSpPr/>
            <p:nvPr/>
          </p:nvCxnSpPr>
          <p:spPr>
            <a:xfrm>
              <a:off x="4178300" y="2120900"/>
              <a:ext cx="127000" cy="0"/>
            </a:xfrm>
            <a:prstGeom prst="line">
              <a:avLst/>
            </a:prstGeom>
            <a:ln w="17716">
              <a:solidFill>
                <a:srgbClr val="C2410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8" name="s609">
            <a:extLst>
              <a:ext uri="{FF2B5EF4-FFF2-40B4-BE49-F238E27FC236}">
                <a16:creationId xmlns:a16="http://schemas.microsoft.com/office/drawing/2014/main" id="{261E2D34-1457-0A64-E468-878B5D94C2CC}"/>
              </a:ext>
            </a:extLst>
          </p:cNvPr>
          <p:cNvGrpSpPr/>
          <p:nvPr/>
        </p:nvGrpSpPr>
        <p:grpSpPr>
          <a:xfrm>
            <a:off x="10238180" y="1887041"/>
            <a:ext cx="1511859" cy="992281"/>
            <a:chOff x="6032500" y="1320800"/>
            <a:chExt cx="1841500" cy="1600200"/>
          </a:xfrm>
        </p:grpSpPr>
        <p:sp>
          <p:nvSpPr>
            <p:cNvPr id="59" name="s604">
              <a:extLst>
                <a:ext uri="{FF2B5EF4-FFF2-40B4-BE49-F238E27FC236}">
                  <a16:creationId xmlns:a16="http://schemas.microsoft.com/office/drawing/2014/main" id="{B1C138A3-73FE-EC2F-6461-541B2725C492}"/>
                </a:ext>
              </a:extLst>
            </p:cNvPr>
            <p:cNvSpPr/>
            <p:nvPr/>
          </p:nvSpPr>
          <p:spPr>
            <a:xfrm>
              <a:off x="6172200" y="1320800"/>
              <a:ext cx="1701800" cy="1600200"/>
            </a:xfrm>
            <a:prstGeom prst="roundRect">
              <a:avLst>
                <a:gd name="adj" fmla="val 8000"/>
              </a:avLst>
            </a:prstGeom>
            <a:solidFill>
              <a:srgbClr val="C2410C"/>
            </a:solidFill>
            <a:ln w="11811">
              <a:solidFill>
                <a:srgbClr val="C241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60" name="s605">
              <a:extLst>
                <a:ext uri="{FF2B5EF4-FFF2-40B4-BE49-F238E27FC236}">
                  <a16:creationId xmlns:a16="http://schemas.microsoft.com/office/drawing/2014/main" id="{393B45ED-3ED5-67A7-71CD-CB5F0A15B02C}"/>
                </a:ext>
              </a:extLst>
            </p:cNvPr>
            <p:cNvSpPr txBox="1"/>
            <p:nvPr/>
          </p:nvSpPr>
          <p:spPr>
            <a:xfrm>
              <a:off x="6320860" y="1423261"/>
              <a:ext cx="762000" cy="177799"/>
            </a:xfrm>
            <a:prstGeom prst="rect">
              <a:avLst/>
            </a:prstGeom>
            <a:noFill/>
          </p:spPr>
          <p:txBody>
            <a:bodyPr vert="horz"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930" b="1" dirty="0">
                  <a:solidFill>
                    <a:srgbClr val="FFFFFF"/>
                  </a:solidFill>
                  <a:latin typeface="IBM Plex Sans" panose="020B0503050203000203" pitchFamily="34" charset="0"/>
                </a:rPr>
                <a:t>04</a:t>
              </a:r>
            </a:p>
          </p:txBody>
        </p:sp>
        <p:sp>
          <p:nvSpPr>
            <p:cNvPr id="61" name="s606">
              <a:extLst>
                <a:ext uri="{FF2B5EF4-FFF2-40B4-BE49-F238E27FC236}">
                  <a16:creationId xmlns:a16="http://schemas.microsoft.com/office/drawing/2014/main" id="{645C00B5-B36D-44BB-7159-BD1F79AE2E0A}"/>
                </a:ext>
              </a:extLst>
            </p:cNvPr>
            <p:cNvSpPr txBox="1"/>
            <p:nvPr/>
          </p:nvSpPr>
          <p:spPr>
            <a:xfrm>
              <a:off x="6311898" y="1614615"/>
              <a:ext cx="1422401" cy="279399"/>
            </a:xfrm>
            <a:prstGeom prst="rect">
              <a:avLst/>
            </a:prstGeom>
            <a:noFill/>
          </p:spPr>
          <p:txBody>
            <a:bodyPr vert="horz"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395" b="1" dirty="0">
                  <a:solidFill>
                    <a:srgbClr val="FFFFFF"/>
                  </a:solidFill>
                  <a:latin typeface="Montserrat" pitchFamily="2" charset="0"/>
                </a:rPr>
                <a:t>Decide</a:t>
              </a:r>
            </a:p>
          </p:txBody>
        </p:sp>
        <p:sp>
          <p:nvSpPr>
            <p:cNvPr id="62" name="s607">
              <a:extLst>
                <a:ext uri="{FF2B5EF4-FFF2-40B4-BE49-F238E27FC236}">
                  <a16:creationId xmlns:a16="http://schemas.microsoft.com/office/drawing/2014/main" id="{961EADEB-776A-88AE-0BE7-6ADA5A39079F}"/>
                </a:ext>
              </a:extLst>
            </p:cNvPr>
            <p:cNvSpPr txBox="1"/>
            <p:nvPr/>
          </p:nvSpPr>
          <p:spPr>
            <a:xfrm>
              <a:off x="6324444" y="1945708"/>
              <a:ext cx="1422401" cy="838200"/>
            </a:xfrm>
            <a:prstGeom prst="rect">
              <a:avLst/>
            </a:prstGeom>
            <a:noFill/>
          </p:spPr>
          <p:txBody>
            <a:bodyPr vert="horz"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76" dirty="0">
                  <a:solidFill>
                    <a:srgbClr val="FFFFFF"/>
                  </a:solidFill>
                  <a:latin typeface="IBM Plex Sans" panose="020B0503050203000203" pitchFamily="34" charset="0"/>
                </a:rPr>
                <a:t>State machine + A* / DWA pick heading and speed</a:t>
              </a:r>
              <a:endParaRPr lang="en-IN" sz="976" dirty="0">
                <a:solidFill>
                  <a:srgbClr val="FFFFFF"/>
                </a:solidFill>
                <a:latin typeface="IBM Plex Sans" panose="020B0503050203000203" pitchFamily="34" charset="0"/>
              </a:endParaRPr>
            </a:p>
          </p:txBody>
        </p:sp>
        <p:cxnSp>
          <p:nvCxnSpPr>
            <p:cNvPr id="63" name="s608">
              <a:extLst>
                <a:ext uri="{FF2B5EF4-FFF2-40B4-BE49-F238E27FC236}">
                  <a16:creationId xmlns:a16="http://schemas.microsoft.com/office/drawing/2014/main" id="{EBD88E73-86D0-D122-6FE1-184B2B5291CA}"/>
                </a:ext>
              </a:extLst>
            </p:cNvPr>
            <p:cNvCxnSpPr/>
            <p:nvPr/>
          </p:nvCxnSpPr>
          <p:spPr>
            <a:xfrm>
              <a:off x="6032500" y="2120900"/>
              <a:ext cx="127000" cy="0"/>
            </a:xfrm>
            <a:prstGeom prst="line">
              <a:avLst/>
            </a:prstGeom>
            <a:ln w="17716">
              <a:solidFill>
                <a:srgbClr val="C2410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0" name="s615">
            <a:extLst>
              <a:ext uri="{FF2B5EF4-FFF2-40B4-BE49-F238E27FC236}">
                <a16:creationId xmlns:a16="http://schemas.microsoft.com/office/drawing/2014/main" id="{C196A3B4-AC98-F808-BC53-BA96F6A0844A}"/>
              </a:ext>
            </a:extLst>
          </p:cNvPr>
          <p:cNvGrpSpPr/>
          <p:nvPr/>
        </p:nvGrpSpPr>
        <p:grpSpPr>
          <a:xfrm>
            <a:off x="10170102" y="3113498"/>
            <a:ext cx="1570613" cy="959351"/>
            <a:chOff x="7734072" y="1320800"/>
            <a:chExt cx="1994128" cy="1600200"/>
          </a:xfrm>
        </p:grpSpPr>
        <p:sp>
          <p:nvSpPr>
            <p:cNvPr id="71" name="s610">
              <a:extLst>
                <a:ext uri="{FF2B5EF4-FFF2-40B4-BE49-F238E27FC236}">
                  <a16:creationId xmlns:a16="http://schemas.microsoft.com/office/drawing/2014/main" id="{333E634F-65CA-70F1-CFA0-F8A39441DE4E}"/>
                </a:ext>
              </a:extLst>
            </p:cNvPr>
            <p:cNvSpPr/>
            <p:nvPr/>
          </p:nvSpPr>
          <p:spPr>
            <a:xfrm>
              <a:off x="8026400" y="1320800"/>
              <a:ext cx="1701800" cy="1600200"/>
            </a:xfrm>
            <a:prstGeom prst="roundRect">
              <a:avLst>
                <a:gd name="adj" fmla="val 8000"/>
              </a:avLst>
            </a:prstGeom>
            <a:solidFill>
              <a:srgbClr val="F5F7FA"/>
            </a:solidFill>
            <a:ln w="11811">
              <a:solidFill>
                <a:srgbClr val="D5DB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2" name="s611">
              <a:extLst>
                <a:ext uri="{FF2B5EF4-FFF2-40B4-BE49-F238E27FC236}">
                  <a16:creationId xmlns:a16="http://schemas.microsoft.com/office/drawing/2014/main" id="{C866C40E-2DA2-82E1-3E31-7443AB82AA30}"/>
                </a:ext>
              </a:extLst>
            </p:cNvPr>
            <p:cNvSpPr txBox="1"/>
            <p:nvPr/>
          </p:nvSpPr>
          <p:spPr>
            <a:xfrm>
              <a:off x="8097191" y="1368865"/>
              <a:ext cx="762000" cy="177801"/>
            </a:xfrm>
            <a:prstGeom prst="rect">
              <a:avLst/>
            </a:prstGeom>
            <a:noFill/>
          </p:spPr>
          <p:txBody>
            <a:bodyPr vert="horz" wrap="square" lIns="0" tIns="0" rIns="0" bIns="0" rtlCol="0" anchor="t">
              <a:noAutofit/>
            </a:bodyPr>
            <a:lstStyle/>
            <a:p>
              <a:r>
                <a:rPr lang="en-IN" sz="930" b="1" dirty="0">
                  <a:solidFill>
                    <a:srgbClr val="C2410C"/>
                  </a:solidFill>
                  <a:latin typeface="IBM Plex Sans" panose="020B0503050203000203" pitchFamily="34" charset="0"/>
                </a:rPr>
                <a:t>05</a:t>
              </a:r>
            </a:p>
          </p:txBody>
        </p:sp>
        <p:sp>
          <p:nvSpPr>
            <p:cNvPr id="73" name="s612">
              <a:extLst>
                <a:ext uri="{FF2B5EF4-FFF2-40B4-BE49-F238E27FC236}">
                  <a16:creationId xmlns:a16="http://schemas.microsoft.com/office/drawing/2014/main" id="{1879ACC2-A150-D898-0D3F-242A28E1EB4F}"/>
                </a:ext>
              </a:extLst>
            </p:cNvPr>
            <p:cNvSpPr txBox="1"/>
            <p:nvPr/>
          </p:nvSpPr>
          <p:spPr>
            <a:xfrm>
              <a:off x="8070601" y="1540744"/>
              <a:ext cx="1422401" cy="279400"/>
            </a:xfrm>
            <a:prstGeom prst="rect">
              <a:avLst/>
            </a:prstGeom>
            <a:noFill/>
          </p:spPr>
          <p:txBody>
            <a:bodyPr vert="horz" wrap="square" lIns="0" tIns="0" rIns="0" bIns="0" rtlCol="0" anchor="t">
              <a:noAutofit/>
            </a:bodyPr>
            <a:lstStyle/>
            <a:p>
              <a:r>
                <a:rPr lang="en-IN" sz="1395" b="1" dirty="0">
                  <a:solidFill>
                    <a:srgbClr val="111827"/>
                  </a:solidFill>
                  <a:latin typeface="Montserrat" pitchFamily="2" charset="0"/>
                </a:rPr>
                <a:t>Send</a:t>
              </a:r>
            </a:p>
          </p:txBody>
        </p:sp>
        <p:sp>
          <p:nvSpPr>
            <p:cNvPr id="74" name="s613">
              <a:extLst>
                <a:ext uri="{FF2B5EF4-FFF2-40B4-BE49-F238E27FC236}">
                  <a16:creationId xmlns:a16="http://schemas.microsoft.com/office/drawing/2014/main" id="{B09B0023-05C6-66B7-5C83-98DA7135AD6E}"/>
                </a:ext>
              </a:extLst>
            </p:cNvPr>
            <p:cNvSpPr txBox="1"/>
            <p:nvPr/>
          </p:nvSpPr>
          <p:spPr>
            <a:xfrm>
              <a:off x="8079492" y="1905643"/>
              <a:ext cx="1422401" cy="838200"/>
            </a:xfrm>
            <a:prstGeom prst="rect">
              <a:avLst/>
            </a:prstGeom>
            <a:noFill/>
          </p:spPr>
          <p:txBody>
            <a:bodyPr vert="horz" wrap="square" lIns="0" tIns="0" rIns="0" bIns="0" rtlCol="0" anchor="t">
              <a:noAutofit/>
            </a:bodyPr>
            <a:lstStyle/>
            <a:p>
              <a:r>
                <a:rPr lang="en-US" sz="976" dirty="0">
                  <a:solidFill>
                    <a:srgbClr val="475467"/>
                  </a:solidFill>
                  <a:latin typeface="IBM Plex Sans" panose="020B0503050203000203" pitchFamily="34" charset="0"/>
                </a:rPr>
                <a:t>JSON over </a:t>
              </a:r>
              <a:r>
                <a:rPr lang="en-US" sz="976" dirty="0" err="1">
                  <a:solidFill>
                    <a:srgbClr val="475467"/>
                  </a:solidFill>
                  <a:latin typeface="IBM Plex Sans" panose="020B0503050203000203" pitchFamily="34" charset="0"/>
                </a:rPr>
                <a:t>WebSocket</a:t>
              </a:r>
              <a:r>
                <a:rPr lang="en-US" sz="976" dirty="0">
                  <a:solidFill>
                    <a:srgbClr val="475467"/>
                  </a:solidFill>
                  <a:latin typeface="IBM Plex Sans" panose="020B0503050203000203" pitchFamily="34" charset="0"/>
                </a:rPr>
                <a:t> to ESP32, UART to Mega</a:t>
              </a:r>
              <a:endParaRPr lang="en-IN" sz="976" dirty="0">
                <a:solidFill>
                  <a:srgbClr val="475467"/>
                </a:solidFill>
                <a:latin typeface="IBM Plex Sans" panose="020B0503050203000203" pitchFamily="34" charset="0"/>
              </a:endParaRPr>
            </a:p>
          </p:txBody>
        </p:sp>
        <p:cxnSp>
          <p:nvCxnSpPr>
            <p:cNvPr id="75" name="s614">
              <a:extLst>
                <a:ext uri="{FF2B5EF4-FFF2-40B4-BE49-F238E27FC236}">
                  <a16:creationId xmlns:a16="http://schemas.microsoft.com/office/drawing/2014/main" id="{93E993B5-97CB-0473-83A0-454E7EE9A41E}"/>
                </a:ext>
              </a:extLst>
            </p:cNvPr>
            <p:cNvCxnSpPr/>
            <p:nvPr/>
          </p:nvCxnSpPr>
          <p:spPr>
            <a:xfrm flipH="1" flipV="1">
              <a:off x="7734072" y="2120899"/>
              <a:ext cx="152628" cy="2"/>
            </a:xfrm>
            <a:prstGeom prst="line">
              <a:avLst/>
            </a:prstGeom>
            <a:ln w="17716">
              <a:solidFill>
                <a:srgbClr val="C2410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6" name="s621">
            <a:extLst>
              <a:ext uri="{FF2B5EF4-FFF2-40B4-BE49-F238E27FC236}">
                <a16:creationId xmlns:a16="http://schemas.microsoft.com/office/drawing/2014/main" id="{024FB13F-5318-4AE3-7A3F-2B459BF1B0FE}"/>
              </a:ext>
            </a:extLst>
          </p:cNvPr>
          <p:cNvGrpSpPr/>
          <p:nvPr/>
        </p:nvGrpSpPr>
        <p:grpSpPr>
          <a:xfrm>
            <a:off x="8579781" y="3145764"/>
            <a:ext cx="1579850" cy="953995"/>
            <a:chOff x="9880600" y="1320800"/>
            <a:chExt cx="1701800" cy="1600200"/>
          </a:xfrm>
        </p:grpSpPr>
        <p:sp>
          <p:nvSpPr>
            <p:cNvPr id="77" name="s616">
              <a:extLst>
                <a:ext uri="{FF2B5EF4-FFF2-40B4-BE49-F238E27FC236}">
                  <a16:creationId xmlns:a16="http://schemas.microsoft.com/office/drawing/2014/main" id="{44C5C7E9-BC8A-57D0-D050-8171A99ED1F4}"/>
                </a:ext>
              </a:extLst>
            </p:cNvPr>
            <p:cNvSpPr/>
            <p:nvPr/>
          </p:nvSpPr>
          <p:spPr>
            <a:xfrm>
              <a:off x="9880600" y="1320800"/>
              <a:ext cx="1701800" cy="1600200"/>
            </a:xfrm>
            <a:prstGeom prst="roundRect">
              <a:avLst>
                <a:gd name="adj" fmla="val 8000"/>
              </a:avLst>
            </a:prstGeom>
            <a:solidFill>
              <a:srgbClr val="F5F7FA"/>
            </a:solidFill>
            <a:ln w="11811">
              <a:solidFill>
                <a:srgbClr val="D5DB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s617">
              <a:extLst>
                <a:ext uri="{FF2B5EF4-FFF2-40B4-BE49-F238E27FC236}">
                  <a16:creationId xmlns:a16="http://schemas.microsoft.com/office/drawing/2014/main" id="{3CE1EFD4-97C0-A390-73D0-4D4BBA9D99B1}"/>
                </a:ext>
              </a:extLst>
            </p:cNvPr>
            <p:cNvSpPr txBox="1"/>
            <p:nvPr/>
          </p:nvSpPr>
          <p:spPr>
            <a:xfrm>
              <a:off x="10033000" y="1473200"/>
              <a:ext cx="762000" cy="177800"/>
            </a:xfrm>
            <a:prstGeom prst="rect">
              <a:avLst/>
            </a:prstGeom>
            <a:noFill/>
          </p:spPr>
          <p:txBody>
            <a:bodyPr vert="horz" wrap="square" lIns="0" tIns="0" rIns="0" bIns="0" rtlCol="0" anchor="t">
              <a:noAutofit/>
            </a:bodyPr>
            <a:lstStyle/>
            <a:p>
              <a:r>
                <a:rPr lang="en-IN" sz="930" b="1">
                  <a:solidFill>
                    <a:srgbClr val="C2410C"/>
                  </a:solidFill>
                  <a:latin typeface="IBM Plex Sans" panose="020B0503050203000203" pitchFamily="34" charset="0"/>
                </a:rPr>
                <a:t>06</a:t>
              </a:r>
            </a:p>
          </p:txBody>
        </p:sp>
        <p:sp>
          <p:nvSpPr>
            <p:cNvPr id="79" name="s618">
              <a:extLst>
                <a:ext uri="{FF2B5EF4-FFF2-40B4-BE49-F238E27FC236}">
                  <a16:creationId xmlns:a16="http://schemas.microsoft.com/office/drawing/2014/main" id="{5A13EEBE-530E-E23B-66B3-9C91F11433D5}"/>
                </a:ext>
              </a:extLst>
            </p:cNvPr>
            <p:cNvSpPr txBox="1"/>
            <p:nvPr/>
          </p:nvSpPr>
          <p:spPr>
            <a:xfrm>
              <a:off x="10033000" y="1676400"/>
              <a:ext cx="1422400" cy="279400"/>
            </a:xfrm>
            <a:prstGeom prst="rect">
              <a:avLst/>
            </a:prstGeom>
            <a:noFill/>
          </p:spPr>
          <p:txBody>
            <a:bodyPr vert="horz" wrap="square" lIns="0" tIns="0" rIns="0" bIns="0" rtlCol="0" anchor="t">
              <a:noAutofit/>
            </a:bodyPr>
            <a:lstStyle/>
            <a:p>
              <a:r>
                <a:rPr lang="en-IN" sz="1395" b="1" dirty="0">
                  <a:solidFill>
                    <a:srgbClr val="111827"/>
                  </a:solidFill>
                  <a:latin typeface="Montserrat" pitchFamily="2" charset="0"/>
                </a:rPr>
                <a:t>Drive</a:t>
              </a:r>
            </a:p>
          </p:txBody>
        </p:sp>
        <p:sp>
          <p:nvSpPr>
            <p:cNvPr id="80" name="s619">
              <a:extLst>
                <a:ext uri="{FF2B5EF4-FFF2-40B4-BE49-F238E27FC236}">
                  <a16:creationId xmlns:a16="http://schemas.microsoft.com/office/drawing/2014/main" id="{7A513F8B-2F8C-859F-A164-C1F9414E7826}"/>
                </a:ext>
              </a:extLst>
            </p:cNvPr>
            <p:cNvSpPr txBox="1"/>
            <p:nvPr/>
          </p:nvSpPr>
          <p:spPr>
            <a:xfrm>
              <a:off x="10033000" y="2006600"/>
              <a:ext cx="1422400" cy="838200"/>
            </a:xfrm>
            <a:prstGeom prst="rect">
              <a:avLst/>
            </a:prstGeom>
            <a:noFill/>
          </p:spPr>
          <p:txBody>
            <a:bodyPr vert="horz" wrap="square" lIns="0" tIns="0" rIns="0" bIns="0" rtlCol="0" anchor="t">
              <a:noAutofit/>
            </a:bodyPr>
            <a:lstStyle/>
            <a:p>
              <a:r>
                <a:rPr lang="en-US" sz="976" dirty="0" err="1">
                  <a:solidFill>
                    <a:srgbClr val="475467"/>
                  </a:solidFill>
                  <a:latin typeface="IBM Plex Sans" panose="020B0503050203000203" pitchFamily="34" charset="0"/>
                </a:rPr>
                <a:t>Mecanum</a:t>
              </a:r>
              <a:r>
                <a:rPr lang="en-US" sz="976" dirty="0">
                  <a:solidFill>
                    <a:srgbClr val="475467"/>
                  </a:solidFill>
                  <a:latin typeface="IBM Plex Sans" panose="020B0503050203000203" pitchFamily="34" charset="0"/>
                </a:rPr>
                <a:t> IK + PID turn velocity into PWM</a:t>
              </a:r>
              <a:endParaRPr lang="en-IN" sz="976" dirty="0">
                <a:solidFill>
                  <a:srgbClr val="475467"/>
                </a:solidFill>
                <a:latin typeface="IBM Plex Sans" panose="020B0503050203000203" pitchFamily="34" charset="0"/>
              </a:endParaRPr>
            </a:p>
          </p:txBody>
        </p:sp>
      </p:grpSp>
      <p:sp>
        <p:nvSpPr>
          <p:cNvPr id="20" name="Down Arrow 19"/>
          <p:cNvSpPr/>
          <p:nvPr/>
        </p:nvSpPr>
        <p:spPr>
          <a:xfrm flipH="1">
            <a:off x="10983146" y="2909108"/>
            <a:ext cx="120591" cy="129676"/>
          </a:xfrm>
          <a:prstGeom prst="downArrow">
            <a:avLst/>
          </a:prstGeom>
          <a:solidFill>
            <a:srgbClr val="F04100"/>
          </a:solidFill>
          <a:ln>
            <a:solidFill>
              <a:srgbClr val="F041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utoShape 10" descr="data:image/png;base64,iVBORw0KGgoAAAANSUhEUgAAAmQAAAF4CAYAAAD67eXBAAAQAElEQVR4AcT9CZwk2VUf+p+T1dXV+94909Pr7CNpJM1IQmAwICGQkLCxkA2WsMGA+fvv/RlsA38bL4/33sc2Nrb528YGAw8QYDCYRSxmESAsViEEaJ+9Z6anZ3qb3rfqWt79RnZ0R2dnZmVWRfar6lsRcZez/M655564EZndWez5mZ2dXTx//vzilStXFpfzMzc3V42/fPnyWMPn5+cXL168uHjp0qWxxtWdFxYWqvFooFXXL3VcWFhYPH78+OLTTz+9SPel+ve2LywsVFidO3du8erVq73NQ6/1P3v27LL4IgzrCxcuVPxdj1oWFhYWyQvrhYWFUYdd70fuF154YfG5554bW2c8yTyOja4zLif8kux0L5cj/2Nbfu048qBGR/yMx79RveQpfeF05MiRxeXovLBww68XFka31cLCwqI5SObl8KUYXY1nb9ejFhizkeOoY5r9jD106FA1L5v1S53Tk2/Re6m+/doXFpaPNTvDigz9aA+rW1jo2ore/GxY3962pxafWnxf+X1y8cneppGu8YPZuLaiJ32Xi7Xx+IrXCwuj+zWljDF2YWG8ccbie+LEicVnnnlm7LXGfGCjcbHCVzGPYIaO61ELGxnHx0Yd0+xHZ3gZv7AwOmbGHT16dPH5559fJEOT5qjn/APvccfDGNYwG5VXs5/xMFsu1uRu0hv1nLzWRrgtLIyO9cJCN/Z04trPwsJCFEePYoRYv359rF69+lrLeIepqalqfKfTiWKIKAIOJVAUjaJ8FGeJmZmZWLNmzdD+gxozM9auXVvJjRaag/qqx7cYPEoiVo27++67Y3p6WtNYJTMrnjCjKwxhOYyI9uIsUZw0Nm7cuCy+6MOazs5HwVo/uJCRvLDOTNVjlVWrVsVdd90Vu3btihdffDFefvnlJcfDhoxkXrduXfCPJQf16cAvyV4mXOVfsOzT7XoVf6YvrI1bjo0RI7fxmRn8Bl31gwq5yqSMY8eOxe7du6uyHJ0zs/JPc4Me9B7Es67Xp8aazMvhixas2Qo9vM0Z9YMKnfVz3LBhw7L92tgDBw4EzEsyG+bKIJ7qyVXPeT4NK/Xjlswu1nyEHubKUjRqvzYnlot1Zlaxz3j06EKnYbzPxJl4X/k9H+fjz5bfe+PeYd0HtsGYjdmMz5gnAzuXBnKRDzbGjYd1IXDtH580no/Bmo9daxp40IeM7GNs5vixC9/t27fH3r174+TJk1EWzyXXKJjgCyO+if9AIYc01D6iC3roOh9UYA3nklQEffn2oL7D6ulsPLlHxfr06dNx6NChan2CFT8ZxmNQG/8gNx3wptOgvurFVfNdP1jDTP24ha7mEzqjYk0+PgYrco/LU3/yWhuty88++2zlY2TQNqjgiTeZ7ZBdT4gQAd6ggePUI04xAGPGmXvHCz7A0hd4HKe3z7jXHActwKCNRy8NTs7ZHO+9994qgeztM+51ZjeYM6SApfQawjWe2sjYBtaZeT0hHAXrGp/M8YNZLyZ0NVkzs5q8Zbevt0uV4LM/2ejM1rd0GrMis4s1f4Unh+4lAWs4CwT6Kb19lnNNfkk0nvyrn1+fOnUqyh14CCj79+8PvrgcXs0x5gb8MrsJYb9gDmMy0R3vNvhmZrUYwI8d6Y1+UzbXsGYL/fhFs32551u3bo09e/YEvxq0cJKHzhZ28QZOy+VXj4MbrM0VtPvFEFhbONi/TazFBLrAGp6wreVyvBSX4nfK70fiI/H28vuaeI3qFRc2gx+/Ykt69RKFNbnMAX0zVx5DYAxrvGCNv/NmUacNFvqyT7N9Oedo8K0dO3ZUSZkEpJcOfmxAb3zZprfPcq7ZF37owpMv9dIRt/jXpLBGG669fNle7FJ/zz33VDeDzldSzEn6wo++9O6lB+u6DdYw6u2znOvar/FEH58mHdew5l/6il+ZK/dra8TBgwcrVmWHsdo8qC4af+DPDqrozCc7BGF0FZkrFwTxumRmteNFSYbm3CY6BySIc8HMpKzHtHWkHCfAiyEclZdeeinKI8qwUO7cubMtdtfp0AWWMMW3DuYcAtbk0p7ZLtYE4PAKrPHmbIzuHNb4kkvftkpmhoXTjgYd7WiwM97k4OzsQK62eNZ06onuyJ9qrPF0bVLjndk+1nwa7VpHMtFbou+8rUQfrWZhP5OdrvyJT/diLbA0x7RxnpnVjQus8cUfXzZ3jSc8MtvF2nxyx3nnnXdWu7F2NejMr9mYDJOKIbCmE150NIeU2ubmE73bwLdJg85oO5q7sF6Ihfhk+f1gfDDuL79vjjfHdPltjlvpeWY3Xps3dFTgiz/9nZNLDFspr97xeMKabfGFs0J/PobvJLBGs144JSJ8imxiCJ1rudS1WTKzutERF8UNOsKX/mQwz8xzPtAmX7ToZM7gSUc8+bgdHYkpPLZs2aJrq4VO7JiZ1a43nnSusRZTlcx2Y0hmF2u0a3+iGP6wzszq5nkSWNuNlfi7SZeYmUv8mo87Zwf2II/SUTEJQRCvS2ZWwRwfAdUjH3xNhrrPJI6Z3QDDEB6tPf744xXw+/btqx6HTIJnTVPQ4nycXgLI6emsvu4ziWPt9IwMaw4o0N0OrN1tWjhN7Mcee6zCGO9J6NmkCVPYmmAeE5rkkwpmTb6ZXb9Wx7ck+xJTCaq6SRY+rdg98siYfWGd2W4w69WhxloQhTXMYc/vevu2eS12uImSJH3605+OEydOVDGF3m3y6aWVmdUuAWxhbcEig+vMyWJd83l6/un4mQs/Ezmf8dbyuzPav5Fs6g1rscsRzhYP17cDazzofebMmepxj2tYN+WbxLkERCIiQTGXb5dfmzewFbOsE+K1+QSDSejZpAlX+B4+fDiefPLJapPC6xWZk/drOtJVDJGguM6cLN/MbryusebX1glrZROXts/NI0+SYGttlIuwr/jdy6ujkfP1Ntx6vbIaAVzZtm1bFeA4/u3gKwO2a8PgDzzwQKWEJKk6meAfTsbgjFHvxLlWP0G2wdngjJfEwISDgYRwknzRZk+8bXUrR44cCQuYtkkWmJrceHivjRz8S726SRX0JUP0vP/++6vHa+S4XVjTkV9bTPC9XX6NL7++4447Kmjd4fO76mKCf/DB9xWveEX1GNi85ucTZFmRdicLX1hv2rSpesVDXdU4wT+n43T8ev56nF5zOr5s3ZfFgSsHKt78Lib4w5aw5k/u8C1YbH67/BpvC6W1gn1vB9YwZePNmzeHmyo3sx6TT1pnWIuZYpbYJV6Tgzwx4R83GN6hFj/uu+++6rHa7cAapvxJUiKG0JXNYTFJldGHNf42D/CHtetJ8kXbXKKjd9XFELHLxhSZtNelY8LJkGXngKkb2jpyNAmBOwEBTUDldLJzbQzTK1QbvAFgQqFvgnE6vMmQ2d0ynYQh6MLoDG07WqGPbJje6rWra7vAE9b0FNAc8aQzPAS3SdgYTTibzPhydEHcHSc8nnrqqeoDI23rizYsYcqfYJzZ3X52TSZ6t80XPTg/8cQT1ft7JllmVi+x40smvOGib5sFTbzZusaandk4M6ugOgm/pgP/UehYY+2cvekLazbRt83Cr+iMj90EsURAddcpIRa/4NEmT7RgTS9HfO0OKrCmp7ZJYO09sQ/Fh+J/ld/Pjs+Ozyy/mVk94oIBf4c1GdsucKQXPvSEtRhGf35tUYFH23zRxBee+K5ataraYXeujf21tc2XHemk0JGuYqbdWDfSdjQkLm3zRa/2axjjrU7cNKfMM3Ymn/o2C129WoGHTQpJaNOvJ4k1nvyIvnUMcY4/+8OkTV1rWuYLvfg1fDPz+utU8CDXJLDms/iizZfFanHbhgWZPMbEv5azwwEsnEBhJKDUjSs51pPIBCcIIJr0Mm8AgiehCN3ss5xzAPhkmyBti1AG3kuHLGRifGCRtbfPcq5rekBHP/PmLVgTTz3nw5esy+HTOwYdGMKasdHv7cP5BRr9TIg2sEYDLc7Mf/Do5WuXzvtUHkFIkDlhb5/lXMPaHQZdYdpLIzOrTwip1w82zlda6CvB5K8PPvhg9Qi8STOzu3Ca9AIqfeHU7LOcczTQgzV9LRy9dPg1O5CRndv0axjyH/Qzb/br2t/5N778sVe25VyT3zxxpDM+TTquvZ9h4RTYPF7Tt9lnOeewZl94syO9e+mIm9rYl85t8PWe2OE4HD9Xfh+IB+JLy+/aWHsTazrDAtawaQtrdGp66ONzE+NyQV8+Rl96l6oV/4M1n4Y33+qHtToy8Wt928Ca4HSgM53opq5Z2NjCKdaY83g325d7DmvziR7iNf69tGBhjsMa/9725VzjKwabJ9b8fmsjnWus+T/7LIdX75gaazr1w7oZx2FD1l4ay7lGBz1jYW3eOK9LZl5/9QHW5GxDZ7blL/wanny45lkfbYaJXzbD2MUa1akbgcRIHNTLjQSr28Y5UoYQhKmdath4ABGYU+JNqGH9B7Xh606G7LYETSS0B/VXzznIyPHIi4b6cQujk50RGJ1zDaMh2NGZrpzFuGH9B7WRF9YCFT3oM6iveniQr8aa3OqXUwQJOqOF91I06uTYwskBl6szmWGGHzvD0vmgIsDQGdbsvBK+tpkl+xJMOzSDeKrPzCpZy8zqBVZ4qb9WxjoYC2v2HQVrc1nh03yDn4zF8FpnWMHaEYb851pT3wO/59fkFdyM69txiUrykp290OsXzJoktNuldEPgEYyxzfZxzsU9WPMbvDNz4PDMrF6/wJes5iLZBw4Y0vByvBw/WX4vxIX4ivK7JYa/VN3EmrwrxZre9IVlDPkx3/iCI77m45DuQ5v4Jhp48tehnUujPvryLViXqmX9IzO/zszqpo0uwwhZOM15u7EWTv49rP+gNr5BdnrDkC6D+qo339jEOPKKYerHLcZ7qdzaKAmzs7wUDVjza/LyjaX6D2qvsdZO58zB80kf64l+MMKb7OrHLeZDPSfRM5+H0aixzuzGa3IP6z+sjX+QHX5LxWu+5512j6utL9cTMgwIxWAe8Vl4vBszjmC1IJQnSOZw8PGsC8EAx+lMUoDWbUsdAe8OxljPwi1cS42p2zOzWjhNjnGdnrMI/pzHxEGjpjvKUX86kx8d9EYZp49JAidYmzzqRi3sjC/b0nkcrOsxmVkFM7RG5WsREdjsmgkOnHZUnfXTH9ZkN3FH5asfnzBBYC2Yo6d+qaKfYGah92k/k2epMc12cpIXxng7NtuHncPaTQYZ0BgH68zunZ8x/IS/DOPVbCMjf1Tw5afN9qXOYc0n4ayQf6kxdTs5yYuGOVXXj3IUc8x/Ps2/xKNRxulDZ1hnju/XMCYrW+PNbmiOUq7ElfjV8vt4PF7SsK+IB8vvKOPqPnCiN98aF2tzqcba3KhpjnIUr+ks5tIZfqOM0wc+xogH/At+6kcp+hoj7qGB1ijj9OGH9OVjaLCX+lGL3QwLpydJ9cvoo4zFF0/xy7xQRhlX96ErefkzGuNgbQ6LXexlbsC8qj4JgQAAEABJREFUprvUMTOrtTEzq+9eZOulxtTtZOSTfIzsdKjbRjnCSEEDdjAcZZx++sPJeHNjlHF1Hz5B3poGPeq2pY580ZOg2keX6t9sx7faRGpW1ucIyqItnN6TkZxRtG7vPRJEMFNvknY6N+V5qkcuAgwaDMkYS/E1OU6fPh2czUugIzPq6UhnOy4MYKI79nS56ZJ8Jjd5Gf6mxjEv6GvRw3cpp4e1fiYYxyH3mOyudzdJ0DBpl8KaHejLUY0ZZ2JfZ3jtxFiJGVr8C5bXmvoetOMNZ6VvpxEqM7sBBtYm7FJYw8WnRWHspX1yj8Cmbxc8LXpoLoU139MHPnySnfoSHaHSRGcvXemMtvNBBdb6kXXcYNakmZnVO08wYzu6NNt7z9miGcwyR7+Z66Vl0XRTaSfWJ1+H6dz0a1jDq5feqNfmJBp0ofMwvvMxH39Yfn2565viTfFZ5TeW+ZPZ9Wuyiw0W7mGkxBDxWn++kbl8rPk1GnyGb8NzEG9t5OMLxsBrUN+l6s1JNGCN5jCs8ZWskpFP8+2l6A9qh5lYYK2R9C+lM/n4AnnF+czlY01u8Y8e4gO9BskJY2ujOSXW8stBfZeqpzOs+Q1dRsGafGRVlqI/qD0zq8eJmd1dq6X8GtZ8gV+RdxDdUeprrNmX7wzDWhtc4ON9PPxH4dGvz9DMiVAPPfRQlSXbgSJYkwhBAAAoBme4ZvtKzvGW7AgcQGnSwlewlfl7+dLORbN9JecWP8akE8fHq0kP6GSiq36Zy59gTbomLAzxgyk+zfa6nlz4rsToTbrO6yDFqUxkdc3C7rAQUNil2baScwm/l0rZ0qPM3olOV1jTlc6Z7WCd2V3AYIp+L9b41i/z8n+TbCV61mMzuwEGhvDEp26rjxIi/i6Q6VfXr/TIr9GsbUn3Jk3BTPCWQMG62baS85peZlZf8NprY3LwOzaAs/4r4VePNZ/EBXNK7OJjeNXtjnDGm1+LNeraKJIUNM0lPJp8F2MxTpTf98Z74+Hy++Xx5TFdftvga57QFz8xxLFJ1zV/Z2v9YNRsX8k5n6E3vvRu0sIXDnweLm36NZ54SwDwwKvJ2xwjk3iNd2Y7MQQ9iQ6eviajV2d+zrccydeWX2dm9WQChuizZVNf/HxzgqdbXkHyNUTN9pWcw9paAWu2HIS1WAPrlfBqjoU1DPFjSzo225v1/No8aLYv9zyzG6/pA+teG+MLC4W++i2XVz1uaEJWdxLIOZ+dKDsaABHYCQmoNoNZzdNRwBCkOYJAImhbsD71qU9VX0bqTkUffdsueNZOb9IBv5aB0SfFt3Y+E612evwZfZJYZ3YnOr1qPTmgczJxuLYxrunZjfWOmTvO+lEA3+JnsG4rmNX86iO90Be0a6ztqAhmdlg8vq/7tnnMzOomB01JEL8mg3O6Cnra2i6ZWe1amc/0Zd/ar2FtrrUVzHplhzX/reMGvnyaHHzLfOsd08Y1XcUJmPr+MvHD3IK1+U2mNvj0oyEuKnyZ3lfjavzX8ns8jsfXlN+ZmIlJ/FgY6EVXvGENZ4W/TwprsQP9zBvJN7+2iOLJzpntJES9uKGNB1705s/O9SPTpPzaTpkP9/iaDB8kw5dfi9lkYgsytF0ys0rM8BOjxRCvVkgOvfMmGWubJ3qZWcUu84pviSFkaGLND/Rtu8ASprDly7Vfu+bv2tvmiR590HeENX1rv4aD2KJfG2WkhAyjzAzZtuecH/vYx0JyRkhtky6AwOtP/uRPqm/Zr7+H6Hbx5ewSBeBPyui9uggugoi7HfzbNHovr+a1hIDTm9ycHu7kaPaZxDm+kn7Hj370oxULGFQnE/6zZs2a6v+z+8M//MMq2EjGJsyyIl8nKV4WFtz6J0RV11b/ZHaDqiSBf/Gt2+HXmVklhOyKL7/ia60qN4CYuWvh9BjHY2iL9ICurVZnZqzfuD5+cfUvxq+c/pX4+oWvj1eU31aZDCDGr80nWGd2bT6ga6vV/JpdfZqvjiFieKtM+hDDg10t0HZE2Zwsfbq2XuWGUnJmjZKcmFOtM+lD0Lylp5hpnbCjr65P11arMrNKCNnXK01ubm4H1pllPq1fX30PoZtnPOnfqnIDiJlLeMkFxGu+NqDrsqtHTshko6dPn66+ePS1r31tcL5PfOIT1ct+y+Y+4sB65+R1r3td9Z/C1ncgIw5fdjd3WjJik0syyuFdy5CXTXSEgei7g+cAHrtwAnxl5SMMX1EXwcRC7VOEHimacPBeEdERBrvTwptfPfLII9X/gWnhhPkIw5fdBd9PfvKT1QR/wxveUH1q7nZgbT6Z1LD2tQ1btmypvkMM3stWZsSBdIa1gMK/+JvrEYcvuxs+/NrCiS//FlPsWC2b6IgD6Wf+SMpe+cpXVv/XqIVkxOHL7ub/nfzx+PF4Z+ed8SVbviRgz7/Yf9lERxgIa9hasGAtOYP9pOcT0WAtdnqXr/ZrSZK2SRY8YevGxu42XV3fDqxh60bj0UcfDTqLXbcjbnpi5YYOXztjYsrtwFrcwssaYW3kb7cjdokVsHYzJwkWS1yrn6Rv8SF+jQ++bExfOLTJtzMKMcALJIQQRI2Rhb/qVa+qvgyTUxBU/bhlWH+ZKNp2LBi97itB4vwmG7nq+raOnIuR6WrRysyKNJ6uTfxJOT2d0BdU8MeY0+HLKbQLNOrbLHDkcO5sJYA1bdeCuTZ96vq2jnSBtQlmNy6zizX9vV/mLsj7XG3xq+nwV+8WCWZ2XOmpjRywdg5rmDtvs7CvycyPa6wzu3d+7jTxvR1Y1zpZtOlvATHX6/q2jjDkPzBnVxij7SimONfu2HapdaKf+Yt+ZoadfnZ2U2k3WH2b5Vgci+8vv3bD3hPviU75Rd9cwpdcbQdz9BVY8h/YwlidGAJ7NtAuxqlvs9CH78KaH9e0XcMeX/zr+raOdQzhx7DN7MYQa5SYAmulLX5NOvSV6MO2xpquYpd57jG59uaYNs7tevqaBE8VJL5oZma1w49/LZf6Ngtd0IY1u9a0YS2WiWuTwLqOIfwW1vXa6Oha+yRiF/1qnehr/qrL7MZr/K1fbK1+pWVoQibpoKSFg5H7MSMgp7CwSZ4A1q/fOHX4cmQZv/c/BJPe8epMPpPARG+DL6PW4DIy2r18XQs28MC3LUOgA2sBBH18egun125ScHry9vYZ91owowdd0c7sBrMmHVhrU2cythFUyY4vWoOwzszwUXN3+JIy72mQYaXFO2K+T+jgwYMh0c+8VWcBh39ZZEzIlfI0nq7wM4lN7sxb+cIaX0e+2JZfwxqtYVgLqAoZ+SOZV1r4qUJf/tuPXo2HeU/Ofn3GrauxNk/xzrwV6zXlUbXdMkf/l5+5MC6f3v6+Zf8H4wfjhfL7NfE1sbX8Rp8fMZWPtYl17av0pVMftlHjwb782jzs12+cOljzVbT5buatWPNnMQTGbOw4Do9+ffkz/NDi13j09svsLpzwOH/+fPVqQm+f5VzzaYVO9O6lkZnVe84SMxsLPrTU22c5124e6vfEfKCtn87q2AF9+MDJ+UoKP0ErMwNt60UvvcwbWLOxdaq3z3KurYuw5teDYoi5ZE7px6+Xw6d3DPnpYT1GO/NWvxa7+B48yNlLY9zrvgmZCUYQjgaEzFsFaTLiALJ0d52ydrsazfZRz/G11cvwHi1QdqmxgCBjDR7HWWpMv3bBjDE5GwP069Oso7PJSEaGEBSa7aOe0xnWHIoemcOxzszqv3wQYDieRWxUXs1+Jimc8acHHJvt/c5NBn3pivdysTaW3PTlY/14NetgY5cU1hZOwb/ZPuq5cYKZx6LojaIzX1D4hkVsVF7NfnBiY0f+NQpfuprodjr4V5PeOOdNrOG41Fh+XcsIL/6x1Jh+7eSmMz8dFMya4zKzelzMJ4xbLta1X/PRWo8mn97zzC5fscs7T3ZN0ejtt9T1XMzFb5Xf343fja8sv4/Go2VPrG94vU6KH5CRrdl4OXwRE/vMZfNzHKzZBl9zEZ1xC3nx5dd8NXN47ELffGdjMvNNY9WPW4zlI+IRvZcaz6/x1Y9/Ldev8TQedm5eMofrjK8PLVkfvb/o3TYyjFvgZW3E1ybFKDqb7/AhM7zG5Vn3r30ELb5a1w860llf7fzDXHQ+bqljCJxH9Wt9xWsyGz8uT/35NRs7pwd9nA8rcCGjuYT3sL6D2syFmyIG4AjiOKogTeICjIVOkLFbJqA32wedE8SOhW1Y3yfm+X/mcEdv0srM63d+AFGa7cPOOToAOThAM0fniy6djTPBYceY6pcq+nFW/ZaDNScRYMhNfvzRGqXoLwHFV4AcZUzdJ7OLNaeXpCh121JHEwRGgoqJkzke1oK+hRN2ErNRddZPImbSCGb4LyVrsx3W5HUkPz2a7cPOa6zZSoAc1rdfG1nx5tNs1q/P9brGiSCMNzsZnzke1rCCt1iAjjnaID/wFNYw0oF/wcz5qCUzq5eFzSvzw/wcZSz5+CK98R3Xr8kp7hwsu6ZuKu1qjMJXn0/EJ+IXy+8j8Uh8QfmdjukY54euYgi/gh1dRhnPNjDSV8ylg/NRC76wqmMIeqOO5RPkNX5cv87MZd9Usi+M+LWSOZ5fk9VcpCsdRsVazIG1eUHncbHmj3zLXJT002FUrK2lng5YG8fVOTOrGx3jzI9xYwg5yaxkjo81rPjJOAlhHUMys4oF42KtPxs7ykHYehSs+QI5xRzj+coo4+o+mV2szWW+xVfrtqWO7IJ3R0eCMBYCBOE86pdTMrP6JBXnQdd3hWE2iJY7BncOXmz2LeiCxKC+S9VndnnXAYY+g8YwEmfLzOq5O+MN6rtUfWZeTwjxtHgOGgOT2lic1QQf1HeUenhxAAGDPo6DxpFNH5NLyRxvgjXpwgtfvkIfTtxsb56TSTAjK50dm+3jnOPrRVKJvwR+qUcBgp9tfv5I3szl62yCmh+ZWX2YhV6DZOfz5hScBcPM5fOlMxr4sx87DuLLDvoYQ1bHQX1HqWdfOtT6DBrDr+krmOJrDg7qO0q9eSHJgDH/Qn/QOHjgLXmFU+byseabfIsOFkIvxg/i+1K8FP+t/G6IDeH/nXQc1Hep+syskhR8Ya0MGgMLmLC1+cQvBvUdpZ7O5gbb8R2YDxpHLrz5BLwzV4Y1ffkKmvgP4lvHa35B55X4dWY3XtOB3yiD+MIaJpIK/girQX1HqYfz3XffXT06tTYO09kmhVc1JHJerVgJb3jRF3704TuD5KWrPvi1gbU5qcBZ0jGIL6z5AVvju1K/pqubShijO4ivems2+cgp5mUu368zuzkF/Kx7+OPRr7ADrMlqLnRMMIKYXAyWuXxBmgwzs/q0iefchLJwNic6nhZLAHBQk7I5vs/5yFWAqJTrdIIhGLgeXBsdEPoAom5b6TEzq7sRunA82DZpWjjUw5neme1hjSd9TCbYNvnSnw3oytFNzmb7Ss5rrOHKsfBq0lMHa3z1bbat5NxklcB7FMCPehkAL4YAABAASURBVBdOyZrvBdJHst+WzplZfZAF1uzLnk096EpnurJzW3zxQBOOaOLRnE/wJ4s6ssHHmDYKfvxVoDKf+HGTLhz4nBiiZLbj13jgCUc86aeuLgIdHOBioSNn3baSY2ZW3xAuiYenT3njX9O8EBfip8rv0Tgaf778HogDddOKj5ndGGKu9sO6Xjhg0ibWmd0khe+IIfg0lamx5lf6tIU1HrX9xA72dFSv8Ou6ju/rq76NQgd+w8dgbe426fJpOOgD62bbSs7x9dqE2CROSbya9LyPLabVN54wb7av5JxfsV+Nq2NNzzkcXMNaX+dtFDrXPsuefKxJt4k1ezTbVnqOHt5s2RtD2Jw81k92JudK+dXj4SeJhyu+jnWbc3wd2UNfbR0nbQuCcF3Qt2h6HMDxvFAt62d4iRhh6r5tHzky3QQT/BiE4RnHBMtsb+Foyi5o4OuIrwUL+LCgb5tGb/LNzOoumwNyALriT3+OQZ5m/zbPOTTd8MIX1gocyJM5GazR9hiTLh5LetQkmAko3t0gl7a2S2ZWO8ESFRizsaMFHG++1zbPmh7asJYksLMCc7LAI3MyWPMffPkvXWudycPO6msZ2zyia74qdOVX+MOaPOZVm/xqWplZfb0PP5LwP/HME/GbC78Zv1N+3xZvi9eW39Wxuu7e6pFOdKM7XWus+fMksc7MKobgA2t+hT+s+TUfaFXRa8QybySEFkl8FT5OX/Jc69r6gU54WBzFaXqfP3++euphrWCD1pkWguaNpMyH1zwl8u61XTP8fFAO79Kt9X+ZGfDkX+YSnBXncNDWOtNrBGGNr0tYs6+juEXfzMnELpiKj2IIfzaf8CUHecjlfBKFnfHGk28pzvGFdeYNnTuZNy4mIUxNU4BR7NS4AyIgkOr2SR0zM/ARUCQLgHcdt+EHL5O8vhu4nXzxgjO9nd8GdSOz60sCqoLn7eCd2U2OMrP6nidOLrDgP+lCv8wMEwzerifNE/3MrL47DU9+bW7dLt5Nv87M63Yn1yQL/TKzetxjXtXXk+SJtoB65o4z8bG7PhabX9gcjxx/JNaXX22TLnSkax1DMnPSLCv6+GZmiB/4u64aJvwns6uf+MGvsbsdvDMz+HWUHzrjWV+Xqon+k4zgZWeMnTO7GEyUaSGe2Y0heMKaDJmT552ZFdb8SkKGL7zjNvzghQ2dHfHNnLzO+CjiteI881a+HYBYTIBDwEkUjuYOwPNc3yRsZ0w27lGAzHwSPNGkuGyYbnaI3OFZuGSoJrw+kyj40Qu2EgO8HeGsTIJnTRNP+klK6KsIMO4GyFX3a/tYY83R2JnOFjJ8J4k13fiWnTF+5Y6z3o21IztJnenFv9x1+c4nOuPH9o5tY1zTq7F2jSe84U4WMqlfqiynnU5042Pu7vB2Y8WnzWfty6E7yhg88bZ44cuvLSLq4DEKjeX08Z7Yz8XPVUPfOfPOeO3e11Y7J/Uuf9UwgT+wpBsda6ztIMBamQDL6yTRxxvWeCvk4F/m2/WOLZ/UPCyafJqdxWt8tbXM7jo5WIuZFmm68i26w4BfX+/Y8gm+Xtb3IRJPkXwFiw8dmcNet2iZ3U3k4Ck2Z3ZfLYJ1ZlbvxsLhps4tXvAfWNMRT6XGmt+1yOoWUujjLWbhy9bkYGdy3TKgpQo8+LAYjS//yszqdSp2aLLpmOScnlCCXrNxpeeUtwWbmdUXMeKFZmYGB6wfBVg42wyqHJ0+gMBTcoKvQlfJEQOQrxcQfVZSGN0k5mQMzwjoObrGn2xtOz096IMP/QQ1fDOzWkA4Xy2b+rZKjSPfwVcSVtOmK776mPxt29jL+oKZF14lYvjhzd58a/v27SFZ87hJfVuFHiYYevRrYo23BA3W7MwX9WujoMXGfAffJtbO4V/3gXkbPGsatT61X2d27+74mzkGe7Lxg3pMG0d+DWt86FdjjTacFXiYc3RX30aZjdn41fJ7PI7HW8vvA/FAdMpvZlbfw+TdWHy9G4t3GzxrGujxHVgrmTdjDQNY41+PaeMoXsIa/SbWmd3HmOzMD8jXBr+aBl+lD/748uW6jV+pq+ecvnXbSo/8hb/SR2xWMrtYw4C+5nMt20r5NcfDWWxiXx8icdSOr/8lxXuvfMs7ZuTU1kaBH33MK4lBE2u6iiv46aNvGzxrGrXvmLNKXU9nNjbH4XK7/Zos/IB8tUxtHGscHeFaY52Z1SNjOvNrc73GuoNx7fQAYQid1C+3GO8OEi2By8uJ/WgR0Jd+2l1wR+B7gPr1G6cOqJcuXaqSEEDTqd94E8CEEwQAArR+/Uat4+D05VzoOvYbC2vt+OmPf79+o9YxZE0HXZj2G5uZ1z9wQN82nJ4T18EM78xuMGvyz8zKFhwST/3p3uwz7jl9+ReMfQKJnfvRUC/YsY33yujdr9+odTXW6NFnENZ8TnDnY3jSe1Qeg/rxa7TohHa/fplZTXTtbKP/SrHmn4IkrAUQx368YaE9M6v/AkoM6Ndv1DpyszM66KLfb2yNtXb60rtfv3HqfJ+Y98Q+Kz4rXl1+Z2LmluGZ3ffL3Ay4MfBuLP+4peMYFbCmsxhB56WwRlp//uh8uQXG6DjiC8t+tGBtnmvXf6VYszG/Vviskjk4hpBNXzGkn3zj1MGav8CYTnTrN75uZ9s2biphJnbRwY6+ONKPr9jhJtPa6KbT1zf06zdOHZ7wE0OUfmMzs4rXbKGvMezUr++odeLfKDFEQsjG+PEvmI/Ko18/49FBD878tl8/tqcvW+tP3n79xqnjW7BDl179xmZ2sWYLfgHvTrMjgTknZyUYhZrto5x7MVFWL1DZBRNclhrHCBI3TmhHDe+lxvS21zIDlQ6OvX16rzO7SQq+AARKb5+lrgUx8gqK+MJwqTHa8dS/Hs9p1I9a9GfA2ugMn3lrMOulBxd8M7sLJ9x6+yx1zWHpzJHZznGpMZldrDknmcm+1JjednzdNRovEbP929un95ps7jgFPztlFk626u037BrWeCpwZrth/eu2GmvXAtK4fI1jHwsBWrB2VD+s0LmWk8xwG9a/Xxudyew4LJg1x2ZmlRDyLzzNqeXEEDIr6MA6c2m/Fmfgk5nVowDzqinbKOePxWPxy+X3YByMN5XfjbExlvox391Uuum0cHoEtdSY3naymk+OdEazt0+/a3OJnfkIrNmqX79Bdfqbh+IevhaGzPGwJvdy/ZrM7IY3nx0kZ12fmdUHaeCDL9nrtlGPMDaWX/IX/Jcam5lVkmIe8Gu+Cbvr40Y4wdeTIJsO1kY7YCMMq26i65tKayPeo4xr9iEzneEG61FjiL58jJ3QaNIc5RzG+OoLO/ydDyuZXaz5NfvSd1ys9Sez8bUOw3jWbeTT3zW52cz5OMVcEjfhhtYofq0Pfflip5dZZlafstEBcaW3T79rGbyAxMk9LhJI+/UbVJeZ1ZfAHTx4sAqo3i8TaAb1r+uBVoOHN1DrtlGPHNRYR4vfKAGG0TkLfGA1ajBrypR5A+vagZrtg85NDjozILkZdFDfQfVw4jDww9vkGdS3rq/70h1fNOq2UY8wxteRDqPYmGySfO+J7d69OyRYo/Kr+8GoXjjRcuNAj7p90LHGmq50RmdQ3371mVklKcbyq1GxprOJTcbeRwv9+PSrgzHf1IbWKFjjx68VMgssxo9TMrNaSMwJQdEcGWV8E2s+krl0ctBLl7zkrmnBsbdP7/WROBK/VH59ncUXxRfF3vLb22epazhbOM3JUXdjYV3jQ194ZY6nM3/E21i+NS7W5MU7czy+8IC1sfwKb/qoH1bEEL6oLzvhP6x/vzZjjKW7GGJe9evXrMOPjPwCXuOuT2hldv1aLECL7dQvVSTpngDZ7fJfwS2Ht9cvrI3WJ/ELjkvx1Qc++sELbs7HKWKIscaw2zhY80X+wU+MH6ewbT0W1uw2yng89Yex8Znj+XVmN17zETzRGiWGmAM11pLP5WBtTGeQkgAhlCNGhOvXl8ASMQLZYrV49Os3ah1+XspG69ixY+GLY/uNNcEsGuQCvIDUr984dQAhP6fjfBy633hGh4mJiTeZ+/Ubtc54To+/CQfLfmPJg6+25Rrd2Lpk5vXkG5YCDFzr9vqoTju9+QRnr9uWe6yxoxMf6uf0+HocZIvfDgSfgNFyeRpHfnTgbbfNp37V9xZy8QH1bWINOzjDk37oN4s6bbAm43KCWZNeZl5PCOk0CGtjzCXttW0yq2CmaVmFX9fzg98O8mvzTTvd6bxSG2dmlRCyNaxh2U+BK3ElPlB+n4gnShr2RfG68us9sVjmT2aGl9HtxrpB5bcDeV+5Uj3abRNr2MGc3w7Cmg/AOjOrL8RuE2u+M0hfttXOx8i5Ur9mIjT4F13RHhRDyKTdGsEnYGT8cgvM6CBZgSX+/WjhaVdLP8m6Mf36jVpHbk+d+JjdNjeo/XRWhzes4QOnUXkM6ocG+c1V8QmPfn1hrV2cg3XmymII7PDFi1/j77y3sAFbZGb1HYLG9fYZ5xrW5KcHfWDZbzwctJOLnPr36zdqXWepjgIGRvpR2IR27ihT9xjIjphdi8yVgY9uXTi9uwmTyMuPPqlZtwmyZOEkQMtsjy8eeNKZEfBSp9AZ38x2ghmazUJnCSE+nM9Ru2DG6Jy9rQmGbl0yu06MP/04tzZ8YaCOo+Gd2R7WmXk9IYSzgifeeNoldW2BYxP1bRU481uYSswc0TbB6mDGB/iY+raKQAFH86rmU9MmAzvj2bZfZ3axZkc44w1bvNkb3q7pzA/Ut1Xoii76+NR+XWONv3aytcUTHUEV1o744qN+IRbij8vvL8QvhP/u6PPj82Oq/EZLP/jZybUj66bSY6qaNN3NbX0k+vyhbmvjCGt0LRD4OKJbY20+w1o/9W2VzG4MoQ++NdZszq/5mzk8Cb9GU+HXeOFJL7qze2ZXNpirb6vAkH/VfGCMNowlTG727GrZGVPfVsHTKz50FrvwqWnTHw7mkvbM9uO1+ISHWFVjTecaa/Lxg1qmNo548lvzB98aa0e+pV67fm3wq2nQA13X9Kv92jUM8K6xVrfS0hmVAEUZmBDu/GT+di0EnbYdvSmThZNT4+H/LxTgnAs6wGr2Xdb5gEGZWd1lm3R2rSSenJ2zwWLAsFaqBS5OgJ/JxhEYHe/M9iZYr7AWYrhycnf4ij7qYO58EiUzr78bAmeJGN7s7hutJ8ETTTp5l0PibyfWTi+8Yc3XMyeLNXsKaHTFlzzqJunXaONBRwsn3nUwUweXSRXzBq5iiBssfs3X1U2KJ7rmsPm0sLgQT198On52/mdjW/l9V7wrtpTfmNAPvnZj6SdeuoG1cJlP2ibEtiKLJ53rGGLhUKdUHSb0p44hfMpc5l+ZWe1a8O8Jsa2+C49f8+86Xls8Yc3vJskXpnhLFCRi1ihxxbtik9TZO7T8C1+PyT0axY8scJiUzmjjwYdrrK0Z/G3SWItReNDZ0xN+LYYok9IXXTzpR0+AF1aXAAAQAElEQVSxWql9Heb6tFFGTsgwA4KXords2RISsczJLVj41QUIAOHgAkwd2Or2SR0tlu5+AM4YrgWaSfFr0sVHoXfmjS/DbPaZxDms6WyycX4y0HsSvJo08ZAUmeB2W23Lk6XZZ1LndHRzoZjkFhHyTIpfTRcPvOEMb7jfDp3xtVhlZvU4kwx413JN8oiXRPA7//2/j5/6qZ+K28X3TJyJD6z+QBxfczzeduVtsf3C9oDDJHVFGw8LmNcwLGJ8XBzVNukCW/7Et/Bic8dJFzZW+LX45RwOk+aLB50tlHjT3fWk+aIv+ZSI2UAQR9T1K23X0VnSaT12o0OO26Fzja21EdZsrLStXz96eNPbmqz9dvHFB7Z8mo+5uSIHGdoqnVEICSC2Ri2WvrjOYgkMxhBcCTkKnXH7UFYChr9gxvHcEXjU5KVsdwSMMy7dUfoLXnQDPF0FNTIwgjv7SfFFF1+Ymtwyf/wFdXcD6keRf9w+sIazSV3f8TmabPiq12dcuqP0F0TsutLXVrwjrOmKN0xGoTNuHxOspg9jfD0e5dfkYedxaY7SH47whDf7KrA20cnD5/UZhda4fWq/5s/mE750V0+eSWGNrrvK//E//kd8+ds/I7ad/Mn41C99W7z18x6N3/md35lYYnY5LscflN8Px4fDf3f0mZ3PrHZj6c2+5vO4GI7aH21zuY4h4qaF0+4g/4L5qLTG6cev6ebIp+nK1plZvbemfhx6o/bls3yI/5q/+Drya/LAQ59R6Y3TD208+DWeNW8Ym1OT4ktftuTfYoddK/OJ7OQRw5y3XfDDWxyp9bXTj7e12o3lpHSuMWVXflVjzQZkIlvb+qLHb80neuFb88dP/aSxph98xWuY12sjPMjXRhmakAHAHZ3MXyJkh6rJlPMDBhCcXv9m+0rOKQnkOpg1aUlOLNz4Hzp0KAR6Rmr2We45HSSe6AlmeNW0MrMK5oxBX5NBv7p9JUd0apq10Zv04IAvXEx0cjbbV3LO0dDk4HhISGp6zsmDP/nYum5b6RF+ghmaHk/iU9PMzOr9Ms5vkusLo7p9JUcTuKYpmJhYTXp2gPkXTPgXfJrtKzlHi1/zXfrCt6bH18wnR7zhUret9Mhf8KV7r1+jXePAxhbU5WGN0s0FHbb79V//9fiq93xZ/OaPfnP8y6/ZG5/x4Jb4s3/qjvg/37Mp/unfeWf8jf/v18fHP/7x6r/quZnC8q7mYz4+XX5/Pn4+DpTft8RbbiIEd1irhIt55byNAmsxBC1YmzvOFecWTsUn7yRnMNK20oIOv2E/vmXuNGnWPscH9eMLzfaVnNc0zSUxJPPG0xP+DGuY4zsJvyY7Hng5VzKzeu2ETPjCBUbaVlro62mR9dHa6FOQTZp1LOVX5lSbWNc06cXOmTewhr3EEA5iK95NuVZyzq/NFRjCmj1repldrOmNJ6zrtpUeYYcmzPHFo0kTDurhIq7r32xf7jk96YE3nmJkkxaM4Y8fXNrw674JGUE8tvHeg4zfJ0SagvSem/iEFXgV43v7jHpdG11/wYzSzvsVst1zzz3V/20nuAGvX79R6sgMeDTwZYBB4zJvvNRvonOUQX1HqTeeQeFoQmXemGDN8Zldp9eHnG1hTXcOPQxrCwm+nI7O7NSUbZxzE8djZ58Skvh4RDlovEnP6S0m+OI/qO8o9bBmZ5MY3cz+WOPrE012YwVe8q6EN7zYmIz8ayms2cMYC7sJb9xyCtsKUvRGk96D6NBZnzawxhfPJ554Iv63v/s34zv/yV+Kb37bpfiqL9xzE/tOwf/b/sp98SUHPh5f+aWfHf/qX/3LsGNq/E0dGxduED/wgQ/Er/3ar4VFp9EUi+X3aByNny6/q2N1/IXyuyt2NbvcdG6e0xnW/MLxpg5jXJCZj9KbjdEeNNx8qhdOcVa8NX5Q/6Xq8cTbHFWG9Rer9eEX4shK+JoTtV/DkQ8N4k1nfcx/sq7Er41lLzEQzWFYm2v6OJKVzINkXKoeVmxlF8pjaPFrkM6ZWSWE8CZrG1iLB2SkzyC+2q2NZNPfHOEf6pdTYM1e7IbvqFgbs9L5xL6wszbCcZj82sU3/Y0b1nepNj5CfhjTme8MGoOnPvAxp+A1qO9S9TclZJyNIgIEQTyexGwpItozs3pxU3+KEA49baMUfY3jtJSzKIwyTh93Jx4FWOAtnOM6AWc1URlUoEKzX+mtqwOMerKPawhy2t0zXgCHufOlSmZWO3X4kxtmS41ptpOT4xgHazZrtg86z8xq1wpGxqLBboP699brayvdy/NeepXoZ2Zvt77XJgRZYUZnx74dB1SaYIJTZjeZHhVrGNu9817IobIbi/cAFn2r6SxA8DHyDwtmvQTYxRg4K2j19hl0rS8b8ctRglmTDmzw5Scwc2y2L3UOa/Pw//+d/z6+9AtfF2/b8yfx/3vPvTcNK2YIpa7ctWV1/Je/93Csfva98abPfm28//3vD/LX7Y52I373d383HnnkkfiCL/iCeMc73hGPPvpouBnzUvMzx56J9y28Lx4vvxKxe+Iew0YqNUZwVuA30sDSSV+ywtrcEEdK9Uj/PMa89957g3/QQ/wdaeC1TrDmk5ldv84cbT5lZhWv2dp4/K+RHOnAJ5br1/CBE13hBr+RmJZO+hpTY+2mqlSP9M9cFmdhZjwdRhp4rRN9H3/88UCHzcSka01DD5ld2xgHa/yHDuhpJCd5xTzyj7o2sq2k0U2lDxtYH8fhDWs2ojd7mSM9og28pCvbyAPoTIeBnfs0kNM4uopFdOnT7ZYq/fQ3zniY3dJpSAU5jcO/pjOk+01N/FrMZiu4we+mDkMuyCm+XU/ICCCTtoXO2Rh+yPiBTZld59NBMEfX+aBC6HqCMSDDD+o7rN7kcEdgV8OC7y4buMPGkK2ZEGWOFsx6aVpkyc0InJdOvX2a1+TSTxB0J2N8s33Uc07PTpyQEzDqUmPxtOBwHjIv1b9fe2ZWCSG5OS+9l9KZLzz22GNhovAvsvejvVQdhzdRTHQYLsUX1rBha1jhvxSPfu2C0X333Rf4Wvz5bL9+dR254II3rJW6bZxjZlYLJ71hTY+lxuujL4xhlbl8v4YZf4E1LIfx1m7eSZo+9zNfE5tf/OH4/n/wmrhz60w1rCnG4mKpKqX8Kyc3/v2pV26N7/rre+I3f/BvxKseuic+8YlPBL/xNRJemficz/mcEKMyMzqdDAn+wXv3x0Nfcn88+lceiV/8e78Yn1t+Yxk/mVl9NxdbsxsclyKjD6zFn5Vg7QaFjt6NtXguNZe1k5E/4rtcvzaOjfkreugO01k/fs0fxA9lWP9BbZlZxRC44SsuDepb18NaHOHXZK7rxz2yL7nNYbrQaRgNGNukMA8efPDBaj4O6z+oja7khjGfMV8G9Y2I6kMneMLa2igGDOs/qA3fu+++u/qOPHpY85bSucYaT/6VubwYAmvj6UCXpfjChI3xhxXZB+k1rN44fNFBD91h/cnFF8gIa3IP6z+ozVpMbmsjv2brQX3V40s+uRd5OwT1CMAW7MGDB6tPT+q40mKiSzY4M8Ew7qWpjTCUIExv+3KuGYLzOfqajH686cxBGIuMwFsOr+aYzG6AsfCiLcD06uxaEGB0AUHfJo3lnsMaPTz76YsurG21w4XDqVtpQYvzCZD49nM+GLur5OwPPfRQteCtlK/xJoxgwX/Qhq36urhWzxaw0b9uW8nRTpnH5IKaHY1BOpOLX/HrzOUFs6ac5gis6YV2P778um7Tl32aNJZ7zl/gx8b8qJcOmWAtcXrHF78lfuzffFW89x8+EK86uCEkXFXyVQbVx3La/VdgKf+65z1/3/7GXfFD33Ag/sZ7Pi8efviVIUYd2L+nPAJaUyX1e/fsLgvMpog7IqY+J+KNd66Ny79xJb7nP3xPiGUeM7M9mdygOfo6FUfFd4M56tvDuuzcdRMzetV49vaBPzwcYW0O9PYZ9xoNMVjiSWY+xqZNOmQSP+DNLm3FEHPJPEEXbvg0+Tpne3iIN/xa3UoLndHKzEAbnr00YVAnMOJ1G36dmcWX1la7XewoLvfjKzlWzHlPYnr7LOca1myHJ1v2w1rchAf7wmc5fHrHmMMPPPBA9QEaiZn1orcPrPkd/rDOzN4uy7qmA73p1I8vDGChmE9kXRajnkF4osev0canp0t1k80HxGt2yVy5zuI1nfkzneHay5c87ABr/sXWHe94EEIS0zugjWtMTHSTHChoEq45wUxw9W0WRuB8gJZ9UpoxyAAIMrVl9KbcmVndQTEIQ+CrvQ5mtdHVtVkyuwGGXrA22ekLaxPMuccjbQSzXrnroGqisSte+FoULSzsYAegd9xKr+kiaPAfWHN+NGHu2mQ0KTJXPsHQrUtmBn3sxnqMSU/6KrAmB7n4QD2mrSNd+TYd+TasFTbn29ro3Ra/mg5d0M68eeHkZx6FfNM//AfxD772TfFvvnIm/tJb7ipJTdxUwk9tBkfXsjXH3lLay79q/L/4+gfjp//56+LBvevKgn2+LKJryqPMy3Hyyqm48PDFmJqeitnfWIznPn211F+pKNkp99K877B7+FWvCjubbgZeVc4dX/GKV1T2c64vX6kG9vypsebXTazFD3qLm5PAempqKup4LD7jx8bkICueePeIu+LLzG7sErPpix++/BpfDPg1+Zy3WWBtrsK1jiF482v6axM72+SJVh276ERHcxdf89gNPT+SJOvbZsnsxmtrEH3NXfRh7caZHLBW13YxLyQAdpfFL7zoXGONL7na5iuGoI0urOnq3NoIAzwn4dd4WBfNG3z5tTp6u3bOv8jnvM3CZ8VNfg1fOOMrJ7HT72mRm/yaZ2clW7A1kaWOmd2JbtIJ3pwdAABaauxK2y2aPgUjMfjkJz8ZZJiU0Zuymuicz8LpfRrO5zrTUtPs2e55ZhdrAabGGl+O0S6nW6kJ5LC1m/Gxj30sPIIx8W/t2W4NXelootm14vSuMyeLNUxNKB9K+KM/+qPqURq+t8Ov8YC3r36Bt2Am6LSL7K3U+LUAA2u7S9/3fd8bb3zN3fHFu38//vFX3nt9gN0wpdoiq2vrBKw+qu81ketr7ca73LZxOr737786/rc/uyMWrpyP+XsX4vLuy3H5N6/EmlMzqERO74oHH7gvDuzfF1NTnWrnY8P6dRX7O+/YWW6S1sWO7dsCbp1OJ+4+sD/279tbkr6Mv/pX/2oM+4GzYgGDNRq3A2u+JD5brDy6rf2a/MPkXWlbZlY72ZkZHqFKzthc7Fwp7WHjM7N6jCmGePTNt+Hueti4Ntr4tTXJ2vSHf/iHFckHym5SdTLBP5lZ/R/O+Luxg7UbZz42QbaV33u/zHu8doq9hnG7sF69enWlsyRUvM7sYpBptsfEfswbc8rRmoz/7fBrCsGWTSXAn/rUp8J7fZJ9bc3S4QDNikmdC+AyRAkSxz937lxrH3EfJrNEiI6SMh9S4HgyU8FtrdQF1QAAEABJREFU2LgVtlXP//HF3yMIWbHAulK6o4x3xwFrfGusJ60vudhY0svpX/3qV1dfRyIh1TbJQjfYmmgcnRzuqifJs6ZtUrv7ed3rXldVCW74VxcT/MOvzCF3V3br6H87sKYSvh7/vf51r40dL31f/Ni3PhpbStIUY8TTazlXyJgkXtfLQqm61njtEHWc/oJHd8TP/19viL/9yv2RH48qfmzetDHu2n1H9VL8c8+/EM89fzj27d0THmlKIOA0vXo6Ll68FCdOnqx22NauWRPPPPtcuTmbqubpT/zET4Qbh9/8zd+srqPnx9yls4VS8g1rc6ynW+uXtV+bw3b1JEcWMPWtM+shyKcVN1VrCl50vh18+bCkyEK5ZcuWKobcDqzZ2I4Y/m94wxtCLDG3e2CZyOXFixdDvPLBND7L124H1nSGdb1TLHaTYyJKNojSDV8Yi9d4Ko0uEztlU3hbGyXB5CDPxBheI2wuWRvoay7LDeB/rfn6oeNOjwMYcL22xRNMKQ18kywzq7tX58Ax0Vtkd50UkNGm16ZNm0rwna6+ldxdj0xVljqpiW5BxtudHXwzb9z5wYJM1wVt8QTWtrthTWekOV2NNTura7tY9DxaobPHQu4GyGABc6Qze7TNFz0TGV+LFruqg7tzWEzKxrB2F1/f7WVmWKztaNiZdLcLF/K0XejFx+A7VR5vwZi98dNGtrZ5osdv6WwOfec3vT1+5p88FPt3rdXULdcyqAJF9/raX9edzs3ZmitJ2PzCYlydX7ipqNOmDxKli0O3lMqv+Lzd8TPf9vrqMebpM2fjzNnzMXt1NrZs3lh2yPaUXZ1jcfHSpbhw4WIc3L+3WuwsdFeuzMa2rZtj167tcf+9d8dTTz/bpVn+rl58Id70pjeFRalcXv939uzZ6p2bGmt4w1qHM2fO9E3gtK20iI0WDn5tPuFrN8NC4p1Mdlgpj37jJST0ghfe+jg3p+q5pq7tIj7A2hHW4pbiPLP7mLxtnjU9j48UN+xubtTTnd5wNtfUtV1qrCW8YjT69bkFm/3VLV3G6wFjWOMPX/FDHBO7rRESB23jUR2tNx/Cwxyiq1F0F69rmdS1XcRGtsQH78ysdsudTxJreogp5vMrX/nKKg8xl/EVp801sumndDKz2j5kFI1tLWCMDnj0MDe5MGwWyYqJbkElcLNtJeeMDmSTSjDrpYUncDyCsGPW277ca04MQ4Bzsl46mRk1Fvo1DdHbd5zrGmv0TDD8e8fDAR6cvk2sPbYSzLyn492EXr78is4Wc7x725d7XWNtgvXDGt8aC34Im+Xyao6DNdvxa3fw+DTbnduNlZxJUiVn6too7Gau0KsOZk26gqo2C4hgTtZm+3LPYS2YffVXf3V8ziP7479/88H4K2/bU5FbqLOla8mYyroq0lWUpCXKbtaNDpKthfJndm4hrlxdiMuzC3Hh8nxVnNcJWulSEbhGpjq3o+Zky/pV8V+/8dXx4//oVbFpzUKcOXMuVs/MVHzWl0eVx46diG3btsTzL7wY585eiP377ooH7r83Dj17uATFmXj51Kl48MH7Yvu2rcjFgd3T1fFtb3tbdRRDYMh3+VhV2fhjsYY1m4g1jaYVnV69erXaFWLL9evX30JLHJX0O3qMyTa3dFpGBV+p5ye9ev06M68/TtRvdnZ2GVz6D+HTNdZw7e1FV7GLTczl3vblXpvHn/70p6sPstkh7aUjjprjjnTubV/udY31wsJC9MMaXfqa42QUO9WttOALZ/46yK89wXLD5SsYvOZjzEr5Gs+v6WIdwltds/A39ZIUWMOm2b6Sc7ELPbbMvCmaVGRrrPkWOavKFv54POnR6Cte8YrKzr0kzXH259fsor3jj2IiaGQAE8RR/XIKg2NQKzqMRmZW7yuYdAy2kokOTMYUQPEexlcb5zt48GD4FI3HAeqWU2DFmI4wNIGH0dGuH3mNG9Z3qbYm1mw4rH9mNyHUD9acf1j/YW2c3J265+BeQM681dGb4wUXiRN9LWLNtnHOTaxadhiayMPGa8cX1nyDjYb1H9ZWTxx86TOsr8lm4fRI0aOQlehMdriN6teCHvnMYzIPk3NYW431v/t3/y5e+4oD8Z5XPVWSoIdjqlNsfSO/uoVEae3W9fSRYC2UbE3CdbkkYWcuzsXX/euPxnf+9DPxo79xMr7zfzwd//q/H4q/9h0fi7n5xbBTJqnrEos6FwuuVpdt5VHpf//W18Y/+6p747nnDsfhkoDt3LUr/tr/5+vj89/05upR5NW5uZJMbCjJ2kLceeeuePyJJyM7nXj88adKYna6Iv/aB2aqozhwtuyKwdoNY1U55A+s9TMPV7Jw8kt8O0UuC5PjELZVzHRT6T0rn9Qa1nepNn7CP80TcXhY/8xuDCFfPQ+H9R/WNluSOjrDr1/y2RybmeVx89pKb2NWgjVdJWLoe1wnHjofVMRrNjHOPBzUb6l6NrYuooOeGDFsDIzFGjbB1/hh/Ye1wRoN/rrU2piZ1fu/3jET4yUVw2gPa5ufny83S2fKnM2+SUnvWPMONuQ1p1aic+3XEjEY9vJqXsOa/2dmwInczfZxzr1nCrd9+/ZVOGZej4h9yfD9NddeC7iekNU9OYkOAjlA6vpRjkA0WRgdjczhgjRpAozzZWYAcqHcPTTbh50zGr6ZWe1AAXdY/2abySapYAw7Gj4O32xf6pysJhgnX2pi99LifMbBWultH3YtIHGcOphljo41nWHN6dCA3zBezTZyCmbG3H///dW7Fs32YeeZWe3Gwom9+Muw/s02/AQzepuwsGu2L3WuPxujQYel+jfbycnOJg2/brYtdW4+efHfXDJJx9nRYB+LHh5kzxzdxuaAMfQm+zh88eMX5oO75Y0v/FD86Le8KnZtWa1p2aXaFSuJ1rmL8/Fd73suvu2HHosrZZfsgx89FQd3ZbzlDbviSz93b3l8GfFP/u/HQ//FxRs63zi7WYROSRC/8HU74tf+9Rvjb37pvurb+3/lV34lfu3974/Dh5+PzZs2xmOPPx7PPvd82X06Vx5Z7ihJ5VSYBzWlx5+9XF1v27pl7BiSmcEvxDC48Zea7ihHY8QQ9mrKtNTYzAyL5v79+4ueh6sby6XGNNvxxFsMEbMzByHcHNU9p6sYwq/4V7d2tL/82vzPzGVhvWnTpuq1F3MD/9G4RuBrNx9vN0vkH3Wsfua/eG0uw07dqEV/OMFZGXWcfnwCX7GPvcRC9aMU+NBXPIBb5ug2Fjvg5KbSk6SLFy+OwrLqQ0b64o8vf6kaRvwDazihMW68rrE2J9EZkWXVjZyw5it406NqGOEPvl6F2rZtW4ib7DbCsKoL++Dbqa56/mRmuaNcV92REGqpACN5YnQCAB/xHpIjX1qsAUk5vJcaqA9HFcyAuVT/Qe14euzGgBKOpXQmn4lpHMfJzEGkh9Zndu/8LNwmG12GDeDgsIYxnTOXxxcPPDkBnktNNg566NCh6m6Hs5mkmcvjXfsJGejMf5wPKuSDNZyVzOXxzcxq4aQ3vugO4qmezrAmL5wyl893+/bt1dcvHDt2bMmFUxAgn50x88mcIM9yCj8hO4zp4jiMDr/2oZe3v/2L45//jS+IH/umu+M1924siXd3VBOC6jy79cP+6rewWBbE8ueJwxfi67/jo3H01KU4fmYu3v3mu2LjulUV/U6JRpvLo8iT567G17xtb5fk4mL1yLMcbjpG4VvVlV6FdNW2airjL3zu7vgvf/fB2Dp9Ol586Whs3LCx6pFZiJeOi0WGEydejpMvn4rt27eFHTP2fflsxtbN0/GXv+qrS//l/UOnnpPsx47DKFlo+DX7rMSvxT0vC+/YsSPsxrLfML78inzGkZePDOs/rM2iLQbSZakYAg/xWgxbqV/DWkJljqKJ9jA57Xz6QAScPBnJLA40bMCAtsxuDDEnzSdYDuhaVdNVvxrrzOXzXVN2UfgKrM3TisGAP/BgY/OdjfEf0HXJanw9BWFfN2lLrY3k05df8I/M5enML8kuXrMxLIcJq53O+sMpc3l8MzPQWLduXZifdBnGlw96705fO64rwbozjBFAasU4Fca9/QHAKQFnkvS2L+c6M6uEECAM0W/hrI2uD4fJXB74Tfkys9oSt/PjUYBPknHoZh+60hnoHC5z5XzRh12NIfq9WJtgsOB0+gkIxq20ZGb13yHBEP1+E92WdR3MvFTML1bK13hOz79McM5MR/V1oSu/g7V+me1iTQ8698OaDfCHNdvUMq3kiN/u3btLIrA9+JbkrEmP/vwaFnyLTTLb0RnWdOG//QIMDCzk3/Ed3xHv/IKH4x+9Yzb+zjsPxJrVJUSURKYpZ30uIaqfI1Zi9oha1dWdy9Gm93/82efj5Nmr8YYHtsZf/sI9ca7slh0/PRv/7iefj2/93sfjW777Y/EPvvzuuGf3uuj0Eig06n+LC/VZeZRZ5JsridbVsvt2+ep8fOjTp+P8pbk4sGt1nDt/Pk6dPlsF2E2bN8a69esiM0uJuHp1NiRndP/4k5djfu5qfOQjH7lBeJln5iZ/rW3ZS4a/8y82YefM7O2yrGuLn91Y88UCcfXq1Zvo8C/+7sgX9LupwzIvMrO6eeev9BoUr+FBX3Iuk9Utw9BCE0+69XYQP+xMb968OQ4cOFDtgkYLP2KCpBIpfHvXCRjDQn3bWFvz+Bj6fIkMzXKx7GTBmg/yscyGfzU7jnEudkn4vWvnKZI1oXc4f4NFbZPMlfPFA9ZsbJ7S2VF9XWCs3hHWZK3bVnJEB4b0Qb8Xazb2nt0LL7xQ3WxvLzfdmSvTuUTbpUVmfIoCwmJhBIMrgCJw5soEQbO31IA4mlgWSKAAh0wcU1vvuJVecwALp7spW9wcEPj41kZvK5j1yoouJ6idGz8TTKGvoJc5OazxpyesHW1VewYvmGnrlXel15lZJYR2COgoIaQz3o78jj1WyqffeD7Ef+kqkODHp8nBBpPw68yuvgcPHqz0hq85VcsggOI9Cb/OzOqTRfTCk650hvXP/uzPxhtf/+q4++JPxr/8qwdjy4bpCrKS61TH+k/v9fV6DaVMTV2rKS5aJWzlsjqWtsI+Xj57OR7cvzHshP34B16Mn/jgydi+Y3ssRCfe8Zk74/v//sPxea/eFqtXdaLTySpxKiRu/ZdR5YILJRGbm1+I2fLo8yNPnIm/9m8/Fh97+kxcml2Ih/Zvqj5hCUs2FTBPnDgZd96xK4w7depMwH16elWcOjsfO7dMVY87b2U2fk1m96aSX/MtcWuhZKSwzsyYlF9nZvUY8P777w8vZotfYhf92Zu/87HxNVp6BJzp5UjP+fn5kvRerd7J4XPiV2Yx3NKkxuqRmdVcQh/WkjN4S8ToDgt2GIvoiJ2np6erXXf88MbP3BLHzGNYZ7avs5hYY40vrGsZrBGwyJwMX1/PYU3w7uKJEycCb/amO53ZP1r+yezGLvStjXwZP1jTWz2sWy+90kYAABAASURBVGZbkYM1+i7oSV8f1nJTXb8yoI/2lZbOqAQys7rLxNidPVA4+STA75WJ0wNEUiawOJ9EctCPr61aQdsXnXIAgaW3X9vXmd0AQ28Oj69AejuwhisdPfrwjoZEjJ3b1rGXHt0EEZPL7qSgYoJlth9Umrwzs0pSaqwtmrDOnDxfd9he/GTjJ554IuhvfjXlm8Q5HniZw/7fyc/73M+JP/7pb67+q6KDd66tMp3r6i9GNymqK8p1XPupq65dVv3KGty9bPSrKgqcEqz/9HdfFRvXduL/+OEn4/njV2K27OL86Qem44e/5eH4h19xT/X4cvV0hsePZUg1NJwo3avwbtlCScS89D87txhHTl6Jv/efPhm/8PsvxaUrC3HX9nXxV9++L7ZuWFVsuzru2LWj7OCsidOnTlc7JMeOn4j77r07Hn74VeVR52JJGuZK8teJx5+bDY/lP/MzP7Pi9N3f/d3VcSV/+LV4ZeEQN80tvrYSmqOMxdfCaVfDpzHNZfM4swHkKISW0Yd+/Ms8prf5RJ5lkBprCB7ihk9+27lw02NnLHOyOmd247V5JQnOzOJvayNzsnyBU8dr3xgAa7jDQdskC1+Cr7VJ7MJTvJ4kT7Qzs0q+JUXmU2b3OnOyWGfm9fzH7nNmVh8YMp/J1VbpjEpoodzdycQ5wK5du6q7AtmiBXRUGsvth687Du8tWcSccz7OsFyao4yzYOHtu2l80Sl+Jrr6UcYvt0+NNSeHNaOTY9JYc3L6SRC8Jyag4wlvui9Xn1HGuatlU8Eb3mRx7TjK+OX2QZ8fwxpfWOM7aRvDEx/H/fv3h7t477n0exSwXN0GjWNPjyff/e53x3f/738x/vmfXx1f/Bk7I8S0a4lUtasVN34WSwLkqsQhh6rc0ufa2Kqx5w/Syub10/F/fM0D8avf/sZ4/7d/Rrz/X70+vvEvHOx+YKAQl7R1yrH8C6Uig24pi2VPrE7GJGInz5ZHnf/jmfi3P/lUXCmPKtfNrI6//mcPxLq1U/Hrf3QyOms2l92wO+J42RWbm5uvvpvM7tgdJUHzftkzTz8TmzZuKLFsXXnkcHfZtdoQmzdtig996EMlkZuJv/7X/3o88shr441vfGP4kEAly5h/+LW5u3nz5nA3bXhtd+eTKvzaDSx/fvjhh4uO66v3yyRJk+KJLn+mr/mzq6wTdby2o6F9kkUy5PGRmxzvA4ujsHacJN+5ubnqg2jWRjFEYlJjMEm+sKafo91fPmZuK5PkizZ7KvjC2rndfnbXPqlSYy3xNp9gDQP1k+KJrvlkt9la4T0xeuNLb+1tlSUTMsbmXIxsseR0mLsbcOfnnJAEdt5mqYOZbFzmn5nVnaxrBgGIPtHyD13ojCwd6ZqZweElKRIWiYt++rRVYE0nTo2vO020Ye46iwzaJxFgbMG6s+TkdJSgKHDHH99JYG0iwRovOsKazuzLzhJCu6KwUd9WQY9O+OML68ysPr3Fz2Fct7fFs6ZjEtOJfhbMzC5fuPMxvuVrRer+bR3pCut/8S/+RXzFOz4j3vOaF6sEZueWmQjZUkl6ovw4SLaUcll2kcpf7eVQ1V07L5c3/vWrK61FtfK3+29qKmP1dCdmVneqY7kMyZfWLH+qpA9z5+WIl1Iuq12xekfM48if/uBL8c9+4LF4/PlzhUYn3vk5u+OzX7UtPn54Pv7XpyOeOjEd7/utwzE9Mx177rozNm/aWBK1tXH6zJkSQ6aqT1tK8LZu3RLbt22Lp546VHbKrpZdyrXVf7HkZf9t1XeULYb/Sucrv/IrIzPjda97XXzVV31VvP/97yfWwFJjzZ/5F//OLPqvXl3tnoinfGAggWU28Fs2FkM2leTS3EXKuffLyMO/yKe+zUIfhV+bv2jTu44h5JpEDJF4enyGrx19cwpvMqjD05wz59W3VdATI2AuZkyXx5eZWcUQNq/b214nyA9nOtFPUpKZxa87xX/XVfzJxQei5R802ZGudGZfPmYn1o2lm0qlZbYBY3z5Lb544uHIv2AsD9FPfVsFPWsjne66667qporO5hE5YN8m1p1hggsamFFYyRQ2b4zIzGobj/MxFCfhhDd6LO8M6MCnONqU76WkDiCZWd2d4N/bZ9xr4NMXf3w5XS8NDuD9MomLuzHJWW+f5VybXPAzweqA0kuHPOwgSSFnG1gLZh5P4msLuh9vOsODPfDl/L2yjXtN9poWO9KtlwZ+5OL0sOGPvX2Wcw1rBW36Zt7s12iqhzVfwJu86ldS+Cid6Upn+jXpZWYVUN3hZ2YcOnSoev+m2Wc55+yF7wc/+MH4U294ODYe/Yn4Z++5M+7evbabbJXkJxazSjgys8vC0aljt6b7V53+3avuX3XlrLdrqerSd6JPGeewqpMxVTpnOUb9o6E+r4+lTtJkV2xufrHsgi3GHz15Nv7+f/lU/PYnToZNuz/1qu3xha/bGYdOLMZ/+62L8dFn5yKyE+vXrY2d27fF6ZdPlR2yU7H/wL7qO8emOp04dux4HCzX/m/LIy8erT6Nueeu3bFh/frwvHa+PA3gazD72Ec/XhK0rZGxGNsLvXPnzsaP/uiPxjve8Y74wi/8wlv+H0wxROyaL89uzRlzpxC96R+7176Hh/l8U4dlXvBTcqMtGeklg++WLVtC/Dp27Fi4ASNvb79xr8lPZ/OUX4vNvTT4PDwys/rkGnx6+4x7bW56j8fc9GoJ+r006AwP/GEtOevts5xrWNcxhN6ZxVl7CKnH27zXl5w9Xca+bGK9bt26oF8vET7HDvjReblYN+migRZ/QRuPZrtzGO/du7f6YJzdpDbWRjrAjt3w5deZN2OdmSFes79++pNnpcVjYDHYzYyvxqJfL02+Ti64nDt3Lhx7+4xz3enXuTY6ZpTsZ/TmuMzuc1ygAENQaLaPek4ZRmd8fPsB0KSVmVVCCBBjTBI0mn1GPSe3YgLRY6lx+lg4Oaag4B2Npcb0azdZGZKu9BgVa3KSlwP2o7tUnWBmixlu7pw53VJjyCgIkJmdlos1O/EROsAx8+YJ1isHjGHDHwV+svf2GeWaX5O71mNUrMlYyzwKn94+MMbXEX706e3TvM7s7sYKbvja0TC22WeU82Ywg/U3fdM3xZbpM/Hzv3c0PnHoXPhU4nzJaiQ8JVcqydNilMtC+oY90FiUjpSErTSUs27boou6lAuferSbVUSva68f1Zd85vr19ZMyru95qVwsA+bnF+Lq3GL1Tf4nyuPJf/6Dj8eP/8bhuDTrBfw18cWfsSvWzayK7/mlY/HLHzoa5y/Pl5H+kTFjaqoTW7dsLonZlnj6qafj4N0HqrJz5/Y4c+ZspS9c+dNiUcAnME++7D2zTrXrtmHD+pK83BGXLl2JqVVTcerU6SpJ3rFjW/Uey2OPfSp+5Ed/JL7v+76vosVW/JqN+Uws8TM1NVUl4Lqt1K+NlwDgjS6agwr/v6vc7XukeOTIkfD4elDfYfXmP76ZWS3CS/k1WrWM5iK80FA/TlksDmVOWPDtythVzmTzwVTIZk3plISczOw+uPfgFvHWePaFNXqDe0eVMEki6E1f44f1H9TGR/GlOz3oM6hvXY+neS9e421s3Tbq0RjrDHvRl96ZOXB4ZtcX2IWMEjNyDxwwpAFW5K71yBzMF5nMrHaf+bd4ay6qH7fgacc1M6v3xGC4FA24sAuc4LVU/37tsO40G0wOimhAnGLN9qXOBQJGYwh0CLfUGO34UQKAxlNO/aglM6sAyfHRQAvNUcaTUULE6Bb9pSZYk2ZmhjtOO0ucxx2nY7PPoHNY40tOn5aB2aC+/erJCSvHcbBGy1dYuEM+cOBAbN1a7v6LHupHKZldrDkpXeE9yjh9YE1WWBtPdvWjFv7IRnVwguEoY/XHF9bGj4s1v67HCS7ojcIXP75Ib7bin5nDg0qTLjntxFo87cayWbN92DnbCCwwwxvWm9ZNl8d2M/HC8cvxn993KP7dTz4Tp89djRuJWUO2suiFJKxOmsp1+VcStsWoqsqf8q86Vx/lx3XZXCrJSVyvV6eU5ijZXLetrsBOiZt/JIlzdsRKMnbxynz8x585FN/x35+OU+dmSwI2He944654xYEN8TufPBU/8MvPxfmLV2L9hg3lceTZOHP2XCG2eK2UQ/lH9+3l8eOVixfj6acPVZ8KW79hXRwtO2V7ys7Y3j13VQna2TKWnU+fPhsSMDtm585fiCw7eb4eQyK2ZfPmmLs6FzOrp+Oll45Viv7Gb/xGteuzujyOrLEubEf6l5nXbyr5FZuN6tfzZReOP2Z2F0H+MhLTa53EWUk/fNxUikfXmoYe+DU5+Ri8+NjQAT2NmVktnOaD+IFOT5eBl94TE7+8q+UreKZKUjuwc58GspLZnBQTRsVaUqN/Zhfrcfnqjy+s0WHrPuLdUlVjrb/xbHZLpyEV+MFZqW02pPtNTexiDL8WrzP7TNabRty4yOyujXaW+Ojzzz9fzbsbPQaf0dUYstMZdoN739piHhhnPKzZ7tZet9bwBQmkeSChtLbf2mtwTWZWeQi84Ma3B/e+uUVfYzqqGd3CoVJAGdfoaDQLQNBBFyACR7O9eV5PDEoYkzm60Zt0nDMAGiYd5dBW36+QidG1SYjGNbpxdcnMcLepuGsTMBi3bm8eYUI2zi7ppXezfdxzunI+45bC2gu97iwlYXeVO2R2Mm45BdYmKdzwHYa1CaYP3cm6Er6ZXadnZxjy2UHy4wdr/PVvw6/ZDD2+w4cG8SYXndkXTpnL92t4CRCw83hZwBjEl0z4so/+xtZ9OyWxeNsb74y//LaDsX7t6jh9/kr88x96LH7yN1+svjZivmRT1W7ZYhlBXiI71hmXa22lufrnXKkubv5TD5GZGVa19vZ1rZRGfJWrRYarcwvVpyV/4feOxbe99/H46NNnw5fFfvbD2+MND22J549djh/61Rfj8RcXY+OmrWX0YvUY0o7aQtniO3r8RFy4eCkWCi0+UDqURHAxZmZWx+47dkZmhkTLey9X52bj6tXZuHT5Spwvydf09FTs2rkjLpbxErb169eV9quxZcumQiNKIrGmev/s4qVLIclbt3ZtnDpxOP7w938jmljjOU7J7Pr1zMxM8B3xuJa9lw69Lpbk8urVq7G+PGYVA3r7jHNt4XFzZg5bOB0Hja9lI+dK/ZqPmpeOfJY+g/h6AuHxEYw9mcB7UN+l6jOz2HFtVegjjgwawwawNq9gbT4P6jtKPVvRWQyhM7qDxpFLH8mUknl9Jg0aMrAexuR3PH/+fOXTgzqTTYwR241xHNR3qXr2kjgr1kXr46Ax/Jq++OMLq0F9R6lnqybWbDlonPfE3PS6AVbIPajvUvXwwteRPsP8mq7soS+dOyYfhzPBEMlcvtGbgmZmCYAz1ZY8xxJgAF73qQVxbZEjkPM2CjDpghZAmk7PKPSlNwAYTb82CgzdEWzfvr36NnbPoJt04YC3fgJKZjuEJHDbAAAQAElEQVRY40EPNPGgMz3VKyaXzB/G9cKuvo1i0sARLXz7Yc3W+tBbvzaKwEJftsaX3k26/E09nisNZk26ztGjDx8S0NXVha74wrptv8az/kSTLXW+VPM1t1yb/HyfXeq2+sgnLl6ei+NnrsS737I/Hn1wR8wtZHz4sVPxzd/zqfjdT56Oq2VXar5kU/pKpqqxtZ9Knvq5bJ+6qqr6U1G48adPnT03/K7OLcSV2cX4g8fPxv/+3ifil/7gWLx4cjY+8xXb4j1v3hNPH7kY7/udo/EbHz8fM+s2VfFlVXmU6L872rJ5U1y+dDlOl0eRMzNr4vKVK3H0+Mkq0VooSRr61XZWUWrd2jWxs+yYXbxwody1L8Zde/fGTEnWlNnZq0WG2So542OXCk2fvLxadsXOlR20o0ePx+bCi99JIPF/8tO/H+/5S19VfafZDUWXd8Zvavux5+zs7E2E+JsyUxI3fpjZB9CbRox2QVdxy03lsWPHqvjVnMvk4Nf6kY+co1Feuhdf5dtsROdevm4i6exJhJvJpSmO1qPWxZFudGyOxFM9nJVm20rOM7PaSRG/xC2lSU8MqRdpMYR8zfaVnMMaTRjTDa+a3kK5gcFXm00KPl63rfSIr6QfjnZjz549e50ku8NazOZb+mS249eZWSXe6KLfizU5xFK2kOjjfV2wFZ7QGV94whq+NUl1ta+zh77aOplZ3WW1aXSE65KZVVImYQCIQjgLh0movu7b5jEzrz8KYAR8AaAIZgyQ2Y7Re+VG26MA9YLJmTNnqkcaMKZzm8EMj7qgzwE4FX1NLnclzk0Gd8J137aP7EhvWOMLZ3Ymi9I2v5qeoAFTuuNrYjuq5+iTwjqzO9FNJHrC2FGAI4/6Wsa2jxZN9uRXPv2DtwJ/WGf292v51OOHz8cP/M9n4yd+4/nYvH46/tzn7onXP7QjLlxeiB/9tcPxrd//WHy87Ej5WgmJ2UKVzBQNapqIlMvAQp2junIseVxIUq4XY/XtKborCyU5qr5hvySBV64uxokzV8tj1Kfjv/364ZIUzcWd29bGV79tb+zcujb+5x9djseOTsXhk3OFdWFWaKKhlNOywM3Ejh3bY+OG9fHyy6eqhGpVeZx19tz5OPHyyyXxmi87XHXvxeAvu3Zui80b18fjn34s7iqPLu+99+5q3MWyO7Zp04aY6nRisSxS58qOAlp2EFdNrwpl7do14YbrfNlV27Q+4uKFc/FlX/ZlRGml8F9z2WJ1oSSO7OvIn9U7tsKoh4jYKHZJfLxfZkcDX3KsL7tx5nnPkNYu0ea/EiM3kb4CRvEhBLsWrTHqIWSu0k31xbLz2BtD+Iq2tgu6tS1hjK+jxVrs4gNt86zpwRlvWNNZwR9fPlD3G/E4cjf0fQADP4nZ6dOnq7WRP7NBZnduj0xwxI6Z3TwEHxhLxKzN1ivyjPIO9YisbuqWmSU2ralyILxgTHe4ry27671Ydwh4E4UJXeCjEIrDcbbMyYDfq4IJZ6G8Wrb4yWAi9PZp+zozy5305nDXyekUerfNZxA9i7WAagJs27ZtULdW6+EKa3rC2rm6VpkMIMaumixcjvW180kW+uFFX4sWv54kv5o2nnwLP3au9a7bBx07Zcrt3rEh5mIm/tV/ezJ+/vdPx8G7NsXf+/IHSuKzLs5cmI3v+YWSsH3gSHmkORvzJamqEqySmERJhcLPYvlTlcWokrCSWHUTN5Wl7dq/MgVK++KtSVoZhO5cScRmry7E+Uvz8X3/8/n4hv/yyThzcbZKhN76hl3xpx/eFr/96avx8x+5Ei9fiLCztW/P7mo3y0v5s1e6u0e4KsRb59OVO7YFfE6dPlMlYls2b45jZbfszNnzsVD0KOyLhItFtij9OnHX7jtKQnUhnnrqmdhT6K8vjykzOzGzZk2cv3Ax5ufmY25+PrZu3VIFVwnflcJ7ampVSRxnY2Z1xpnzC4Vmu/8yM9gXVQG89jXXky4WbHHDAuK9Lf49aZ7oZ2b1OA1P8UMy5qht0oXPiF10zsyAd9yGH3zxsjZiV9vc+SRLZte/+JZyu/jSaefOncG/3NRIvjNT9cQLnPE7XRLBrVu3ljm9NTInzzszK39iY3OJzTNv5dvhfIK5xSQm9MPYF8pdHoPbpbEdKjCqc5wQ2zC5ZKN44Lm5BGZAqAPKpPjCEqaKLNhuBgf0nNrjAPJMgje+Z8tW8KFDh6r/PuWBBx4IeEtG6QyPSfBFE+3annBWOP/5srswaaz5sCL5NMnWlzt5+nJ+sk2q8Gv68Wt3WPjStcZhUnxhjS8/8h6UT8laQL3/o34Q304JALOxIS7Orw07ZZKbc1em43t/5VR88JMX4yvevC++9s/cG2tmpuNjh86GTzX+0h8cD0lTyUmuJWdR0q9ukYLwuSqsVH9u5txNfLp9tUia1M3NL1bvrHlh34v53/K9n4rnjl2ITmR85kM7q/9G6ed+7+X4jz/3YjxzdC6mOp0qmPEndLZu2Rx777rTaZyWdBGuuuryytJ/c3msuHPn9rK4z8Wzzx0OdYuLC3HkpWPlMeblkGTqvUigMlayt6ckZpcvXSpXixU/9l2zZiYiMzI71cv8fGrVqumYKzw3bdzY/XThFM3KsBb/sa34gZ+djM0ldtlBqutquVtkeZ0UH8aHT9ktO3DgQPAru1Xkud6x5RM8n3322YLtXPXpNr6NBd5kcj6JUmPN3taJLVu2VI+5yKNuEjxrmvAUL6anp6sbeDEET3Xkqvu1fZy79mW2/Ii+SmZWdtbWNr+aHn5wZU8+bXcKb09yXi472drrvm0fJfn8SyLo1R3rBTmsFbcD68ysbExvurFxL9Ydk91EJxThdGyrzJe7SkyBzNFWrVpVkc7MmJmZqbbxLKQMpE/V2MIf4KKJtoQIr5osxyeLPiY6Geu2No71ZIIpPvUi4lpgU8cpJE5t8KtpsB+6bGiBxqduE1gVeChtYo0WmgILnr1Yc3oYk8+xlqmNYxNrflzTzOx+Egr2bKxf3dbGkR7ustASwJt+zd/IUvsffPRro6BlPtEHrmxa03Xt/UXtEnI2qdsc/+BDvxenz12K9/2vZ2KmPHbzHVzwUeQkv/fYxfiuXzgev/fxl8tjwgPxioNb4vLViN//1Mvxjf/5E/GJZ89VSZSdLf2rFMRJlrTGhVIYqSqHKCa4UUqF+oWy2zY3vxBXyq6Y98H+zx9+Mn7yfx2Ji1cW4oF9m+Iv/5nXxqm1j8QrH/28mO1sLrtDq+P4yZfjfNmlMr6mWThGp5OxY/uW2FUeU/Kt8+XR4ULZ/Sqsrv9z87V16+Zyc7Ix2OPU6XOxtux6nSk7ZS++dDzscsEUvW6J2LxpY1Vmr1yuPqizf/++EqtWV98Hd6bc7KC5atVUSfRm49TpUwHnS1eySsz+9t/+29d5r+SEfelkLvGlzAJyIYi3OeaovTeYly4r+ofe+XIDBZOaD4KZGV7KtpB5RG5h68Vav+WWq+XJxQsvvBB29b0nhk9NS9zk2/NlLaGzY9220iM9xS108TF3a5rmBQxcw4SMztsqNdaZXd+pYwj65GB3Pks+dW0VdqMv/nDlYzVta6M6ul4oGyj61m1tHOmC95oyB5WaJn3ZHX9fxYR33dbGUaxGl40lgI7oZmbgDYMaaz6hrY3CV+kLT7jWfNF2zsba9Kmx7mg0wTWq5HyMpX65BZ1aQXQp3I9WZlZJGeEIRbh+/capawYzEyqzG8x6aZBJe+0kZO7tM8412WFnDPBh6ry34Mn5GMsn5vDv7TPONVu5cz1dtmDR9Rir3/g6wMCaw5P3Wr9lH2CNFprsPIiQycfxLV7KSp2eziYZnWDt2I+3Ca4dP/4F8379Rq1Dh770lojRu9/YzKzeyxRk6/79+o1Tx0/QgjMs+43lc9618XKqRdOO7EsvHolv+of/IN78BW+J48eOxZ677ojp6VUlWcqqoCOXulCSnk8//VK8/4/Pxg/+0rNxx9a18fV/5p64Y9v6WDXVif/wM89UO2aHT1yudszmyy6XJCkiI6oS1SPAKD/oaVPkSJI4X61xpSRiL56ajR/8lcPxb37iqbg0Oxeb1q6Or3zrfdHZ9up4YXZPtRu2vjwyfMubPyfe+pY/Xf3XRleuXI0XXnyp+uRkIX/TvzVrVlc6bd64odot8xI+O1XCFAFIt3btmur9spmZ1fHyqTNVcrZu7do4deZcnC6FX1Rjru39TXU6cceuHUWhuXj++cPV+2WbN22q+Hbj2mwslOQS3nzh8Wdn40d+5EfirW99a9VnuX/4tRiS2V2kO0WOfrT41fqyC0xuPuHYr9+odQvFSOYH/ubLIL+eKTfRbir5vps/so7Ko18/fD0xkIx5giDp69dPnRiiwL+tGAI7GNOZLfHpLbDQDmMYOfb2GeeaznBbCuvMrGII+fS/WpLWcfj09uXfYgj81hbfh2Vvn/pauzgDZ2OMrduWcyQ7HejCbzPNylsp8SsfWhLb+Rfet/YavYaunhqgZ5Oi3pnqpcD25HIkJ9v09hnnGl7iAvzgCM9+4zO7CSFbkJW+nbpjZpY7wZnqTg+AnI/z1O2jHhE11uQlTGYuORQQAMFvuYCQ2VjMTCDGdz6sZGaVEAKEzGgM69+vjczAZER8TeB+/Zp1mVk9u+YkFk1OMy5vfOuvsbC172ssmjwGncOFnNo56nICDF2NrWk5ojesZGYVYPiFQEhfjjtsTG8bneuxJq+FqbdPv2s8TQq+yVbj8tXfWLz5NFr9+PTWka/Gmn/BrbfPUtfG8GsYo5U52nzatWtnvO99PxMPPPhgvPe9Pxh7yuO4mZKQNPnRy9c9vHT0eHmMd6XcLa4puxRn44+eOBv/+sefjD987FS8/qFt8e4vOhCrV62Kcxevxrf90OPx07/1Upy7NB9zCxHzZccLHUnYtbysJDLlX6mQiM2VxM0jz7MX5uJ//v7x+Mbv+kQ8f+xiefyZ8ZbX7457HnxlPHZ2b1yYnapozZfkYKE8WkRzc3ns+GVf+sXx2Z/1aKxZM1N2qS7GkRePxeUrs3W+dV2d9evXxv69d1UJ3dmSZF29One9re68sSRtO3dsL7trU3H8xMnqiO6Rslt2/vzFkmQtdLuWxKzkW6Xd+2W74lzZGbt0+VIcPFhwWL266rdqaqocF2P7lk7ZUVsXX/IlX1K9nMyvbzAe7az26/myC8TG09PTIw2cKQkSfxT4+TU6Iw281gnG9Vg+LQ5eaxp60M/N35UrV8In1NAYOqCnEV/x45lnnomN5bEvWqPEzXoO6Gsumhs9pJe8hJH5ZOw4WNMZRnBW6LAks0YH/eFkrLUOvUbzwFO+QE6+IYY4Duw8oIFPwqteZzOXjiGZWa2NMDdWgjGA/MBqshp7M9YDu19vkJh7VO6mUkHneuMIJ/r7MMrRo0fDzemoa6N4zR/JS250RmB3UxdY8+0a65saB1zAmE8Y0+nXh+OZ7ByAA/Xr01tXC4I47ihRHAAAEABJREFUB3Ls7bPUNZ7GAgRvk2epMfrU4Blrsi41predrMaqryer82HFBBOQyGlywWxY/35tmRmeZXtxVVJ2uuxyoduvb12nnYyCmWB8zz33lB2P0QJ4TcPRROd8tQ5wVD+s6IM3+xjLgYf179eW2b3711bTcj6s0FkwgzWdl4u1sWzFXwQYdIfx1cavyVn7SObSwcy4ZuGTZMaTDqPwFQz0hTXfZK8mzUHn+n/o938vHn30kfjmb/7muOvOXSVh2HRTd/wlLB4Hnj59NmZKknH27Lk4d+586bsxtm3bUh1/4UOn4v9672Nx7OVL8de+9J746nfcE2tmVsWHHz8Vf/8/fyJ+7SPlsV/Z9bL7tVAyGHRLHhYlrSkJ12LMzS3GhSvz8SdPn4tv/C+fjA8/caqkOhnr1kzHA/u3xI//1rl43699NH79A78bv/YbvxO//bsfLjtSL8SJE6dK0nWl7MRdLUnafOzftzfe8+VfWo53haTvxMlTcfLlU1VbxRPTiJJAZfUYc++eOwLWdFsoCV5pirhmt85UJ7YX/XaVHTB2ff7wi2X+rKqSq5eOnaz4ollSypKcdV/8X1t22PaVZO/c2TMhRnmMeXVurjy2vBrbNnXi7vtfH4IpOxmLLvvFEj/68msxlm+ivcSQW5oz85YbnVs69amo/ZpvWgwys0+vwVWZGXbjPQKy8HkHCOaDR3RbxBtJHJ3dkK4tuzXdltH/dsrOIazZ1uI3KtZ4KvQVB0bn2O2Z2Y1dxoohMOy2DP+rn/7iJd6Z42GNOp6wqv2F76gfVuCCryO88B/Wv1+buGOstnH8Gs5kpS+5jR+nmE+SMno/99xzMcr7ZTA5c+ZMeDxpfTp48OA4LK/3xdN85M90QPd644ATvggffTdt2lTFgwFdB1azT9+EzAiAMIQJi5FAr7631II4AoEBe/uMew0QhTMxLCV7aagDlkULePr39hn3mux0pgvejv1owAImdf/M8SdYky5DSKwcBSu8m+31OQfRDpPlBrOaVn2EnQkDR8Gyrm8eYY2nAp+2sOYvdbAahDWdYQ0bvDNXhnVmN6hmZqDLlk1d63NBjB3IRU62rtuWc8zM6o6zxppecO2lpY5fK2wzDtYWxbd8wZvizW9+c8yWHR3vV6GPpqNiR+vUmbNx5KWjMb1qOq7Mzsap02eq3bEd27eWhGN1SZq6Gc706umYnlkX/+Gnn4tv+I8fi5Nn5+NvvPO+eM39O+LqfMQHP3Yyvul7Ph1PHL4QV0vyVTZ4ridil0ui9uyxS9XXaHzPzz9bHntmSdAi9mxfEx964ko8c3Km+m+JXvHg/fHKVz4Yjzz6mnjVw6+M6TXr4xOffjJ+9dc+WBKzl6vEan5hPnx9xalywzJftuWqx5KR8WLZ2VJf76iVJ5RUjMyM3XfujF27tseZkmiev3ChSq6qxmt/pjqd2LVze2zZsqnsbF2Kk6dOh8eYkriXjp6okq0ubrBQIuzYbdu6KU6eOBEPPbCv7HJvLklgJ171qlddoxohXvJTfm1O8Z/rjY0T7fxPEmbRylyZX0tS+CkW6PJf571FvSSGXPob19tnnOvMDI8xPSp/7trCiXYvjbmSwPo0sORNErdr167eLmNfw5oO5spSWJvL+reBdWZWT5L4Byxh2k94OrOFfnxCDOvXb9S6zKySbzGBvnwI7d7x6sRq8Zy++vf2Gfe6xg7WsOxnY3zFNTrXfj0un97+7MtfYGcTgl69fVyTy9qYmeHDbPirX27JzBIT11ZfnUVfWNKvl546tsCfjeHU22ec64EJWU2kTsw4HaBrQxAEOIQhyEoBqPnVR4GCMdDFl3PXbc7VacM7c2XBrKZbH4Fq4WQI+tFVG93rCUg2Mqpvq9BFosWpPUN3RBv2FlvBTPvOnTtVt1YyuwGGrelnotfEOSKsYWJy1/VtHeEs8eBLnLrGms7wxwfWJqTztooEC12+hA/boo0/WehNXz6mvq2S2Q2qfAeu+KONL3vDf1ysz507G//0n/7juO++e8sO03NhNwdeaCo1/QsXL1bvYpXspEokqsd2RZ5dJTHx/V36NQsbeOdqU3nUd2D/nvixD56N//QLJ8ru1qb4++95sDyuW1clWt/+40/Ft733iTh+ZrYkeAtx6tzV+N5feD7+2Q8+HrMlc5uenor9u9bGHz99KV44s6osZutL4jcTV2evlv6z1a4UG9ihg4EAfKrs3H3wd/4gPvjbH4o/+PAfx0//7C+VhGlN0W13eDSp/+zV2ZidnYvDL7xUvaAfUsmSlZV/VAw7f/pu3bI5TpZdNfyakWKxKMv/7ii7ZTMzq6vHmBcvXQpfk3Gi7NKdPXu+7MItFFqLpWe3ZHbijjt2xIXy+Pby5Sux0NlWPa4sHW76ZxFUxA/+VNsBpmfLI1DX/C+zKdFNJJZ1wa/FEX6Fd9OvXV++fLl6TDhTHncui8GAQfh6/8fRwkhnXel58uTJkKx5tWL//v3B97W1VcxTdqz1wxNtGJhjzmEivjlvq5inbChe4l1j7ehaPb76tcUTncxuDHFOP3o6p7e4pY59xVX1bZXMLl902ddcxRN9fo0v28LEUX1bxa7TgQMHyjw+GYcOHQrYok13a6UdNGujfurbKvRgQ74j5tATbXrTXx08FPUrLZ1RCTAwwRji3LlzIaiYBOpGpbGcfgBhYEDYjvS9JcBQl9luMGvKV/MVVOmKN2fHFxbNvm2f++qGPXv2hDvKj370o9UW7K5yR+l5eNu8mvQs4vRTV+tc48AhI7S0XzK7E10w51s11gJt28GsV3r2NZn49emyA4M/+6rr7dvmdY214E1feGdmCCgwH4WXYPSLP/+zZSdoV3zXf/rPcXD/3lh97f0jcwQNyQm/PXyk+1I83U6U5GS2JEPby47YlrJDVPfVXyHT+QsXqyTnvnsOxNbSp5Pdr564NBvxXT9/Mv7nH5yNh/ZvjHd+3r7qMebGdZ34Zz/wWPynn302/uZ3fjxefPli2S2Lqs9zx2bjUy9Nha+eiMiSEGwou2VzUT/2831iV67MhmThQuF74cL5mJ5eFXfffTCeL8nW+fMXqkQMLlmm/Jo1q+PuA3vjzjt2hR2yLLKdOXeh7Podj7myTVceNErNSpGiRfX+2cEDe6rE6uWXT5ckq2zvRfkBjkMpmzZtjDtKYtbpTJUE70hMr56JKLxeKLidv3CpPNJcqMajaNh0wXnf3t1xeTbjXe/6svjX/+bbK/mj8dPpdEryuSFgzr6ni3/Nlh1JNp60X+PJhyUGFqvz589Xd/zmVEPE1k/FD4mZ+fSJT3wiPv3pT1d8PQGYpM6ZWWFtXpnD5pRF2/rEVq0r2iAohlgLL5SdWHxrrNU1urV+Si94Wxv5l0J/dXyvdYbXCGZmtVOHB550hjW++F/r1vphamoqPMaU1D///PPx+OOPh2RMojbqe2LLFYpe5o5Yah7TObPrc8ul2W/cyAmZwQK1RYADZma5Oy3RWcOEiwWDwQUZhQzqJsy2Ii+Acjw6k4HzVw0T/oMX43M2/AXW26EzHnTmgIpzdRNWt1rs2DWzu1XM15RJ80UfH3a1gGVmkEP9pAtc2VlgVUbFmryPPfbpuPvggfiL7/7KasfI40byoqk4n59fKLs+J+JESULWr18Xp8uu09nyCG/rls2h/6oS4CQv+ioSjUtlB8XOkO8o23vtu74yMzIzOtfK5SuX41d//9n4rp87Ev/5F47Hu97+WfH2zz4Q85Hxix86Fp1Oxub1q8vuWSc+8PFLsWp6poztVEnUTEmmYF2Xubn5mCtJ1Fx5pOW9NsfT5RHq5bL7dOzoS2XMnoHvY2xYvzbuu2d/rC006UVvO1t29ZzHtZSMXlFk2759S+zbtzv0PV0e23b7xPWf7HRi545t3UTvzJk4duxkoT1TRkZ1Pldk7Y4pqBWi5V+sXbsm9u+7K779X/7L2L9/X3zgA78W80WX60TLiXlsMVm7dm3MlTb2K9UT/1fzkgCSG+YTZ1oY4OPG2Y4YnSWEt0NnOtI5M6OO17eDb1H5esL+/0YMETcku/9vxGs82ZjN4Q+L1kofQnhIeMVN7zA6nilztU/X1qvw5k98i97O1bXJaKSEDNMahM2bN5e71+nqTp5QZ8v2O8HaFKpJy50W3u50AMHhJWXuggS6Zt82zzkYQ0+XO2GZP54CG+efZHIES3eVeD/44IMBb3ecdHNHAAvnkyjwdJcHY2X9+vXVe0/q6D0JnmgKouzJn2AtuLB3LQ//06/tAmt4mtRsiy/+EuBJ+/XlkvjwoxpjeAts5KH3IF3Nhy98y5vjta99bUhE9pSkKTOr7jVOjmdK4vXs8y9U70AsLCxW72OtK8mD96pWr57u9peweBJXrmbLjpkX5TeWx5N3H9hXapr/dFqsdswOPXc4LpfdrA3FN97x1jfFO9725njxwpb44+P74uu+9NVx1/Y1UdjFb3/6clyJdeV8Mci4ceP6smNWdpnmF2OhJIo+TTlfjgsLC+V6vkrI5+fn4oknnqy+nuPeu/fF+nVrm0L0PSeZL4C9tyRm7Hau7KbNlcekXtY/Wx45SpqaiVlmlqTsrriz7Ib59v6zBSd4QVDBpFMSyjvv3FV2BjfHmUJDP/7oKOEjszHodulH9UGILZs3xJe9813xhs94fdndfqFKvsxjscN4x40bN1Zfu8GOXRo4tlvQPVvi8nxJdPm1eeXouq5vl2OXGlx8T5lHlnbEvFd28ODB8Kk5L1rjTbZu73b/iiHo1xg70hnO5tmk+KKLL2zxq9cL2qmHifNJFLopfGrNmjUhltBbDBHTJsETzdmyyyte0xVPcXPdunWVX08Sa3yfeOIJIoS1UUL20EMPRWZWn/Zlg6pxAn+sgbA2j2HtaF6xMbnaYtlZihCACUMAxm72FwA5IeMTjHM221dyboIJZhYpDtekVfPlEByjTUPQ4fTp09UzasmQO9smb/IonN6i2mxbyTm+x44dq56PczZBrElvy5YtlROyh/cx4NNsX8k5WuwHT3bOrJemqJy9rmMPto6WfgQrfNmPH/XD2kSn85UrV1ri2iVjcil0M8G6td2/Jhp5TDR27ta28xd+dBbEBLMmVX7N1/GHNXzq9rm5q/H93/9fq6B76Jmn42B5PKm/dr6jOJ8tidUzh56v7LZmzUxIItj3zjt2lpuoDXII3a4XPCRiLH5feTy5oQTWbiepzmKVKOnz3OEj1YvvmRmf81mvjy9/1zuq7wgzbqFkJZevLsb7Pnwljp2Zi8WpddXuuU8z7rnrjioRk3yx88LiQrmej+pcMlZKGR4vvvhSeQTxZOzZvSuMuy7gtZOuNE3JuufXmsuuXCfuKmP37rkzzpXHc3NlN2v26tV49rkX4ursXNFDz8VyVCKmVq2Ke+7eH96de/nkyzHb/JqM0rX0irXr1hSad1SPgV986Wgl87ZtW+OFI8fCo9WFknnCvVuiwlzCe+rkybj77hs4URsAABAASURBVLvj3e/+i9UNTW2nuPbD7jMzMyF2tR1D+DSf5b+98dq1+tmyoJpT5L4m0ooPdPnUpz4VkrD777+/wqImyp/VsbkFFe+6baVHOpgrjuJ1Zt5EEtbitTWM3jc1rvCCHuwHU/O5SU4sVa8d72bbSs/pIYaIW+Jjkx5fE0MyM+AC82b7Ss4XylzFFw+6TZUd9ppeZla+Dmu+QMa6baVHtpXQe4faC/t4N2m6lvi7GfDiv/7N9pWc1/EaznypSYv+fA4edG6D78CEjCAMShCLVlOQ3vN6onM8AaG3fZxrRpcQcSTKDhsLCM6nL1lXCgjZ6bClJD+cfRDvzAx86c0Q+A/qO0o9nna/bPG7s8y8Oag0aezatSu8X+bZuRf9m23jnsMabo6cGp6DaAgw7AFjAd9xUN9R6tEQrPCF46AxmVklIZyfrCud6Majw769E6xXhrpPHXh728e5hlczmA3Dmq6wNgf516c/9YlYv259fPM3fUs8cN/d1a5XzRtd544SsTNlx2fb9q3x0tHjcfHipdhezm9KcK65lv5nz5yPC6XPvSUx2blzWyFTpz3ltPzT52R53Pnsc0fC40Qv9n/Vu78sfHpTwjNXHr95D+z4iZfjR//7+0qScqk8QjwQW8ou+n33HKwWZd/v9eRTz8aTTx2q5OFrdsgWJDMlwF8ujyaffOrp2LFtcxzcv6dw7SZatST1sWoY4c+6sqt2/31lV6bsgJ0uj2h9P9m5CxfjhRdeLMlYTeAG1Q0b1pdHjXtischy7NiJIFdcw0hvidm2bVtid9kxWywyP/3Ms9fwz4A3f4ITqR0llzPlEerBA3vjwx/6vbBA/cAP/N9I3VTYn+9byPnFQuF/U4cxL8iBDn5i07Dh+vBtviXmDeu7VNvlstP7sY99rEqIfdo0swFez2DvxlpQL168WL0Xu9K4KYa4UTNXxKcedtcvM7N6vywzy+Pqs9XO5fXGZZzgWWMNy2EkrJ9KLeuwvku18RGxS4LLdzIHY60PXPgF3kvRXqqdvmyNL9qD+mdmufHbVPlDvY4P6jtKve8Tk8QfPHiw7Gz37tzfoGA+WRf1s0Nr3I3W8c9gTefMrj6Zw7E25+BjTo3P7caIWxIyk4TRBRcGvdF16TOJm8WVIhxh6RE395CYUEpChM7NrYOvBDWymujK4J79W+qFz+SiQ/9et9ZmZpWY1Zgx4q29BteY2F585eB2xTjV4N43WizYPlFiF823/S/HCYzBH27wu0F9+Jm+Ehk4s9fA3gMa8OQfaAhUA7rdUg0jsmZ2gyr/vKXTkAq24dewq+kM6X69KTOrOz/8yU3+640jnsCaXwtm+I84LI6+dCRe85qH49HXvS4s8M3Eiv7dElXydfT4idi5c3t5xHYuJBZbNm+KO3Ztj+myE9TL73JJgrzcbkdpX9lR6m2XVFwpjyWffPq58sh8Q/jOLn2yMx3v/bGfjh/80Z+KH752/LGf/PnwKUe7TR6FTk+vDgnJ1bKj91QZ31m9P+7a85qyIO6MmbUHw6cdFwqDubKD9ezzhyNzMe6794CHp9cLXistGzau79ItSdTVq7Px4P13x5EXj5Zdg3NR2F8jv3jtGLF166Y4cGBPnD5zpiza567XO5GUdTqdCl8Ynz93Ll586Vhs3rSxLDyr4kjZMVsofNjj5sRspuzC7Ytv/IZviM3FHh/+g99F7qaC7qZNm0rCe7XwPVtkuyHTTR0HXNSxB53NmzcP6HVrtf74zsz4wt1z1e7frb0G19DVwmdOPPzww2E+D+59c4sbzwMHDlRPA7ycfXPr0leXSxKIr1gtsVx6RLeHpI3OCyX5NSfp0G0Z7a9xYsjq1aurpCMzRxqYmcX/N0QdQ66WnduRBjY60VfsYWO2azQNPbWmsY14vZzkG9awknCMG6+t43Q1fqiQfRrx9eoO2SXxo8bNzAxro3Ef//jHy03gxT7UB1fxCQms/IWvsNng3je3wBpOxpP/5talr9jnekJGEAssQRid0y1N4tYenIUimVltyQsYt/a6uYajUYLBlZtbR79iBBMULTSXGkk2E4zMgFyq/6B2WMEMdjAc1K+uh7Ws/3R5NPrKV76y+hRW3TbOkbNwPoHC44JRdOYoJrdgxoHG4Vf3zcwqALMVrE26um3QkYywroNi5mjBrJee8WzFefHube93TV8ystGoE7uXDqz5tfHo0ae3T+91LeO4WM+Wx7Pvec+74777H4zpqU4c2Le3JC5dvPiOgpevhjj03POxZu2auHx5NiQcMzOr487yeHLt2hldbip2ubwDtW7t2pIo7K8WiJs6lAtz4ulnnosr5RHeXp8iLHQ7JRlhrkceeXV8+Ze/K971ri+NL/rCN8ebP/+z441veG2wiXHoz83PlV2mhZKwnIn7H/yi2LRxV2zdfiD2HXxDnD59JNau3x4XLpUkpjyi3FwSkbVF9hsJUhGgxX/kvtP3ke3cEY8/+WzBZVds27ql2tm6XJLSLqsbCVBmxt49u2N7eSx5/PjJuHjhcrdL46+kc/fuO6p3xk6dPlN23o6E5O9E2SU8em2HravPYkmuorLbzrL76KtFPv/zvyBe97pH4ujRF6P3Z2ZmplrkL5dkg9/EEj98gB/OlV1Kfs0/lxjStxlG5hP7oTeKX/v0t0dDdiPs2Gd2fbMvgwGV5BW76ptKvAd0vV5NRjGkxup6w5gn4rU5KUkZJV4jj28dQzLH1xcNsUMMcS5JYUPnwwpfEOfYaG2Zt8P6DmrLzOqmEm74WqcG9a3r6com5jbemcvT2XoM61qPmv6gI3+2NpoHNilG1bmXnnF2bOlh06K3vd81f1DqPKJfn1Hq6Au32meWGkNGWPPLKiEDFse0wFJkKQKjtBOIYABGu5/zaSOIyalv5vKM3pRHgEGL83M+PJrtzslSt5kg+qpfaeF88KMvTHvp4es5tztLjya9b5G5Mp0zs9x9bw4vN9LJo8xevq57g1nmyviimZkBa+ecDw/nvYWN2cHCwT697eNeZ3YDjIkjWA0KMCYXOwgogtG4fPr156voSX7x7teHPHQ2weCTORrWxn3Pd39XbN+xPX7rg78Z9xzcV3ZgqilaseE/TmD59KHnYtX0VJDHjpiF9I7ymM7OWGaWbko5lH/GeU9MooCmF+xL9U3/FsoOj52ul0+djf3l0eFUJ8uuyUKs37AhJBrz8wvVLg4ZfZ+X5Mt3gM3OXi2PgK6Gx5Dsv1B2HxYKLWmOTy3iferl5+LY0cdj/8HPiL37Xl/uWk+XXbNXx/kLV0Lyd+ZMc9fqJrFauZia6sS+fbtjruxMPFUeOT70wD2xds3aamePfHBpMhK7DuzfW7DtVB+GgHezPTNDUntXSczYAP4+pCDBPFwejfo+tS5dSZkSVWImwT154kQcOHB3fN3XfW3Mzt76XqT4wVfNZT4WfX74tcIP9e3TZewqvore7LX3y/oR4O8Wy127doX41SmJer9+49TBWmK2UPzmscceq14M7x0PS/OJf4khmTd8u7fvqNeZWd1Uwpte9O43ViyHtXWiLazpLC6ITej348v2fABPfTNXrjN7sbEjPGHey1udNvV0nmq8J6ZuOSUzA87yCzrRrR+d5557LqyP/GHLli3VnOnXb9S6zO7a6H3OF198sXpM3m8s29PZ+m1NyVw51nDjq/jRmQ87bxZ1+Kqrse7obDK2ZXTE65KZ1e4PY3BqDqiN0U0Cx1oQ9W0WCxWd8KAj5RUykEUbZ89cOfhNuTk7o5p0+Mp+tZt43hPbvn17taXKYOrbKpkZHgX4b5g4dv1+GZ0ZHQ4cJLNdfclPV7QFTHqqU5zDWxDgY+raLJlZJYQwbyaEJjzs2ZfvZbarc2Y3wLAzP8aPXjDGNzOr3Y5xbPz+9/9K8Yu741u/9Z/G7rLDtb56uR7VKDstFvVu8d7SqTNnQ8A6evREWdRnw1c17Cq7MHDojrjx93Tp67u6fEGqr7rIrLGQMikRx0+cKrtrx6pHk9658rhy1eo1ZYf7fDxTEpi1a9ZUwVFSRkffnD9f7YTNV7thkpGF8sBRm/es+BwumasqQc6WnbGzp1+MUyefK7tpa+L+h74gVs+sL3otxN69j8ax8rj10LPPl8Ruvuo/qT9r162Jgwf2VY8tXyiPL+85uD9OnT4bvmtsoSSRXb5dTJxv2bI5fNfYXNktJCP91dcF3tu3b4vdd95R7HC1YHg0Vk0VnQvGh559oegzV3REr1skfmvWrI79JTl8/6/+Snjnxf832pvwoWvO8B/+ND/fxUUs4W9tLhy1Lo6ZGWgr+NilUM+/JUvset9995VEteiooaWSmbFly5a4//77Q8xoPsZ0TQ54TCKGwNpakJnVI+PaFnjCXvyQSGRmS9p2yWRmtWuFPj74aVkoial4zfZ0Jp/6Nou1EW12ZeeatnN12sT0ur6tI13Qphsd6Yq2r0WxNlq7fM+YfurbKvihvX///iopO378eEWaP5MDP3mIY9XQ4h848i+4sjOeyA/CulMDpNOkCkUtXoQ7duxY5fiuJzHBmjpkZuABEMAzhEUa78x2J1iTr3NOjy9D/NEf/VG1u+BZOAy0T6rQl+Nt27YtfKksvNl40nzpg7cA4zuIjh49Wt0Vuc6cPNYSQsHUnRB/o7OJSK5JlcxuQoiPxzgmHJuPg/VLLx2JN7zhdfHn//yfj5np6fJIbXPfXbHj1x6J7Sy7YHZgTpw4WZLR9XHHrp0lyVkVfoo4JXFyFuFlfWN27dwe+8pjODJ2W/yVIETZqboUzx1+MeyYefl/tux2rVq1OuZLcvJ8eRSa2SmPHDdEp+yWGSWAdsti1ImX6yrIlDGOpaVK0q5cuVR8/mIZOx3rNuyIPXsfKfP+xZK2zUcW9pu37IlXvOrtceXKxcJ/Z+zY+UD1KPGFF14q40uHmMwPjNatXxvbt26OTz32ZNx5x67widUjLx6LU6fOhKSppMBR//Al2Pg/QU+VR5R28+q2KG6d5c+qVVPFDjtia0ngLly8WO2q7Sp2mb1ytdzxH6/0qek6ZmaZGzPhazK+7mu/Nh544P74vd/9retk65NmDOFf6vkXmZxPqqCPD5/xjuvp06dDImZOZeak2BZf6YSbSk8OLNB248QPJXNyfCk0XeYe/SS9YhfsXcNC+6QK+vjAWuySgLrGf1I80c3kg2urpFBCZJ2QeN4OrOkmAeJXH/nIR6qbgNuxNrKxnV06/vEf/3G5MTtTYs/G1m8w4NssmVnpuH79+ur/5IQ3rN34ZN7s1x07GAJpk8AkziUm7gK2lx0igMgQLaCT4NWkOT8/H3gBAG/6zpZt+WafSZxbqOxU2Y179atfHRJBvCfBq5cmnPF/5bX30wS324W1gGKyCazOR8G6V/5xr/mvZIjOu8rjFLriPS6d5fSnH7zvvPPOKrjhS56laHlP7O/8nb8VDz30ini5PMbaXRIDC3s9Do3FxYU4e+5cSZqOVF+9cOkw3k0EAAAQAElEQVTylThy5KXq/I6SmG1Yv67ufv1od+vY8ZOxft3aOLh/X6yZmbneFiUdUmZL4vXs80fiyuxc3FF248yRzCw+uiaOlK1982Xz5k0xVRIxqZEkoktksSQsykIslIqFa0kYslW/cvJS2bW7MHUp3vieh+PM1T+JIy/8SXkEezCmyoJ3197XFPYZiyUjW1iYi8yMXbtfEXv2vS5mr14pu4q7Y+36O+Opp5+N02XnqrBo9d9iUWSh7EA8V3Q/c+58SWSn4+rcQvjvkh68/54SnNfH86XtwoVLhe81jRzK1eqZ1WW37M6SdG0KjyjPn79Qam/+t65gvrckvxs3bogjR16MEy+fqnziTEnkTp06XWEXAT8lqgREstfJhXjr294e73znn4vTp05dJ0pe/mQBu7P419XyyPV2xZAXXnghJAgSMbtX4hjsrgs3oRNz11ph4dy3b194vcPN9ITYXScL6/Pnz1c+KXbNljWCztc7TPBE/KCzRNQ6cbv4wprOmzdvjq1bt1brJDkmqGpFmh9LtmHu+xRV3i6/hnWn0wlrsrj37LPPlhvHq0SYaKGzuQxr6yMbw7+Xaceuho4E7W1s4xpTiyUQ6rsuTudcG8EYpg1eTRpo0gsPvGTHU+V5+PqSperHEYHkvO0ikAlou3fvLo+BdlUZuCSU3vSdlNPTlV50pbNALph6FHCiLPrPP/9826pW9ARqNhbE8IWz4lwHAZXzO2+7wBKm7ApjfB0VWGhvmyd6Ndb40ZN/w50c5hLf44P69pbv+DffHnffc3f85E/8RNxRdrBWr54uXaz83bJYEjFY2r2am5svu7zTcazsiMF5Z+m/pezE4FsGXfuX1S6Mr6jQ5+4De8rO1vqy4Oe1dofFqs+LLx2PM2fPl8dsu0qytjrYZWbN2nj51Omym3O0ejdKTCjZg38lfyCT8VGNLzlNVb9YEpsoyYWWxXL0dRsnL5+OR/7Cq+LRdz4cG3ZsiFe/48G47y2b4qVTvxeXL52J6VVrIogkkSvj6bm4WPQrjy/37H1t7LrzobhU+u3ceV+R8XI8/czz5bHprYlPjPlD5oXC89ixk0H/zZs2Vnoi8/zzhwsGi+Edu05nKh584N6CW6ckI8fKI8f50qVoVwiUf5GZsWbNTHgfzdw6duxESWpnS58b/zKzSux27y7zfqoTx8rj2EtXZosNV8fhF46Wu/LzFX6wQ1OZKnHpzjt2xB9++A+qd7O+8Ru/IdxFW6TWlUfX7NEpi0h9zrcm5dd2LbwELW7YaRezlA0bNpTdzCthrt3Qtr2zheIP5uvc3FzZ+d1QxUw7CN7/UeemchI6LxYDmK+wpiOe7AFr57A2F9vT9AYl64+4OV1uVvBmY7YWu+CM943e7Z3BGl/HTZvKjVfxPzI4JwO+2trjeIPSkSNHwg7kgQMHwgZJjTX+ZJqEjXFnQ/RXr15d3SThi7/XBk6ePFluoI6UeXkj1hnTRuFf+GaKCxsrvxY72BvGvVh3CKZRJ42cvy1BTDBM0Qd4k26m4LYmTHbOZ0I021dyjpbCsdHPtArcoMjpLZxkIyPQbrQu/+zs2bNx6NChEMzc3eHTpAZrEz0zq7sRE7LZvtzzWg+2oxc+TVommTvsXWX3yLtlkrNm+0rO4Syg4QvvzBtYZ2a1EG3cuLG6C+FfbWFNV7ajK950bOrhWn1mlkX9XFlc55rNyz6vsXbk1/g3iWVmeRy1tir8uhlgfuu3/lc88shr49u//dtj3ZrVsXnThrLIG90NBLCRIEkaTpUdorVr15XE5HyR/0IJXlvijrIrNt3nayxOlR2Yc2XHZnf1icLtUcuEarcsloTu5ZKMHIutWzaXhGFDhcd02T07d/5i2RV6IaY6nSLzmsiyK1byK/8IVh1nr85WwYp8iyVZpPtiWcgWSin/qkd0+994V3zGl782Nu5cH36yE9FZ1YnNd22OR7/sFbH94SvxzLO/FRfOnwg7ZPoYu1joLS7MV/TXrd8a99z7p2PNus0xNbW63Mw8VBKaU+Ex5lxJTGPMny79xepR5OHyKHS6JL6bN22MTmeqJH6XSoK5UOn8ctmVkpDOXp0PxzUzq2Pfvrsq3NliEaGAZFeATqcTviZj754742rZbTxeJcvX2rPbRzzd7r9hunNXWAyOluRtaqpTAvJUScxeLHXlrhzdUgoEJT/LWLd2TezYviV+5IffG294w+vD+2WdwisaP1NTU8Gv1fP/uZLANJqXfcpX7UahZ3cKjyaxzCxYrb0er5t+3ew37jlsxRD08JQEZV4DsRCjr9cvvOht4RS/SnUr/9hFTLI2rSuJb+YNvhjAWL1zsd3cdL7Sgg7b0V1spGOTZs1XPCUfOZvtKzln5xrr3vUJXVjgqw/eZFS/0sJ2PplrJ857Yr28zRdY0B02MFopT+MXSqIvIUIX/V6s6WtttHPF/73WZFwbhR7WRusE/XppwgDW7MsusO7UnQzgfIBAiCJ127hHxAmCHqaZNzt6kx6ATETA4CsgNNvHOacYJ8ITb0YYND4zq+ACEAFBGdR3qXpjORsndleJ5rAx5KMzjOnMEMP6D2ozDu8a695g1jtOcmoykI/zedert8+o17AmO7uNgjXZ8CUrmUfl09uv6Z+DHL0ek5kBa/34Fd+Aed0+zhHWvX49bDzfY2PHJ594LN72trfGO97+JXH29MuxdcumknB0rg8va3KVHLx86kx45FfhdOVKSSTKI6+ySN9ZEi16XB9w7eRyeYR54uTLsX3rlvCN+PpIC5SyIVT1unjxUpXQrFu7Nnbs2B4LZfWfmloV8wsRhw+/EIslGdpUHrFNrZoq/cvI8q9kB+U8ys7RfJwvj/YKjCVxzKpogEUQuvR9rtDY9sqtsf+RvdGZ6sRizVjHa8X4nfduj/v+9J3x9JO/XchnSW/K4NKAVtmDKuPmYqEEz+xMxZat++PeBz4/rly9GJs33xkza3aGl+RffPFY9WnOa2QHHirRyp8rly+HRGyx6AxzySz/kYDNzc+XnZj1lU78d6Ykp8fLbtZcASY7q0oydjF2776zwvX48VNxuvokaJG0iF0znpqaKphurT5UcbokxWfPniu6RWTE9bJ6elXsLkkZ/hcuXCwJ5sm4q+ycny/nvjtuvvCrBkGk0M7MqD4pW3YO/9bf/FvxaEngP/Sh34veH/OOf80XPS5cuBCLRd+qz5h/jLdrcebMmThQdi127NgRnZ4ksEmSzvDSx/xfyU2leHnx4sVqjvL5TMg1ud04x/euu+4qeO8oNxDPVzsaN1rHO6Mz2Y0SG9B23q9kZiWfxZyu5O3Xb5Q6NmIrsROG5uuwcTBmY30kFWKY8+UUWOPNz2GN9iA62vRRxGpjB/Vdqv5ymYPWRnztdqI5bEzt1zAiL8yG9R/UZhwbk52N5TeD+qqHsxsRcj711FOBt/rlFDqzF12VzMF+DWtrI758q9NkmJlVkkI4ijBGs32p8xpExAmC2VJj6naAAa6eLIJz3bbUkaMCnxHIPmyC9dLSt54caJh0vX0GXZPx8OHD4fGCHbGdO3cODWZNOpldrPGGs9JsX+qcfRjQpEZjHKxh5DuEyG+ysNtS/Op29uGsmVkWtA3BbnXbUkcy8guTDo1x+LItfY2hL72X4le3Z2Z51LSmusOH23KwJi+/xpseNe1hx0uXLsY/+kffEp/5WX8qPvmJj5WFeGcJ7tPXh1hD6XW+LKheKo+yjM+VBfZYSQxWlcXejtiGDesi8+YJzd/tyszMTIdvz1+3fm3UP12aUe2AHTlyNC6XxM4L5rXMnVXTJek7FqdPn44N5fH9dLkuaUaVE5R8oCLDLy6UhAFWG0qytro8Uqkayh/0y6GkDxGPH3oqHnjbPXH3Z+yLqempqk6bk5IDxeL8YszPzsepF87En/zCJ+PZPz4cG8qjzMWSbOjXPXZ184lM14slQVyYvxpTnenYu/eR8hjzlXF17kps3bovplZtjkPPHS6yny0JCAo3F7LB0xymuwRXsjk9vbrqf/bchbhUFgj6zF3bcdNfgc/GouvFksAefuGF6ExNxfmCwdXS78D+u6rdq5fK417BVv8mZ48xPaLcsGF9wfZ4eax3+Voz3bplfcF63967yqPkDeVR7KE4X3Y0BWLJoce9C1UiWyxRlCj/qnm1Y/vWOH3qZHzxF39xfOVXvjuOHXvpGt3uIbMbQ8ypS5cuBdm6LaP9tVPuNQY7ULtLkjhVdB5tZMR08Qk6LZQk+kLx315MhtGZK7t658+fD5ijMQ5fmIm1G8uuu9glkRzGq9lGRrLyD3xXr17dbB56nplVDBEDLpYkEt5DB/Q0so1x5Gcvuvd0GXhJzg3lkTGs0aDHwM49DTXWMKazY0+XgZdkrOMde8FtYOeeBnwPHTpU5urpkOiTv6fLwMvMrGI1nOAsDg3s3Kehxtp4JdMc7NOxpyozY1N5hEteCZX3y6w3Pd0GXuoLJxjzT8eBnXsa9GWfTk99dZnZBcSk48AUrBoG/AG+fpoRRdz5cgqHR4NyjDGMBsfkoPgbY+yw/sPayMxpOD1jzJeFcVh/z8G9tF8/hx4nMWnSrZ3epGPMpZyeXLA2js7kbtIb9dx4snO+Y8eOVXecaA8aX2PNLiYp3xjUd6l6WKGBJl2W4mtC6rdmzZpqopJ9KR792o0zQcmO3j/+x/84/tyf+9L4uq//2vgzf/ZL4pd/+ZdvGkYuNjHO9+O8613vire86XNu6jPo4jv//b+Nhx58MH7oB38gdmzbHOvX3UiajLHo0utwSZoulZ0uvus9pvmSAOwoj7q2lF20VdWuld7dwjdPlZ0YSdaBfXuqR4+ZN4INmvqcOPFySEZ27txW+K6rdp5Wr54pjz/PxdGXjpaFZXVJMNaWRC9K7rToz/XjxUuX43xJRNaVnbn1JRnseIQZXR7sVXUu4vzJJz8e63atjbUb14RdscWyMCsLJbGYm52Lwx97MT78U38SH/6Zj8YLnzoaF09fik13boqZ9dOFWkbmVKFSqJXkjNzlLBZLFlekiSg6zS3MFpkiVs+sL8nJTEmkzpaE43zR+c44dfpi2TE7HP5bJmNvlP+Ht/MAkOyqzvR/36vUOYfJQVlCASFEkoSEBCInkaPBGHBcZ69tMjZ47d21DQZ7F3sdsAFjbILJOYPIQiiHyalzTlVdtf93q2umptU90zPT4+q69d6799xzzj03nP+d+6q6HLdPiTI2NTXGG4YQEkf6ShpzBKi9rUX9vT0xYpXPZUVEq+LK9Snv7UoWU6LHAJaitzHZ1s3ZeZ9zznYV+QmMgWHNz1u/qKziK/gTm23xNqZhlcHTsOYMhp199B2Cb2JamqL8jMEP/cQ3WhlfB90vtfZUbVGthtzuzg597Stf8Xb3w/WWt7zJsuerhUuf1G/0lhvzivHKHF0qWvEADWAm76ggN2aAhBUJT5IZQhA8kM1afTI/UfYYmTZ4q63XzMOTiFi1mD5inuQrzAAAEABJREFU7aKtOM4TrZv0L7rhK5j/tDcEemxV9qsWsN7SXnSnLchfldgFtBV70zdNBuXUd/Ypv0MIYixgb2xNW2jXaoxqtmYNQy7yV6M9WT5thQfykAvv1epAw1qJTwHksx3I+FyN/kT51MPWHLHhifoYPvQFdNgYfTmSf6oJW6E3+uPnT7aNiT0YC7QdDIG9TlVmjT6pnax0RLFaw2gog6ueDgXoIDodwzFg6stP9zyEYKdRiHdhNJTJtJxXbVAyQM9kgi3nCz+MSucjY3k5+oD8mdgsZhyX05zONYMHuXTuSrYmH1ujF7Y+k06v14/BzjYmd8kATBwR/Vqj4Rz7Ixs7094QTm8xq/HkGEI4upgDTLA1baSslhhv2BsdsQ3HWtmZHNmufepTn6yWhrJ+/mXP1Ctf+ly99e1vVJKT7rv3zghgkIutSa9//ev1nGc9TT/76U/05a99Wy984QtXFf+9W7+ra6+7Rm9729uUz6XqaG9TCMfsZf9vgFCOP7Y66m2wgp0ijnh8YkJsVfX2dnnhzT6E/+TElEHFZNwe6+9zJDZNjqOBLzwOHR4waGmy3NYoJ2vgMeOoEFGfih1ii6M4iUFKdPpwiKCiEp9pmnLUJpvNeJuwRYxHtI6JD9MyFkg+NXiSxg5N6sv/51u691u7ND+9oD0/2q8fffx2/eRTP9Po4XEDqopmx+Y0um9MAE1+PLbNoKxcLnnrccEqVGybxLzKWlych208jydEysrFeD07PaxScUpzcxPeShhTU1OHunvOsw1HdMhAplgsent33NuTRxSSJLYd/dF10pGYRd9cbdm0wSC0oCmDTX53bGGhqMS0jO0ozx/Qk6yY+MYkawHR7wlv2wKcRkbG1eHt4c3mNWlbDXu7eNFRQDfUtatv5Ha6z4mYzTjaBshePq7pky6D7p6ervgs25GBITUUClH3gaEhRwRLbndlKck2CgaXTWpuLOiv3/tePfrRj9JHPvJvWv5ivWae0IYptxu71NNwDRCjzdu8PQmoqS8/3fMQgu3VGNdr5C4sLBzHCn2Y38hl7WIdCWFpUB1HeWoX9B+7EkTMcJwAAfq6ngttnjYIxDb4MurUl5/uOfxoC22D/3K5XNfy6RPoT1dWfT3GF3LxtTOO1K1ma9ZU1mrGcAhnbusQgtelnOBHPyKbttfrNjw8LMAxdmZ7Gdr68tM9zzoaiw2Rh9zl86lma8qhg/50ZdXXw8aMLcYrPn9sbKy+OM5PxjWpZuvjCE7jIllLHRqIkRncTDgajhIMOJTF8CGceacv14VBjFwGIXKRT+K8vmx5vTO9DiFEQEiHMAAYgMglvE+bWcxaHdo8Uzkr1ceWtBkwgo0ZfMgn0enYO4T1tzV82eOnbxl8RAmZ7LS3Zuv1Wszq2x1CdTHH1rSXhaQ2wbABtmD81dc5k3O+AfuCFzxP73jTr+mZT3uKevo2aGZ8RId33aPGXND47JRu/f63tNfbcR/60If0pCc+Qbff9n0padBVVz/eYKBpRfHDQwN69ateqSfceKP2790TgVO9vQBM2HaEbzMODCpfyDvaUnS0Z1w5g6Denm47tcJDeM/OzseoT6O3Jbdu2aCC6y0ngmb//oPKpBn1OQKEHIBJxbblgfh5R71aW1rsMDNeRKhtZ8/BCVtPGOxRp7W1Wflc1rl+B5I/zGN+HmDkOm6E3+ZRcaEicM3mM5oandVtn7lTC44ebbpig7ZcuVmH7xrQyJ7qAta+pV2F5rza+lti3WpteLP8BAMOSUFLL5daiD9NK6dFFRqybluq9vY2y5zX5OSgBo7cZ+DZo0y2Q3v2HtCco1Edjirmc0bV5sQ4mjQoIbrU5QgTka2DBqvjPOflcuQBTllbiJQx1skmWbzlViJgq4GWI0cGDRrLsY1EEbds2mhw1iG2l4/ypPJSIgK2wcAZkD02NmGdp5ZKhGjxyudz6u/vU1tri8bGJzwWDDYbm+I5W9L0jS0QdUGnEILgNz42ol94zWv0pJufqDvu+Bmsjkv5fD6OU+YPcwo+jHtAyzYDsZM9J3Ycs1O4wJY4RMYSazRrJok1hDkMkAjhaEefAucTkzLPuKnkwezaIyS0Hbmsn+jEGnZiLqdeGkIQtqZdjB9sjTyOtJv1mvJT53zyGrQHudiadtLHjHn8FbZGNnY5OadTo6CPkZvzPENWrd0AMTgRpKjNGa7XMyGz4BuXWjtpM7bmGp3Olq1pD/OGtoABkEm7aT86NTnyuV62ThCylhRCEJ2MAoTwGHgM9PVS5EQ61AbYuLcdJhxJQA/yTlRnPcoYfHQyWxe7vR/e29srUgjrv6jU6xtCEAMvhGBn7DtmRwBocwhnVy46dHZ2isWNyACLG+1n8lN2NhO2ZlIBPJGNzJoN1lPuU5/6VL3nf7/dgKlLaSiqu6NZm7dsV3NLq0YO7dPgnvv03e98Ry988Uv0v/7snZqemdPOcx+uF7/k1br0siv1y7/6u6p/zcxM63/8yTu1fcdOfeHzn9fmjX3K10CNCXGkLJozjpYcslNX7MMgfjKBOdTrKEm7gUQStwZdYeld8tbl4NBoJN++bXN02ktFRw+lUkkHvOUJ7/7+3hjVKnvbLzEwYztseGjYjrlBeTt+OYyDLlSOYMdbi9PTswYyC2ppbfbcLigKk8QoIwFi+BFafqdLftGOWvKl6TxO2xo09MCQmnua1drXIotRuVRW7/ndOv+Gc3Thjeeoe2enQYU0fmhCMyMzrhpMVnHeouk5lhVCKoVEx78ok5qbm9Xb1yvWmra2VuuaNzgqKkmzSlyvp+cchdCgOW/9lmy3MYMbaDdt6BN2HRgc1mGD4GO8g+vRQom+anP7WdxpK8dqG+VXxQCwbCCbNfhrdnRtSgAzm04TjpAFs9jhvikYAB04dMRbiQuuc/ybbUwe6s95TBwyDToepXBHJGbSakC2cWO/mAOHHfGDBuA95ggq0Tn0saFsL3+6TjaTEePm3rvv0rXXXKtf//Vfs16HjrLlJIRgOzUYCE6KX9lnvWReYxfKz2bK2x7MXdZqwALzmvl8NmXCmzVy69atMerIT3eUPD/QhbKzmUKo2pr5TJSI/qL9Z9vWIQTRvpzBETsbc46EY4N1svUJTYYM5B44cED4ib6+PvEIzAkrrUMhNqWNIQThJ2DJ+ArBk5GLs5RC8M1Qe7t6enpEmwFm2J45u54ik7UyY6FicjHYACUowzV3AmvlcTp0yAORgoK5swMwcM7go+x0eK61DoMcINbR0RF/qRp53Plhi7XyOB06+COHwYetGXAzDk//V9gaOSxkLGws4NxVc3fNYnM6bVlrHfoU2Thf+pl6XK+n3De/+c266fqrNbdQ0qIdeCFfUMXbWblMSRVvo/3nZ7+q573oNfrXD3xQjYWcNm29QC9/5S/pkkuvUKlUtHM2gEAxJ8bCJz7xcWGj//m//kwbN/RG8OOio28A0Ly3b3imadIOHKc4MjIWgUNXV7t4aDuzwnNi43bEU95a27yJRa7jKL/aSdlbj8PDoxoYHDGPzih30Xk5O0K2Pw87EpTLZpzfqOA/6tmPc4hAaM7ABX0aCnm1NDdGIBBiqT+88JStOPIBKElI4oPoIQSDoEXxb5OQb0qdd+25qhh89ezsllyH/IrRCrbpPa9bDW0FzU8XNbJrVAszCyrO2u5L3yoM5ksdmS+8YjKPIC9Jztu/58caHzsoRcUqAli1t7cZZBQcWVxQCF6Qh/eos3uncoUWb/MtaKGU1bjBWG93lwBuRCOJijGfQghqaWrURkek6Cv6gvYhIISgxoYGt7PJW6IzmjF4pg1WR26Y1Sw7VRzBbFRLS7NvkobtDMZsyxABe6PvkM8/9xyxNXzYoBsg64rHvVsdody6ZZMW5he81TrkLdiSFNum+AKYdXa0q89RtRCCBodGzL8i+gIgP22d0IVU1UvK2xF3exx9+F//VRdeeLH+6q/e5bFV/ULBtLfp2J7EYfAD0e3t7W7btMex5UaJZ+cDu814rWINYa1ucbtZv+cMFig7O1KrXJGBbJ794ZffWVMAC0QzqhRn55O2Ym/GFA4bsML12V6vGde0F/mAIdZObEC7z6atmeeAIfzCpk2b4r+8wrL0M2Wcn61EW7EtNsbWjG+uz7ataRe2pl38WPKWLVt0+PBhAcDJW6/k1e/ErOhYDM2gJjQHEKMGBuGacgyCochfz4RMeCMTUALvELx4Lj3AioGgIX89E3y5w6Kz+f0b2hlCiFErzhnwDHzavp5y4Ud7aRNyuAOBP3rQfgYF5WfD1rSJdmPr2h0I8gEcLOYsbOOOUKLPeibaQptCCAYQTVVw4HP04C4TOzP+sM2Zyv3Xf/2Qtm/bpCOHD+jee+7UviNjyhSade+9u3TzM16mf/7AR+zYS5qZD3rSU16o6667ScWFoioGOyEE0S8f+48PadZRsZtuulEve+lL1dvdEX92os63RjUXDTx4fmh0bDxGWHCoY966amlpUl9vlwoGT6p74WSnDMJGRsfV1dkufsaCOVZHEk+nDOz27z+svMEk/8Oy7IgYQKxkYLR37z47+mIEFiHx1I4orGLH7qo+R39ACEC/3VG5TA0MItwkwQhh1luko9ahYmDV6sgNfOYMIlwcAVnZ7WIcAgx+9tk7VJwvafPlmxVZWAZ0CDxy96Du/tL9uvuL92nswDjkMnvNjs+ZtqxaRqW8qBBSjY7s095d39PcPFt7QS1t/Tq4/6cqLxZNa2oL8Ds+xxJCiHl8zMyOqbNru7cPt6ipuUdyGSD4wMHDKrsNbONmshkRLeNbkLMGBof4tqRBadkMQ4AXiapBbW5zPpeNkSXGHTxMJmtgfugtAfaIYB20DPq15KjcqOfGRkfktm3dpDFH8Y/fxqwaBrv3GCxu2tDv7clxTRh4x95BPMlScgZZ0HR1dliHaYO/kQgES472DA6PqOp4XKvK0s0NamluUk9Xu974xjeK3y/72Mc+GsHXjh07hKM2WzGWWFPgM22wtugbEfLXMzFXZwzGmLekEILSNI3zGvmUVfXXur7gSZtqsrAziZtZ0mE7ziNHjsTxu56CsWGtTazP9B38OXJNOXpxJH+9EmvhvLfosTd2rq3XtB+5HGt6rZfMGp+pqan4nBjgk5t22koZenDOnEEvdCR/vVLZazC2ZPwyjpEPb2RyjY1pM0fy1zPRHtpV80nwRi5gFFsTtFkv3+hVG/YrJzodI6AInb4SFYoxCFjsURrDrUR3KnkYnWeYmFSgfo7L6zPB6Qjy6QjqcH4mic7EuITaQcGtKzwnFkKICyTykYuNzkRmrS584IedSSGEWlE8hhBEP2BrFqD1tDV9HEKICycDLAqs+0AfgBlysQ/0dcWndYqtaS886UfG0XJG9DvtpaxGu5xmrdf/8A//EP9fZFffNo1NTmtgYECf+MR/6tnPe6Ve8IpfiWALx9vY1KKXvORV0dZxTLkbkjTVd779df3Vu96p4utnbfUAABAASURBVMK0vvDFL+qeu+7SRkfFlstnIRo18CIyk6YZES0ZGR0zkMiqr69bzY7SLK8zZ3AACCp4axGHjrNfiQYgUSwuatOm/hgxqij4mIp/9zNhQNDe1hblVOTXsY/oiCa9kJbshNvZ8nNkzBSS+7yW5g08R0ZHNWfAAnDJWZfZ2TnlslkRiZFfzO2yAWDZQAfQ1dzdpEJLQXd96W6XAlmcKPPV6P5xlQ0S2ze1qbmnScW5osHYrJo6G61zxhSy6CQm2cYH99+mNJnV4f23anjoAY0M7XI7LzfAnNexV8Vg7thVPLM+U1NDMXLHfwNobdsqtvnQe97RyR4DZp4jo+1EnUZGRkWziSiWvcjP2fbwCcFK+ITPrAEcdvJljLgt2DaMDa7pX1KaJuo0aFqwjEN2+Itu6/jEtGYMaHm+rNnbrPTXtEE29epTYrC8eeOGOBaGHAmb8niEpxC+RNjQUIjfxgQUo/OUt5ez7othg2XaQT9Qp6ZXCME3B12+WZjSy1/+cr3+F1/vrZX9S9yOHXCczCn0nnNfw+NY6emdMYenPL5SzxPmMu1bzon1kjJsPr1OgLC2hpQMVuGNfZbLZe0AOLQ4Usc204TB8nKaU73GZqzX2K/BkVVSCHWdZ4YhVG/gKYN2vdZrbI39TmZr+ng9bU0beE6MNgP0saebedy7phP9cKbrdY0xtsZ2yMWWjN9aWf2RfBJ00FOvvvx0zpfbmvbV8wkhqN2R523btgn7ELRAfj3NqZ4nK1VggNcmGAvLShOsvl4IIYIUDIIxUO50DFIbQMinw5nE9XJWOmfC0VEYj0EAj5XoTpSHrjwXx4QFePT395+IPJahG4sAtmGCoHMsOMUP6k1OTtpJJREQwe9ELEII3rZpsOPNCVuvMgBOxCKWLV/MsGMsWOUDvbq7u8Xihr7so2PzVchXzcbW6Eyi30irEi8VMBGwNXUZl9hsqWjNh3/5l39RT1eLmlvadMFFj9CDewf0Z3/+f7x9NGgQUnX6ra3tRhSVGCUrG1iEJGjWd/z/80/fqh/84FsR2CCfb+w1NTUclQ32Mblm7dwPHhoAq8SIxMCggYIjSn293epwRCpx31UrsXgHbx8tasQOtmyvumXLhhh5qZYf+1x0fZz2pJ12b0+3o7Q51yspm8tp0PwHBgZjhKTBDlyWjC4+RAa0YcqOHGDV7G01IimxwB9VDWTAU4qgY8qRN+Zvk6PP0IfgOW2ehkAGQZFrPMKzYhA07y3IWUe7FmYXND+F/ao0Zq2F2aLaN7WqbYO3EueLmpuYUyafUbaQFZE3ub3wqKhs8rLuv/vL6unuNMBpV69Ba1IZdP6CDh2+0+O80ef172NyyG1u7tbY6D7bO+9+dCTOqGZubsHrUYPYngwh2MZj5uV+sdyy00KxaPpUrd5+nJuf0+joWFxQQ7BVnIJ5wLupsSH2W7G4YBuNu/9LZFv9ipOtbV7Yvc1AeHJq0tGsISkkwub09TnnbFPG4I4fgAUAuYZqrxAUdWQshRB8gzBkHRYURbuMYwhBbY7YbXTkrWLwODg4HAF+a1ur2PqedJ/Bs2I9tPTiywQb+3v1/Vu/K7bt3vTGP3D7hpdKq4cQQlxDWMOmDY5Od72uX0PwEzjiqoTVP2s3ldiD9ate99VrHV9CHXRmDWn0eG1oaDieYIUr6LZv3277FbV7924hewWyk2YVPXamDD6xHWtSCHTW6tVYN5HN+op/ov7q1KuXYGv6irZja+SvTi2FEFSzNbaivWWPIZ3iC7ms9QO+gSUihA84GYvaeo08bAWPk9VZXk47GSO0GdthQ2y5nK7+mnL6hHafqa3RG/3hd7JxHUJQb2+v+vr6RCQWe1G3Xre1nNPmpJ4QJiiCw1tLp9fX5TyEEEEFHVLjQ/7JEoowuRg0GB7HcLI69eUhVBcYJiY8GIDwrKdZ7Zw7Jn6Zl05kwp5soC/nQ2ehMxONQYANl9OsdM0ghR5bt/juDT4r0a2Wh40ZLOjLoIXParT1+dgFW5PQ+1RtzaAHsLIVwh0BzxHQlnoZq50zwRgX6IzuIZx4MVvOh4nJuKSt2G6ttoZuZGREm7Zus6P6jt7xjj/Wpz75mch+wE4unviDH96s+BhCEPa979679P5/eq8dZ8HApeiIRU900CEEL3i4QgkgNu8tPR7Sx0miI893zTgy0tnRZqDRYV7HTTOVvU03MTEpHGq/AQhgRMte9NOYwdrBQ0d8F9YWHXPRwKChodFRmAXt338wbnsCtKxOrI3uNTCGrScM9AuOdOHUM0vbkyEEye+yQdWUdRwbn1AwiGizky8WS1G3ZkfxTOJzAJOOvso01s4f3XKNuQiwZsdntelhGx0BK2ls/7j2/HC/9v34gHhmLEkTg7UF8RwZeiUZ33R0NZlvyYCmoqDU2cFOcjaCmCkDDOQSIdzQ36nuzmbt23NrpNUqr2Ddm5t6VFyYjeBtYX5SmUxBAEvaz++80a7EUalcLisiU4CgnKNNtJ81g2ggfTE+MRXBrrCR0ESiHkAW8EYkCx3LdmzYoJbkVhBVxIaHDx/RuKMwhcam2L8dHZ3auX2bJuzEDx0BoFdBXX1zujrbtXnTBs05IgnoKrkfYnnwp1NIgnq8zc2XA5C9b98BJWkabxwOHRmIQO6YLq7jd6PB9OaN/frbv/07nX/e+frwh//VgHLRJcfezEPmUwhBzCfmFaVFg47vf//7nK6YkFVbZwE3dzlavCLhKpkhhAgIWfOQy1oEz1XIj8tmXE/ZlujOGnJc4RouWLe4qZxwHx12ZJO2rqFatB1y0ZP1mvVhLfVqNNBja+rDp2brWvlqR+ixET6N9Zr1ZTXalfJDCKrVgw/2g+dKtPV5jDOeoSYqBtjYsmWL51WmnqTufOVTfCptpn+RDc+VKY/PxZ9gI/SkPrY7nuLEV8xZxgb14QO/E9eolqJfbVxTH/2rJWv7ZDwTLQOY7d27VwQu0GEttekXbBQ9BZVQhIQBTtVJLxfIZGHQMuimfQd2IoOgCEajDkYIwSvQcoZrvA4hCB50IDxPNNloKxExBvpq25NrFKsQqgsMizt84YlNV6pPPgMUGibKetgaPjVbM6hWkksetmaQMHCwE3mnm9Cb0HWbowMAM/iuxov+r5UzLujr1WjXko9sFqYvf/nLetnLXqodO3fo1a9+9UOqYmv6gxRC0P/5P+/TRz/6cc3PTuv2O++J9EmSxiMfmzZv1aWXPtzbdDlNz0zonrtvc3RhTA35bARWIYTY1woS2ITnqSYNrA4fGVShIa8ZO9TRsXGPwUaxPdlgpwjfWjKWiTTDI2NqN1jb7K3HrIFBrbx2nJmZFf/yJ+MoGE6YcZxkMnbCWT3w4G7Nz82KLbXEIEMGA7V6HIvevgFklS2s044eEEJ+LWGTOW+rDQ+PGXwsRqAHH2yEE08tB5qYXIkjD/KHEASQ5NqsXSItODrW1NmkicFJTRw2EMqn2vqIzdr5mG3enpzX0K6RqF5jZ4PyzXn17OiK4CqEVHxZoFIxODEwDCGIb4kmaTZ+a5QIHTLQfXGRb2VWorz6j7B0wU9gtLVvUnNLt3acc41aWvvU1r5R+w8e0oK3Ggv5XJRJ1AhguuAtxiMG4bOOZsKi7I4EsHV0tCtNkvhsF2tHxXqhIzSk1ACIKGc+l9HY2JijcfORL3pWEzqGGOXLud/uv/8BR2HmHTWdM0CbNCjb6rRZyJ40oEAu9eBNQhYRUL6QMDI6pgmDw4qBH+2sJezR39/jm4K2qAOAnXkM8BwaHhXjpGKmfsMyJsBkW2uzfuEXXqPLL7tM3/vere7H44E2+rKGUH/GEWHm0qte8RL99m/9liN3A5EPH/Bm3cI+Zev2zW98Tb/2q7+ot7/1jXrKzTfqa1/72kN4U2+1lPFYQ3+O+AnWsNVoWUOQG0IQawj9sRrtyfIZ7zjNNq9dRDOOHDmyqt60GZvQbnwjtjoZ/xOVUx8+tJU5hx1XokcuY5U2NzgCSP+EwEhYifrkedgLuVCezNa0lyAFuvHvhFZao+Cz1kQfFwoFwZc20baV6iIPm2Br+vhUAdFynjVb42+RDf/lNLVr9EI2Ms/U1oxngjuM2V27dnkdmK2JeciROUcfU4CdEhpPB2F0MihYr0Qn0Dhk0Nj6jkBZ5JKH8WnEesmFFzxrMjjWeDMRuDMC/YP6+aZGrexMjyEEO+OmeCeBkTF2PU86nXxsjV3qy87kPISgmq0ZfKT6wUf7a4CotbVVTM4zkVdfl3Zwx0n/Mvjo61o5OjAR0If+YILUys7kCM8/+IM/0F/++Z/oBc+6QR/8l7/Vr/z66/Whf/0njQwPRUeJ7bE1dvnSl76ksdERGS9o7/7DGplYUE9PX1Sh7GgV/UHkqampWc945nP1vVu/qj//X3+sA/v3atOGXvdnatjjxdB2xu0yZmnvnr0HnK94B3rE0Y+8nf8Gbxe1tjRF3vUfRNF4yB9nwM9Y8A3H+nLOoWHLc9rbjJs2blCaJHYUFaWZnA45UjbgaAjRlHz8QkDUhGoxYevJySlhf76t1+TttqAg3jFJdtglAQZ5EJ2ITt7AgfO89S6YJ+2y8fyGtyv4gB1DbKWvfWQsRTpf0paKt1Qnj0yqa1uHmh39crYqBjlNXY0699oduvCm87Txkn5nVzQ9Nht/JDaEKscqcLCOLuXdYFDLN+SKpbIOu6379h8yoKsYfEwYPBq8QeREPavmM6m8WHKbp9TU3BWv+YBjgx3A7NycOgx8+7xljH1GDJaPDHhb0US0ocmRwGw2YwffrGlHC5M0Fc9s8XtqRDln5+dNKYUQaiZ0FC6nrs4OVSx3bGzsqF7oBDF8M45Gdnd3GbTNad++/dHuPPc1PjGtHdu3xLl64NBhzczOqFbPIkRijmzdvFHNTQ0GQ8PWa9Zsw1Lywe/m5iZt3NBvvZtMM2TQt6BcPqvDblsE4wZL6GHS+E7drv7eHkfgpnT99dfrNa95tfbv3x/Lah8hhBi1wvn/8z//sx7YvU+f/9yn9JhHX+2I8jvi3T7rdWK6mZlJ/efHP6xQntNv/rfX6aUveLp+/hW36D/+9e/1cz/3czWWaz6yXjd5S52xxpylr2qVOWe+s3YCKLIr3MDUaE/1SFu3b99uO7aItQvZNR7YD5m0udHboqRa2XocWZfynnOsIyTk1fjio2rrdYt3T0Kg/2ulZ3ZkfGFH5jFtw741jth/ryM7+EaCFEQTa2VnemStQG4IwWN6OkYc63lia+yAXdbb1owt+DKOWB/rbU2b6Xf0g45jvV5nct7e3i4A7fj4eJxvtLHGD7tjf/oBu9AvlHl+BZHBpCBjvVMIITosBKIAzhnDoBwGYFCut8waPzqBzkUWRq/9nhggbOPGjTWydT+yADKR6HjkIp8JFkKIk5/ydRdqhiFUbc2iha0ZfNiaI/rQByZb93cIIe6hs7jxLB7bmMhFB+xPP6+XUPj+8/v/UVdeskV/+s5kjMSrAAAQAElEQVS3q7OrW4MHdunwA3drx85t2ntor77+9S/agYwL4H311Y/UO//oLd4Sm1GS7YzOcXpqUuPjo6Iftm7bYUfUqGc9+wV6/HXX6x1/9Af66le+oM0b+zxuC1JInEJ0lvTngqMuRK84tre3CgcPEOrv6xFblCFo6cVJ8MJTFhGPOTt3HG1XZ/tS+bEDz4kBAABL8GE+Fh3JyRlUjBpEHLbzbmlu9DxtPOrAa7XRCVA16e0+ttXaWluirrXyoGDQgg7jGvP2ZN7gCzqiUDLAarLjhyl8qFPhw6lYWtTc/JzO3dKtlz31UvU6EpZJEyVJYvJKTJfcfJG3KnlerNqmCC4MxlzdIKxPuaac2LqcGphyxGzOmliiy12bE1VtFSCP/GJ96wTgKBmUJUlwpHI2LuD7vE3HT1qUXd+VYx0+igsDaiiMa3R4j2294NqRewTRm71llyZpjDbtO3DY4LassiNfc46OMUeoXzZ4ITU4mgmQmnF0MmegCjCjXwFSRfd5CMH6Jk4cg5oM5jra2zTjHYCRkVHBA71oA7YkNRlkdBuY8SWDcUdSG+zYp6ZmlPPW6SUXnmdANqeBwSGPySKqxGQx8djoqAhf8EDfQdPgpKWg2iuEYPDYqk1uI3KP+IaAb5R29/QYmA0YpM4v2bTWo4rjne3az37mMzrv3HP09re92bYZr7GMxxCC51SPNm/Zqcde91Tbf15f/sKn9IhHXBmja1/+0mf0kx9/Ty1NBU2MHtHMxKgYF7lcXk+4/hrt3Nqlpzz5ye6L47dHI/MTfIRQBYTYbM5AupZw0qwhDbbHCaqfURH8d+7cGcfZgw8+GI+s14x15uIZMT9BZfjT3pzHW81PsGYCElp940z+CaqfUVHeYJB2zzgiikzWyoMHD4ogxaZNmxRCOCP+q1Vm3mFTgAhtxjdh69Q3DdgihLMjF1sjFznIXVhYEEf0IP9s4R/swCM+pAMHDkSfhM1J2B+MAk0tJbniscWglnk2jhiEzmCiYYSzOdjq9Q/BDsmLLsZALgMOXeppztY5nRxCiB0fQrCTyJwtUcfxpX1MOBYzHMXyTj+OWOt3FUIQA49+5k4Le+OY1k+C9IY3vEGhOKHLLr1QGc2qv6dDW3ec762q5vhr+4P7H9Do5Lh+5Vd/1Q7iWqlc1OxCol/79T/Q4665QVc/6nFebBLl8w3RQe3bu9sOMqOvf/Vz+tCH/kl9PZ1iq89Efgenqva05fCR4fj7UDyfNOBtL4BWe1uriMCkaVIlXPqs2PHj0McnJtTf1ysezA4GGEvF8VCx956cnBaRIABAV1eHHemC8gZN88VF7d61W2mS2PE227kqpljRsIPjwkLJW2wT8Te0iIolpiW/luAPGGA7KzizrbXFwKGieQOMlpYmpY7kWAXzrUSOuG7GC1uv3e2Net1zr9L1V25WNk30vBsv1iW9Je3oLGtjm5RJpJ98/KdaNHDaefV287AAmCHIaXj3qO787D269ysPaPCB4cjfFCrNlU2LJM/LyqLPy2QvJethHui9lHHcAeBz8OCRo1EpCoeHB5XNpHrG02/Qnbd/yuBm1tkVtbY0R8Czd/9BR5DmI01Q0BZHn7Z4qziXzWjG4MvE1qEql/MW18uYHyC3tbVZ2WxGIwbFJL6ZCU1MHushBLW5/1tty+HhEc/zaduXNukoT9rS2tpicN8ktjGnHIlramrRfoPsro52sUYcPDwQxxW2j7zrProdjWPs4Dz4csdymsRjivFHZHbOoP/uu+/1eM4bTC9o34FDtkdxSZdjTFscYdu6ZZPe9a536/wLztcnPv4x27R4lOCyy67Uy17+Gm3ctFW/9Ku/p0yhWwvzjob9+q/qv/36b+vuO36qB++7WyFUlM3lFOxMk9T96V4+/7wd2tTfrm9+85tH+Z3KSQjBNs/GbR7Wr/9KP8GNend3t6PRhzw2Zk5F7TOiTZJEqW1IH9O/eYOlM2K4xsohBI/XsqO4+zxmcjqbQGy5Sox75sa0b2hoOzZYTnM2rpGF7Jqt/6vGFzK3LD2HBxah7Su1L9FXvyr96EfyjFypfF3ySqWSF6upuPi0t7f7Tr9ZNYTKAFwXISswAX3XQtEXXHCBeG4Aw9AZONgVqqxLFsZGNgsKqL+zs9N31E3xzgtASvm6CFqBCbau3XHU25q8symXfkQGRxa1Cy+8UNzV3n///bGvV1D1lLM++clP6rvf/prOv+hC5QptyqRZlbx11JRdjKCnvbNPn/vsF/RqO5OF6TFl8816xnNeoRe+6BVx4YH2xpueolf//C+pwdEKnO0mbw1OGDTlc6l5dMteRpJdtxcr+VV2RGZ8fFL7DxxRS3OD5hxdYeuRuxuAVowwmU6uU00SW14DgyN21i0CACBHy14LBkV79x1Uaue/edMG0W9pkirjLZldu/dqdmY6bo2lLjdGqatdEcCAaFrZ2618ISADOjIFi1oIwW5RIgIGaJyfX4gAM5vLxjy2BfP5bHTSkXCJOWNj3m3LZYJ+4ZbH6JYbLrB9EyfrlCZKk0QhkRpt657mihIDgWxDVo0djbr9M3eo9jIOFXwBYcE0bF1u8JZlcbaoPT84qG1brlMIwfLLrhIkO3Wt4ZUkSazX3NKrnec+3g6kKdbKZDIa9jb1P/zj+7R1204NHrkv5u/1dueMAVdTY4Po935vJXc4orXotWjIEa1pRwZo81LzYx2u6e/UzrHFwGzR27GU9xlQQzDgSNW4I13QBQWyYsq6z3p7upS1Lny5Y84RHowAXS2lBiz9/X3WO6c77rxLuUxWT7zxWj3rGTepvb3V25h5HfC29MzsrG0DYI2s4wdt7/OWI9uvgLIpR0PhGwuX9MhmM9ro7fW2thZHfyciUG92FI8IH/+GifF1rE61JiC+2fZ5yUteoqsfebV+dvttYl386lc+p/GJMRFJ5vpRj7lOr3j1r6m5rV/9vZ1613v+Tr/2O2/TqOdFWdbVfUOEdspb5nNzs3rsox+uW5777AgGq5LW9ln2jTNrCHp2dHSIFEKIvoOytXE5dSrkAQxYr1sdmWK7rr29XTxHNTzsmwkGwamzXVMNomG0mbWys7NTLS0tXmPmPFcfOg7WxHCNRAuOELE2My5Yq5FNX6MLxzWyOWWyim2JnWc8/2grcgveCZiamjrl8XKqwmkr7UMecunrmi6MgVPlt1Z6xi4+Bhn4xvPOOy/6o3vvvTf2dT2fRE97mtTbK33wg9Ldd3sd8QSrpziDczoWA3DE+Cx0sAshRGcNWMEgLGAoS9l6JAzAthlhWB487+vrO8oWHdCFzmEQrKdchNQmWNaLNO0jjxRCiECU/JpNyF+vRJvhS3sYaLSzxpsBSFiW9mJvaGplZ3qEV20xw671dxzc6TH4GIwMPmx+uvJo3xve8If6uZfdYqd7MDqPwYmiGgrNKi4uateD9+spz3yRDtup8QzSeZc8Tq//pd9UmmYigEFuCMEOp6S3v+2/Gyj1xwXAWdq2dZMydmiycwuh6mhp14wd+u49++LkKRTyOnhowE43tePrU4edqOKrSs8pOh721lHZjnznji1q8DYY+fUJGiJik3ZeWzZvUgjotKhcvmD+h6P+XY6K5PM5XJ2qH1UO6DRmJ0jd3t4ug/zGaoHQoWJHXjb4WBSRJBxkS3OTo2s46EnRL412vvDzmhj5VpZqFw1Sil6gn33jw/TqZ16h5oKUzabKGOhlDQgBBIgoLToiQh7gotVAZ64YtySL80vRlWCGThWD2B2P2qomg7W5sXnt+c5e7dhxjm1f1NjoXutZUcV0po7nIclowQCV6+WptbUtZmE32p/LJrrvnq+YftptahJjau/eXXrKU5+twYHDkVZuGG2fcjSq1VGuDQZUFTv7UUe6+G2wEILa3chnXHeRFkvFGJWEd60y56Ss53CzbcjPYmQyWbW7z+cMWo8MDIlf5Yc+hIRDTAX3Wb+3rhdsy6Gh4ThuYoEVgh8pMXjpsz7XPu6RLqqIZ92e/5yn6ak332CbZzVnAL177363r+jy49+NHk9sezc0MlaOWO95E7ix/qy9WwwkNzsCyPgZGh4VNweNjU0eW0eEPWp2rNGnSaJN3vac8Nbj1Y96tH7jN/+bwWFBH/znv9VnPvUf+vY3vqxF3/Rg5yfc+BRd8vDHa2qmqttrf/m/61Wv/W3t37dfALFScUGLjtoCZN/0h7+pt7/97VrLC7uwNs0ZyLYYkDBWa/UymUxcN7EpNNDWytbjyHoN30bfoNWv1wWDBG7iyQOY0f71kFfjQT/Ur9chLE0IE6BL3lEyyucd9XTWur1pB88P4h8Bnp0GgTXmyMT+2GTakav1tjV9SJsavP2MP6rJZU4gF3mUL3o9r5WtxxFbj4+PR1atBtwhHLM1/Ys+tBf9ItE6fdCeGl/ksp7UWLe1tYnxNTQ0pL1793qOLcaiJH5u3iy9/OWSB7/+8z8lRwxi/ml+oMiMETCDCUPT0SuxCiHYqTRZbMYiJ5YWmJUo15aH3LGxMd13330CiW7btm3ViujEoGARAKSsSrjGAjod4BFCsBNsFYNspaoAJTqHQcfgQ+eV6NaaR306nXZg6/pOr+cRQoh3X7QbPZFfX3465wxg2sCgJq3Gg744//zz48DjOQVstRrtavnf+ta33KddKjR3igjH8MiQDux5QLf+4Id60St/Q3/9tx9UmyfbxFxeb3rLn/q8PQIu7BNCcKQnYwee057d99jxZbRnz24BxAqFnEIIMSEbsEIUZf+Bw9GZEUUgyhBBkKMgXV2dJsMJHkvIwPnxw6oAsa6udtMc/440QyPiWR+capMdPf9Gp9HOkm3FvXbCrXZGLS1NrmjA4k/7cT5joo/ZIoV3l7c268sgQG/0JIJCH/d0d2nOi3nZUbRWO2kQ2BJXk6O74iLAw+wXn9Ov//aSR2tHf7PtlMQtymyaxHP7a5UMMBPbKG+QFkKQ/L7x6p16vgFcphx07mPPUcWAZ2TvmO7/2oO6+/P3afinI2pUQT3dnWpra41RLMbIxMShSBuUwCamvv4LNTQ4qAPeYls+NiYmqgupll75hlavFzlhz4WFaYOHhtiOj/3HB/X465+4RCWh5tYtG02bEdEwImbklbzY59OKrr1im9spPfUx5+jKizbGLSockZZe2BMZXALKCgbkPP8FqO22bcfHJ3T4yKBllywrxCTJR6m9tSW2m4ejB721DR/4xT7wScVhxE986osen4sRtHHdYLD1ypc+V1decYnSJHWEajL+dlrZ4BYd6lOTHdqO7Vs0Z3A4MDBsHpU4HGKv+sMifMPQFm8cFt3eg94ebfYYYBzs9RbuvAFjxUR+H2WbJom2OFL77//2EZUMUhsb895ivVdf/OKnDcw+Gu09723LtrYOPfeWlyzVC5r0lvuv/MabNekbhR/ddocyubyaWtvVu3GL3vve97h8col25cO8xyiAiLHRaFC0MpXcz4UIzKCdM3BD/9Von7FXZQAAEABJREFU15KPXVi7oGXdDCFw+pAEMAO4jIyMiJvKssf5Q4hOIQO9mcu0Abn14LOeTeL+aPV6xnqOnushF+f/4IMParP9/Yl8I21u8BhDLn68Xq/TOUd3AFGaptE3rsYDW2ATQCP9jK1Wo11LPvXhw7xua2uLa8FK9UIIcWxhc9qM/JXoTiWP/kU24xp7rlaXvmCrGFDG89fJcYTnnusV6qkSv0Hz8Y/LM/244rVc1Jw0HXqiCVbPi7sgDEaHYRA6sL58LecY/Z577hHOCOTJQF5LPfRkIDBgMOJa6iynQWcWFiYQbVlevtI1Mhl81DvdQU/dWqev1dYMOmzNggQwY9CupN+J8hiw2CuEcMIJtpwHD8729PTEhQ2bLS8/0TXh9cc99pHatuMCnX/xI7UY8t7iOaj//oZ3xmcgPvfFb+p3f/+Pdc211yveqRuIwC+TZgzE8naUFb3nXX+if/+3D2nTxr7osKSgEIJ4VZ1TRfwfSL6tBrgbcCRkwA61s6NNPKOTzWZMWnE69sYhHTo8oK1bNmjb1s1H+R2jkG82prRr1z61t7cJQMe2VDabU9lC77vvAQF2Ohx9UXSrS59LYop2jkPDI95iLTiQ3VXP9uj5pMP9RG1CCOpydI25MOltLYAE7Y/uGn5OnFfs5Cnvbm/S77/6Oj3l0du9hZZEAJZJa8fgyKLcnkSNhYxy2dRAIUSaoKBbb9+vW++b1bvf+0+67vwna/9thzR636i6WzsNRroMetPYGuZ0Y1OTwcOstjtKVlyYc743usolO/kyAnRg323Ok/hpikFvCxKREi/ry6E+7d19uwHDQsxKkkzk29PTqxtveqq3qz8R86lG/y046rZn74G4/cO8tLndTxvV2NyuL/1or77x491eLzLa0dei5z3hYvX38P8eZ1Rdf+Ai61iJCcZsGSZJ6gjkiNrb2mJ0C7sDgk2kYCcaQgKpQgi2Q6c6Olp1yFFbxjvymW+kpz/9yfp///Rhby9Ouj0As0WzqOj8c3fqF179InUbdIck6ODhIxpwtC0yrftIzL+vt1tbNm8Q42PAkdloxHCMKM2k2uRo2cYNfdZ5VPfc96Bamh1RLpY8d45EMIku6FWr1WRQtGPbFk16azbj+tt8/uMffU+f+4xta5mMrfkFInNSc0vrkq2kd/3NP+mv/ub9qmQbFLKNSj2+z7/wfA0MDNRYH3esrSGpnXRLS0u013EEq1xAm8vlbLdx2620CtXq2bSXNRP58Mo6Cro69bGSXu8icVMJoCG6BJ9jpWs7w78gGyd9Kus1emL3012vGXv8VhwBCNqwFm0Tj2X8GWCC+thrLfXqabBRrS4+h76uL1/tHB+OjbDV6fpGgizUp83wW01WfT5rBLbGN6I3+teXr+WcuvhG7AavtdTBLjt27BC6VleP+lpEyW68UXEr86Mfle68s7501XMWMRShUXRkCHUrw6q1ji+gLo0AaGCQ40tXvwKIIZu9cADW6pQrl2AQBgyTkwgbbVmZ8vhcJhh3O+h8OnLhRseRmGzwI+9kiclBe9Eb2SejX6mcRY1+WvDdMm1YiWZ5XsUrN4Mc+TV7Lac52TU2pp8Y7PQb8k9Wh/JPfOITuurqR+mB++7wluV+XXDRldq8/WJlHdpv7+hwtKGoBTsKtguhf/tbfy8CsXyhoH/6h/foDX/4G/LaL34fLIREIQQnHC6poikDmN179qvFkQTad/jIgBoctWA7p8F3i/CUghSTVCwt6sDBI+KZnfPO3a4QKNNxr5JpHnhwj3L5nLZt26yFYlFJmvi6oN2792rK2wI43tR5VAQCkHCs2IdnfxiL/X3dBkRZSGIK8RMdSjrsKM309Kx6Hb1j/tAOnh0qWCZ8qA95CNSqaMa0/FTEL77oWr3yaQ9TmgSl3oJEh6wdMAkdSsZKjYVU+VyiNCEFUfb3n/iR3vuRH+j7dx7QL/7ir+uHP/ye/u5v3y3s1N7aGp0kuockFWMsX2iIeblcVkQEg3kZeVi1KtCpOOKQpqk2btwogHA+l1NLc2Psz06DkoIjmPLrwoufqP6ND9O2HY9SPt/iHBkMlFRoaNTg4IC++IVP6TW/8KsxX+a+d/8BTXpbuKmp0XYvGVD3qK3V9dy4UW9dTns7c2hs1lGyYNumsd6jL+rWc66/UJmkYhA9aTVNHEvM0WO/bCCbz2fV6W2eord5aSdAnagbz38R6XQlj4VkqZZss0y0TWNjQQcPHjIIAni57zwWGr2F/MCeQ/r0576qWUe7GC9l2wO+Nz/x8XrhLU+POoeQaJfHJpG+o4yXTkIIIuLa563S/Y4w0uZYRHdz4iZg380Gbu1EKkdGI4DraG/ToLc0j/imo+KIXcXt81tm51pB7W0t4v9jApB59u1Zz75FjY7m5rI5Bf+ZSBPjYxxieuDBvfH4B7//Fr3tbe/UfXffresfd7WWz2/ksLbTTtYQxmyseAoficdQe3u7+7/sfpqwyd3INdTHuZNwfGt10svZEi3r6uoSAIc1eHn5SteAKWhzjG2Dz5VoTpaHvq2trfHmArBxMnrKsTFRPUDCxRdfLPwM+aeSsHWLdYYXbaD/1lIfO+NXqEu711KnniaEIOo2eO1lvGDD+vLVzkuel+hJPeqvRneifGzNGEF/0oloa2XYZWxsLK5bjOta/qkc0TlZtULG0YBbbpFXH+n//l95r2VVUsAEhkAROnBVwjUWoBgGmfKdP+BstWoHDhwQ++GgfrbFVqNbaz4LFxOdRYQ2rVavVp7NZuOWq87whc2YbAxcBhMTaCWWdDqDk3JsfTqL2XK+DD7sDd8TTXTKmGT0y+lM7OVyaS/9htzdu3fHxXU5DdeMK2wy7+2SQ4cOqrGlXZl8g+6640daKM4bNDUrk8nqrW/7M9+NH9Yb3vAb+vP//Y64/X3fvT/R7/3OL2pqclRs8aQpwz3A1ot41ckW7RiJovDjp9j/oKMZOCaiCkTGInHdBwvTwUMD8ackAGINBm11xfGU+rt27/c23ah2bt+GIOG0mx1ROGCnedCpq7PdQMBzLNYwSe1op8+4x7n328k22WkvFUU3iPYlbyESuRu2Q201yOh0VGzI54V8QY1NDdW2GZQwXqiLPmxfThmEPP36y/Q7r3yceltTA62g1GAsm6YGJqkSO7pFyy/kMjEqliaJ0iRRJnXKpLp//4ht32xAlNeFF12q97znf+kD//I+9ff1WmZlqQ+DcgbJBQMxWeNxO+252dlor1277ldL64ZI6w9rKJUNBhRfFfX391r/pgh0sT3/+SDrvs14LTp44HbLbdToyB737aQaGztirbnZGXV1desZz3qB3vd/3xXz4N1mu0wZ8ALusCPCRkbHtf/gYU7VVMgakF6mEILkd3NDVvlsqsZ84m3M7XratRdpznrPzMyq/oUtZQ70O9uA8GQd6PZW9oSjSoyf6ZlpswxOyVLVylFgNmt9BwYGvXCXrGZF5zoidtUjH6mPfPQz+to3bnV+USUD+Yrtks/ndMuzn6In3vC4OFbm54t6YNceg7ryEt9jh4Jpz925XUTA9nt8weNYqc8qUotvNrZs3ij0PWA7zLp9rXbygMlJ2wqZlWoDXSEo9bggapnLJHrHH/2hvv7VT6vZznnrth1qbm4xiN6i5a9Bb8tv7uvSH7/jf+pzX/iyWCtrNNOWgcwW82CuXX/99dq0aaO2bNmsJz7xid4ivb9GuqYjPNB/3tueEyd4zAYdxsfHIyBpcrR2TcxPQIRcAA4kAB7WEM6XJ2yJXPJZrxPPJc7PJDU2Nnoe5CMQpd2r8dqzZ49vAA6KZ3jbDV5Xo1trPm2mDQQNZmZmVq2GLVjT0bPZ0dhVCddQAEkIVWBWs+Wit+DJX55Yl7E1dOi5vPxUr0MIHuPNXmcafWM3GeflajwY19gEOxccAFiNbi35tRVjddr+fuk1r5FnlvSRjxxHhyL1E+y4wjO8CKFqEBZjDF0y8q2xrO3n93j7iz3YEEKtaF2OGJVFA8fIAKwxpbMZbFyzELBgcb5eiQnLYKoNagZZjTe6YGsGed4Or5a/Hkfk0l4mHQtbva1ruiBzPRazen1D8Bab7za3bt2qffv26YABdq2ctqMLNscmL3zBC/XA/Q/owQceNNAZVmtHd9yumpubiY6NfuLHXLN24GlaMUjL6N/+9YPaumVTdECyewyhNk4MHjyxeU6MXzlv9iI9ODgS7z57HGnq7enUUVJVXxU74Qk73FFHV87ZudX3KW2mqfGr0vAJMNq3/6D48de21hbNGUg2NjV7i8Xblg/uij/H0NLSBGlM9pPmHE8NAOY1Zv6trgcgWa6DFGJ0Y9DbqIVCXn29PZpyZI9FiuhHYDabIbrWmNKXRE0eftEWvekXrtdVF3aq+gp28qmyBlppmqhkIJYanDV4ezJx1CyYiPw0SWzLNNLdvWvQy8CCnveCV9jmZR0+RBRq2gBp3te2eS6rvBekJE3jIjbtGyr06HBESaGgLdseqfb2DQohkK3gP1UWxYt+Bgtksxlt9dbv5NRM5MnWKm2YGD+sPbu+r9b2TUqSVDMzo8rlql9qGB4e0hc//0k97prrYeUUImjZYmefz+U1NzcffwIiTRMxrvJpWc+94WKVK1UbNORSg87qeS6bxP/M0NeR00tuvljXPHyb+27CbVwwX0Wd0NNn8bqtrTUCHQB0l9vZ2dkuQNohb2OXFktuYeIUIi2frXZSRNXKS1vqRNpyttvTnv4UnXfhhfrAhz+hffsP2QGU3IZFyyvHrepXvOx5esSVD1PeURa+3Qjwi0zrPmxWNXhcnLNzm8fSnOI2Zl157bTLAB4duD7gqF2Tx2fGfbbXcvnJE/qi1r4QglgXeL7srjt+qre88Td16OD9etnLfyHeAMGjPrW1dehLX/uuWhyZBMy95MUvFjdcEwZMOGnSrEHpFz73cf3Gr71e7/vr/62/+JM36BUvfLJe+ILn6Hd/93fr2a3pfLX1mnmB70g8htva2jxukjXxWysRPImYjTkyAjBjbNXqTnnsz83NxUc6sr5xr+Wvx5H2tLa2RsCMP6KdNb7Dw8NiWxW/SAoh1IrW5djgiBX2rrWvxhQd6GOu8SUc1zMxBrE3/gjwU+PNWEUXQDfl623rEILnd0sUR/tYi+KFP2Z9Q4P9GdPr5RvXNkI9oLXFd0NPf7r0zW+q+G//pklPMDqHFML6drrbevSdeqHA0GTwkCyhYmQSXaGTyD8bKYQQETIdTEcAAukAANHZlEtbGPDIYUIju9bpdHwIZ9fWTHQmF4sMCX2YYCwCnJ+NBO9t27aJKCffaOLbsdz9IRf7I7Ont1c/+fFtOnL4oO699774UD7bPGmatfNaEN+cbHI0qbEhr/GxCW3dslE9BlbwDiHIbzs3OFU0YEAz4Dv5FjvH8bFJO9AxdXS0iUhKzoAAqmOpIp75AgTxzUb4wvNYefVsygBit6Niba0t5tPrLag5ZQ2cF4qLviXWw7cAABAASURBVPN/0ERlURZCiGCk4hwSF8WFokYc4co4EtHd3Wldg+R3LBevoClHt9ieBAzwoPz8/ELMA4glBlAsTPCqVD/c1orLp9XV3qQ3vPYJeu51O1XIZ2IkrNHHBgMvAEnJQkIIMSKWtfxMkig1P+yQz2bsjJ2yqQFLos19rbZ1UR/8l/9nJ/uAXvzSn1ehocFyZpXN5U2bN/iZ9VbWuCNii767bHAfbNbEZGK6NoUkoxBS67YogFi5suDGBSdfWg9/uswtiOcSJYn10dFXRfv3/NB8EjU2dRoczihJDeC2X6VMpllHBhxl23hJpO5ob3P5gvY5WjTjKBfrCAUAi0Jjq/7jq/fqGz/ZrdQrYOL2pj7Juf15gyPa3eC2N+azunBLm17+tCu0pb9dPMjPgoyt6YeavvBtt7xFbzeOeuwBytiOPOxt78GhIfdIxW1JrGsada+YrlyutnPR0TB44mgaDGaf8YynanBkQh/+90/6xmMsbo0vOiKahKDzztmuF7/gWersaDVPiX/DNOrID/LrE7SMkdrzZbVn8izR9aqfqYE4Ecm+3m6xtgHwGhoKkuUccQSv5BsW2qn4CkqSRE2Ozmze2K8Pf/Bf9O8feb/++++/Uantr7rX6OiwnvHMW/SSV/6SZksFHTlySK96xYt07bXXGtTO68tf/LS+8sXPqLgwp/LCpKYnhhXcB8z1N/zur2jw8G69+c1vruO4ttMQwtH1mvVyzCAJm7a2toqb+rVxOXUq7NLjwMA555wTv7QE+Jx2JBAH3eC5EQKj+NT5rqUG7cJPMH5YM+/2NnGj+4hndVP7zbXwOB0a2ozcXC4n/BO2Rgf6MJvNng7LNdfBN5KwMeCTI7Ymb81MToOQdjGW8I20mUT7aXMI69fHngpr165MB1x2mdKbb1bLpz+t5Pbb1175DClx1Bh/mx03Rjm2WJwh45NUR1YIIaJk7oD+q+QiC9l5O3VUZHHheLYT7UMWchlwTDTyzrZc+COnr68vLqBsRQOAySc9+clP1nNveYGjMoc15wVvvyNqDz6wy9s7C8p7u4a7wUVHHVpam7V5c7952Pm53/wWzhPeRIr27NnvKELB9RYNzIYMFAoiWkBkIYTjJ9ZCsaQjA0MiKsGDzistcjhUgFgIwXI3RL4sWFkDlH37DmjGQAqwx4SOetAYUkWij4m48WxZjyNzhegQXbikBoc5b1PhICcnpyNozHs8TDkq1trabL2y0cH6w5Xkg5n6bNoAxIhIr3veY/Qrz3+E2puySpJgMJbEqBhgCx0zBiAFgy30Sqx/mgTbDZqMj6myLss4akZ+mkiPu7y6/Xre+Rd6q+1C/esH/0G03yLd7pLG7QQXFuiPgs7dvkFTM2XNFZsM0iY1NrpfM1Mj7otFyO33UytcsQ2q1zHz6Ee1HXxio6PZPmnv2OJI0o2OAI074vYInX/hTWpu6ff5VQaETQqmMeP4MPyE7dRggL5gwNtrcN5qsAzBzOy8igY5uw+Oy81W6nYDxnKZVDnbJO+IWc4pn894GzOj1saMbnrEJr345ku91ZkRDp/xhN04Io9jLpfx9mmnFs27ZEDDNmbRgOvIwLBmHKUrO8+dJF4Vb0lyZMxCy1wvlooC1O08Z4ee9OQn6fa7HtA3vlnbxizZVhXRnic/8TpvZT5ZzY5ClRcr2rv0vBz86lOSJAJAdXS069DhI9Z7ClWPkVTkfs6I8d/qbUQA5+DgUIzqDPqmZXCY/qq4z0zoWtFWaaKuznYD+Jze9Rd/asDdpUbGrYLHWCrmyL333qUGb1k/5jGP18+/7rd08Mi4vEOsRzz8Mr37r96rybFBTY4OuD1F91ku1qFexQJuesJj9cA9t+n973+/Tue14PGXuN3Mk//KtYtx2ukIKTeVgKMpR8hOR/9TrYNcdhcAf6yBp1r/TOhZn7E1YGje28YVJsSZMFxjXeYK7QYgIZN+XmPVMyJDFr6RtZzxSpvPiOEKlZMV8h6ShSIsQigAIkx816EXvEDet5H+5V/kW7mH1FmvDAY3IdhzzjlHDDjuAEiAMyJI6yVnOR86nTZjeNpMJ4DEmfBMNmyyvM56XMMX/nQ8cllYOKIH+ei1HnJW4jEzMyMS9mWCcwSUnY6tV+K/Wh5txdaZTEbcebGocZfHXcju3bvt4Ba92Cd63eter//15+/Wc55zi+a97TE5MWbn0OktlMMOuBS1aeMG5bIZhVB1y8jDnoveOtqz50B0LKllHDHIKhu8ERGrRZgk6lRTuVwRz8K4gth6bG1trhbr2Au+PIfDD7Ru8bYo/bNoR8wzNkRGDnkrqLWlWTjQWKvq06JDrJj/pBfsGsiq8YdnsB6kkiNrA95GJbrR1Nik9vY2O9Rpg6SMeTaYyqxYAM23Yi9PKhpAEql71hMu1++/+hrt2NCkjAGV8YYdb+qUKIQQwUg2TcRWHcdCLjGHIKulbMZ0EYglol4IIR4TXxQMUnZubNX9990tIpVPf+bz1NXVHftmanIyRsm6Hb157g3n60mP6NN5GzOOUs2obFu3tvZreuqITVqOiT6pVKr6ZN1n8ovm+HDCd0BTE15w8ZPU3NId21Mpl5bqYAXbxVeNjk7wQ7cNjjrRz6kjOfyo66FDA5p3dCaXkZ51/UUqV4LbnNhObrfbns1kfJ06+egoQ9YALRfzE3W0ZPXcx5+rJz3mfE0Z7DEv5JfVcZss232BdBwUawUR3KbGBi+T7V4ih3XIETOirVbaY5rnwFynTCobP5cFuMW5EDFlLFx+xaXaed75+tRnv6Yf/Pj2CHrLppdfbQaXz3nmk3TVlZeKcYesPb4BKAH6XF57hxDEzcaObVt8bIhfAlkwQK2VcwwhiG/k8txkxnZiG7PksdzS3KKDBnKsCehDO2v0OUcSe30TkfE4KruAaBv9fP0TbtYtz3tpBJbzC/OQ6znPe5kuv+oJGh6d1OCRw3rj2/6Hfvqzu2x7rOVk+VNee6Y8J+izxz76Sv3JO98R6671Y8FAjDWE9Qrbs35xxGfV9F8rr1Ohwy7IDSFEIMv6xdpVdhQUvwVoORV+p0LL2shjHtu3bxe7SMim/dgRe5wKr1OhhTdtZpwjkyM+Cn+MrU+F16nQYlPkYnPkZR2NQz7XE96xo/xU+K2VFv70I4kxVRtbtBtb47/WyutkdMnJCFACI9cUCSFUqySuyjbmi14k8Y9qP/Up+Va4WrYOnyx2RMXa29vjP+jMZLyCLvFNLJuOII8OYhFbKjrjA50KT450Oo62xjSEIDqh0WFhbMIArJWtxxGe2Bv+yKnnSVvpA9rKIGCQ1JefyTkDijYzmZGBfWv8aD+2ZvAjd3HZgl+jO50jbUAudZFBGzknIbe/v18k7gAB5uRv3rxFNz7xybrJ6ZOf+qzuvvse9fZ2egurwX4uxASdfUR0kvsPHPaWzIQ6fFc/5G1Btvo6vT3Jb3mlqcewHTz0CnYMrkSUYGx8wuCuL0akEo+1WL70YRKNjk5o776D6u/r90LYogXfHRbs+IlM3X//g3Z8+fisWGIQA31NhPyaM+2Yt5maPIbQo6qDCyrVVLbDRf7I6JjBZVZEWahT9gLf0tykEEJsF3wrZkxatPOcMkC48qItesvrnqDHXtrruqkjYqmBRmJwkQo5xnixfkMu4/wQz1MDtqwBR6O3MBvy2fgs2WKp7LKKgqQ0kQFX8DHE4yuedrkKBnAzM1P6ypc/522oWVkl5fI53fTIrXr5zeepvy1rmUE3P+ZcvfD6Nl192QXun3Z1954vCf2DqMO5lKh/48M1PDIZn+GTX7TNhxXfIUlVrRwkJbZF2Uf6rhytES/8wdjq7+9RBGa2+aHDjsh47AIerL5+/hmXaVt/swBbU3PmYYUytkM2m1r3NIJXbJPaANklUFbIZhzpyej8TS16zbMu12Mu26pxj5V5bx/LL/oC3ZGRpqlBjvk7osmXE/hn4IAe/ssDP5NRrkXI3Hf0bdn9XnYfR1BmPUsG1wCzRgO6666/Rg/u2qfv//CnBl+LbnPF0mQzBPGvin7+lS/Uwy+/RMxfbhAAfuihulcIwWOySVu9lV8qFoUOROfqSNy/SQSPvT3dAlwRVcs50kuUb+/+gwayC0dlUy+EoILbB5CrGHSzXu7Zfa/e/Zd/oqydZTDRom+GSF3dPfqF1/+GejddIMbXV79+q97+znfpzrvu0/jYuPifoHyJgm/iJkmiJzz+0frTP/1Tczjxm35mDaEO8rF7rUYIQThPbmrxJ+u9Xk8ZQMJz+doVQvC60KZt3s2BZm/dD39qHV5sMfMzQKyNW7du9VjNHOVK+9EnhOCbhqkI4o8WnuHJoscltobNSrbGb50NW9PH+EaAIG3L5XKoEFMIgXEv9KEculiwTh8AesYO7aJ9ITCqq8wZc/hLrgCE2IfzM0nJapVpHIOJxiMU4SvSeuHR5ZdLj3+84r9g+va3JXfcirRryMQAALFSqSSiYji61aplMpnYERgCo5W9oK1Gu5Z8eDDBaC8Lymp1sAU0yMdG2Go12rXkU5+BXut0+K9UL4QgaJCNnqSV6Naax0BHLvQMaNrD+UqJiY5c+oU2r4et6WsmGLYO4dhAr5dP/7Owtba2ijvOe++9Rzc/6Sa95jWvU9b93+OtKHQLIdhB4ZhJFUckRjTgraK2tlbNOJp25MigmgyC+vu6DarzCvVCfD7trcXBoWF1tLeJZ2/QydnHvWe8Fbhn7wE7+YJwsPPzc0oz2Qhidu/ZJxxdR3urUs8JXGa9UwT0jhmIJdYTMJi1c4/MI2E88wI67cjccFxE2603DnPGkQO2ptI0qTpD01eAHmZesRNHb8DUb7/yOt1y/blq9fZkJgkGGokXalIqk8UUI2KZRC6Ozjfr8+wSCIF/6oK886y++G8HZctIg3mkidLEycesAcubf+HxyiYVA9FZle2IjeX0q89/uC7b2e4+Mb155Ny+Qj6njmYDtSsb9OIbe7WpO6MQQkyMvUpl0W1aVJrJaeOmy5XJ9evQoSOOqhVV/8pmjy3ApeK869gCABqnYEJfYRGF+OcMv6P9vA4BTia83RtCcK7U6/GSa2jS337idn3uuw+oqSGrnra8y4Jm561LEpQ4pU6ZNFEt5WynXDb14p8on8uoMZ/Rled165VPv0Ibu5s1ZlBRXCgphCBe9B3bj0maxpsBwPr09Kw6vX2YmG/ZQMzmdVvKtmF56VjxuZP1Zk1jrgHKAGc9BkkKafz5i6rtFGWFEJS1rS+5+Hw95xlPiu0rextzvyO0RAShVd0rk6YR5Pf39fjGYtxR1ynL9qCqo8nlbBNHv/hJlwkDTkAkYBJ9eW6NuV/ja/FKk0Qtzc3m26GBw4cV3Bvzs+MG4c3WLRc5Fx3BYr268MKH6bkveLUaHTElCv35L31Nf/1/3+97+TmPpwWFJKOCI3NXPvIqfehDH9KJXqxD8GQNyWQyq5KmbnONhjrYdVXiNRQgE1+BgwaI6xStAAAQAElEQVTwhVDt8+VVkdvT06Pe3l7tNSir3VQup1vrNU4f3wjfk/nGrAEx6zXjCF1r/bVWWfV01IUHaxh2zNUBono6ztENuRyxNXXIP92ErVkD8QOkEFa2dQjB63pB+EfoCWycrkzqMUbwjYnHNm3mSP7yFALzLyv8J23FTstpTuU6WU5MB2LIEEK8w8Owy2lWvPaE1GMfK23fLn3609JPf7oi2WqZTHIiIcPDw2axPd5hrEa7PJ9OYGIAbOgMBtBymhNdz/sOGuPT4Uyy1Yy/nAeLAJ1FPh2B7Thfa6LNTDLk0aFrtXUIId75IZ++Qv+1yqzR1eqhP5O3ln+iYwghDngmHLY+nUG/1glWr0cIQWma6K/+6l268uFXOip2lzZt6lfGTlJLL5wF/T4xMSWiYkmSimez+KHXxJMKB9TS0qgQjp/QPCc25MhZ1gs625MNjYUljscOC97i2bf/kNgS3Gy5ZYS5OOfowMGDh8V2Hc4LO1IU3Vv8AByW46+ul+xkuzrb1Wj+IVgHv0UyH/gPDY8Ip90atzkbNOmIF9GdfCGvEIL4q9jR0UYfHE2a05zH7c8980r9zsserQ0dDUoTRQCRNSCiPXI9+2bls6lT4vIQE3ar0qTK2oaJ6YIEuVMQD/YXchmlZsizVkniPPPMOJqWcV7W529+7XV6xZMv0POv36nfetlj1NqYVZokkR80FYUoE8CTz2bU35HVMx5V0M1X5gwWy1IAYBqImK7iGyns1tzcra3bH+2yDt/TmUbVV7G4oI2bL1ehoU0NTZ0RQFQM5soGZBVIXDnAx4lL0oDB9di4t1GzWfNaVEdbi9eUFiXWcX6+aJA+r3v2jAhdM5mMWptyMc0tlDU9t+i2hJhieZoodZszTlk7d/Jy2TTW5fm8pzx6m571+IsN0tIIcMoGW/SRFfXb7bCSefdjZ2eHo0xF60O7FV+Lpi0bMZejDcoGZItO5UhDGWtKyTenlO/cuT0+0xgrLn0wHtz8WKfR0bQbrnuMrrvmat8clDzWGrTHNxBTvpGAhrRUTTnbhS84NDU1Ojo5qmnfkNTKOAbbsqGhoD5HGQFjbJ0zRhmTg0MjGvKcQSfkR/qgaI9egFxrs977nj/XR//9/S4qq1BoVGq78Qzd3PysQgh69GMfr207LtAPfni77n9wj9sr5ZtaVGhpVcg0KtfQrEbrZgYPebPusN6yVjc0NER+DyFaIYN+bmpqijc8rH/ovwLZqlkLBpXUoy3wSTyWViWuK8CvbN++PTptABU86opPego42LNnj5DPdmhbW9ua2hxCiOs1NsJmpJMKW0ZQW6/hQTtCcEcvo1npMuvxhY2wMe2tjZOVaFfKo8345FqfrdXW9A3jAvnILToavBL/1fLQk3rMu1P1jdiHBAYhrSZjtXz6J6kVoghM6HQMSYNqZad03LhReupTJQ98feITcpjihNWRy790YMD19fVpo+tj1BNWWqGQDsMYgDPasRaQgtHpdOS1tLTERWMF1ifN4o6BAUvns1DQphNVopxOx9bIZdCdiH61MuoxaEIIjq5MxYVmNdpa/ulOsFp9jiEEL7IFMUZoLzzJP1HCNrQZWzNhOJ6Ivla2sDCvv/9/fxd/T+cD//Iv2rSpz7LztWI7PEBPxQ6oGIFYuWxn6sV/yAAHAIWDAAil6dGhHuuW7Z2Gh8dUNNjavGmDePA+hOMXm7Id5ZEjQxpzlABAV7BTLdmBNjQ2aWR0XPymWJOdIOMuOuDI2R92wP40qJpymlZra5NamhuPX0RNU/IeIttZI96ehAdgbGZ2jgapuUZvurKBR9kOOyiINgHWnmYA8NbX3aCLtnUpZ6CQcftIaZJE0FG07lwXsolCQk0pcRl2iMAik8brJARHzEhSmgSZldIIvEIEVI0Of9lUsgpKk8RJkT6XTXXh9h5del6fgUxemTRVxjwrFfMyHfWy2VSpGWbML3XiuGNDRi+9oVGPPj+V3J4Kz38Fg7OjBkzU0rZBm7deKUDY+RfeoPMvfIJaWnoN1h6p9vaN0T6RHKUqNpCc5YyKQVrFPH2pnB0Ci3oumxFR1GwuqymDDsDEvMdUc2NOb/6F6zyGraPbbZXdhiAijC2N2QjKiqWK2xuUpolS06TW8+i5K5Any5s1iNvS26QX3XSBnvDIHZr2VtZRgFMRmok579MIMpoMNCruT/lVcRtIZfcXAKzs/OoRYEaqgrOK23nvvferp7vTtarvsuuQFr0tWHKa89bp177xXf309ru8/DaoqbFRl116kduV6vDAoEHbovWo1uUzhBC/GAAwy2RSR5VHHRktURRTcNsSt5Nx2dfXK5MbEA6aZtGOPqcjg0PRpugWK/gjhBDLNpj+8KF9es+7/lS3fueravA8GRw8ojTNqOw2s/ZdetmV4obh/PPOiWAsyRpcZRpUcuaeXbvU3dlqjsfe1GENybpvm+xf0O1Y6drOQghePwpqtG3mfUOzlrWr7D6Znp627Sqel80eM9m1CaujCiEInflFdhwv0f61yD506JDXmQPCL/JsbQihjuvaTrET7cVutAM7nqwm6zW+kTroDY+T1VleHgJjIR/bTZtJy2mWX2Nr+pgjvg0ft5xmLdfUQ2/40I76MbpaffQjYStwRAinbus0TePYAhPQjrXaGlpsnaAoAwMQg1MAWIRw6ooc10gr5f1GxV/7v/9+6XOfk7xdcxyNL4gOMTCRy0ClEc4+ozcGoSMYQAw+FuXlDGlzrexMOr2eL/JoB/ajU5ns9eW1c2xNOXTQh3CGtjZj7MYgoq10LO1z9nFvBgZl2AdajscRnMZFbdDDC97IX84GXSjjiK0ZdMtoVr38/vdv1dWPfKR++7d/W9lMiBGOemJ4lg3AeFB7dGxCbJtwnHFEgOez+nq7lMlm7BBxitVE/TFHTiac+vq71WuaNE3IPprs++J2DtG1tvZWR1faRNsymWyMTD344C7ZTwlHlXBynISKZufmNDo2JqIJAL1sJnOMt88qdqRE8oZHRoSX6+xsN9AicrLoxatBKfPH3rtivrTRB7GwTExO6cqLNut3X3WDrnlYf4zI5NLEtkmPJldT8F+DwVAm4SxEAJUxz8wSbZoAgGSDWIKdo0JFIQS3iQT4SOzEjx35uYxcLrENytZD1i/E8oydeNaJoxlICgKINeQzyloW8mPifCmR35hPdOW5Wb3ixoK29WZk0dbROlkXzu35lLVzbnBErCLULNsETi6XTOcr57okmJT8RV9WFOJfxfkV61m2Q++wPRtt25J4ZgowG1x6+Tld+r1XPFYZ2wH9UoPFxLbKZBJho4ZcRp0tebfTEa/ZRZU9ICgPHiboxzn9Mj1fFue97Q1qbsi6P3Letu3Wr7zgal1z+TYveRMxqiGDVCsadeSYJKkq4lXxZUVlj4eynX7F7Vt0JJVUKi06amTZMb/i8Thm+y+In74Iodrussd+ydEz/jclz2J9/JOfF077YQ+7SGkmozvuujf+u6RGR2W3bd0kxv2AQVRVFvKrKYSgjvY28cwdz3Dxg8PQUBpsU45pmsTny3q6u6zvooYcIUuS1LYtiujxvMFgxXaClhRCUEtTs3q6OvTjH31Xf/e+v9TXvvJp/f3fvlsjI8PRtr29G/S4a55gfmWFTEGVJKMj3vK87647NHDogCoGmfBCF9Zr+LOGZNw28s8kJUki1mB4wXu19XpmZsZzfjY6WZz0mcikLnJ7vI25detWjXmNWG0bc9z+8r777hPPUG/bts3z4dRBIPLqE23FN2JH1mRAV30559i6BmAIFqRpSvYZpRBCtB9+Clvji5YzRCdsTT/gn6ANISwnO6XrEIJvDvIRRNf87koM0Ae98E3Ipo9WojuVvOW2xq7L6zPPkUvba+M6IaNWeT0UOU4onck25mMeI33ve9KPfyyvKnGR4hsiGB8ghjLH1VuHC4zL4GPBoqNpPGwBQyQmIxMshED2uiVsWOtUbIt8mNc6HVtTvh4DHb61hNxCoRAHPu1jAFLGQEAPzrEzduF8PRM8a7ZmojPA4I/dSbSXCUbeWtL+fXv13Oc+WzfeeJMXrRE7mQ5ht1pd1n3aRXQJx0C7AEE4m0Zvs+BYCj5CFz0f3s9pdmZOfHOxva3VkbZ+5Zc9CwH9rCNUBw8dEfr2ePulYocYPI4rdkx79x0QYxbnxbfR7GGtUsWp+maLFEBIX3R5eyqX8yLqYr+ravhkanJGRGmKdqTt7W12TIlmDCDRO3uUvhIdNZWwJVuZjYWsfukFj9HzbjhXGzrzSg0eZJ2yuVTZTOrTIPt1R7W4DmJYhxDMPyjjclLqOs6y2hUF8fLRGYkvjEkMdaTUF6TE+fGYSEmQUl83OFqGrIoBRsY2yWVThZBYblAhl1GTdaQ8TYMSO7zEFdM0iTwzzstw7hSPLmtrTPX0q3O65bF59bVbkIKkpNp2n1cqVtX2xwYVGqeyZRVVMRBxkSoxIlbGTM4vV5PpXRDBOzSMD8CvrP8Fm1v1K8+/Ss+54SLtH5jQT+49vKQbOiaKAM36oT86NhVSdbTkDDoqMWKGPkHSzFxZpbIM2nKOqOU8jjIq5HNOWTXkswZnOT3q4g16zbOv1pbeVo/hUYMrV5BQjc/aicpuV9ntYX0qLYGwkscG/+Cb49zcvJfNnxiIbdO1j32k7RrMo6KSgRsAk4ftP/HJL3qrdEZXXXl5vEnY621KxvHmjf1qb21xhOWwDh8e0ObNG7RxQ58GDab4QeRoV4xkjXhnM5kYgevu7vANxbimpqbJjikoxGPO7esxKGt2lI/yMUePu3u6Yx8MeCuzbPvDF2KbXPQ/OgBBx8ZGrfuivvalT+rDH/pHZT3e4Qo9z1c+cM/dOrBntyZMNzUxpQd27fXcmNGcb3BYQ/L5PGzXNWXcZtauJEnEOonNEVBbr5FJeQhoSsn6JOTyUD7PxrI7NDg4GBnTVh7Y5+K8886LoJHz9Uy1NjHm8BXYnzRj8Mn61uLdIta/9ZQJrzRNfYPU5DFQ8Xid9LyqPiuKTGQjE79MX0C/XimEEO0I/5mZmbiGw5u+ps85p4/pE87XK4UQVLM142m5rZHPuEavmswEZ7beitSYHz22tkpPfKLKPo584AMa/c53YgiWO4X1Nv5RmUsngBQSqH94eFi0FSOcbbnZpbA6g43JxuA/G52+1MyjB9pVax9yaTeDvL7TjxKv40kIQdgZ2eO+u2MbujYY0WktoooLC3rrW96kSy+7TN+79bva0N/jAZ2LVXGG1cRkntKhQ4Oe2PKkLomfmQghiGhXc3NTpI8fS2sok4G7/jSTikhBU1NDLK7/WPDWJU5rbm5Bfb09SpMk8s/m8ho4Mui7+lG12bnlc+iDFyMpOqKynSrRKxxkZ2ebQXFBwYAj+rCaDvPFGFWY9qLX5O2ShoaCZqZnBT/OBbFZVuDoo/wi6lB2lODFT75Uv/vyR+vcTa3WKyibJmrIZQwAMt4+ktgySy0v6B1JBgAAEABJREFUB+ByfUT6UmmaKE0SA42gEKyr9ZRfVfYVJc70W8F/ieliShMlpCSYUkpcZgigxOVRbj6jpoacFFLNFysC6DU3Zr1FmJpGolriOvEYgqrnidJkKQUpjeAsLB0TbexK9dzH5XTNxVnJoMvV3ApbwhEjZyy9y4qXKB8WVamwtRYkg8MQkioNA8RnkIw5YjrqbeU0SQWwetFNF+oltmNfV5NuMxDj2cFHXrzROqBXEAAsTRMlFp4miWCZJMHXUktjxtGvVEMTCxoYX1BjQ0ZtTbnY5qy34LJpGkFxNlM9ZlzPp+puyejZ155juVeYT9kOf0ZW2LorAjHUrbhRjJ+ygUw5ArOybv/pz/SjH/1Ed999rw4e2K+bb7xGj3zE5cpmM65XVsnAjZuRz33xG7rn3l16+OUPEzch4xOT+tZ3vx/H6sb+Ps/HfEx9vd3up4zuu+9Blbzlfs6Orb7hyIqfbZmZnbU+FSertvRuKBQEmGNcDg4NGxTNLpVUD6ZWc0uT+P+ZjQ0NBnwHNWJbFwyYhgz2Rm37ssca7ZNfIYQorxcg11jw1uiwbTGmv/zff6Tdux9QCEH7dz+ocUeMp6YmDQRnNOLoUWtbh1hDGj1fQgjmdPbeWa/XDW4LgOjIkSO2RyWCh9R9e/akymtFo4iWZTIZ3XrrreL3F/n1f54TO5tyQwgeGwX3S87R11HxzU18BDY4m3LhTZ+CO2q+kbz/Ct9IXzKWKh6YAwMDR4E+7UaHs5VCOGZr7DzmsY0NSCEcP64TkCkKni1lanxx0AfszArPeY76+vuV++pX5VFQKz5rx5LvNme96NDhrQaEC3b6pLMmcIlx2Qsstg0hONTfGXPR47/C1rSP1NnZGScdcrFDVOIsfiz6rh1ZDPr29vY44NFjLSL/8R/+ny6+5CK95z3vUY/v0Jt8B16r5/nj04rBV1EDA0OOsBa9kGQ1Mjrmu50F03fGb69l7BxNKFXipyp2CmO+g5832NqyZYNp2oSTrZZWP+kntrPGvYXZ1dXpRbhB2Cpr5wLI4jmxrB1hU3QK1Kky5xO9eFaIZ7rQt82A7agOkDphk9HRiahroZAXvzk27zFY8figTgiekGaGkyPJLyJtOIbHPnyn3vjaG/WIC/qVzSQRNGTt6QEPIUnsnKV8LjE4S8XD9yT5FUJwO5MY1TJ32wMBADBOq8ck0lTpEgOR1CCJBH2wAatH2VnKclM7dPOz7NS0Zcn2T9XWnI9y3O0Kzgsh+FoxpUkQyQdV09K1L9JIl4iIFDSkbJroqvPyet1TGvXI87OuExRCkBQUgjVyE0IIcgv8zviYqGIw4wthS7kzqvYzIaW2j9967KX9+v2fe5wuO7dfd+0a0k/uOaKHndOri3YYdFsmtsykadQ1tW4JyWKCgnVQTMXFSgS93a0F9XU0aG6hbHvLfZKxXdKYqBtCcC3JB9cLStKg1GlzT4Ne+dRLBACc8rYzc6Squ9yH1hrdncoer2yHlwzCGxryetRVl+mJT7jGTrvBEbZFj8tFz6kFfff7P9a3vvPDCJrO3blNRQO0u+5+QPfdv0uAHsYYOsgvs/WnvA5Uo0v8lMXhI0NqamzSeefuEN8EHRjkm71FTBgTFUIIamluEs9Xlm1n5kiRB6QrLl1KiWlaPeZ7HUkmojfg7VD4hSToiCM+zI2KFfDblWS7BOGEero7tWhe1CkuTCtJEs05Sjw1PW2gNhO/BDM6MaOvfe3rbu+c5/uCzvar7PnInAMY9fT0RHtzfbblYh/AAY/vXHzxxV4fqt8mX/AacbZl05+MRcARABCAxNp3tuXSZuRmDYLxUayR2Jr8sy0bucjr6uryvM34ZmPGc5AV7exKrtm61RgEe9Ne8pZLTQq+G0LJszUApqam4ld+Mf6WLVvU6HCoLrhAuu466Y47pC9+Ud6kX67XGV8zwQBENBqAgHxSU1NT5I1edEy8WOcPBjY2ZfFBdpqmx4VMz5ataWstBEunI7emA2XY42wM+npbY1/uOFjYOMe06LTaRL/ttp/o2msfp9/8rd8S0SCeuQohUC0m9C07csCdN1t9acaTyNuKAK329lZx90+/RuK6jwlveUDT4W1BIm0s+nXF0fEQQTl4aMAOr1HwWrQjTDJZzc0vxLt+rnlOLJNJXRUv5IPfnBUN8sYcCcyxqHS0OVqSNc9KnNxBQcY0mp6a0dDQaKzR2dFux1kyqCzFB6mz2Uykd6FJzdHvRUcvZrytumNTl373VY/XM6/ZbrBFFCrx4pEom02VGpixXeZKlpkoY+eXJlIukyBVC6UKRQYEEhk1U1ojLpVIIi9xvcQX1CUlzqwml0uRJnVB6rFLyph/RYH4lRryWTXkUmWdV8gmyhh0lKx72YAimKbGJ01CBCQcfSpSmiTiOk19dMpkUsUU5SSORCWOlOX10hsa4vNl8iuEVFYv2ovxgHGD86XqZ8VaVQwaVHsZAZy3uSVuTz71sedpbHJOX/r+g2pvbdBjLt3siFcuRhnTJDEYCE5y8jFIyCGha8lAbGK2JOMddbbk1ezIWGM+o562BqVJqomZkvu7gjrWTT6WbftK5OHmRLskZpS6nQX33dUX9+l1tzxCF+3sNXH9uxIvJr1WTjrK9YgrLtHznv1Uby/2mv+i5S/GscNzYp/5/Fdt96wuufgCtba1avfe/fr+D34cbdvlMRZCiLyOfVTE3OFGhrWItWfKW5Gz8/O+SRi3TVq0wduYo75xIRrGXLP5jlZPk0SAvA0bejU3S50x61TVt0aU9Rzo9s0MCUfDvGL+I+OIwR5rT6WOaQghRpt7DcwAqHzLctI6ERF+2KVX6B/f/wF95StfE3xZQ6jL2rUI8q8JXacjvGd9w05ircQfJm4ztkrdiaxd87bVOok7js241w+2K5G5bds2sVXY29srImaAtFqk7rhK63BRNvikXRzxE/XrNev0lMfh2bA1qmNn+pJIHPbGxtia8UI+YwW69U7VcT91dEwhF7ujB2OWxFhYb7nYE1tjT2zNmCbRZuxfK6vJ9dhLokMig8L1MgiDmPArW2YAMRA4Mo4mA0F7YunqqyVvYUZwdrTw9E8wKsYl1QweQjiOIQOQiU4n0WYMcxzBaV5gO/jZqII/nV7PimvyQwhxD51Oqi8/3XP0ZzDDD/60r55XCCECQuwBHe2uLz/d85qtmWTwJi3nhS4MPmyDbOpAwy+9/+Ivvk7XXnON9u3do+6ujuiYKSOxftOuiYlpHTo8qGwGAFNxeH3MzjBRf1+Pt44aIK1LlRgxG7ATaPSW4JbNG9wPy2mk2bn5uF1Df/T39UYHqmB0ElLxC/uzvltvaW5Wzo7GXtZOls9qKtkpjDuaRtQAB9RgOXUKxFPsgQ5si/Fva1JH7qbNs8FRt0I+Z36V6MD9WT03kJmdm/PWWkavfMaVeu1zLldfe15ZO/GsAUsO8ONzFDXuEVGxTCYoIM0fwck+xPqmasinkTffEDRzhRCcVE2SoEuW8tIkUZo4hSSW00IXKUmCsE3GgItEYWkxuH8SFXIZpS6XX7W+TBMpb2BGdtFoMbgs9UWaJKZ1MmBL00SJU8o5fF0O70yaGhw5OS9LMh/y+9tTPecxhbiV2dkiq5A6Kb6QWzEAi4kc8EGwNeMzZT467xVPvVwtTXl94XsP6oEDo3rqNefr3M2MscTtSJWgW5oYyISoY+KGhxAUZCuYHw/ssxXc4ShgR0tOOfcDupKyPm9uyKrd25Yz84uanFkwSCmbl5S6fUkqJT5ynrqfaA8pn00NOFM98aotSpJgSciqOAJU1F133a1KaUHPv+WpuujCcyO/UmkxAjG20j/7+a9FAHXpJReqq7NDgKevfeM73vae0Yb+Xo+VjKx+5MlHxROICC83HEnqMaFgYDZiuW67rwdiNMuy3V9zBhw7t29VryNdgLdJO2RXh83RlM1k4pzjyzJEcxjjRwuXTvL5nNjGbGpsEHOE+U4kAj1GvKVZ8m5FjW8IwbZK45cJGgt5feozX9LhgRE9/ZnPUXtHl+pfeeaN/QU+Bbm0rb78dM9ZB1mvM25bk2/UU9ulnheOk3zyoEN/zs800Q6AGPy2b9+u5b4RfTZv3uy1qykGM4aHhz2nK2cqNvLAfvjGRkf8setypqzhtBnbQLfetq7ZNITq+K/Jp83IZc1fT0CIjek7+AKIkFOTyTFJkoh/0As6/BT5Z5qwG/bDjtgau9bzDCEI+1PGeKBf0DGpEeE4MQhOnYlEYa3sVI7UG/D+LKmvr08bNmxQCMcb/zh+DuHp+uvlFUX65CelBx88rvhULmg8RmVi0VCMvVr9EEIEKQ1Lzw1glNVoT5ZPm2s2w4Z07onqUM7dUE1fbH4i+tXKap1OZ9KO5Z2+vB72QL8QqoCQwbqcZq3XDFxsTVvgCe/V6oZwzNZjY6P6q3f/pbcnL9XHPvZRj49eD8zc0aos2LSLNuFM2L6jPwcMsspGI4CgtraWZWOq4shTUTxXwzcGd+7YIiJeR5kunczPF3VkYFiTjp7hxHK5rLBBmmY0NDQinrlr9HgoFNCnugDGT3/Qx9PTMw5xz9qJtKrJC9oS26MHniEbHhn1lsuUGuxk4D/jOrlsxvQNCnbCtfZVQEsVacE6LZaKetp1F+n3XvlYXXpOV4yspGnio5NBipTYQQeRlzc4CyFIvM0vTRKliVNIlDiflHOdjBPgiISomAxaXI2qSuSXlXEWJ05SCEEJvOyYUgMKmcqYQMF/jZabS1PnyFeVmAwnxCv4g5S1zMZ8Jl6VK0HoS6ryTJQmzquldIVry4Q+NU3ZulmIzunP6ZU3FvToC1KDIqTIL1uv4oPfFd/tM15kefY4zim7WkWf++4D+uoPdusZ156v667YGmUnbp/fppE4JmaX8CHJp7E5c8WKxhz5asin6vIWZdbgK3W70yRVytEphGD6im0V1NqYUVNDRtMGZvMenyGR6WhboiRJ4rZxNk2UtW2yBmQ5J86Dqg3Yt2+/+BLLTTc8Vtc89irlshlvl5XjuBwdG9c3vvV9/eSnd+mC88/Rli0b483Et2/9oSO4h7TJka2GhoJCCKq9MBs/nXLoyKBp55Q1vxGPyWJxQczTtrZWbzfnHKVtiv8YemBg0PVT3ffAbpWs/47tW6y/b0yODLj+fNWkOvZi3G/c2K98LhfnzLyjycdKfVaRWlqbFeeXb2gAHnOmSWznoeEx8WUC5hJ6yi9Ux/dwg7Vr1y7dcP31+u3f/i2NGIS4+Og7SaqOEyfGWsvaebTwFE8WfVOF02fc4KSz1vNELJCJP0Emsql3IvrVylhr+BkLHt8hSAFYXY2WfHQjchZCEL/RyXpL/umkmu60lbaEcGzMLOcXQnW9BrzQ3nkD9uU0a72mzeiNzRh/8DxRXWwNHfoCaKh3IvrVyqhHffjA72S+kbmNvRmb6IveWo35SfKRyfhaq63pD+YAtvbycTx3FCfhECGgYcdTrH4FkkWJIs4AABAASURBVGdSIYABh0KrU9eVeLLp/PMVf79scrL6MxkjI3UEJz5lgmFEdMWoa5ZrtrWJzhEjFovVb3646KRv5NHppIaGBjGYTlqpjoA62Ir6pzro0ZM201YGXAirT7A6kfGUOgDCGg/sFwvW8AEtdmLgYmsG8hqqRZIPfvADevjDr9Ab3/Qm3+W3xm+ExYKlD+yJTkcGhjQ1PasGO5sxOyXGIlt+nZ3tdjBZiaaSJAOVsvifkPFbZZs2mG+Hc4+9WfgX7WjGxiY0PDwSnyNr81YncjLZXPwx1kOHjiibScUzM4kdB7Ur/qBupVyxY5qzjCrI6mhvi47WxUff2CLyt+NjHEFDdIz8xsaCQlhS1kwrS44Y8Ea/X3bBBr3xdU8waNhkABYcvUl8TKxPEuUAiORXzpGjqmoV85MdPeVBwZkh1I5SkORLpZ7Z+ZxpnME2JgAnqPZnHpKvJADs6MSs3vfRH+ljX7nbEZmysEHZAKdckQoGEDmnKrG1D4otoK84sRglFpgmiXUKlpvEKFredRbNgEQ5KU1Ms5SSJEQ5wQwSp9TXJAe+tFAsG5jAJ1G1THrMRRm95kkFXb4z67ygEIKqL/fP7Jgd+J54SX256GE7+/TCJ14S9UnMJDX/xHWqSVHn4Bq1VLKuYzOLStNEve0FNeQy8Tw1AMsmaTxPQgLrCFJsGpmd80PUtbO1qtf4dDHa0KRRRmp+wRcZH9MkUQhBYUlua0uTzt25Wc982k0R5DNOS+5wxsVPfnpnfE6su6tLFxqMMZbuuPNe3Xb7nfGZybbWFoUAJzNbehcdgRr0GCcilTPImPCNx6S3AqFlTM7Pz0WwV4lGkpi/WQM2QEK7b3JGx8b04O594rmwC847RzzryA1GsVhaklA9ILWlpVlbNm+s3giNjvlYR2PjhBAc+Wm1rt0qGwARIZMrJknqm6IhzczOiDFZ5egKPmko5EWk/P3/+I+65JKL9d73vEv4IBcdfSe2YW29Yx0quc1HC09ygg1ZS3CY8DiV9TqEECMpDV7n0QkeJxF3tLjihWTE/izaub1dmzZtEu04SnCSk87OzlhnzP0DMGPtOkmVo8XQTk9Pe8xWIiDPZDJHy052Ai12CiHodG2NfHicqq2xM/KxNfMBG55M31r5vAEkbc7lcrHPavlrOaInPplxxVhhzKylHjQ13xhCUEtLi9eGlOw1pdTrDPMxWYmawVIzIgbBqCvR1fJQ/EFHtkII4l86wLhWdkpHTzZdfrn0uMdJ3/2udJLny+gkZNMBGBFjnpK8OuKsFzD0pgPoTIxbV/yQUyYkdLVOD8GrzUOoTp4RQogThQ5h0MP3RLXQCzrajr7UOxH9icoY9NgN+5HguRo9ZYwF6GpjYzXa5fl33HG7nvnMZ+h1r32tgUYat0ZCOGYvr1fC7vwfvsHBEdNkvBDPenty3AO7yfTdRx9KVt1rZnZWY+MT0YFs3NinJD1+OMMXnQ8cOByjAvyMBU4rTVIt2PHt23dAxYUF12/25DlWt+oeJMb9+MREdKxd3iair+vEx0VuxluRA47eLZYX7VTb7JxzQq/m5kafZ00j45aKynaCFc7Kis/i9HU163dedZ1efPNFaiwkymZTZQ0KM25D6rRoJcoGCXkDsay3vSqOBGGyYK8GqAhJUEJyZrDqPiiEYAk67pVJg/I555vfgrenyjaKT03DZ0Xjk3P65T/9tO45MKNv3zWs//7uL+p7dxxULpMYlKQKlkHfQx3rWg83RsEcEpJPkhCijZIkUZL43Cl1Asxl00QltwMezjpWHhIDuMT1EvMKZunt5oWyr2V7pIKP2ZpG8TxrfZoaUz3xiryef01BG7syCiFVCImmJgckBUdsdomXm6hzvD2J3EUbEl7km0TwDCHEI/nQTsyWNO/IWK+3iVsaMsokiYFx6qOT9U98nbgOPSm/gsOKSRKUJHLiGMwvqCGfiu1NN9fbmCW5q92eJNJUJJVtO9Kij7cZcN3y7KeI3xUru0LJNw1F3wzec+8D+s9Pf1nzC0VdfNH5jmQ1at+BQ7r1+z8Wg6nP24qZNI3yzJKsCLKGDYoOHRpQzuvYnB0S86LRNzQ9XZ3u/xykHuctmp6eiufFYtHza9TzIhsjbUS8ujo61OEIGvPigV17tHFDf7xpOuRoGfzQE3uRYJLYBn293drgbf/pmRlHv6bcRlpKaTVlsxl1d3eKG6rqXBmyzJxvcubdXyNacDsZG25cbIsURHS7pblRb3jDm3TzzU+yG/iClr+ybifrHzabNuBYNOhbTlN/zbqFY2cOs+6FEOqL13weQojrdQhhTSCF7V2ihIwhghTIXrOwOsLUfQ6Q4wdi+e0yAN6J2lz2GJtxnwAsTnW9rhMbT7EZPLA1POEdC1b4oC+xNXT449NtL6wBZMjlSB/TFvJXS5TjG7EVYwObr0Z7ovwQgv1NoTpO7WMYN7RrtTrYA/0W7EuQy9hcjfZk+V5SViehYRgEZWjo8gFABx04cMCRh2Hxe2KdRvKrczuFkubmarTsUY+SvvQl6d57j6uMPjQeIxDNA1SEcHoT7DjGvmAQwY9OgD/GdvbRN53Oc3FkYPzT7XTq1ycGHfxCCF40p73ILtYXe6Eri0FOu6FjkhxHcJoXIYR4F4F82gv/5aywBbJrtglhbbYeGhzQm9/8Bl155VX66W0/VgRNXsRr/FnY6csp38XvP3AkOhOZN3fTtcW+uampRn70uOBFfHhoVGmaaKu3cZb/jAV8570VyDckF+3oNm/e4LoV27DiOlnxTbNJA7l2RwVy+Vx0BNSpJerwDAzju9sObTl/MxOLDpE8HBHOhjEDEMtk0hjZAxlV/EH7fFDFTndubt6gq6KXPuMRev3zHqFuR2Jyps9lM8pmU6UGHRW331hRWbct5zxkUR97JC6LxyTY0QfxhyMLISi+fAiJnF9NJhNFiYKyBnWFrMGR7VE0MPPBW1QVve9jP7KjbtVBRwmJMpaU1Z/94zf0uj/6hH5y32FF/a0A+vtC8IJnCEEhkBJFnaxvkkhVmceccuqMAu0wLd9WDCGYxsn5YYm+ZNBUcSo4opdJRZPkIoOx4P5KbQtSRtFWuYx29OX00usLesbVebU2ZdXQ2OG+XTTQHVewEhWD38RAlChXzjxpb8WdC88kBCVBTkGzjsRNzC2quy2vLqdMmihx/WoKSm2z1MQhcXsMwlzVbXZd55nMPHweFPMoS5wPfXMho9bGnGbMe9Jgj/HEdjtrScWOEl2e/tSbxKvkzi45ysP/Wv3kZ76kAwcH9PDLL4lbfjwc/83vfF8jo6Pa2N9rJ5G3LAukohMAecYOg/GcWIHUxuPZMih6u7vEc5CMQZPGdxKSuK5MTEx6PKTa6ghXa3OTeSZOwUl2QllHmTs1PzfnZfd+8VxZR3ubx0rZ88bbmJYHM5uTQ0ypwcLG/j41NzZozBFtxjly61M+n4u8+EkNaOa9jdls2UPDo27fmLABdqHzq7yDo2ud2r93j571rGfp+S94nnbtrgLuKHTpA4fP3JuzvqQqj6VCH5jDU1NTcRxBh67OPuN3dgkQojdr4+IyQMj6QDRr1vbiObH29vYzlgkD9N+yZYuQD9DDF9W3mXPsgE74RuxDvTNNIQSvaw0xwZ/2IaueL7bAh6AjPipJkvri0z7PZDIRBNOX8F9ua+YV+chHLvSnLayuIu0A/8APeyK/rtjLYUXYgj6Gbj1svSaL4fxp6IIRIMJp+KgXCQYcz4jxAGIIoV7X9Tl32E9Pf7rnqBfE//gP6fDhOHGZYHQ2OoWw/nJDCHEAMIFpL+2u73TCkdhkfRp5PBcmGnIZ8Awy5NY6fT0n2PFSFResmj2Ry6BnAHJeG5gcl9db6Rqb/ce/f0QsRO/7v+/T9m2bxIJco2XBZTJj1/37D4vFueAF+/CRQd8xL8SFGJATQnAV970BgQdBdCY8J0a9bebZ5aiVCY6+4Vuyg+Nr/SOjY9q4cYOynsxzXvzTTNYRgXGxbdBox9HgBH1kXf2IE4yJx7++aXekgK2bKnP0qJ7Bf8S8x8YnRQSiqalR43ZwFYOARm9nQFUxY9ISW29hlWK7nnzNhfqDn79WV5zbpaaGrG0eVHLzYjNdkQgWjjVnEIF3RCrXMXlxY8xzblKJQgS4cpQl+crM4tEffser2oeP0OUM+gAec0Xp+w8u6nE3/5Ke+7xf1+Ovf4Vy+Q3iOZ+enl5NzBb1x3/7VeH07983bOYw4FA9BisQgj9ryfKibsEnfjtbVvloItJXyKVaNDAlcmVO1XOAWD4RbaZOcN3Uq1KaBKVJEhP6ZtKgjB1/LpOa1snHS3fk9fPexrzhyi3qNGjYuOkyFeendN2lTQZzEvxSf+QtN4Qg/p2U/FqwzKGpovLm0WtQnIZEiYJMosQfRMCC6Twg/GlY4f70SSw3qUiJCTgGjv5Iask6J2mijMFcW1PGW75BI5Pzmp0vmV1FgFKbwNt2gzECOzo+ru/c+iN92+niC8/X9u1bVLJz/94PbtMDD+5WvyNQLb4pCcGCRLLl3AXMGR72n5ycMlAruN9G4xjjW8odbW3iZc1NzJlUttApR5Jy2Zy2bOpXe6Sp8ousTcacZ4ty34GDOvec7XrVy5+vq6+6XLc868m6/GEXeg5nNTk1Y/B+WAvFBbfHlZbe8GD94GcyGGeDA8NuX0kelDGhS0iC2tpbxIP/i74j4HfQGF/ZbEaDBmbMPfSseC5RCbPnclnxm2jf947JFZddpr/4i/+t8fGxJanVQwghrteZTCbezLJu0RbWLo7oRVmVen0/a2vyvKOSrHvIPnLkiA4ePCh8I89Rr6/EKjd8EP/XkrVw3759ERiUDOxpczabjdvRicdilXr9PkMI8QYeX4As2ouNOed4tmwdQhUQ1nwjPhF5HElNniP0xfq19Bgnxg5ykQf24IjdOccOyD5GfWZnyalUBwGizE9/+lOFEGJU7Gx0+kN0uuAClZ/9bM3ccYfKX/6yWjxTMdJD6NY5I4QQJzodzgPfDPSz1en1qocQ4qBH3sDAgBfTcrz+r7A1MmkjgJu7L/qcvHr9VjuvuF9uvfW7Hhfb9OpXv0qbvPC3tDQdJXexF/GKWDiGHOHi7pgfmBxztIrnXjrsVPmNouV9yyI9OTkj6Pj6fX9fz1GenMC37MgDzolFnm0UeNFvmVzOgK8YH4LO2AG3tjQruiEq1byFmbCgAqyYeDyrlqZMDXs+l/HGcVA+NDziy+AoQoedUskgsewIU7OBQxrbhg0iW1PhdHiG55zNnfqDX7hB11+52QAxtbNOHPVJlM9m7LBTzc0v2mGXdWR4Sg8Y/Ny/d0Tj03MKaVASU6IQgoIZ++Aj55JPeFePIR6q1/IrkUIITnIt+VXxeZA/NKc2HQiP0lzjo3Tnnft0+0/v0uTktPo2XKKLH/YMR2IX9Na3/U/t3Hme7npwQL/3ri/omz/ZrbKBTAhoobpXBZZLKVS3GVqhAAAQAElEQVSPdrwmizQhhHjkg7OCo3Sp8yYdOQrug4LBJ/muIkwe2+uLhJRKaRpsg0RJQgq+TgzMEuWyabRls7cYn3RlQb/23M1K5n6m1z97p5513QVRDy29go85A9E0SeIPuy54e3KDgRhbjCEE0wbzd/K5SeJ1CNV8X0SQllif4JREu0qcU8YxiflB8Rhsb4/FRUchSwZWWKvdwGze1/ywrFyedZumvdX9la99V5/7/Nfjlt4Vl14sYybdfc/9+t4PfqL21hbxjcYQXEG1l+eOeXJDMDQyqkbfDEx7W4p5wc0DNyi5bLZGHI8AIb7ByzgkisXD9iG4EbG0+sGYpXz3nv0q5PN68fOfqesed7VCQHY1XXLReXrhLU/XhRec4/GbEdv0g8NLoMts3JX+rL7RY4ujb9PTnrOOmOEzVHHZUgqB+dOu7q4Og7aiBr0W5D1Pi76ZItoH2EQnW3JpTslgMKe+3h698x3vEFt3n/zPj8e65nr0zbrB/AUYDQ0NuU4+gtWjBGfpJIQQI0esIXfddVf0GdyMos9ZEnmULV8MAPjt3btXADPW7jRNj5afrRPaBhDB1vgK5OY9ds6WvBrfEILoY9Z7fCPjhOta+dk6hhDiWKKdbBfTbsBndmm+rZfc42fmCbiCCB944IE4Ca688ko7oda4hx4n2wnqnWkRBufOCQM03nijctdeW93G/NGPZGXOlP0J64P+ASUMPO50GATowvGEFc+wEP7Ipe38ew06HTSOPmfI+oTVkQeIwdZM9I6ODnHOQkPZapUpO3Bgv17gbYUbrr9Bba3N4i64nh6aiu98J3xHf9iRMNo05y28oaGRGGkCZDU0FOqrxHO20QBBfLNy29ZNyhrExIKlj4o9wZy3K3bvORDXfJ57QeckTZQ6GrB3737Nz82q3duTOMyK65F8iO+i7yrHJ6Yk+52uznY7m9ROPxOvoatYZ3Tgd5yKxZLaDRrz+Zz4tlhrS5OBQXbJaeD6FHWoWCccZYu3037nVTfo5555uVrtlDMGBVmDwtQOOdiJlwxw2E7zXNfXf/Cg/uY/btP//Kdv6c//+Tv6vT//nAZHZpQk6ZIuaGP3bt7oiozgE+oGVV/B15wF8+YITSVIkSZJNF3KaTj7cP1k6CJ9/7aD+tH3bxPOvVROtOhUdlq0U9y+8wl6y1v+UP/tN/5Q//tff+KIVFYf/PID+qU/+7Tu3DVo4IAuOvqqv0oszCItM8QEUTXPuvuCn5KwKmpvziq1Pea9bUj9EIISF6RJ4qPP00SZJOO+4Ojk66xTmgRl0iTmp/E8xGue3frDn79OF2ztdFmogqigyCtIGnFEjG9CbupqiM95ESUzbjKdqjTmFUIwZajqHXy69A4hOE8Kqr58KVLijxCCz6sJ0F4FYmUBxspGWCULoY0thVQ9bXkVHRKdnq9o08aNOjwwpEc6ApUzGBkaGXOk7AdRnw2+4UjTJPKtSlS0OXNn/4HDVX0tl7kDkGFbkQfi4+CjQuBDWvDW/qgBEfNqu+dOmqbVgqOfFc/vOe3Zd9CAfErPdSTs2c+4Oc4VSOL4MdNKTLLcRFc9/GF6/nOearDYDokOeKubNbFSKcfr2geyNm3oV39frwCMgLMKY7dG4GM2l4vbmG2trfFfNTHPGxobNWWwOuSIGfOtWscauC7jpM2R640b+vSiF75YVz3yKt11911x/pmdSp7LRGpaWlq8/vS5/QsxYlZ2H1B+thLrT+3fHV122WURCLJeLxo8ny2Z8MU22J52n3/++dq8eXP8mQwAw9mWjU+gjYASfMWCd8+wPTqh29lKtAvfCCAEiGYNiJBL/tmSCV/ahRza2dPTEyOQtB87UL5eKTkZIxq6zyFRHiTkgX2cNHUSL5wMfMonJiZ0NgZ9sVj0QjEZkSmgCLm+FZGe8xzpooukj31Mjg3LYYpYtF4ftKXWJtrI4gLvQqFg8Q2OIMyISUgnkb9eCX7wBVAgN790x8Gg4xq9mIAc10tmjQ+2ZoDhHJhkIYToELA77aeMwVijrx2np6f0pjf9oaNiO3Trd7+jLVs21Iri0etoXDBnHPHZs/dAzAsh8R32kB1n4gW72+C+2fkst8cSizGLcpKk2rljq++KCqY59obvgh0Ozz5NOnq2fduW6JgXPGby7qeDB49ocGBQ7e2t8X/mRc7xwzx8XFwsG1RNedEu2rm0GRQ2uEBRVxY4t97niltBEwaRRCtaWpriTUg2k/FdcGMsp8/QpWKn5dqKE7SyqJc989H63Z97nDb1NKjgLbNcJhUpYzBWUfC9hGvYiY2Mz+gHdxzQZ7/9oIYcKSjbieN0Kkr0F//yLZVNU7aAiqQyMoJcW+LDXWQdKOEyiOsQgmS6REFJEjRfXNQnv7VLo9qqe2av1qe+elA/+fGdOnJ4QCUDwvKiTB5UKpUtq6I02+hI2IK2brtWv/LLr9LoyIhlSDz71NTcpr/8tx/r7X/7dQ2OTrui860fNkBHklW1ZHSIxT6HRtaj7GlaUaNtgV5QWD01eLuSyNu8gZlMTVmapMo4pQZsnCdJ4rZUUwhBIZDkvKDE59g0kwRlODdt6mOs4+Oc+Q4bjHW15tXTmvOYM12aqKmQUTaTyvhTZmheiVNQmvgYlpLPg4LiCzNz6mNwHikx/xCCKv4r2+kvmlnJBmVsLfp6fmFR2KOQMz/LBEi2NubU3JDKLJQkQfzY6le//p0Ywd2yaYPBb04hBNVe1J/zdti+/QdV9thoaCiIebFgB9jd3aFWgw+Lt5FrNWS6skYMxMrum53bt6q9rfVY4dLZosECc2RgaFiXXnKBXvnS54kvvVRcp+S5wfwjIae4UFTRc63k9pXdrmwuq2c97Yl62s1P8LwpqGh6gGLR25g6qowN5fPU7eZZtUbrzeMGcX4s6cABqkJDXn3emqVtI478QcP5Yc/feMNgXcsYwvw4kDY6+j41PqorLr/cN4LPF4Co4gLWyRCq9iNyQmI9hSflyFyvtGi99joyNTY2pvPOO0/t7e2RddYgAT2w3fT0dOyPWLBOH7SD9rAm13wSrJHLNiZrOMETfAm0lK1Xos0AotTgnjYmiVca27uhoUHYmvai23rLhR/txabIpY20CWCGXPKRDR3565XgV+ONHBK8a+1HPnoxL8g/05SsxgBFCEXy7UkeIuTXg1eixTCtvsNh0AMWqLcS3ank0enj4+NezCp21q1euFZQ0wNAz3++7CGlD31IsuNwhVMR8xBadKcdDGTaVANE9YQhhIiOKWMAFA0A6stP9xw+8IMvIGglPpQx8NGRhL4r0Z1KXsl3lYBP6jDQmWCc1ycGHWXkoSP9wyD9+Mc/6kW8R3/93r/Wju1bDFYLkMRuQDcSi/pe34HPLcwbxDTpyJEh8cBwf1933LKQwhK94nHRIIGHmXFC23lOrKu6yGnp5TU3LnCDg8Pe6hjRBh4mbm4wSJ5Vmsl7GIz5LnG/mr2dczRqwKpPMg90qm7hTDmS1+Lx1ezcurfXctqH80AGE7Crq9N3+ZMGFItq8ZYnPI6mWLWikp0VUYCrHrZNb3zt43XFue0GYIlwwkTGSG6qZu2kaej+gTH91v/8jN703i/pA5/5qebtYJnURALZDspmMnrUlRdqEaBkRyy/aALtBwAkHofoEMyUZOuZovqmrOzTe/eM6G8/e0ibLn2JfrinUz/+0d0asJMj4re4mNq9JSqWFkV7FZJoV1WKzq8ohEVt3Hi5uUhEOxfLQQcN4rKZrMbnE/3mX35Rf/7B72h61vTWD11IscLSR/CRiND8Qtm2CAZAicrmTjurDtYEfucMWBoNkJBRdpQuSVOlTol1CgEuJlp6c0WS+XjkWE8KKnwoSUJMaZqoZJ2OjC/E6/72vJwlozfTJz5AlyhNgwFhak6y/RclhfjmIF4YO2DtavKp+SUKIVGSJKYI0WZl27Bk57y4WDaYrdimZUccK8plk7g1nSSpx0FqeYlic4KsQyJeP7vzHgHEWg32QwhkHU0l8z1w8JAmHMFtaW72eB92xGdGHe2tvoloP8qjVgH7T/rmYXp6Vju2bVa/t/gooxkkbFaulB2NGtOuPfvU6S1DnhN71COviO1A3ryB1+zsbHwuEuA37JsEjgAjor6Ulxwppg9bW5v10hc+S5c/7AJlshlNWS7R7zieEFyXeIB/65ZNzgkadvSrZHv54tjbbedGpN/RQfQ45LFGe1paWsQ5a3LZfUoe7eCYpBlt27pZ3/7WN/Wwh12i973vb7wOVG8UaoxDCHHdSdxfOE7W2VrZ6R6RfeTIEe3evVtEpdjFWIkXazXrB7qvF0jBtgCi7BLoo13LZXNDTcQMH4qOJa/xy2lO9Zo2I5d1nz7BJyznEUKIvpEyaNdLLrabNrDFL2LTleSSTzl9jL3RdzndqV6jP/ywMTYN4fj5Cb80TWObsQu0Zyq3uirAuS4BrO6++24vHiEi/7qiVU8xBkZBKZRblfAEBTQG2dRva2uLd4snIK8WOVSrl75U+sEPJH4mw3eT1YJT+0QmnU4bmEQnqx1CdfBBB6BhonB+qolOZ+KEUOUXwkM7vZ5nCNUFhjsj9D3dBQZb1yYN4JMJXi9npXPAN/a5847bHQnbrJe/7OXi1/C7vLBDz6IPX9nFLdo5DQ6OiAeP2wzYATjj4xNiW7DXd8MhJOASqsVEvRlvVYyOjmnDhj5t6F/5ObGpqWnt2XtQHR3t6nKiTjaXswMsa78jufl81lGD5qM8K9YFfcgolooasw7crfPtyTRNhLXjh0+gnZycjhEIIhxdnR2OhM7HxDlgBHbQcYQneuMwezsa9OZffIKeff05dsQZZTKJ0iSJICRxW4sGVvaFmpqa1zv/7mt6x/u+asddiY5Qfm3cuMGL+0ZH7EoGiS3CwTE2So5ILNgxm0TuegWDDhIXIVhpCmrK+DyEoCmDpHf+4/c1nH+sLrzs6frB9+/ST3/yswhWFXKC3YJvJEp2ikmSNyArabE0ZzMtqlicMbdF05SUL7RYTKJF92UulxX9NmvgODQ8op7uTu0bWdRr3vFJfeMne01TQbqT2fh00cCabxnygDwRIqtlvmX3eTnScM1JUIjAIg2JGgup8o6gLdhW1NfSK4SwdCZxis2DgqovC3OmqyskQfbZGp4sasGRsY2dBTXmUykEvxPR2yFw7iRewR8hgqaGfEZF61z0lmIIwfRuR3DyoA7WPIQg+IfgKn4v2iakknUtLZ0XfY7u2TQot9T/IYQ4DuR6ZfMamy7pnz//oP7jY59Wr23IuArBhRCo+gJ4DHgrn+hVR2e7iNACiFp9M9Djm4N8LlclrPuc9w3PyNiY2CLctLE/llic7c2pbeQ2zM8v6MFde2PeK178XD3jKTcqseySBwTrH3Prjrvu1Qc+/Al97Zvf0533PKDp+aL2HDiiH952lz7ysc/oPz/9JTGHcJIAM2xw3jk79MqXPFfnn7fTa3Y2AvcB3zDRT0iv5scmhQAAEABJREFUT3xZhwf/kTU26ptuj++oUE1Z68N6wk9lFA389u474PnQ5jm4IMBpyeACvpC7d2LVJt98Afbe9ta3ikdLPve5z3g8ArCPSc4uARjqsu6VkXuseE1n1AWs4hu7u7vFjlHiOX6iyiGEGDkCpExNTQk7n4h+tTJk42dY71mvTyYXPthi27Ztvgk+4gjsAZ1Jm/E1gBLWf3ifKKUGKei46PWFNqP7iehXK6OvqY/tkB0C82Q16mo+YJG+po+xVTX31D6xE3LRH37IPxkH/DE6zszMeKzOeVwy505W6/hy5Cb1WRiAiBgdf5G3BNvb2+uLT3oeQnAEoUUMFnjA76SVlgiY4HQ6YGgtnb5U7djhSU+SeL7s05+WfvxjefQdKzvBGTqOOxqH0THoCUhXLKLzGXxMNPRf6+CDDhvR6YBP5K8oYJXMEEJE5iEEoT98ViF9SDZ3EAw4BhsD6SEEq2SMOAr59Kc9WVdddbVamxu1YUPvUcpjC2RFM75T3uPtSb7NOGeAPDA4FCNW3P0C6o5WWjph4hCNaved//btm5XxVhJF8KymioFCUUTaGOYs6IyXip1YNpf3neq+uLXd1t7mHA/pimvXkk9Ldpij3sIpefsOIMGCITuoOpK4dTQwMCz48k01+nXS0YaW5iZls6kYJ0wY6gZLof+ItC0a5L3pF5+k1z//KgOKrB1xav2TmBI75qIdfMmOPuOF++8+9gP9/rs+p90HRsWr7O2tAtvSVqRitIZzKxTyHrrlmBYWSnaYUmo+c46sARioJ8vn7WqxFYs2Es4eWf/4qZ/qJyPn6jkv+UMdOLxgIHanHfqMKFs0WimWFny+4OqGGZXgdk0bzM55AVmwjWcd4Sk5FUW7kiTV5m2P8AIzL/gv2okBBtI0pz37DhngjWqDIxrv/vCtes0ff0Lfum2vTKKZ+ZJ5VgyugvUPKrtt2M7KRrnyyyorTRKXJwo+0udJ8HmQGg3KnLUUtZKC8+RX4mMIQYlTCD4mwWU++rzitvCjrOMzRXV7a7K1MesymRYZVZpg/lGGmQenxPUT15Vf2DJnEEWKtja4qlQqCiEo2A7QhRBsJ4m2lG1L+os2eXhpoVhRmibKZqAnuS1JNdH+ivW7c6hRbEOnaaqtWzYqoTxo6VWJvMcnJm3bA+LGYtEOjW3FQiEntvQa2RVYoq4dSgZTALe8x9GObVutQxqLKpV48Ecl6vuAgRgRzuc+88nx4fzGpgaVFktaWIqI/cxA7EMf+U/fMMzoyisepu2OsDEPpqdnYiT5ggvO00033aDHXfOYCMw++dkviy8CMF+KBklld/wVl16kpz35RmHjJAmxHTMzBvpRC9lUlZiCyzb6pqu3t0tDBp4zvhEzyXFv5h+RWbZb+UIVgJRz1roRb2syd+ifyNWN9dvArVUb+nt1y3Nv0cOvfLj2799rmx41ROTP+sM6D7BiDazyiEUn/KAv7rzzTs+FOeEb6cMTVlhWCD3rbQghrlXYaxnJqpczdvL4FvzMqazXMGSMbdq0Sb29vWIbc2ho6CE2gW6ltOCbL4ANYwubhXB0sK5E/pC8Wj38Dfo/hGCVDGyDXPoGm2G7VUhXzIYeW1G/xmdFwmWZ0GNrxgbtRf9lJCe9bGpqEmMM345fW6HCQ7KQy27kvffeq6RWus/Rhf3794s96NVCsDXakx0BFxgEw55s0Jc8mZlkNAIjnIz3CcsLherzZRs3Sh/4gDwjVyXHCBgNHQFEDNxViddQAIgETNKhpNWqIJcOxy7Y6HQ6vZ43tkZ/Fgx41pctP4emZuu//Iu/0PjY2HKSFa+x0Vvf8kZt8CJ6++23C9CUpNWhw0JIm0gMwAce3GuHv6h2gyOe70I/Fkm2LI4xry6S6AMQK9qpnHPONjuhXCSp8WSxhebgwQGNjU3YiW1W4kVh3gtFzn096MXl0KHDanc0FaDglcb1q4s+dUmTjnjRH0QimlsaXV59I8PeweCjrEFH8nCEra3NBo5NXjCnxHZno50W7YKuyrUixis6FT1uX/Gsx+htjoq1N6Xe+soqb+AGeMukVcc9byfN9a2379Uv/vHH9b3b91eFL32W7dQXigsGL4sGQ0WrX4kJeZDc8+Bh27KsxH8Fg5ScbT4zvxgdLHXLboT9vIwa9JUf7NE/fW1clz/+lx2hCPrsp76ofd6WIoKDriUDR5xnxVuP5XJJs7NjBl3Tbv+CU0kVg8MK25WVsnUpqaGhSSHNqqW5x/aYtCkram9r1Qtf+Fo99Rmvt3N+tbe8LtLe/Ye0ectWJWle/2AwOGcQaVwjktWzrhW3z+2ShL4klvUQ4qdCkog+JT9SVUxoA6RJUCGfxrqzbnMweSxycfVY/fRl3AY+Mjonfv+ruyWvxHVJLMyp+4JjkliO8+FjVlQT+lW5kOPkNzrks0HBtAuOsvlMic+DE2OhlmJlc5k3DeWNhawyaWpA5qO3mzl3M1QyqMq09OsP/uqLjjr9UOfu3ObuCjFJQbVX0dGg3Xv3KYTgLbZGby0PR7DU091lQNQqeFVp0dCXVp4fUuaG57xztpumpVp89JOWVXTA8+PB3ft0xWUX67WverEdc5fi+HWEdMERM4DORxz5mvc5IInj3Ny85nwjxZExw40HcwhwNuUIdWtri3ig/otf/bZ+dNvPvE04Y/BcdFtLamos6JUvu0XPiL+zFjTnucr2KM79qGpLJ1lHrbZv3+IIUsHtHYo3Q9GubtsSiQoNBfX39Ua+RwaGNDu34LHZoN179nv7dlplA0H6xBZZqloRv3c4PTHmCNa5+vmff7VmDWhq/DiGENRkx0maOknUCt4Amb179+qSSy5xZL4DFqedaDN+bm5uzuB36oR8oMFH4Vuoc0LikxQi97zzzovtJsK3Un/UWGBT/ARzBh/FsVZ2Okf0b2xsFG2hTSfiQX9AAxBD5xPRnqwMTAEfxjCyT0SPPQBv6Mq4OBHtycqwFz45hBDbzBharU7R8/Cee+4ROODCCy9UgqJ00IYNG+xot69W77TyMQiNq07m6eN41DodZWvKH0dwJhd9fdLLXiavaNKHPyzP9KPckIc+JAYbOh4tPMOTEKoTHeNiV4xdzxJnTj6dzkCpLzvTc9qBrbkTIdXzo81jY2NesCriDgnaF237hP7k9ZfFPscW9fT159/65tfV0d6u9773r33XzOLZEItZM+HLQkhf7tt3UNO+G+62AxlwRIy7WIBYj7dlYoWjH1WHwu8dTTgasN0Lcp/vlCmu8oxn1lXWdVSAuo2OxDU3N8aFP+8oASBr/779aigU1NSIPjgf6h1Ls3Yw45OT0VF1GBy6a44VLp3h0AZ9h15wVKqzs8PAY9oAoKwWbw3Fti2xrWqs6MjGvOV57rY+vf0Xb9CGrpwWHAHLRgec2BmnEVzM2UmnduCAoF//H/+p//jyPa5bVpomqr1SO28ceW9Pt5IkFdu5IQTx5w8xVh7cN6Bffsd/6sH9I7EaoCXnCMy8I30zcyXJ9BUF/Z+P36sLH/9r6tv0aP3oh3d563a/jHE97EuxPSVH6KSMEgOs0mLRNSwl0J6iHVopArIFA8MFR0syuZwam1oMyhYMMDIRB+QdhXzJS16vG29+rR54cEwP3r9X2K6jc7suu+K5Gjgypl/+1d/RIx5xtT70+dv14jf8u9777z8w77LlL7ovK06KrxCCkiRRmiQ+WglLiLaWZHzqT97BuRxlmwYVcokd+6LmbddKzK6YtqIFXx8Ymovt2djZYH0T16tShBBiX/hT9a/E+SFYrslCCFGvimuVDUgXCXUxCF0hayDXkM8I02FrymqpYkXnHUErmR7dMrEvE299ptYhVWq+ZdPMlBK94++/o3f+zafiL/I3Glxo6VUVY8nWY4+35fgZi3bPM0AHY6G7q0O9PV3RTlZvqVb1MD4+Kcbhjm1btNE3SfAiVUvN0BWGR8fi/6dMPbZe9+qXqP45Mfp6zsDm3z/xOf34p3fpsoddpNRtKHnQLDpqViIZIJZ801F04sjYmPecmjNYKxsEAc6uuOIytXV0xy3O3Xv3xyjzgh1M2XZhXr7mlS/QheftUAiJRn1DxY/fUnZM16rGrFs7dmyNc2TU25hl265asvQZFKNf/Y5+LVof1oQmb1N2d/eIdWfRoLdsnSq+mZDbDv8kTcW3sj/9qU+qo6ND7373ny8xO3YIIXiut4jxOO5dEtp5rFTxNwv5sgBbk/zweX3ZmZyHENRogNLU1BRBGYChnh9tYb1mncZHhWAD1BOcwTm+B8ePH7jvvvsewglQgj5tbW2O8mceUn66GSGE2IeALNpGG+t5IXNiYkLYBNvUl53pOVFF7Aj/OQPhen7oQd8z/qEJYf1snbFfgOeCb0qQXWFg1gnH/kTG6I9am70+BZFB5TradTsNIUQjMxBqnQ1gwDB0Oh20bsKWM9q5U3re86TvfEf6zGeEYUDg6ELHLydfr+ta58KPjmCi0+lc02aOZyOFcMzWyK21lyP9C7D69//xRO16/1V2cql++dkb9JU/6tVLnrRDv/3bv32cSmOjI7r88st085Ofor6+LrV7OxECxlR1YOFMKuIh/UOHBtXm6AnbD4MGYy0GNP193SbHOfhQ95729sTQ0Kh4zmXr1k1eDJecYiTlo2JgNKNdvqvnAfee7m5NedskzWS16IV69649drRSS3Nz5FqtwTJcTYtemMfGJ1TwFg5RsSRZmmA+BIVYh60WHB+Tsaur045g0c5kNrYx60nkNT3SuYU+rUTGExNTam7M609/4yl65dMuUjabqq+jQS3eGhsan5f9hD799fusoxypyeoN7/6Cfu8vPq+pmQWNuy7bt4t2VJHx0geOYNRAOeNwEg/aE+0b9rbwhIEq19jZTdb/+IdvRn44M3QmAlfIJ5qeq+jO8Uu04+Jn6stfvFX33X2fhm3bxXJqvRNH1xatT0UhZLVQnFGpOKtKGV3nrMGiKnZgi46W0ae5XEH5grexDPaSJFU2lzMAHtVTnvhw/c7v/6WB8YJ+9P2fxP4GGErICOYfdM75N+lv/vrvdNWjb9Btu2cF8HhwYEG//Gef0233D1iOxfmdJIlS8w5JYv1CBFXOju8KSvis7HT07TzyK87IO0KYtZ3mDEQXSmUNjM1r2lujm7oK4rfNTCK6OuHD88Bvsh6S4EWigGPFmtRkhBBkY5lPVT/yg8vd1Zq1rDm2jS17zkAwmwahT0gSqkgKbo+cypotSn/5bz/Vn/ztV7TBIILnprT0cpNsj6rkMYOAfQcOqsc3MUShhoaGPa6btMHbwMzXpSpHD3MLc+IGgq2+bVs2H82XdawlQNP9D+7RmAHQ6179Yr38xc8VzSoZbLEO4Pi+8e0f6Atf+oYuvvC8+MUa8osGYOU4Hioqe9DRdhLnjNuyASup5IFOHnxmPJfp05tueoIWK4k+9snPi29Tw495iIJ7fKOWuE8mvf2fpomjt0e81T0SbQB/7M7gpVkAABAASURBVAEdqccAFHtNT0+L58vIqyUsFkJwhK872mvKkbo77rxbbb7ZAhwCzNAPnjVbULe1tVlbtmzQ29/6R+pzpO073/022cclbN1mAELdKUfM2MFge7Kzs3PNz1DrNF4hhPjYSWrwOO6xUDSYxUdiP8B5kiSnwfXkVUIIjiJudATxHBH540ds8ccTBkRE4vCPJ+dyehS0lbbRRtrKeKLt4ADASwieg6fH+qS14A/IRR4gnvZic/oevU7K4DQJ8vZFyGZcM7b4cXLsfu6553o89x7HNaEDjss5SxcMLoyOUnQChjlLoo5n60G9eM01mrjiCqVf/KJadu/2AnX2Or1eOBM9hBBD63Q41/XlZ+u8ZusZh+qZaPzrkV+65Tz96L0X6SVP6HH7Wd5Iik7lXb+8XU/f8AXt2NSmv//7v9cLX/A89TtiOjkxauDUZ/rgBdTLXFw9Kz4HNE1p/4HDBtuNdvZFERUreOD19XY7r+Goi6i1kQlwZGBQrQZrO3dsUTabMR94QoEuFYOaxQjEEi/g/LAkk9bSxO+J7d9/UFNe1NsN/GhftQZ1q4nFdNxArOy7ZRZ2AFO15NjnrO/uBwaHDTRmRUQM8IWjAEDkC3krU6VFJvxIPAOzsDCvP3jtk/Tff+5xaixklEkTZZ1Sp1w20X9+9Wd6y//9un5434h+888+5e3JT2hobMYRqqIalqIiM3ZeIRwbd9ijwQCorbXVDlDRxsvnBPzl14IjV3sPj+vVb/6o3vLXX1HF244PzF6qveUn6D4DoPvv3RWBWMnhnEW3v1ic14Kddwjut7K0WJpTUNlyFp1KWiQC4i1MFqMQgjLZnOyDlXMkLJcvaHpqWJdevMn3Ms/T7gML+uwnv6L7H9ilWUdVSubv6o5WlSLgk/dMK5Wyevsv0vv+z9+J32dbNLPRsXG1tnXo7z99t4HZZ3RkZEYhJAru24rbpGgKa+UxtehEXsX15BM3Qzj9Mvm+rnB0WcVyZg0YRyeLamnIxhRZmVdIfBaCgk8sQj4jQ1bPx2rXmpXMRpG3c8sG7xXzDiEodb00SZQ4IRfwW3L5okH0oo9JkDgWfZ0xGAvBAl1PZmoW5llWyWW3PjCnN//Nlz2+cwYCGxWCK8ryI11FyJuZndeevQcMTjOxHj9mnMtk1d/bo2ZHfkzqGsfeC3bUA77Racg3aMf2rSJiWS2FkmTd3C88J7bvwCE95ebr9VqDMdpScmfNe/ywPfmzu+7Tv330M2prbdG2bZsFX8ZW0WANOnQjYZeyDVWxvctuO2nRbVu0jLKBmVsj1nDqsr7gZFKDikc9+lH60e136eOf/IJuv+Me/b9/+jfbIautWzZp+9bNjqDPek4siHXwgNcOwCO8Kjag37aNlKSpAE7djqwDUOdm56pNXfqktRmvHRsdGWx1O6AZGh4V56Njk+IbnOWoe9XW8JWC2jta1eQbqife9EQ98pFX6cD+PVr+wl44y6GhIW3dajt7PVtOczausUculxNgEP6FQoHDWU+0d+PGjaLviATSlyGEsy4XAbSx7LEFHsh66xpdyD/bCTnIq9ma87Mts8af9Xb37t1eZ3NiRzKEh9o6wSBMqFqls3Fk8oJGaTx3Ha2trXYKi0I2k/FsyIQnvEHhLKQt/f1Kn/IUyWFi/eM/Sg88AMlZSzMGQyQALwi80SFqrhn0Z02oGdPptBlU/s53vlM3X3ux3vmcQb3jVVvV4K0fkyx7V4SzOXdTQV/9swtUuP9P9alPfkLcqdJfLGik2sI56wVy954DXpDL0TEcPjIoxhXbK0S0QvAgY9WsJUvDmbB479yxzQClwTnmRjnezAn++71Aj3srZsvmTeYXBH0mm/cCO+ItsSO+k2yKizu0JFeLfPhgHGFbtnmIRLGyBzcqBOtigrIX6OHhMU048tRkh0fEgvNCQ15NccvTdNbHS7irxhNv2RU9Pmf04qc+XG/9pZvU05ZV1hGaNEkjIEvTRJ//9n36nT//vH56n+/6R8eEY1VI1dTUbEdrPpaNvUII3qJo0KaNfc5RbAsnU44E4EwAhKkdUSGfU2dHmydsVu0xIhmUuB2ZTGqejbHJlz3icbqv+Hjdfs+0vvC5r2rXg7s15+hNqZyoXMnIARzRXoVExeKc59ms07y3JYuSSj7nuBjBRd7gK0nzwsHlfT47O61MMqXnPvvJSnO9uv32+7R31z4Vvc1ZMbJJQjb2+6KdcghBFS+opcV5AfjKjrQ1NvfaqUyqq6vL7W3SoSMDCiGota1Tf/xP39P/ev+3xZy0Iqq4TziPVvJH1NkFZfOsOJUNBmhwBTqn6flFHR5x9C2fqqc9p0ZHCE0Wt4yD2xqSRCGEalIinzgp2qJi/pGXj2VfxERlXwfXhTC4PvmLNmA8uo1lI0N0nC9CKDXkMxGQUwdgVrFNAJOlxbJ+8MCU3vK+r+oL37hNfPM49fjQ0qvi6rICRKHY2lvwFkbeTveIQRZAh7nT3tYqq2+qpUo+YIsx32QsGgjt9JZec3OTaYJLeEembl9ZQ8Mj2rVnv6684hL93Mtu0eaN/YLvgoHcgsHYmMHxv33s0x4PJV16yQVUjvOr5KhYyYAN/mXbGFuXbZdaWqT9S9fQkEoGb7Snel4ynwWDrHnhQxbcrk2bNmrM8+zgoQERAWfsIjCby2q7t1i3btmoEW9LsibPeC3hizolR92wj3zTUEs502/ZvFGFQk5sdaIrfOoTc3eDgRkgdsTzj7nGON5vUDoxMS36jiRbFZ0BPhs39Gpo8Iguuvhheu1rX+M5PhVtSJQIMMb25JYtWzzfmhypn4ztq5e53ufYbMKRKQAKW6v4C2xZAwzrLa/Gj/5DLvbp6+uLz8ch+wH7Rfq/Rnc2jqzXtBEcgG/EV6HL2faNRHXxjdgauS0tLXHs4juww9loKzyLnoc8J4ZcdiNZH8lHF/qB81qKEbIaOi/FiVErOvMjjUQoRxqfpmlkGkIQndDQ0OBoxUxMsWAdP+h0OphBRvtC8EJGYhuTn8nw4qF//3d5JVlHqYoTmMn0/3l7DwDJjupq+NQLnWa6pyfnzVFhJaGcQBIgIaISiGQwBmMbGzC2P2MDNuD4GRsHbPCHwQZsE23AZAtlQDlLm+OEnZxDz3R67/3nVE/vzo5Wq5W0+nu7XqqqW7du3br31K03vRJ+DcGfMWyXLTg0+CmCMslAMtFE5ONT9tXASqk1mbZv347Tt6zHJTU/xPc+vtaCiaMNVfg5en/0yqXzv/zMDB78p214y8XGruJFVwZNZ61q84wypdO1NKrTmGN4X+CmsaEeDvt3lFLlapoAa5oOZTVXx4paGVNpW/ogmjKSAkr6aYz2tlYITBW4xx/jyjRHQDs4OASfq6dUMoWlmiQsR6QE5Fl2jsZfUbd6bl0YUynFQpBzUTszzJ+YnEIiHuP2TAPrMHrECaK/nnSMo6Iy1zbxQEcWYJaRuDM3duCP3nsVztrYhJiAmFuhrW7m8iV8hFuS9+8YwwKjRnK0lf5HpJ+HxkF8a9WuBpSnaIDeuzJGdCL77o+cjsZrnluykq/OM9zebGBfprnlpGdgz0M6y1Vd3fiDj3wKtdltuO/eJ9B7qA/0l4h4CBkxKzGKFxA4hUGRjjfPfpRgjEFQLtDhFBEQMOkvJ0vUe4f9TiRSJG0oX4I4RdQKk3jlVefhmmuvx779Izi47xAmuP0ZEhgFbL9I510o5iydMoFeSLpRWIL93bKozHbKiPkpxOIZa+SMMaivb0CREa3B4RFoDg7OBHjPn/8I/++/H4I+FgCTtsYppDKEYYjqWeMX8L5MsDM8qSgJo3DZBAGj5MfapO/5hm260PtcJW4jGhhm8KtTBFhAwXPIR6IVkJbaANsCyxpjwK9NAUGPLcM2da0ili7rxNmOx4GX3DSWcW6fxn2X4DTA2BzwN197GN+7/TG7/bBcD0VDfYsoQ4H1SQIjLVoEHmQDmjhvFFF2HRfHfMjzPLfkpA8CECqjdo+WYQHeSFcGh0Zs5EmATnNROlwiCCtynKVz3/3+Lfjh/96JM07bDIEj6apNtPXqZ8j+Reyz5BKR4YjjESqR55DPJROdlSQ/1VG5MoGZrnUuk5ZoPvDAQ9ixfYf9IWfpNll82ld6sHZNN7J1aeg9000b1iBfKGKMkWs2f0x5YwyBUQp6F6xQyGOaoOuYArwxTGluS+pnbEKO4ejYGBc8tTYSL3slOYhfUDA6qw3f96D3Vn/wve9h9erV+PSnP4Xm5mboN8WqcjbGIE2HrfsZbieqr2zqlH1Fb5ZAzBguWBigMEY9AXXR2EWrfMc87WuhUMCp/uS4EBRIUP982lfRN8ZA/knvyo2OjkK/tqAxV96pStZez83Z/sn3G1Pps0tcIHAmwKw+Szanqk3RUT8ka/VVfdaY6rkxFVkLi6hd8afnpzLpPbGRkRG79b28z+JF2ERzR+Mh3VS7jg4SiDLFuAyFznr+QpIaUQdFV40bUxH+cpoSjBRP4EUCkZIsz38+11Jgta3OKxnz9HZpmYCtW4FrrgHuvRe49dbn09QxdaREkp0eqs/qm65XJslC+cYYuwJ7obLWQArhy/BIfhddcC6+9w9vwg8+1oRzN9UuNV8x4JUbXS+XyfLrSolMysX73tCOe//udHRn5tB/eIhbkpPW0E0TYE3TsWhV2sxtBZ/GrVLr6DFHgKF3XeRI9BMV0q9KrtqOrD+cm8uR7iBp1qChsZ7bYYtwHBeKOPT3D9CZBty+qYFDObEGzWmFgo5SYm2Nyeg3NGbhckLr+fI0R4cmHsp0HHJWAZ3MwuIi0owy+J53pKho60ZynCffrY21+PC7Xoobrtxo3w9zHYc8gMlYY6n/+ud3/+bHECjzacw0fuJDZxl7regd1hFNvYCsyd7GbVzxWFeXJTDxGUVawNDwKIFT2dIs06GpfdVJcovTsL6ca4xOX3L+lV/5IC667Gbs3DHAiFgfFEkUcAFiNkIkpxoKcCmqQyb0218hgVkYFik3ghw+L1MOrucjkayBcf0jMlvITeCSi7biuhtuwtBQHg8+8DjPYxwHcJwcjoODkIBPvIWKCHGrM4wCPi8hICALLAgsI6ADBwyaWzZyjbPIupQseXFdh9PNt9FDAZJaOrk7Hu7Be/7s+/jCdx+FMWoHPNgvDxHCCDaNTBcwt1hCU10cMdKJSC8CKywlw7P0Q+DIY36eoEzjzGKMtUTsOyp8kKDkpfp6KBqGTYKNR8wrMypWBRtBGBJEhsgTSPqugU+6gMOiDmsY6J/GeqHk4Ev/uxd/++93wo8l6OCbqL8qozaVIpaPMMW5ovmTzqQhe6gttSTH2L4nVp07hkX5VY0CFzxaQAjM678ecl2PfRA9FhDzTHmW6esfhGTb2NhgF7dvuO51iKdqMTQ+g0P9w9h/sA/7DvRA//dkklEm8VymngUELQH1IWI/9UwyqcpG7Utqen4ksXyZuqN6ZdZXAnnQfUg6Ktd3VY+jAAAQAElEQVTb24f9+/ZxkdEC8W3MUofE8jGp0oKys9kM1q9bhWFG2EWjra0Zo6MTBGkzSzUqZTWWDudDc3MTWlubMMtF3tRyYLbUlE9ZatHX2NCAacpcfyiRSCSpi3nq8ygC9kF9Fe+VMwFXphbZulr8zV//Dc6/4Dw88cRjS20fPQkkKJqi/spHHc15fldqW3QkR4EDnzbkeJSMMbSNtRxj1y7wVP545ZaendQpzwWs2k4yEJJghNaYJeEtqy1Zt3E3aRW3bAcGBjgmo8tyn9+lZCffqL6qz2rjeJQka+GBEhfM4lN6cbxyJ/tMsla78o0CfM/Uruu6EF9qX+VPhawFahVtXLNmDZYD/eW8G2Ps3NVYyIcraugsL6DVS21tLdQBFVied7LXAkSqq0FXMubpg76SlgSldiVAIVkN4Moyz3YvIUqYoqVB1fnZ6lDjgauuAi64APjOd4C9e5+1ysoC4jnHFYdkpj5IhivLrLw3xjAy4bP5WmukVX9lmZO51wSTrCWvP/7jP8Zvv/UcfOW34vit6zqgv/6q0JD8lSp3Tz/K8Onp08u01Pv48v/ZgK//wXqsbTYYG5+gc3UhIKZoljFLdXRiKtFgj09MoYaRQG2xCKiIciVV2inTMB4mwNP4tLW2MMpQRkin6DgejfMo5gnUarit6HGSyDlUalUohHQic1w1Sub1NOjxeKySsey4uFiAnN4it0Nk9GM0eIq2xWMxKn8MYrlCt3JU1YWFRZAJvPvGi/DeG1+CxmwSno2KOXAdA8NUZiShQCe9r2eUDjLiHCnhMCN4msQBnZZDpyFaASNWgEEyEUeZz5U3xi0l5Tuk09jYiKamRuje9z0L0MBPguXFq8rLSaVoNN/+9l/Fu9/7x9yyCbB/f++SYwHbN6zhHwF0NgIUMCJUXqTjySMgOAsJlAL95hiNmzEGCTonyVKgzKWTX1yYx9rVGbzh9a9FMUjjvl88Bv3mlcBewPGQUcwXRStgPwi+SA9Rke2GbL+MkFEx2wafi248Fofj+WynDuUyZcuHadqSl7/8BkbdfgUXXnQDWlrPJBCdQHt7J/TjtQ/sGGRnSJJfFidN2DQ9X8TUXBH1tb79L44iC6/Adg0qH8Nr3vMmIjjgCRQ5wZNBmfLP5csQD0eABr26YQHjyNzpCqwfUVYBt2NDBEGAMsdXv9WWLwYwxiDmufZsjAOH4xaRhvRPOnD3UxP45BfuwMR0jiCklXPZQ/WjcqTOeV20EWbHcclhxDEcg0e5tzY3IsNFgTEVPgwrKpWDMrcepxCjTq9mRFlziFlLX0knIo8Bge2IjYjpxX5jDIxRclDm3JP90dxJ0NnGGWX2OR7iWXIolwP2M4TuI46v+KxQJbfsm+4pFH4rT3WvpPIhgVdAGQWUke5ZnOVCjNMeHDxwEFrkCDC5nLNLDC+dKrTYAu91zdOyr+M43KLPcis4bvuVSddAoGpgcMQCqUpR1VMC56RH3WlGfV2GtmIMWmBVyhw9xuI+2lqb7fybZmRrlvZEzniKEWdFqNWnSumIfQDH1oGiljOTE3jZy67gGv2VOHDg6X99KLueol2T03y+9lp1Fxj5F504x8cYU2HlBEfZF/EvuQukHOX/BJVWZJWpG6rr0xZKRyT3FUWedqt2tXUrXhXlmaEsn1boWR6IZ/lktZ/mQuzp+vF0AsYY2pAEari7JP+m9PRSz/5Ecpa8RUfz4dlrVPRL8pGuS17i/2TqLS8zMTFB/TkA9Vfb35L58vzjXUsu4lNlnZUFjKkIRAojxVOnVpY53r0MuDqhwdYg6ny8cid6JqVXRzSAEuiJylbzpKBqV0KUMNWpat5JndlfzkjY/x+TBgJf/SpoaU6qqnhUEvBUMubZJ9hywsYYGyZWXfVBoG55/jNdSz4qr0nzta99Dde/4kxc23oL/vJd7WhIe8uqiZ+KMQN0jaVP9dnSrT3pWbVM9Qw6EYPzNtfi+3+6Ff/wvvVIxgwNe8AaKs8Tv1JcgSBFavT+TIarTj5e9q2U1Xti01y9ajXs0MkJwOklcv2Kv4y7Jk51/GwNHZg0xooc5Bm+r2OkIZVKWkOqBsxSv+QspkhbgE36V5+tYwQyB4+gR+CGokZERxQyGaNahqCqCP2I7bWXb8WH33U5NnVl6NQd9tmF69IRs5ycmbbDXMfBPY/14Mvff4yRuxQ8Oju1Kd4c5jXU18Fn5C1Bh+qwb9oqLXArRnrp8XnECJL6KAOjPsZiPp1jdARUGUN+SkU68gIuv/yluOnm9yNXyOLhh7ZjcGgYudyifT+sTMBR4PZkmZGqSJEq9idipCqKCqRXhn1GOmWCsZCeUzI1xoFhiseT3E6cB3eL8KprLkdj80Zs397D7c/DWCAoVXlWoVwEwCIYOBzrAoJynnT1rLR0LiNgBK5MJ+1RDq4XA8i/S8ARkqeOjjV469t+Fa967a8S8NRidGQKpbLD6EkXtp7+ahRLCVx62RV481veien5PG7+yH/hH75xP7d/yxibKSAeY9laD44DghkAMJY+2EYlVW8rwEx8E6vbsiriE0yXGPUqFCUPQHUMiRljdEnAGlKWSgH7wUQZ5hldEx2fQMxzHZZTWcO6oFwjlAlGnjxcwF98+T7cet9uNDMylWSkC0sfyS3ioUzg0z8whHku0uqog+ME4wHrNjEKnKXg3RWgJSTjk1MzFoB0d7YjQ8dlDNtdogv2KiR/ivaOcltPv2KvdtkUYgReFT0roMhtStlgbR1WziXKvAzxI75CtqP+6ToibSWeOJ6VK9GzVzyI1uDgGEa5H6s5FXCcRScgaFRfytQ9RcVinFudnW2IUZdFS7wemypPT3hkV+OM4HW0tcBw3gwMDqOzo83K//DhYTs/KvUj8krq5K+mNoW1a7q46IxhdHQcAWVeKVM5GmOoa2kCsxa4HMuR0THqfRExP4YRRuFy8wukRUKUrZUHL332oaW5Abt37cT5512Aj370DyvElh0d6lCSCyXNqXkuDBV8WJb9jJcaD5WPxWIWaIjOMxZ+hgzVlV2T/ZBfFt/PUPTIY4252tVZvtFdoXtHCp7gQvU2bNhgx6Onp4d6VjxB6aNZCwSeko+AhrDE0ZyTuzLGWN/oeR7UhyK34E+mptpUebUpeT1XWRtjoLriW7Qk75NpV/wpIiYZC4hJT06m3vIy6quz/MHyaxEWUyqkDkqpludXr6UYytdZgydnU817PmdjjBWIhKJBVXomOlJM5UvwKm+Meaaiz/5cdal4uPlmYGysso1JQ3S8iuWlFYcmiWT0XAd9JU3Vl+yMMQQRczRCpZVF7L0mlvockK8nnngCl1z4EkS7/hpf/lAbwUSSZdT/auItDY6ONGM80erweOJvtUz1fLS0x+2bGy5vxO2fOg3vvKoW09w6CGjk57g1ODc7j472VkZ+GghUKlssR9uMbMRKUbF2Gl0BbgEVz49BL/XqPTHXdbiiTYD2mByzbX55YRsvMsKzQLCQSMYhMOauMCrSu9m5eWibx/d9yGEtMjSvejWMtLmOU2EFRz9yWuJ76/oO/O47L8fl2zoR9x2QDRoe2CQHVbBOGpicWcDffOVn+O9bnyJoKGI+t4ASDYRAmNpXWTnVOKNcystzSwlLH+WLf+lMJl3L8Z3nluNsNRcuG1UZRfQUOXrXr3wI3asvxfYdvQRK/WyrwLIuHYiLEmUhHXDdOAFFmcYxR2eUo9PNEzSUmMo2RYgQj6c4FjHAuNxSiyNgJCufO4xXv+qluOCilzFStYCD+3oggKxxkLMWiCkT8DlODCEBZBgWEHLbE7ouFxDQESuVSgU4jocEtz/DyLEA1hiDYmEO55y1EW+44ZcZ8Sjh0Ye3o693gM4wRBR5UNmI5VvazmTEbxIjY5P4/E/6rEPvHSvg9z5zG25/cB+BrQN2gcmwHpZ92LNIysEsnsJQ95VrPa7c61kIqYnHQ5HATH0SkZD6WiY4EqhQClk/zzHWu2Ixz9h2HSohuwKXZ/EgEK/fE/vsd5/EV79/HxJcuWcZoTHGiKRNGr+IMhJgmuKiIM3IoACZAHhdphaKisWom7bwsoP0dpLlFe3S/PEJcJZl8zKyujI4PELnlEQ9AV7AaJUfi3GLv4CBw4wwspT6GdAmqD+Vc4iQfdUCSWf1I6SAxGPEc1WohnW1GBLfAnbSQf1+WWSa0dx2Gqu5ME4Ww8NjWKCDldPR7//VcVHU0d6CBIEUpU8q0VLi6fl+yYwWWnq3a0avRdC+rFndxXbzXB9PLrFcacf2AQa16Rp0drRzEZO3W8P2OYtE5FxsaG5p61/vuJaouwLHSQIqyWJ4eJwguEC6rMDyqivRxCjbhoYMvviFL6CjswNf+vK/idQxyaVe1VAPjDGQ75PMjymwdKPnyhdt2XfVW8p6XifHcSD+BQg1HgIMxyOk9pSv8ZJvVJ+OV+5knxljCHAz6Ozs5JbyJHoIzNS349XP0/aqz/LH4lU8H6/cyT7zCMgkO2NOTtZqT+VfqKyNMVbWal/9eSZZa3719/cTMoxB25PZbPZku3bccs5xny576NOQSPnUsBjTYFezc1wFauBPxaBXaVbPEmiVrsKeckbVPCmaeNGgizcNQjXvBZ+pAND7ZeedB/zsZ8CddwI0dqIrGajPOmvQNVh6/gLTkeqStehKxpKrzsrUWZFKKfv09DT0MxY//Ke34Au/5uHVF9SziIwKTzQsRw2k7pVo6XR6Wnqm508reOSBDFZjJoYP3tCBn/z5ZmxoEggI0dXVQacaWyonXpRA8JGzP40hOWmsZmlkZQzLdIoCYkVGvFKMMriOQ85pRlVNiZQCylyydukY5QBFg4+P+eaXticFsDKZWgKTMg3kgnVe2h4iURrcpSqkG9IBa/sym07gfW+6CG+8cgNq4y4K3IqU42W2La97C05KZfzHDx7Fp77yC/QMTpOQgd6J01+7eZwXU9wGcci7jL70dZ7gVGPFgk/7VvjX5mKEkH2TPquOgEEjoy1vect78PrrfgOj4yX0HOqHXmAuceUvOYiXgIsAcJtQL9SXgzwiAiwqJkI9E1hi9EKgz2GUyvfjfB4hFk+QjwCjQzvR2eHhmlffgOGRRQuU9LtNRdIscyzKBC1kCSGdfUBaJf1eGSNgAdsISTcIGR1jXkTQAeNSvmkCMpe0DXwC2YnxQ+hojeOmm95AJ9mGp57Yxz70EYiVUA4iG5FSX8pszzg++19EOtOK2267Azt3H4AchsBJOp3B/bsm8JHP3oF7nzys4YOhmkrvdKOzErEGAl5oPKtn6VU1AazE5FB34jEXPGFhsUgAWyY/ZQQkUGKf89ye9LnQiLMPxhjWMNCHqsIpH6IQGHz1tv342D/dgrmF8tEfalUhJrJAfYkgMD5E0KIoS55gXFv7msutzU1IcqsYpIxlnzz1fnxyGgJuq7s7keD2lbJFz57Z2Xwhb+dORL70wro4c2mboshgkFGkPB1fOl0Dj+AgYnmN0sLLhwAAEABJREFUTRSJcyWQL1FalpinfJuWHguIbdy0EZdddjH0XyOFlMvaDS9l5HQdsvXdXBicC9eLw3FrGG2r4Zb5CCRT/ZdKxjhLVE7tyWV/RL+FW7sjjH6x+9zGbLKgbJrzjd1YapC95o3nudArAHqNYppAbo6RK4qD34ocVDgej6G1pZnbo3VcHE5y8TYN3/eoDyVG2CY41sGSvFQngmHftI2Zivv40Ad/G5deegl27nxKpI4kY4zVW/kfzeUFAlbJTwUkY91L35Uv/dbzU5UkI9F1HIf2bh5qp0pbeqG249QpATeVqea90LNPm6f3y5T0ftmYAhdLRMXDPGUv3uTDdF7KOiUntS08IFnLLyyXte6FCSQTlTslDS4Rkd2u9kftBDKUzNMYT3B7sofgtLW1FQKrp6LPDmk/69cYwxV33IZbNeB6z0sgSQMuIZzKQV/JTFUgGoAZ7mOrXZWRkJSn6xcl1RPoXHklcPrpiH7wA+SffJITuEhnlLIT8UVpk0SNMZa+ZCtZ65d8pQi6/vjHP473v/VCfPSaIfzmG9rRmPFZQ1+Za52Pl6LjPeSzZ3rOrGf4VmpUjuvaE/jPj2zGFz+0BrFgHIoI0A3YmiU63qGhUUZ0ytAYbVi/Gjff9Fq85tVXQX9ZlSNw0eopxgkuarSrrGqvENHpCzSFBAACWYlEHFjRPQEwOcF5Rqpqamu4Uo/b1W48FqOexlD5VOhpos4v5MHdK8vjDS8/E79+w0vQ1pBERATm0VvHPAdlApN8IbDgzGGDPQMT+OTn78ATe0cQWQaBhrokpOvSvfr6LFeNaTtWAgIqY8wKRiuM2GOB25fjE9PUn6SN4jU1NcAYg4svfiluetMH2G4WTzy+E8ODIwQyRToUj04worMoAwgJIgLyGCGMSgi4HRkIMIVlXpeYD7gEYolECgYOPMo1RiAwOdGLmvgc3v6Od2PN2guxU9uTPZXtyTKjbQJikmVZIEzvn1Hmoh9x+zMgCIu4/QiOR8DxBCnHuOVpHBfqq+fFsDA/BhMM4brrXo91G8/FIw/twc4d+6BoSxi5oH9HQLmWCSxZCSANtRWSZsi2mls2c9xyEBBLJlPQu3Z5Ahp4KXzj9r34iy/9HKOTOegTUSJqV2BKYxVy7I6mkG2FbCJiC0bF7VnlSwTbqkNRo0RwqP96Sr9lpry478J1HJY3MMagAu5CLFIP7nh8GB/73G3Y2ztmo79xOnUWtN8ogm1Li6Sh4VHqhAH4HR9XJCckcGtCNpPhc9HG0sdAfIxPTtnnq7s7CF5rALZLcmB31EOWCRi9HLXviUlHYjGfRQxcjukYtyynp6dph5OIx6jnrCi5YOmjPumyclYOk5jlQ16BDejLO1DHChCIUZQ3QV3Ry/BxOvFYrMb2bXzsAJRaWrcwUrSN5XNIJpsApwaHevoxxW3WJdKW3qk+eARa4i9OuY8SmNUxKplhZG54ZMxu3x9tm0Jg43LEnR2tqGEETK9PLDKqzsdHvsYY2okE2tqakWK0fdqCtxwU0dBfelf6U6ElQYm+oW4oenm4vxcXX3QJ3vC612J4aPAITV0YU6Gb4Paxoiiy11VAFKc8jTEq9qIk9Vm2KCBIkE9Wcglo5ZN1Pn6jL/yp+qr3ywQ0Dx06RKA+hDJthNoVTy+8heNTkO1V2/IdmnszxAM6617JmBdP1vJjakOAcHh4mBH+/VD/161bZ8/H5/i5P11uMZ61tgZeSULXgOv6WSudogJqSwKQYHRdMTqniPgJyORpWBeuuAIxztDET34CMzR0gtKnLiukN5OSSwG/973v4bpXbMN5iR/iM7/RibUEQ8e2VDUkxz49lXfHa8FjdOGyMzL4n09uwVsvi2FgYMSuZCfGp+F6HrTKvOm6a3HOtjOsU9HYaVLF4j5Zo4ugTGn96SQq13lGDhYX83Q4KZtUlgWPfDXuM4yyTdOY+nRQilQViwQkpJNMJtgG1VmMMgkULuZLSNW28zkQjxs2FeHnjxzA8Ngsfnr/fszMF5hnENIbkgSds0HE64npHD77zQcIkgJIz9SuMQa5fECQWYkKhgQUEcsqn4VIowIIjjC74sIh8HNpLD0CpwLBWXNzB9717t9H16qLsGdPH/r7+rn1UiSAAYEDEwETopD8xWjs9FzvbgSMLpX5uJJCGmKBG9+nczYOHMdDgsAml5tCfv4Arn7lFTjrJdfg8UcPYM/ufYxYzpF+hLJAEpP6DeOQ98jSDYMCfVHIMmV7r/4VS0W4ng+XfEcwiLGtMiNn01N7cdmlZ+LKV97MMS9j1xIQI0vkz5BGxH4EHFvKlMINCCBDbn+WGX0L7XWJ5SLUpitbTo7jEuDWwaXejHHl6VJWuSCGP/3SvfiPHz+BuVwRxFMg25bfgDcB5a8+kDz0MUYGWQksF6LMKFigeUSmQhYq89phGcMoE28BXqNS3JYPCBx7Jg3+5F9/gVvv30fg3ADpGJZ9VK9ImQiIzXFhESNg0OJAzlhbYwI2HnlfVgXSkSk6Dy0gOtrbIDAPtb1USDRBSY1PTELvimlrUtt3ytbYzs7lMMxty5jvEUxQz2FYOrKJB1VlGyrNZyQW8VJt8pJXNpuHSp4KKk9tXXrx+ahNJTA3PUmZhhCQMNQHw1pzs8MoFfOYmR5ELF6LVWsuRH3TGqsXTc2bsLAY2b+SXlgBfFj11H3JSJLzWn9dWeR8kJzbW5vZhcj+kYTGq9JH22M+B7SN2dXZBp96JIBcYpQbpFNlynEcZAjuOtpbIV04PDBIXQ25re/baJl+CFryUaLQLM04x1g8PPzIQziNC/RPfOLj0IKmSlNn2eqQ+iV7HZGpgDqn5y92UjtqW7ZVSfdq/8VuV/Tj8ThaWlqgdsfHxwnaC3r8oqdqH2NclKiv6v+L3igbqIIx6ZAiYr7v8+mp/TonQ06KtsCQrDouRJ5MJrnST9mqOW5bilF78yIc8gzNq20putpV0kAIGcsIvghNWpLqq6Jxcgw12Sycs84CXvtaoK8PuPtucGlvy53qgxRMoV8p3Y4dO/CWN12H/rs+hq/8TjsuPT1zqps7aXq0Mc9YNuYZfOD6Dvz8b7fguotSKNJhXXn5hbiWgCDJlaP0R0kv5ussR28dCSof6Y+iYjEqeKYuzQnu0hBGMMbA0IDyBvN0fjLIEavU0aDKWMogK1LguJXyEYkqsQhKpQipmiYE5Ums6mpDU0M9Vq/qxFw+xD996wHc9fAhfPo/f4HbHjrI6BkNMsGly9nArqCuNoG3vOosrrZ9aBwCooBsNoO6TMY6TNGXPKpt5eiU1C+HvGp7Vf1QmWoyxrBPHrsRwfNjeNmVr8fZ574Wu3YOoK+3D3oHL1RECT7KNOQRDTtg2HaIQnGWzrLIumUE5TyBQ5m9DHkfwffjTHTQbDcWi7NuHuMjO3DRBZvw8le+CTNzLvbt64GAg8Bpmf0okX5AMGMcj3QD0iywJdFTClAul+hsCjyXbX4qVUNWDBzHZTJ0hHuwqiPG7cl3ohw2Eezt4pQYwCIjW2HkUO5lyrOIclAmj7AOPOAWa0CwFzKZpR+nDQloXTrN+sY19s/6I4JP+4xj6RL8CZhoS82PxThGPfjgp3+CL3P7WP9HqUCWUkhAJn0gvgIo4ygCQsqu2s8y+1ouhygWlQL4joHPaGg85sLjuVSOUGJ+QLlEbg3+9Sd78dmv3gHZuPpsHfvroPoRbZWbnJqy0aFkKmmjWIqspGtTaGlqgnSxWr56nqd91PuN2nZsb2uF73vVLHsW3Xlu9Qwz0qa5onbZFWg8iwQTAwNDVobp2lq4rmNlaivqEIF9K1EnQj6nNpIYv+CNvvasYkosSr2JIGAqGRkYPo44L7JYtaoLe/futfQXF6ZhHA9tHWcglcpibm6YtEKWDRnJbMW6DZfx2sD1fEbMmjHAiO7hAYI38ooX6aM+ScaZdA30vxFkOTbieYqLM8k/pB5Umo7IK3tqDLfE0wQLTVzk5AkqZxFQF2wZZuvsuA4aGrIQiJb9UVQtRuCVpx4rui/fonYpREtT1zU1KW57ZvBP//gZbDtrG775rW9Q/kVG7HIIqXepVIoySXIxWaMmaLPmj7Zrn5y6Q0SG8vSN4lPtVpPneZC/LBaLp66xFZREW22orZqaGjQ3N1PWLdz9mLTRMsliRZVTcqsxFN4Qfc1RYQG1L1noufJPSUMriKi9gYEBLjzH0d7ebvsqebuua8deY7CiyvO+PWpxnoGEBl3gJ0HHqrS8WCwW46RNWaWTQMT48vwXcq1JIkBUHXSHTqdKT4KQQPRM7apsNe+FnjW4MpAa3HQ6TQPqHyVJwICLLgK4SoJ+v+zBB8HOH81/gVeSs5LA4Ac/+EH8z2fejL+4fgJvfzlXIQQML5D8i169MePhY2/twlf+zzqM9j6Kx5/cSfEEdHpl7NqzH7fc9jNoVR5Z1yDRhdapiTGBLBlEXRsdmDQWi9xunJqeRZnRC0UrXNchFl5kpMaHdEO0SA42LdWRzvpEVvUZoLmxfsmxGlunraUZq7s7aTgT5CvET+/bh3/8xr14ZPcgHZ+lBpeO+5wt7fjNN12ES89eTaqA3l+Rc5WujY9PcCIucEVYJC95pkVbpqaG26A0lHEadvtg6ZDiAoaPcdpp2/DSK96IqWmDfXsOQL+lpv+bkXiAQKZEIJRn2z4dbEC5FZlIl0AlorEPl7Yny9waMMaBRwAW0hEJlDmcG1OTA2hvcfHa178ZpaAJTz2xB4f7B7GQy1M0Ph0GEBL0RawTLtEKgyJCRq0CbU8iREDaEdsD6cW5VexS3yOinRjbmuf2ZCo+hXf98q9gy+lXYO++w+g52Ee+I/Ibkk5E51RAwG1O8VUu5RAEi0wFRGwvZFQtYNLL1QGdo+t6cF2fY5Jgcz6iKLI0ztx2MW580wdx8SVvovHbhsnpRbS2tsPnduk9Tw5gcoY02Yf5RTocqyg6GLYTsd8BStQTJYGnYimE3hOjf6auODDG2AR+jDHwXKAcGHznnn783qe/h+HxWbS2NLHsUdBEtixvM7Oz9v9hJAHWCaDtw3jMR0tzI6NWKVI89isdFBBLMsKzenUXtPXOJo8UEl1FgxX50pjqPULHdSgLFzAOHdsI5ufmUZepPWKDlrAExzNif0Org5KlQ30FP6IZUlckS9hSEQTA2AFElFloU0g9D+HScfcdHsLM7Dy2b9+JsYUJnHPDGVj092Cg/zG4xoXnx9HZtU2kEFEvIoJo9b+1bQu6V53H/CSd8XoC2C709B6GQI14ICun5CtaEQ8h2xU4n5ycsfLWH6HMTPOa2/7ZbJqRrXECx3nyWG02shcxjU9LI+rq0picml4qU8kz4D9jrB1opU1I19ZganKac3IeKQKvEnVninXUviUmebKq4dgIyBULC3jve34VN914A/bv28PxTcAYY4saYwioY5CPqoKXkONiM0/BQTTl93zOT7VhTKVdkZZNrCFI0rXKSLd0fVgNKV0AABAASURBVCqSdE2+UbTUhtrStVKMWKCjowPZbBZ6yX1yclKPT0nSGAgAqt9J2tI4I3PLCetez5Uv/6nyy/NfyPUEo/Xqj/qlqJjaqtKT/CUHYwznYg6nQtZOlfjKc4khYgm/2qjjHL+oMcYqoxRDwpAheiECqQ66FFiAaPmgr+RRvKld1dGAqc7KMs/lXvwrScjLBf80GlwN4+UvBz0GcPvtwMGDTyvyXB5IkTR51B/9d0c3X7MVv3z6/fit17cik3KXkfr/75J2kMYcR9KJWtZ4B4y6lBhxyDMytat3EQ6KuOf+h6EfsLzltrsZWZnA5k3rUaReibbkLB3Ti8kpOi1rUpTBhmj3qNwBpgnEcozMypkpSU4eHXkinqB5BBNL8ssq9lvk9qWicHKSdtuCBgsQZQOqKfTROR6PobOjzRp3j15Z7yl9+47dGJmat0ZdbBgWbsqm8IaXbcXvv/Ol2LiqkZNugU/ZLguI/yJXodI9PXRdlwY/Rwc3ZyNSelZNC4sLCOkM9+zZhR//6Ot48om7SGve9lFgLKK0HDHGCoXiAgJFwpgiOsGQYCZgCumU1Am7KKKzdBwfSUavSqU8GutjuPlNN2DDpkvRc2gU/XSOBcoiKBPY0REU6DwCRqyC8iLbLLAVkJ8iwqiMULRtXpF9j+Ay8hGjI47gwKWsy+TDxSQuPO8MnH/x6/Hkk3146MHH6AQnUSLzGkM5LzZFug55LyEiTbbAc4BI77wRiIUEamW24zgu7UUSjuPBcV22H6C5ZS0uuvAKvJFAzIu148DefkY2yoxydGLjxisYJUzi7LPPx2tecz0dXQK/9hffx7//6AnMCGxSRmU2XkkhFDkrk69Fbi8LjPi+A8cx5I1fyphDxzZZjmXueGwQf/T5u/DYrn5oCytFY89SR74qq9XvEKNXohunIxDoKBO4Sse0iHDZnyMVeKE+ThIsqG3910GZTJpPj35FMyAgHRsjiGDUV++JJbnYjajNvhcjcJjiSnyCQCFuk8qrtvJZhPKMGAFZpHzyzE/Q6SeUbZ9HtrAtyXv7mOfKBAkpp4i6EDKpRIpzbu/+Htz6i59jsbWEC9/yEmQ763DaKzdi87WNmCg8Tjlp/FjfMLFxQjnS45Hj6/kJtHeegbr6Lo5PDo1Nazi3fRw81IepqVmWq7T/fI/qS0Se9YrC8PAYgXvMAivjOJicnILHRUKR0U3AwYb1aznGjn33TluOlTbFc+Uqyb52cb7Lvk4SZAkIV3KWjgYElTVoa2uxUU6NseZsilHQ0dEJiAcrWsoATLo2xmGkpAmPP/4oLr30Mrz/A7+F0bHRJYKVk0Nek9Qp6U3VXlRynt9ReiOfbIwhv7VwOX+eiVKMACnFiJ3mp3yj6j5T2Wd7HrHDoiF7J98o2s9UR/1dtWoV1Peenh7audwzFX3W52q3UChQ3xcgGYq26B6vop4rX+VOhazVX70fJxmvXr36SNTzeG1LHlVZy4+L7+OVO5lnT0NZGjgNuiauwoJi6GQIGWMs0x5XXmJKinAy9apl1AkJUgOgQZdgq3knOhtjaOATNE5Ja6QECMX7ieqszJOiqc+asBKsMZyhKwsd7767G/aHZWdmgNtuAy3F8Uo94zMZdslKff/f//1fvO6KrViX/yb+9UOr0NUcf8Z6zy3jJPvy3IgeKR0SaNAfcpsqxO2PTeM3P7Mf37t3DINjRfwmAeX2nXuwdvUqC35K3NYoESjIICZpJGu4EjXmWP5COqt5OqqZ2Tl4vocaGkXVk15KJzTxjjS+ZHPLrCPglq5NYe2abjqp5JEiIq905MHShcOH2l5cs6qb2xBZRnpK+O/bdmBofI6OKKRDodti3xwDtDbU4Jdffw7efM02tDelbd4SGepexXFm0rXWCGm+GGNoLCtTy3U9uF6CfUmyHqAtocWFGW4l/pzRwRm2RSBEJ1ksFSxYihBAn3AJLMmJClg5jkejlILjxhBPJG09z13AxRedSSC2jUCpB08xIjk1NUM6AYFJBAHkgECZPUFAMBRwOzKkMw24hRgqMsYIWUSgV2ZyOW9jBBySr+fHSb+MYmEGp23pxpWvuA7FII2nHt8FbdlFcEFfSZohykEAQ3AoEFkuLyCyfBeZV2Yqosw2pecRjXqcwMNxXT4PWY51Sws4/bRVeNvb342mtjNxYD+jLGNTNMCLzDcIuQUK+GhpOx0HDsgxzuBgYR3FY9A3mscn/uVn+MZPn8L8ImVHPsoEWXohv8joRsx34LkODP9BH2MgXpVGZoG//++ncOt9+9GsKMtxQFOJoGuUoGmK4MrzfcxSHxWxqs/WMeraANk5ka2mkGM4wyhajtvXotnMyFk1r3qWDCYZORgcGqFDrUGGEfiA9WJ02rncIgHFMFzHgeaFQ36X1JvVecVvxU7lCE581DIK4lKWYP8c1ok4IFEUUW5A5aCT7pn0iLocKl9ntqmyYV0Z2246De1bW0AyMA6lxVTbVIOzX78V2a05HB66H3MzwwALLOEyQRI2ETCFXBRksXrtRUjXdcB1Y2hp3cwFScH+JajAEZvEc/mofMRDLrdAeYyhSHtRV5eBT1sg36AoVpx6Ojo6hikCM3bF/tVkXV0W69eu4jwu29cKNGcoAfJYaV19yzKa1tHeAuVNTExCelnJrRwlT0W/2tqabbvaioUxkHxHR8chu0XWILqVBM7JONflrfjWN76Bc84+G5/73GexuJBjmaNf0a3heBljLEApcVF6NPfZr6Rb8hNFLgBFx6c+PnstkHVj/WKC805+UfUlW5zkJ2JnJfMFuyhOWFrGmGetbYxBNpuFgNkMfWNfXx/k25+14rICGhv12ZgKrpAMl2U/46XGKkUgakxF1qLzjIWPk6H+Hj58mPN9FqsJxNSP4xR72iNjKrJW2+qrZP20Qid4oHFR2061jAZdgheh2tpaq2jVvOdylqFSfdGTQE9GIGJEZaVo6pAxzz7oK3kyxtARpzhxfRr0BU6o4soiT7sXb2pXGeJZvOv6OSU6MpxzDnDFFaBXBB54AAyVnJCEhK9BU/v6fyff8bY34a7/+AD+3/vq8cpz609Y95kyaa+hRHtLR4YjSeZYz5+p3vN9rj6UGREr0+H3DOfxh1/swT/+zyBBQIh17Qn87hs7CGRi0Htb6qdSQIcpp5BO19B4u0eaFn+ip/eQpmdmoXIZAhw9k2OMx2N0rh7UQT1TMsbwNsLC4iJ8Rrk2rFttgdURoid54dAB6Uc7V3V1YHy2gH/65v34wc92Y2J6wdK38qNhirkOzt3azm3MC/GKCzcg7lf4z+cLNDYFbkPO0HAbxGI+6ujg21pbeK4FqMrJZB06Os9E9+qXoKPrLMqoSIcex8TYXtad5dZnjn2WvrI1C5hKCAmSwI/nx+j0ktB/z6NrPc8vTGHj+hZcctmVjKYUsGfXQUwTOGgsSuUAYeQRkLEyZRQIeJVFu0znFDCVuWVVpjMqWuel8UjQwRm47C+PjksgtoAN61rwxjfehERNO554bBeGB8fIa558RtxaLaFIp6I5rvplRukiRsBAUBBw+zNkRCziWWAM/PixGGXjsd0QDnkKwwIBehI33fBatLVvxuOP7sWO7bsJ9hRZMeTfsfwHkoFxEJFupq4DDzz4KL7whX+mjGOYz+Uolxrc8+Qgfv8fb8fOQ2PkKYDrGMQ8B2A7oOw1vuAnoFxGZ8v4wb19+Isv3ILFQsm+Q8Qs+414VJLuTdOJjNABS+/UzxnqpK5bCLJSXEiw6JEvRwyL+TymWUfRsI72Viiae6QAL6g+kG3VT43EKWv9krwRn9QVAYrD/QMo0dmm07VwBbJYQbxwQFSb+lImyJnnNaA2pGO6Mcaoiwg56VmFcoqWpRCRnjOBmSEbsonXs9ymLCfL2HzFBrhWjw3JKS2deMkvWjc2YevVqzA6+STyixwbMWQ0HtV22Ab44fik0y3oXPUSjlsZ8UQasXgTt3jHMMzoYokLMZZ61i9ZQ6lUZDR9nOO7yPmTpk3X4iO0UarcQp5jnrJ0BExczyNoG7ay0SJuemYOjY1ZtLW1UpdmMM0Ie0gdikTY1gKMMWhqqmdqoJmeZ5kZyi/E8o+i8PrrStkF+aaJyWn2KU6eFmx/igSJlfIRT0qVcUnEffzRxz6K8y64ALfc8r+cY2XmH/36BFLiW+MgfdD5aO7Tr8R3nrolX5EiyEgSuBujkXl62RM9cRyHIL/G9l3tljh3T1ReebLX8o3Vujrr+XNJqtPBbUy9d6WfyFB6tj4HXFiJR7Uvnxyj7XgubVbLVmWtvqofolvNO95ZfIk/bVHqZyz00x7i/3hlT/TMGEOdTVlZq121f6Lyyity7qus2qPlAh1CgcZ20YIwDboKvdAUp+GREokhKZSUayVN5YkRYwxXjLV0Ut7KIs/53qVB00CqPdHWwK4kIuGLJ+VpgjzfQT+GLo2DBWXr18O+9L99O+i9jikinjTBxJeU7tOf/hv8xYdeg0/fNIwPv7kbLo30MRVO8kb2JqThLZcjOqXQpoJeZGakQFES5VfMxkkSPEEx9SEgCBPd8dkS/ua/DuO9f7cXc4tlNKY9vO3lTbjsjAx+9OAU/va7S9EaTrJgySHIOcikKFWb0V8dypjqLJ3RZFKkwfd8xPwYq9AB0BksP0qOmmTt3GZoa22uknre5zhBX2d7mzXmD+0awqf/8x48vmcIxWJAmmyZAjQw5MfF1Reuw4fefilOX9/KvMrX5wpeY2CMges6mKYTj9GYKOLX3tZAMLlg++H7CYKz00kJjOjOYWjgMQKVAvPKPJcIdgSUigAdn+/H2WsHxvhMEZ36LDrba3DN1VfBj7dg+xP7MDrClTuNdhgaOoDQOrQytyYBh/clRNQLICTtMkKCplCRMgImQ/pJGnnPi0NlXYJaRc6ydR5uuP6V6OzagqeeOoDeg31sNw+Qh4jRKrVDXE32PJRJJ7TRtgJVvWSdseiXGBVT8v0YHEYIQyqgQ5kELO86RVx77RXYtOkcPM7tz8cefQoTU1Pku0waEbQNWhaP5DvkOeSWJxh1iwhUW1q2AHCtrUjV1ELvaDmuCxnQr92yAx6BmGMMwMQjKDzyFCHPbfTbHx/GX37xDjyxbwRdBN++7yv7aIoAOfWBwWGQXcjZj45NcCxJv7kJdYxmGWOpovop0jErIumSh+7uTvJVU806cpZOj4yMWhl2drZZeqLvOC4UKVOkJl1bQwATs/zqQFZ0Iu8h5hkpEo0MwVoV6BkYOI4hnxGKjOSFYchrpQi6lryPJj4HoPuIDU/MTqHtvBacff2Z8BIeKl2KID2JOK+VQtqNqYEZHLi/Dzt+uhfpljQjO+MA60cEOIABbHIQ2bYjhBwf6VJ7+5lceJwP4zhoadlAPW2CfnF/muAokOLg6R+ShWyxZDE8MkGHlmQEMGUL5rngUXTSsEnxrxRKN9iuQxlkMhmWM9wuHKe8IiwsFrHIiE53dwcUAR/v977HAAAQAElEQVQdm8TiYh6qp3ZY2H5jMZ9zvZkAtxbjE1Ost2ifLz8kU0nqVjPBTNK+Hzc3lyPga2BkexHqT0geKjQ5Yvw6xuGisB652RncdNNNePOb34SdO3csJ2mv4/SNiaWolfyAeLMZyw7yjfPz81Zfapaia8uyn9el7/vsS42VhdqV/cSKj57luNjReMiPqs6KIs/5VjQULRO26O3ttdGnlUQkgzztWJHgROUkn5Vlns+9aMmniLZ8vtpZSUdRa/GlcgKQ4ndlmed6LxoaN8nz2WQtnqqydjTojuPYgXJpWJ5rwycqb4yxYU4poJiSUNS4FFn3YlZMx+i4TkTn+eSpTQlYiqW21KbaFg+614ArPR/aJ6yj98v015iccPjJT0BrZItXJ5j4+da3vokrz1+Ny5P/hc9+YL3Nh3UNS5fP4SQbV6YhLdLp7OxdwO9/oQc3fGI3fuMzPXjv3+/HD++fQKkcchI+O1HalBMWCmkI1dZCIcRPH57G2/5yN3qHF+HSMF55dh1uvLwBj+7L4c+/MYqDk43YvGk9jWRIYx0hYt2IK2k5BlAvlMoEajNc1S5wm0cKnGT0Qc7HIT29VwMjqRzLVYmrbY2hjK3eC1kZscAL/IieXvpXqPpbt+3E33/9Xuzrn6z0QdZXiW00ZpL45deehQ+/66Xobq2zgEIGXDo3TyfqcS4VaFwiln/ZFa/E29/+ZqxZXQ/HCZg8NNFZRXRiLkHn1FQvLLghYNIcrGGE2nHoLJli8QRlWECm1sG111yKjs7N2LOnn0Cph05yniCG8g3AMQ6oQREcN87yEYHdPEFYgXwXWKbMZ0wERCGdiOfHWM5DFBn4sThCtWvyuPoVl+Occy/D40/04PFHnsTQ0CgdfkDeIuQLebZRZD8LCMp5mwzrhaQZhCVEvA54HbFPjuvAF5iMIqg/hA4IuZ15xulrucP/SvT2TnMLsg9akYbkh8XAE4qlRZQZzStzKzVg+ZBAzNInXV1Ti5Cp67ILSMdx6Lhr4Dgu2yZ/1P+BkRmoTEhd0wKgSL1/7MAUPvHFn+Guhw5ATjpFJ4tln4iNKwoyMDDEvpWRqklaoFegE2/mdmZ9XYZ9cJbVAAJOuhkCbjkPgaz6+rpj8nUTsswkt9T0zpLeE6vl9nyZUTrJe4rgZHh4BDXkJV2bgvScjAOVg+3PAiO/OepRDUFzhvpgDCcDSxhTOYvW7Nw8ZL/5mPKLmAJbN2L/bWLfJAuR1VlbcIn6ONJNtbD55DEkTyHlFHBeTfRNYe/PDuKR7z6F3scHMbJvDLWNNXC5/SsaxlTkoLEmATV7TAo5bhG33F3qbV22E/n8HObnSCPTRhAToaf3MPldIJ8RyJpNIQc+RwAwNDwG1/MIaOrgcGw1fpNTM7w26OxogxZemXQNFgi2Ko2KhlII3/fsT4loTPQ7YIomz83mSC+GDetX2/aGuXDReKndSv3KUTanq7MVhv/0xzrSBV5WMpeOikoq8hmPx9DHaGZAe+s4LkZHJ2yUTbKsjF3FVvkEPvrjoQfvvx8XXnAhPvLRP8Q0Fx1L5OzJYR9THNs4wZn6L96UEdAm6l7nNBcBoqXnpzLFYjHrl9VXyVNzQEl2VXyIrxfDNwp0rF27luMR4uDBg9QPLvTYMbWpPlf5Msbw6an7GmNQQ1ArWaodtSfq6ntPTw/1MIL4Uhk9P5VJckwysilZVwGhdF7XkrdkLR2otulISGK0+uDFOEv51FnXdTE5OWkRspgUsy9Ge1WaxhhuHyRsmp2d5SpngsbV5Uq2Fsac2kGvtnnkrP+G6dprEQwNIf+d7yCYnmYofgSXXnQewh1/hR/82WlY25E4Uvzoxcnxpakf0PCWaVQHJ4v4i6/34w++eAj/+9AkDCMiM/N5jPD5Aztncf3Hd9GJRGDxo80c50rGSmWURL9aRJNVRqjECNxj+3N4z6f34ut3jsAlcDpjbQ0+cH07xmZK+PyPx/Djxw02btxMx5mGnJKMVUggJhohG7D31ggvUA/mIJ2oobMKaIjKXO0rCmCMsZNETqCaAvZTE0nl5KRSBG/iT3RJVpenLBljrGNYu7oLxcDFv3znYfzr/zyMiZkFyrAiGdsuW2xIJ/DeG85Dd1sWMRpiPZchBWloRR2n8bvt1h+jv78XiwuzuOC8rTjc9xiKxRxa27bw2QxBSB4RZeK6PhwvxmsH8aX3xFyziHPP2YSNm7dh155BPPXEDgsYAoKpcuCgHBiCrZCcRKwHArFFngsIl0BSSDBjgRKF5JG+Sx5hPMQJ9IyJUCrOYcPaNrz8Fa9CX98U6e/kVuokIuPAMeLFRbkcQr2WISEZgPXCsMh2mQiaAoEojp3yHLbhsQ9G9R2X259z6O7K4jWvuRat7Zuwe3cfhgdHrWM2iriBZRiFlC4DHvkugx1ARJ0JGSELlEjfnqkDDY3dyHO7Uby4rmPBma7jdGx7+sZRZgSnxDqjM2V85bYefOMnj6GpseGY7UnwI17DIOCcHKNNmrZAbHJqGvrfJOoyaftumcaTRW3fbf9ZST8hMsvIhf4qspWRWcdxVORIilSGkZTDg0N0AimrR+VygAT1tUz++/r64bmG23EZGMOuqqaI86xTgVE38eATnGTJh6XPgo7jwvCf+pojKFEEllWO2LKQ/Vae2o8kO/Jh76lX1AwrT5Vv2dBKwPUk9t97CPnZPMZ7pywIu/9rj6L3scMc0xCF+QLGD0ywDvkjnWQmgZA0A+kUbYsxhnkRQt0TiEdMElLIcyg+WPZw36NYyI2hRJC9sDAJP5ZEU/MGRqNmbWSwUCjYsRsYHMHCYsECKvVZPGoLeI5gs6O9BfXZOhS4sBkeGYMAqGEBOdKQRoqsWT4iXui+hk5XfkX/C8gcQV6JkdrJqVkIMK9d041FtjM5OU19Dkjl6NcYg2w2jY6OVi5yFjExPnm0jAaFyeE4NxGgCxzmcvMYHRuHy+iv4XP9REu+ULS8UGKoJEA62d7WjC9+/l+w9bSt+PrXv4p8/thInEufKB8ccpxGR0ehvqkf/3/4RoEBtSMQq/RiASIK5JhvNpuFflB1eHiY9mA3ZV22eiwZH1PwFN/olSTJWsER/cyL5K3IXWNj4ylu6VhyxhhI1pLvNHGAknRD42yMOaawI5QmhT7m6YtwIyEUOAnr6uogJZDiBTSIL0JTx5As01EIjWqi1tfXWyOgZ8cUehFuJNM89+oLp5+OxKtfjcRDD2Hrlk2oxSDu2T6L/tECDRqNGic7v8s4OPZuWcYxlyENUqEY4au3j+Id/3e3fclZY9vVHMOHbmrDb9/Yjj9912rIEYDO8ZjKJ3mjPgRBxMhIhCGCuz//Wj8+9c1+FLilUV/r4f3XtUHn798/hf+4cxGZ5k3o7mxnv8JKomEOmUTHJvIc0PBMM0JQppPKcMVrqI9FOqEEV58eDZwMO+2rTpZL1ZNBztbG8JZXnY1sJoU0tynGuM0gQ1jRoWjJGNoqp+xgjEFrS5P9mYze0Xl86t9/ge/dvRt6/wjMAwyNSQh2BWNT85aHkP1T0uRXAsttPW0bvvH1f8Njjz2Eb3/7qwQIacxM7ScQ6EEiIeBawuTEIbgEMr4iS4wyTI71EPdM44wzN9OBzUE/7Do1MQPQAbAJlKnXZQIVbefxIR1fnjKXTpUIvsu8DgiISzyHcIxraRvK1/fiBAQuCoxetLfW4jWvfiXqG1dh+5N7Iac3n1uUy6X8feSLBQQcv1ADAoOAkbEwzCNgJCSwQI/tsPMagxgBkeO6ZM+BMSzLMrU1Bm94/auwcct5eOLxg3j8se2YIuiJ4ICqQL0q236wAkI6z4BRsYg2wTp6OXY6/JB0AnbY83wkkim2HdLRZSr1oHbKS8/i2NM7gZmFCHc/NYm/+tKdBK7TEGjCio90ao4LtP6BYWTSafIRcCymSTeGluZG1DByVa0S8ULlZbvGJyaRJLCSU45TX5l15CsRqcxhRtqMY9De1mr1wSXfSr2KDs3NEaBl4VJOoIRFmydLI2C/NS9CngUg4gTyyqAoeYognSoQmExNz6BIu6KoTSzGMeKWnmGJMsdBZY5JZKoydmyN1yyGA/cehBfz0PvwYdz3n49i9MA4Gtc1YNPL1mNmcA6HGRkr5cuobaqB4xm0rG9iZVDS4MfwrOTwWl/2gAuDiJ3gCcY4vGLxKGAfDTyCyqamRkQE7zPTg9xe34tUTQMjWnXU6TGCsymCpSxSkjf5szJg5DEei6GzvZWEYMsoEuW4LmUQIZ2uRYz9zhFwlakzrIZKIhfUVXGVoX2Qcxcwk+3PF8rQe3NtbS3QH1toHKcYfQulhKqwlIzRuDVDkdGpqWnq6oxtcynbnhzX4di2oKmpHvMEZhMTU4gn4pjmuOhdM42D+EFFEpa3bDZDnUrgt37zN3HpZZfi0UcfsbSqB+lNmfO5ubnZykw8h9T5av6LdVab8sO1jMAq6VrPnk97z6WO+qa2WlpasIGBi5GREcp6irKiPj0XQs+xrNqdnp7mImwE69ev55Z6C0H6Isc4fI6Unntx6bb6LDmnaXOkv3q2kpKjSaOwt5RiZeapuNcAi76EIWbUngBZiuFatSnlk8E7FW0tpyGaol2kERMSjdNhyBCKhypPxxPIchrP91ptqs9CxOontH1JULa6NYGahIeBiQJu+OQu/PutY1jQn+dTH1bYhhM2rbKa9H9FcPTNO8fs1D9vUw1+7bWtBEsRvnbnBP72vwfx1KEcfnDPCL71sU0npLcyU7ITECsTjM0tBvjKT0fwlj/fhaGJvC36W29ow8vOyuC+nfP45H8OYazYwa0BhaIjKnclRWRSdJRCXssx6Dqg4anlSlayWeC2kLb2fG45aCpG7ImSjJnKyvEYwoMrL9iIm67airqUa52n57mcTM2opWIPDI1wO2TBTmbVkVwsk6fwIAewqqsDXQSbD+0cxJ/968+w+9AYAUuAgH3z6bgM21P76qvO1aS+gH0ocUvII98CADOzczTQSdSlPYKJea6Kp+Ayz3FcGohZ7N9zB6ane9HXuw9f/+pnseOpXzByM2VBSBgalEoBDJ1fSMdXKuWhaJvaKJcLlH+ZKagk8uTHEtAfK46P7sW+3T+Ffk8sFitx+/NlWL/xbILEAxbszcwSUJI2oCgV2IbGOoTGKyT4KpdypFmyKaAjDIIy+SnRucao3kmWLyKu7U9uWSJcwBUvPQdXXHENenqn8fjDOzhGOUbvypQXUKQsSoy6iUYgnoMCiD4BjT8jbhEda5ltSocc16UDjjOHEraDG8IY17Yd8d44jm1bc32uFMdf/ttdeGh7H7q7O8ibj+UflV+kzvX2HUaZ0SrZoYGhYepOiHZGuxoYjTGG7SxViniWrRgnEJP+rlndDQEhPj7mW2J/hrjan6UM9Uv8nuuAROH5MQxTPxUJqKNTlg1ihq0r2uwU5RlinuAix6iX2q+hXTTgP4I6h31TGdFXREzlBAhVJsftYPJJwwAAEABJREFUTOUnCQbUr4BALmCfwjCEeNWzSNdMohFST9VwtrMOAfVH/KVbatG8oQkhy4SsW9OQxPrL12Lr1Zuw5sJu+Akfi9OLmBrkQoA8qU5InQs5PuqHAftpAMPxUF7E8YD9GN2ijaBUfMnmas4rS7/6H1B3Wlo3ky0fCwuLEJ85njU2AmK1jJjPcI4cZpRRJCOWlK+IEYjpOsYobyZTa/meJbAWPfFjy/IQkT+XepPNZhHQhsnhRzCYm19AqVi2tirLrWhtyS8uUPciclZNvPRJX69DiA/t6OTzLMPn+rK75AYE5klG1NoQJzC3/yMA7VojI7ET3Kae53gGlKfKV/lyqFf6Edoxgo/LL7scN9xwHaPmfZCf0DhKRsYYSzdOXyWHnc/nEbE/FTqn7hhQVxaob/JTajdGAKyk6xLBvtqWTpy6FiuU1Be1qbblF5WEB7RdaIyx25j67VGVq9Q4dUe1uW/fPtqSmI3OST/UvpJsh/h6MdqVHCVP2REBMemWkq7VpvJUptpTRwJRppRiZWa10PM5qxHR0wBroKVky+kYY7gySlkBSSlPpfJp8oqm2pTAl7er6wQBkniSQDRQp2ogpOhSKMmyKlO1V02OY/D+67vxxivaCMxcDIwt4o1/uhs7e3J0VBFkM2UXquVPdBbPew7nsZvpE+/ohl6o/8fvDuHwWAmPHnKwu2+RdBdx999ug+8aOLSdOImP6AY0YovFEA/smuN2507s6J2HSxqXnZnB+17fhoHxIj75H4N4arQZWTkaTmgZdI25jLWS6BxNIWR0I5oyQxksLC7C4fgnaHjAM2R0jiTQiAZ03kWcubEd73j1NmzqTEOGUOVec/F6TE9OMPRfoMP10N7eDq2ADw8Oo7C0bVBp9yQ6e5JFKqxF3JKMobWl2Trz7987hc984yGMT1fGTuNWaTdCyIHUdZW8HKr0UHqnbRfppRyQVuFywo0NacxOH8bI8B4M9D2CVG0jOjq3oallA+obVhPMTGHvnrvYzwWSdOA4LmUUQcBIsg4ZgdA5IBhSuyEdrOfFoDQ11Y8De27H3Gw/uro68dLLzsTFF70M+w9O4KnHt9vIgXxHEDoEuyEKjIrJeMAQLBLsRRFBnn1xv8S2AwR0piGjVz7pJ5O15G0aB/b/DP0991H+szj9tNV49atfh6GhIh544AkMcUuqzDpl6hTFYmUH43IoA6aQ9IqUVwml0gLCqMQUoEzAp3741A+1BeoNCxOsztGBTdBmpBCSmMokOZeVH7CN+blZC5oFWsjska/GT3N9dHSM/Z1DPR21HGeOEY5mbkM105EaYzXsSJ2QMpyansEctx9XdXdC255HMpcuxNskHbC2r1q52k+na8h7GTFuN8/O53D48CAjOjVIMwIh/sWnqkZLB8lawCPNBYoAgjEVHozhmYUCOs5Zbo8KjPkE7FnuLkjHA/ImsOA6jiQjarQfIZtQYkU+kWyUeMkylWdqf9PLNsEYg0RdklkRIsmRCRTSqvO6UVOfQkjANjcyj4BbybmZRbiejEfEejrDnkWbTwCQVyYdC4V5TE30Lt1F0CdLWStipeieQ37HRvaioXkdEsk6lIp5jn/CRsEytTU2Oikw09s/iCKj5p7nwXUddHd2QAApna7FNKPrWPokqB+yP3Ko85R3SL20fLEv1XOMIK62No0JgurJyUnQ4dn2fD+G9etWoUgAMjg0Cs3RJbJLJ4NajktnRzv7E2GEW6bLy6i/KtjQkEUHtzod4+DAwR6AZ/AzNDwK2TnxIbnrTLaQIIDrZPmHH3wQW7Zswec///9QLBZZ4+jXcRyk02nqeYxbqDnKKDiSKXB55OY5XogH+VnJS/ZIaSWJZDJp/bL8osqpzsoyz+deNkW+0XVd1Go+rCAiPVHUSrLQC/by4SuKPK9b4Q+9r6a+bN682fZtOSFjDBSwMcZYWav88vzney25qU0lyVk2fyWtqqw1Juqv6lRmGEsKtamiMnJE+Mrk4+f8Vb0qDdFToyciogGS8mnyqV0ZoROVP1Ge6mrQRUs0pdgnKi/eJCjVkeDE+4nKP1OejPc8DacGU+2q/eOVFf08t/saGBn5u/dtxJr2WhRp/L5x5yiu/cPt6BmWgYpg7ePxCCx7Zmgm/uV3NiMZc/DNuybwsa8MYapQC5cjurU9wJ4vn4dPvXcNEsz3FMGhwjlmGYEVl2ozoNMslSP0jhRw4yd24os/GbL0Ohrj+CRBX0Pax999dxz3Da1He2c30jSiMrshKwsQKEW6VuIqNaTjUFK/lRfyeZlbK/b9L/Ki5zaRF9EJmC/daaqrwTtf9xJcuLWVOTRntGQhE9jnhrokrnvZZhhGbIYYfdCY19WlLTCbpLEeG5+wTpG16GNEFS/oY5ulSysyCtJHB6t3iLTSLRMAwGvEf/50EF+/5Umob5WG1Ga0ZOAjy0ORIEf9dGho67gy13WRDkcRvilu0Uhv7F+KBiPkfZEgbBX03s0onVfAbcnGprVwHBd9PQ8SlM1TZxZJtxLBAiMWhvypnLa7DMvF4wmCoxwO7rsL4yO7IKdy9SuvxRuu+zWMjDp44okdGBsdR4njHZHpCC5KBEEBtwdJGGWe9ZeaAkgBI1gRo1YBI1ZlRgHAMYjFkyxTxoF9P8NA/8OoScVw9tln4o1vvA715PWpp/ZjnOOgsVTfOKykH0H1Q0tnkcNT5j3PjB6GlGWpVISicSXOj2SqFpqXo0N7cJBg7+D+u5GbH0N+cZplNEeKZDNCwHq11MEigXhrSxMUocCyj8YuIKjR+zGKYiQFlObmIR3Jchz04rWiLcuqUJJgJCWHMW5FaUy6utope04qm1ORFpknUJtnhGMIeuexiaCuRMeuaKT62nOoFxHBQZaLFfGwkn6JUZopbp24HCv9l16OI/qw7RhjEHLuyJmPE+wFRMvSb9FdYBRJ/XXp1KRDIeeXpc06Ea9DFlLStfIttysYuO8r96OUL2HLlZuhLCXRiEhjhpGwfXcfwI7/3YPDTw7pMTzfQyFXZNmIEiBFQxBI4G+My2fSgbupa3MA7wf7H+e25B6OSyWiZHlgA+qf57nQGfqwf7XpVnR0bUMimQFZh6EM+g4PYZHRqBRBQYm6pmhZPaOWAcd5dGyCoGoKHvtujIH+iZThIZNJEzyl7JjIualdjZHOSizOyGYt5HgHBgY4txZRpqxmZnNood5s3LAWmocCvqGYIU3VtyceMtwCXdXdiVnO1cnJGYQcEz4mDzoCAmPSgVYu1uRHRji34oxcOq7H+TbO+VqmrCg7SZDy4BfSmw5uof7Fn/8Zuru68IPvf5c2o1QhuHSUvGoJXgLqsEDKjde/HueduQZ/9qd/AvnKpWIndSoS9MnPyc+L5okqGWMsaNICUu1o3p6o/InyJE/5Rp0lR+nuico3NjZy4diFwcFB9PX1UZeOgtET1VuZp/Y01qKj99VEd2WZ5fdVuUhfqvwuz38u15KXZJ2kHkvnjDHPWN0YY0GiMIPadZaXNMbYkGmKYfMFhjRlUMXg8jInupbiiBF1TsDEmGdmZCUdMSRFkWETY8+lXZVVuxKE2n22QV/etspKUWKxGFff889JAdSuJqCSeJcCL6e98loTsUiHUyhF3O4Ksb4jif/7qxs5OWP2P67+jX/YZ3/Pa2KmRCMVgTZjJQl7b8VK0cbcEA9/7mz89vWdeNfVjXjfq1K47VNn4Osf3WLLuURgvmegMy9xvI/aEBAql0NMzZfxfz5/CL/xmf00nqDxM/j9mzuxdVUS37lnGv96dwIXXPYq6D2xKy67EE9u34WIBKT81RTQEYVKNFoR8ySjkGelaMnYyTSJlyNnCkYGw3eBm15xJl572XpG9ViCfaxaPZUtkmbfyCz+/UePw03UoqOtmUZ6AtOMZIRsU++HZBhF6B8YxsTSOyJqn+RJ7Ll/VVd0tdodHhllZCWDBFflEQ1rZ/c21DeuwdzcGMbnahmhcKg7IdSW6kkn5EyLBF75/CLHMmSKEFIGjutCwGx2do5yduHScIs+2FmWwML8ISwujKC1bTPLtWNocCfaOrYyO+J25i2IGBEL6KQCgpuQzlEyZyZ5SzIvsCCm99C9dFJxnPOSc/CWt30ADS1nY9euXkxRLot0yJFeqOcWpSIu5VKB9crsFRBFdL6kGdqoWACByRLBhkBEnIDG9VyCrYNs4y7yHmDr1i24+eb34oyzXodHHt6PnU/thpxWwDEvc7yk70VGQsKgQBmV6cxKiMISBCB5QVBWQkhQ6boOXD+OGgKsyfHD2L3zNs7HAcjJxeM+8vlZW9f2t5yDAJVkbMj18d4Tk5xzXCT1E0T7fgziZZQgUVt8coQ1em8Jx36K7Ofo2Dgddwpr13TBY18pERaS9vHEb4nj2d8/xL6E6Oxss87YdVx43Obq7+vHzMyM/QMCz/NZVfWqCbbO5OQ0zwGaGhoQp80hSRhjbIqoPAUC03GCQUVQswQjctz6gVXxHWd0RWXAcvbMyjoHdNgBZa0UEeyE1XyeWQSGB2PsEYlMAu1b2/HUj7fzKb8sE3GslKb6Z1CYLyJWE0PH6a3Qs4neSWS4tWmMw8KkwfL22lAX997NMVnE0OEHMDK0g+MYYc3aSzAxfohlj34j1uH3yAPxF1DnFnKTBCELaG7ZaF+Sr8uksZBbRE1NEu2tLQjJ1zTleZhRVs9jxJb9FFDL0TeJpjHkB8budjuOA71759DQaQxKXEBVGoygspX2I2SzWRhj0NPTC413wEXJJMGxQJmioPpL1AUCX40aB7BCYumo7ejm5gaMERzOcftTdI3y7AGMaPlcGLZAdOYI/LVglFNWH8bGJznuIXlRBfEEy4cWd40NdXjrW9/OuXo29uzZjeUfAcxPfvKTuPalZ+B9lwzi6x/ZhrOd/8Gl523G3XffhSKB1vLyK69D2hv5RmMMQWkGLm3PyjLPdG+MscBMNGbt1nDwTEWf9lyyWeA4iX/5xtiSrj+t4HEeaKy1jdnR0QEB0WmOj+gdp+jTHqmcxn///v2cn51YvXr108qc6IH4FIiSbREYFb0TlV+eJzmpbc3HDEH88rxnu9a4CLs4xytojOGkqIEEo4Eoc7VyvHLVZ2Ja5cSQGNHkqOY917NAjQawOpii/Uw0lFctp87E6SyfqeyzPa8KRM5HCizaJ6qjiaBy1QE8UdlqnoyCIlACP4pOFAmClK4+rx6f++AWuhYHYzMFXPuR7fjSLaMWtNHOgnapSsKeDY8yPJ5rEPcdbOpO4qNvW4V3v7oN69oTzH32r2gGPMggFbg9+fkfDuP1H9vObcAIov/B69tx4+WNuP2xGfzu5weQaLsYZ591OtSuZOX5Hn75bTdCK3k5MSlhQGaVpAehdQwhQrYR6ZqGQdchz9YqSRhkU+WlX1ecvwFvfMVpqKvxbRuGXDjUQ6MyERhhCfkE+OHP97B6hMXFAowxNNzNBB5Juz2Uyy1QZ110d3dZQ6J3UJU/eNcAABAASURBVIp0oBHbqiQSO4kvi5PvkJGSefT0DdhFigCApcFRIgOI2A/fi2Pz6Vdza3E9yzPiE3qI2NeIBJQcbvWkm2vgbljEuku7Mc8tMslJdSUHgY8UgYG2MZPJBOLcfisTFJx//iX4oz/+M5xz1moCqEPcvl20f5nZ0sqIaLIBw0Pb6cgKCDkvNYZ+LM5+xzAw8CT2772d1xH0ByRvuvk92HzaNfY9sX17D5HWNPmkm4lcGvICQUpAA+2BQ0SAJLBU5rnAPpRRZmQuJOiLGMFKcKWXIlCanRklILwDM1OHsGpVJ97ylnfh9de/DxPThkBsJ2Q4y4yAqm8lnsvUB8kBxkNEwBwx0hYyBQSSAUGfTWzDGJfOLMk+5UnnxxgZfgraCtJLzrF4zK4gQ4I4xwnQ0V5D3ucRUc6rV3UhvmLOR5S9QKa2C9V+gjIV2A3pzAXEGuqzWPkJOZZj3NKSLq5d003dSa0sAuUNEOhPEtBqiypBvkIKLs7F6+DQCFf0wxYQJMQPeaCUpSmVxPt5Ag05aW2P1lCeasAYY3VdPJc5loqIzczMIUme6xj1nSVgdx2H/U+yvxFpcSKQFo/QRzIuFPJI18Thug5pAeKJBWGMscl1HBimLV011lakCa4a1mRslEztig5JImJf2k5rQbarzm5VTh2egcsVUrw2hpCgBSQacQxVPqS8cvPjiDP63kVQ2tLciGR8gXo6j/GxvZwPG1VsKYlbJVJgQ7W1aRjSGh7eyTFPQz+LUSjkEEUxApYAq7o72P84cosL6Fl61y9ie9rajRH0ChQpIjo5NY0iwasxbMYeKm1IdhrjIoGKtinL1EOWIH3Kj0XUZ590mpubUKRt6D98GMZokTFFnQ+x7cwtUOR6kCBQY06uVf1Ich2XPHbC91yMjIxTZ8uVPPGhK7ahudzO6FciHsM49Ur2vp56Jz3RXJf8RFe8UCQwxkDl52dncPrpZ+CmN97Ihd4cHnnkEbS3ZHFF3S34lw+dhkTMBdhOfa2Pz/56J+76t/dgw9pu+5eKooVlH93nuNNVKBQg36g+K1tAQ+fnkuTj5NflG+VvRftE9YuUvYIqKc4NpRVlT/rW8zz7vpcxBvqrSLV9osrq2+7duzkPHGzatOlERU+YZ4yx+Ee8S4bqz4kqSB4qJ/BZV1eHlTbpRHVX5jkrHyy/d4mm1YCeCXyoYV0vT1VGNGDVQV+e/3yva7h/L0WYJTKXIqykI0UTTzK4ySUDt7LM87kXPSmwBl8DvJKGJpN4MsY85xWH5BfS8JVp4MrliCAjQpHnwlLE7M9/ZR1+6eouGg+Dg4MLuPrD27GrN0dnEIHVaMaOcuNwYnoEZP6zRMCO1jh6JVoBeRA43N23gMs/9CTmGDVxSPSy0zP4yFs7MbcY4Pf/pRej5gy89nXX4u57HsLuvQcQEESqH2JGxuQ977wZl1z0EuzecwCHBwaxa89+rnYnENAZq68qe+TMCroXJyGvpcCnrWvFm15xOjoaUnAoU3YLxhhey2QBAq565jk6Am+95kzUJn1r6A729NstjpgfwxoChFjMw2FGREIacOluZ2cHDXsevf2HaWxlOCPKVglP+5CdpbyINBdRoV3kareeE5wuJFqqUj2THV3u23UbXC+JtvbT0NK8CYpmNJ/WgJf/5qV41e+8DC/9lYuQ7ahD26ZmdJ7RCqfWMNpT4HhGEJ9KdXUZ+OzDAOWXTtfijtt/QtBFWe7egd/7vT+wDfuxlN2yrMu20pGl2J8ikqkaeH4cxCZIJFN0nCX7V3zXXfdGvPoN78PoRIQ9O/fZrZZiMUBIp1ei4y/bbcgI6nNJ724FixzOEsKwQKcoYFaioynBOC7BQNo6rn2778DQwONopvO9+hWvxJvf9nuYnEnirjvuR1/vgB2nMp1fmeOuBOMjoqIFBF+hom1g+3ToEZmNGBFTvwOWT5Jvh2Ci59B9OMTtyVpu0XR0tEFbc+q4QIzmW00yIAgfx8DhAXR3dRzJVxn1I+KhzKiIohJT09PIUKbamswRpLeQZyWVXZ5C1plhJEN/HScgoF95X56va9EVSBoYHEZbWysjlhnKpmxlP0/ahw72IE2wmsnUguRYRVpR0V3eoEiHKPo1NQk7NjB8yuQ4DstHdp5MMQqkMq7rcNu1HgU6tJByzFAXbHkStlTtARynEDlGcdZ3NeC9152LN1y+Ca3pCB7rKxljoJ808X0P3S0p5m9EU10SjgGCQoDtP9rNCFgHiLVtROzQ/X3Ye8cBzI/Oo6Y+afnKTS5AoaeA8z1OUBZp3FjBwOF8cBm1fZJ8RIwIzrF8CI/OcxW39TI1ERcFdzIv4POKjpF9VD/z8yoPdHSfzUcRnVea9BzKdAH12TrOvQJ6uAhaXMwzL2ZpCHivIfhWBGxwaBipmhQXYSmClhyjsdO2LWMcsHukWflKfwTq5SNmuNUYWSYqAtS1UiIRQyaTZsRrHHqnUNu2+r0yyS6droHA0+GBIctDherRYyadtsBMztqCN+ry0VzA4fjW6/2y9lYEnHO9BJeu68KnnPT/+xa58BIP4MyzrLGyAOc6LggevP8+NLHuv3z8OvzwT89CKu4yt/JVWSXdvfycRnzt/6zB77/rpXjTm97I+bGox9xCLtgtTfnQ5JJvzOfzeMUrXmH/qriB0dlK27b4SR8SXCiIXo5A73i+scx+KkKkvqcpn5Mm/CwF6whyNm/eTNu6YCNmsh3LqwRcbOmFfbW9detWnKq2jTG0M7V2LEVb/Vverq4lV8lDshaA07MXkpyTqazJpk6qcSm46uhahlJMaJD07FQnDawGQ4qstqREGgwJR88EAlXmVLcrehKwkK7a0qTTM/EgIKh2fd/Xo5NK4rtakHaWTo+Gkc4qZAqCiM41JDALUeB2Zk3Cwf/7nc1Y21GDMgv/18/GcMFvPY7puRJUllU4havUnttZdQMeyjSyi3TQr/nYTvztt/shYFZf6+H/vmc1GtIePvyFPnzyq+OI12QZFv8ZHX3AyXwVMtlGfOu7P8KBnj5IOQNOhIA8tnC1+evveRujMhutESUeskYs5EU1SQZKutdfV6YSPt58zVk4a0MTV+4yVIZyoQFXl2g3i5SLaPtuxXHJeapuKhljJO0MnL6uhSUjDDI60U8gIyMV9310d7XD/qQBQZjay2TS6GbEbGRskkBx3PIFSlB5JMB73qkyn5XZF/3V3TQNuF72TnCFqzIhZTY5NcUIF52UHthkEBFgbD3jtdjx5A+5fbkKo6O7kanrRNfp7fAJGkmSZdgn9sdnfzdfvg61zTUoEBBBbTKFpB1STq7rWWdPbnAeI2R/97d/jkMH9+GTn/g/WCUAkvJYJaKhncTc3AimJvahxLrxeAI++ZydmcAZp5+G69/4PkzNpvCzO+8heBkExQj5ihKjCfavMY1LtlyOeZ4RjQWE1YgVgZONipGXiK6tlpGMSP00gB+L6Qrr163FB377T5BuOAsPP7gdw3RWcixBQJqRw7bIIx22+lPmllRIgBdGJQSMtkWUVcB+l/hccyhGAJqqraWRzWHvrltRKs6hg0Asm83QALqYn89henraOhltWwqwtLU2W0BomVk6UIS8EjCYxRC3lesIxObmcnSyE2ior0M768gJstAx3zyB0vDIGERz9epOGMOOHlMCFjj3EmzKEamc7IAfi1F+Bvv3H2S/yjaSZwzrWkYigDQkN4HDiYkp3gFtLc0ES569doxj2woJcBYWFzHKbVSBr0Y64JDjOc+tsAyBmEOHHpEmv2yPFHmhe82dbG0c73/ThbjmwjV08C4yNTG0p0NsbSrirI4QF66L4dLNGZy3rgZrW1JIJX3EYx7YMBbnFhFLxTAzNIOFmUUbKVt70SpsfvkGzI5QbgcmON9DJDNxFjfoOpPAjc2zMu85FwWso4DXBi3sV4KAurdvkLLKQ7rr+S5qU7695oFfVVYC62DpEyGiPiRrsmjrPA2en0BT8zpoe1lATP1fXMhDUaOmhnpElJUiTWPc9tNYGmMwTzCcSiWpmz7B1DQUMYsoI2M4FkpsST5C0TLR0wv9oi0emUWa5IFssQqyBIIZAurDBPsBbcDg0BguufhcyJZoHMTXFHVR9Vam+mwWqxjVE29TU9Mrs2GIgptbGiF7skAQPTw6hobGBsh+DjAKJ54riZyRGelkd2YBd/3tefilV7QfoWfYLWbDdWDlqGssfX7/5rV410t6cPGZrfjoRz8Ch7pTy7kluppDLS0tkM+6++67qUtgpHwK8m0PPvggPvzhD+NP//RPlyg9+8kYY0GK5sQsgyXqh9rRdUjbUUfw5BF0Pjul516iqakJXV1d6Ovrw8DAgB1DbWnqfuPGjWhra3vuRE+ihvqjfql/8/Pztob6PcOFVIz2QLK2D0/BgcN78lSSySQEwPr7+20lDbIx1BR79+IdpGBqa3R0lIZ2zCqXhPTitVihrHY1EAGBx9DQkFVEyaCSe+LjY489hm3btuHLX/4SBN6UOP/pACObNKFofxHyQBtABxlB0aACQVmRadu6WvzTBzZDoGB9Rxzv+dt9+J1/PoQSwZTqsNqJGViRq/KaOEVG5D7znUG8/S/30CgEnOAO/u431mALtz3/++cTeM/f9SKeboUiCvrLpzVcmd5998/xv7fcSoVvwfXXv94Cx29++4c0ijnSKEPyEU/nnn0GtI3Z2dHCVe5hO2HUZsjOhpysEQ2rDN5NrzgDr7lsA2LcbpX6ODRarutYYCYAkSuU4RrAYabqkRCNkLFpNpfHl3/4OGbyDtauXgVtJRa59XCQIFFblCzFlXYGq2kkBweHMDk5ZSXR1taCumw9o2WDmJqeEUkmjUjEM6Atq0GuvtM1tahhqF2VIvItIKDVs4yBntFsWqMWsT/GGIKxH6C5ZTOdWBmrVp9LQ5fBo9/dxWIVuryAcQzmJxZw5xfvR31nFs1rGy0pkudZ5ZRCqwtqU6nIKIkx4Eq5AX2M+iUTCfapk+TmUMjPs2xIvYphITeDvTtvx6EDd2PX7n343ne+gV/c/W0UCkUUGPUMQwPplzGubatMcBQyIgZuGYYEYxEdY1AucRxZvlggTRfGcVEolDg+cQRc9c7PjeO97/0dXHTZ23DffbvY1iDB0ixKJByGAi7zrE8ajLYVCwR53F6ECRBwO1LtRIys2HaphL4fRzyR4gKkzD4E8BjhJWNotr/B5NOxFzAzPU2nMc35cybLRHCpG3J6xlAgKryUIgpwYWEBhzj2juuSlm8BepwAVS+ES2ZLRY+cSuUAg8OjMMZAv+LO05G86kXAMj29hy0vnZ3tlF8Ax3ERI/jt7x9g36dtJMv3CTzIA6gREXQEpOsz07PIE/C1MDInexFS75kN13GYH6JMuYza95ByUNQnnogzGpODIm2a7+qXTapE2voWOJ6S51uufQne/MrTODaupedyorjUL6WY59rnMYKiOFO6Jo4ko0AhwXI87sNhZ0MkYzwcAAAQAElEQVTaD8M6iwRjKUbDahpTEH0yhsY19Vh1XhdOf9UWrLlwtX1cpg6N7B/HkU/EnpKO7sWjzyjcqlXdMI5v/8jhUM9hbvUvwPabuqVylcR6lQuWdXllkEhk6E8aec0vs+syGWhrMsnt+y7KXQwoStXbP8ix9ahPAQFYzM7XTCbNe8qSUVHZgJBtCRQJjBtU/tmCJO24DpqaGmEM5/nYOCO+RT5lt9UXNqJ+6LKpqQHSj872FrRSHy+56Fy8/S03kM846xocONSLBW6l2srLDi51YzWjg80c70EuEGdnK07b4Oi/OMdYkd36ugwXbmMQ8BIQVHRUiz0BzmBhFD/8k634v7+6iX2LbAshGePXXuvAKVTtlm6pl4YJyKRcfPb9W7G+8ANsWNuJW265BT71c9OmjZiYGKftboZARIzPYjEfJUbo7vmvm/CpT30Kf/zHf4zn+jHGWD+sAE3VNwqcPFc6z7W867pYs2YNampqbB8VKNL7Zs+VzvMpr/6l6BuGh4e5KJ5DHcGn4zjPh9Qz1jlpalJaIUINZHd3tx1s3QcEK89I/RRl5BluFTIV0lfS9fFCpqeouSNkpMBC/vF4HO3t7VaJdS9ZHCm0dHHnnXdi1apVR0Db5Zdfjqeeegp/++m/hiaA0sBY4ZjJFHB20afR4Ef2eUA0olQkaCpwG7NAYHbVOVn86mu6CYKA0ekCbvzELvzwvkk7YVnd1lti4bgnlVE7ZRriOx+fwZnveRQzi2Xot9A+/OZOvPmKRjy6P4d3f/oAbn28gM6Odq7mHRjjQMqms1aZKRqUb33r23TID2Lzpg249tXX4Gf3PoIf/e8d1ogFdDIBvbPjuHjppRfgHTRkehleYCYiEyGT5NaYSSIRc61zEPPGMQC/AfML5JG+Agk6kzIFY8EnrZEtA8AYg/+6bQdoSlGkIeYtGrmCXrtmFSdoyoIIAbPpmTlbtot9kZPr6+2HthJdTuaurk54fowgZ8A6Tf3V5KHePviehywdAolDvE4RtGkV3k3HsKqrwy4ElGcTbWXIKEFIoLF+42Vc8XbCcX34fpIA8ADycwUE7EtIecgBlgkwH/r249j2qtPgM1JGH2DJqB+6iNhHJV0rr0wQ5NNwZsjPJPmor88iRh0cGh6BeOzgNkipOIvDvY9i8PBj5LcMz4tjdnaI7fcin5/D/n0/x/z8FI1wATAOx6jIazqisGjLhwRjYVBEwHGL2H4sFkMinuQ92A+f7cUwPzcK/UzGL/3SOzExFeHAvgMYZRQqYD0OF+lEpBmIPOtV6BrKJCDoCxgN03tfZYK9EsEl+In5Mep6ANehbpkQc7NjyJFHZkGGfYYrzqmpaQLcZvbHw2GuhNes7rLXKlNNZBcBZdTLra2AjjjNaMDo6DijaQuMRjURxNZXix45q48CQTkCOP3cgYDQkcylC9EdGBjhdvgUuqknCep8SDBVW5vGKB35IFfldXVpWKCnwhwsqgKPFQLzjMzNzs5ZkFWXSVce8uhQ/mo/oD6MM2o2OTlDIJKiQc9ghrrqEUjVcBtOZSw9S5sV+S0THEpHX3beevzGjeehvSEObd8bzhljIvAEx3XgKXGB4/Ic8z2OoQcwN+a7qKuJcU450Gfba7fBGGOT7tk9aB5G7EW6pRaxZEyPsTC1iPxsgXIOEUv59pnKAQZHP6wV6S5iey46OjsgMFWis5/jVrDA69TUDKvZQipo0/TEbpQXt1N3n7Bt24c8lDmmq7mQSlLuimb1cJsv5PiyEBQBixNos5ilF1IBYwQWtYwm5hh5SjFS19nRCm33aqzsgoaFjTnKr8athdF8tTM5OUn9DUmLhdh3yV40Pc+hHuWhcQ85Dh7H5u1vuR6vuPIyGEPtjgz6CMpDjqVqLk+u43KR2I04QfAQgZl4qOYbGLWCZE0SnYwEJzifhzmX8vki8os5fPY3V+M//uAMzg2WNNVaYC0DNmsT+JG5hOEFv3pu+ZZ4lZixqTuFr/zOGjz0jfezRAT9tXOCizlFa7XQLGk+0nYyE5/71rBONhlj8Ou//us466yzoO1BgQ39aKvO1SQgVL2+7777aG9mqcN16OjooM3JI8etTEvsRTxIt7Q9aYzBNddcY23Dzp07bfsvYrPUk4g+ZMG2o0hcNpulfZ3H8jE+Fe07J0NEq1ClDB2EBld1XNe1gxEQkMmYSjH0/FQmTRzRjlN5a2l0jTEwxkCoOEYHMrsUMj2VbYqWJpto61p9dpyKmMSH2pYsBAj/+q//Ghqc9evX4uqrX4mJ8XGsJTioz2asU1CofJoO1aezX6DRKBFw/fZn9+H9n9mL6VwZDvuiSc95T0cVIaSRIQ6BQFmZDr3M8iWCs7oaFx9/5xq845pOzC4E+M4vxvHqj+yA/lukgHX4pcKI20rS3NQz5YnOnr5FnP+bj+PJg/M03MBFW2vxN+9dg3m9J/bFPvzjd4cA40H8astugQAYSx+yaGWuPnQSCBTzi/ja1/4Lij5dccXluOSyS/G9H96Knbv3W+dcpoMPaKw0Pu946w246mWX4BABkQyBdIRqA8fROAKGZzFeYl9preC7FaMV0kuojMN7ioCygf2EFNTrLt+MGI2kjK4MtgywyGhbqKuzjeQiCAQe7OknCCkhTqO9mlG+iBGhwcFByrZMp5FEJ53H7NwCJ1meoK6BY6HoRWRX6DIs6ms7t7uK3Orr59acVuQ13CKRbMWMYxyI54jADI7LsSuDHYKBQ+eUtHyEHIRddx3ArZ/5GaRDEe+VbEXwSGKSCbvF8nxAgroWiLF3zK+vr7d1+7gFa40At2rm6OwEylLxAgr5GRaNsGb9xdi4+Uqs23AZ9L6ZfjZjbvYw+TIoFeYQBQRmAkuUQ0CjXCZo0vziSMBxXZQpaD8Wg0vZLuRmsXZVBm+47kaMTQG3//QeHNzfgzyjZmUChCB0KUfDOiHplyB6koNSSKBnnAght0DBcQypCz7nr8MtWcOB8lyHMp8hABtDsTCPIMjDGMNni5Dz830fkxMTWL2qE0nKm5078o0onIg09a7dxNQ0gU+WQHkCs3MEQdx2kg647AvFRkkeqYZpgiQ59O7uDnQw+mGMOZrJK5IlMJpFL6NibW3NtGsZa2iTXA3ncot2e1IgQXPfwKiGpa92eMN+lDA5OW0XBVq8GKMygNURFgjJ8xSjZiMEjYb39eRVhlyyqSNwM6JJJiJR5ZlFKNeQBj+HrWta8KG3XoyXbGqyeu8aQHNDZ9dxIHm6bM+eHZdlPI6ysW2nCP59AgzXNXApdxbDQ998GPph2NNeuQVqzh4MAGbOjsxi9217sfOWPeh/fAAudSEshygulFCX7QRQmZ8Rx7RSF/yQawpCbJMEAuoHHx75yo4KmNn+yrgxJ00/osjze97xKkyOPYDx0f18Cli5ECwoIjZP4Cx7q4WXFkSaw3XpNLQ4t4XJQMRGQ86pGoJZ8ar3vwSi0+kaGwUX+C0R5BnybSqV7FHzOMsxEG9aBJCMfS5ZOI6LeCKBPXv0vmyAgDwrv6EhC72WsWXjWjiuQ52bt1usEccWKz4Z+irpb5HAdJjb4qHkVS1DWRnOA7WfjPt49zXN+MlfnINVzQmwK5VSLONyzEC+sfSpktCZ1WEccstyKqK+GR44Eixt4FEvrjy7Abf85bl4/cXNlFnBgkxt4as/Dgn4nGcH+su0j6zIWqsY5fz85z+P7dufYtQ9xwVDAkNDg5CM9EcsOjtcAOicI/C6+eabbYTMccgI66c4V5LJJJR3dIyY8YK+RysHxBk9PT2MnE/ZX/evq6uDMcbyoPfG9NM2yj9a49RdqT8KAql/6qcoG2Ns8EX9lw6JPz1/oakizWegUmDYXYwkqKA1DBEaUxm85cVjNOICSyq7wEm0PO/5XqtzGnjVt0bwOO26rmsHQ8ou0Kazyr/QpP6qL2p3+bboVVddZaNkig5O0GFoYG6//acMhdcjwRWRHJVeJD3U02udupC8jEnICd3MUPaa1d2WtZdsTUDA7A++cAB/+MUD9lnAmVhJIPiIEPKeXxqDyJYtEpTJzjXV+fjrX9+A09emMT1fwr/dMoy3/PluTM6WENJqqI4SLxHxMEfwdt3Hd+Hfbx9CgRE3rag//9vrkYo7+MtvDOAT/zmOeE0TWlqa2FYARbQy6QyBkQdt/wnsWAZ50BAYYwg2fLSy/O7de/Ctb32b7YZ41bVXw4sn8Z9f/y56GbWQLDSGZIFbn0349Xe/DXqHYmhoFDHfgbTIGMM22dcIkDPhLdRv1WFzNLeAMcbmgZ98MUCZzqEhk8D1V27Fhq4G1g9xmGBpkFtQYI04dXHd2lXo5Ao0pOXSux+HB4cR0mjqRx71V3bz8zk68coWjOs6cJgkKzntHPW3jSCsva0VbBwDXOVq+0HjOjMzi4XFvJqBDiGBjTEOjHERaRXPfvDC5il/YMcI7vznezGwYxhnX38G/KTP7JApgvqoxML2WuWL3C5cIGgXD6edvo1ZKsfy5N11XTQ3t7AfEbeDchaojBL8LxIce75H45nC7EwP6wACPl3dZ6G1fSudUj+3F++gnIrUqxJBUhlV8KTCPo2ycVzEYnGmGA3xLDwnj9e99uVI1nZh965eDPQOoExZRnDYvsOtxoCR4hz0CdlvYwwvQwQE4pJDyHOZILZExwoa6zgjF+qkSydQLC5AUbH84jRBwSL5KTIrIEBOoJVyn5udhwBT09L2EjimShqfiHKY5PbzyOgE6uuzNPyLGB0do1GsgYCYABMZOeabp/0aYWSrkc5UYMx1nWPyNQYBJ9Yhgvck+ZTjEXDw/Rj7Chw40EMey5AzNkZ17SBbrkRIei4gJh6bGuvhEcDoucOyBoY0QvK5gFFuT5YYJVQZUdAY1zBScoQfIwqqycTrHPWghvry/jdfjGsvXosaASvy7rkGPDHxzAuHMnUch+06cKkj4FhwiiDhu3xm4Nh8AwN+1Fmeqj97sf2Wnbxb+pIpVsXovnGOSwhtY3ae0Q7JpueRfnS0XgjpleVyiU6F6FL9pZOyIh14L754sl+Sx/qNV8D1E/Zev+fV0NiIT3/mX1FD0B2jTVCG3gFUNDBdW8OFRgHNlKmS6svpTTGC6joOdUZPbK9YLbL3xsg5p9lvz4KPbF0GHvVbkaFpLooj6rCxTBuAZV3KS+A5zQibokgLnPtiXfy/5Jwzse9gH37w49sISOZod8oIWV/5p5+2Cb/E6P8aRm61YBgaGYfAPlZ8jDFopJ52cBGrfCUpjuhPM2q4rqmI731yG25+WSsEmpf3SKSIP3SySe2SXOWaxzIXTwF9QsgMsoWqzTcwzCUlnXiViDn43Teuxbf+aBsuOyOLGS7kmrkVu3XLZs7hEhwSjcVr7Pyb5aJFc2TN6lUYGByAfgi3saEB69auRi/nh8ZTIDrOKGUs5nN7uh8PP/wwWzn6VRnhBJ9yl08uEZAezX3+V9oi7GO0XL63paUFxix1cImkqfLczgAAEABJREFUMQbawers7LR89S+9UrWU/bxP4n+WQR/hgDQXA8Yc264IK0/gsEzgP7/0fpmeP98kK/O0ugG1QQKV0gpsSdBPK7TsgTGGoCSBOFfCYkqIcln2SV9KWVVfgpAA1NlnqxyjExaPqlOZVFTIZ6t0nHyBMPU5tYT0jakI/0Mf+hDOPfdc3MktSSnGALctzj33JVYpHnnkUfQy+nPwQC9O27oJjTQgWvGmkknOvQgNXIWNjI3Z1gR2dDEwWsSm1T4noY8JAikBMQG0MidZieBN9zwh5CzTOeDzMq2sokhFbmFyDuLKc+rxmfdvRn06TpIRfvtzB+zvhwWsELC80l99/TDe+ak95DNCvhDhsx9Yiws2p3Hro9P4tb/vwUyxDlnyZ4yxzljh/hYCx4nJCQwMDdNQ0igWihakBZr1bElfFqfxd5CprYUiSHfcdgduvfUOrOZEvuHGNyCXL+PHt9xpjViZzjmk0wY/F19wLt7+5uuxY3cvZEgC8um5DlwStJLmgZcsCcrOnqyhlU4oeS6fs/NTs3l8/2d7MFd0sJZGMZvNWAN8kEZDq1GSQYJGYy0BcB1X4vl8AXofaIwg2qExr6ehbmrIYoQgbpZGSNEm6Y36IsAmp6roy9DwmNXnRUYL5wnimmnINCbkosIc6HDZv4Dbd3oQMjIUKFqmG6adt+9F2+ZmGMdg/OAkyty2JPvMWf49Vlcjgo5EPAHHIchbyopYqZJCaD7UM2Km7Rzx4vsx6zQ/9LsfxSc/+We48YarCKpGYIzLxUobamoaYIzB8PBTCBixKjMVCZYM5eC4Ptvx4BOMlbi9WC7N4ZpXXoorrrqWWzIz3C4cxKS2ddi+2soXSwQnIVwnRppxlIo5RNz+LNv/37JMsQTQWJdomDzyFeO2E2Dsv4g6MD83gdz8BEqlBZYrImJfy+UcNqxvoa4EiMd86lAnXNcBiTHxGClFjBTN09AOMs9DQAA1xLHzqRAas/SKhSKrQC/U67eiHPZTjjNOfbAElx1Czq9eLh7mCX66GFkNaPNUXj/uOsBIqgCAIgqSOZllTTp+e6zwNMOtxvzioo2EayvMmEpfdQw5X4p0RmPjk5hnRDNDp5+lc56hvqUJNlReSk7RIqQcdO2wfoERyIg69fZXn41fu+4cNHB+xxjh0jzxXINKcqkHlSQZxHxeE1xE3EpLxDzUJD34BDg+n3ms45KuaJN1rG6vRzFXRDLrI2L/9cwYAzAZQ6d2Witqm2tsmcEnhtHR0m3HfHLiEKJIkq3IAOS5pWUT9AcIsB/l6SKytkRXtdzm1dkm1j144B6UioscQx+ytXv37iOwrodeJShxTEVZctFc1HhpUeWyD5LfABdVJAHwcMnZq+E5hjS4OILRIybWZp541BjW0jZpMRxQltlsHRcjAUY5FrOMpLKbrGWYyBlvPM9DC+2e6o0RvMteqK5Ax2WXX4pHntiJn/z0TpSo1wF1JODY+r6HC88/G1e//HLUpBLQcy388lwAkOrS1/Bs4JN+Z3sbGhvqIfvkh7P4yu9txF++ewOSXBiTbYQcC5UWU7o3hv1ibX15yf6BZcB2Is6VkIuiiCkkTxH7FjEvsmXsKFAPpE/2mgRUv60+jj9/1yb8nxvbuBgdw46du+1OzirayEbaE/U5zvk3QnApGa3q7oSS3m3TeCigoAhlGxdNruOQj4CUgVdfcwXBXBL/8R//Ye+rB42bxkD38qkaF10/16Q5uHfvXkas67B27VrqjntCEj6BYHd3NxevzYxq77fRtBNWeIZM8Vvl+2RxSJzYJ0XsoJ2z+RcAzGT9jrAlRkRM4EYClbIeyTyJi+pAqJ46JNR4EtVskTwdX46hUCFsReSMsSpq857tYIyBBKJ6UiDRerY61XxNptllKFgTs5p3ySWX4O///u/x6KOP2kfbzjzNrsgFuLRy0AprgQa9tjZF5zUNOXcV1KqopaWZkyXEy176Uu7jT0HPlDc8HuBDb09D0aeLLzibyh2xXDVx0nFyBjZVrjVZibNsuTJBTJEroyKBGecFbr6yFb/MbcwFAq6puRLe+Ce78fOnZnHtH27HwZEFOlyD972+DW97eTP6Rwv4jX84iFueMJzMEUHMothZlow1pu00HnrXYILOeJpRoWy2DtNcYY5NTC4rC1DkdoJIBr7n4L++9R3cd98D0PtlF19yEe6+92HcctvPaEAC8h7QaASk78F4MXiuw2RgwA8PomV0xwt++VAGKGIdySWksYlkY6A/w7/j4UNYJLgBP8YYC3q1pVFbk7I/BdBDJzvDSIvjGGsE9UcJiUScK915KG+aq2zPc9HGrSkBsC5G09paW6BnAl96gV7zIKDxdUlDjqGTq1ytolHhgvyw8aWvMQ4iGml7u3QWty5lMrxnDK1bKPvHBhAQVNsyS4eQQEZtVGnKmPh+DGU6kaeefIxbwVeS5zlbWkZaPCmxy9TBWmj7coZ6W1Obwqf/+k/wi5/fhR/98Dt476/+Mvr7HsT09ABa27dQhpJ/GfNzIxwvjwunFBxHTjuGiABS0aotG7txzateg76+GTz+2C4MHh5CQF2D8RDSwJfKRSi6GpKRIqNcQZDj85KtH5LfgKlEh8VCpB+3+uw4DgwCOu0xzOfG6UDnSLOIkJHFkEBOvydWJiDr7TlI498O3/dQ/bAZ0o4QkGY/edF9jAZvnDoop9fMCJr0Tm1U6+gs/iYYRdM4rlrVQRllYIxR1pEkWtraUuREYyvwrme1XAFPTM5giGCsliAvlUzYOnJs1aQHc/Y9sXnUEWQJ8BtToe8Y6gH1IyD4FA+KiKQY/WmgI1ZkNaA+ia5oaBxFEywPGDrWEvTy+isuWI/33XQ+1nfUIUZQ5TkGFCPHzcD1HJ4deNRdj9e+zgQsEeu7vE4lfWheuQ7LkSfXNcwBeFmhQVovP38t3n3tWej5RS8a1zRCn9nhORy8rwd7bqcD2z2NJBIEglnUc94PDvShu3sV5maHEbFfasuoEpMXS2OWc2lwcAglRUP5DDAwxkCf2dkZnWxyOefVVcdxEXBR4JBHz/fgke+zztxCvl2olmQkO5mk7DXOAmJFLgTA3Dk6uYvO7EImFcNl53TjwjNXo0CfIXCnfPBj5arB5LXmfC1BoRYvcpRZLtw0DqOMVhYZjTbGkCoL8muMgcZbwKzEBUuZeheGERzXxUvOPQfnX3gBo2V3YPuOPRbslzmWGuemxixuuv5aXHXFJYj5HvV8AYNczJYIxkn2yHexkMfU5Bj+8lfW4T/+4HS0ZGOVoWcJl+PEE0AeeODJQF2wt2CxkInCK9O2fOq/evDJ/ziAXYcL2DeQwxd/MoTf/Mwu2oyI29QqzGRAGkyofDjslXs+v+KsBtz6V+fhwzevtdutIyOj0O+9rV3TDUVsVUPzQmPjE9xIBySvWCzGfo1Yn6FItt6vVNm3XONDvvZd73qXbo9JxhjOad/aKoEU+fZjCpzgRvIXEDPG2O3JZDJ5gtJPz0pwR2/dunWQnul9s5Xj8fQaR5+IT/WplqBe/TaGgjuafcIrtSdepW/CPxXdPGGVI5lFRtDVtqMnUmQJbYFh2+cDiERjeRIgU4ckWAE8TbTl+cuvJSwxLwVQHWNOXgDL6ehaAhH/al+dE209P14KqeBqV7xlMhkaO/dIscsvv/zIYG7dvIHRhjRWdXdwC+MQ1KcJOgY5w5GRMWzetJ7h0jY6mtBGk9Lc8tt/sAe9fYftVlJfXy/0ArEMTDu3wooEVH/4mWn4NKqH+/aDi0MaKTofLjo0DpqMFUDGZzQKAmN6zkvr6OR09KxMh6moWUt9DH/0S2tx3eWtKHBb8l1/vYd9Aa49rx4fe2sn+Yrwu/+vF//4wxwaWzpRS+CylpGlZDJuV2zqz5GOU/QOZ3CmLg05K891IaO4sFiwgHdkdBwL2rbD0Y8xBnFO2JaWRuSpP9/45n9D74xcfPGFOPe8c/Gjn96Fnbv30emUbZphZMGgYnR4WiJkoGvbT3ZU54hGyJ4pEPU55HPwc95p7TTgBuKlf2AYikR4NOzNTQ1oa20C2YEct4BViYbRdR0IeMnQszomJqc5NgMoFUsEiD5836MBDO1f3s0QyBnjIKJuqHy2rg5lDpDaqqHcargCEg2lCm8h5RtA1yHrRIwcKK+aYikfhx8fxKqXdMLntlPEPvQ+2o+pwzN456u34SUbGzHHbYSQz9WuTyMYj/l8NoODB/ZSL6gUlljENmiYI6WIbUYwxlCvGmD478Y3vh0/veUHGDh8CJ/4+O8TLCRggglGuR5FJtvOvi5A75QZx4Hr+XAok9z8OOoyLq666nL48Xo89ugObq1NIseITpn8SLfy+QVIhsZN0BEVEAV5clNm++SL4yLAFBCMGcclEEvBGBdgkm7nF2YxOztGpznHuousU0YUluB7RYTlOQwMHIYcYJrAxhgDfUgSkQ4ce/220wS3djKZNDRmklMDQUIbt8t9jrfKL0/Ts3Pcop2hDjSjjWDbYV+X5+t6enqW7Q5DYE4v5yuSJqCnLcIDBw7CpXNME5g5nAMRKyiRFQodKDJarBfUE4kY6uncHddhCcCwLPgJCFjmGEmV7umZAIAMcomGVnPO0rR9s+RYg2fez7PO6evb8HtvvxQXn96ONHUmpB5ZnWATruPAY1uuUznr2nddsmVs28m4jxhtiUs+lKezw2tSh86613PHGDy6exA/eXgEf/Txv8a73/x+hPPA4BMjqHVTaKxrQIKgV+Vc0k8QFMXjCSwS9GgLWvRAviKUAQMc7n2IZwPtCihSqOgS+Flg1JCnY74BAb2AmDEOZexbvfaph4p6/Pzeh6DFqSpoXAIat8GhUQigepybmn8ac9mj7Yem8cD2fsoohvbGFF5z+WZsWdtK3c6hwPERDelPNbHLBBopUMxWr1OpJBShlD4peikgya4AKgjwZCC9CMmDaJQJzJR8zsuXv+JKxFK1+OZ//9DqUJl2QbyyFjraW/CWN70OG9etBqcOtJAdZbRNOnGYgPVNF8XxrY+egYu21lkxwn6MbS+gHQdM5TkVTrxadngtHQg50rc+MoH3fHoHRibzeOzAHPb1z2BwqoQz1tfj2gua8A/f7YPKsoooQR9di5b40dnSZIa2MV97UTO++dEzcfGWGszR5k1wEaP+SMabN29kFG0Snh9HR0cHzj/vHMqwBnFGmUcJZg3HUPPAGIPRqRg629J2PL/whS/geB9jjPWDAiryyZoTxytXfdbT04MJ7mbo/7WUX3YcToJq5nM4q14d7bfojI6OcrHZRz2QVI5PRHyJP/GpZAzH5PhFn/Wp2q7YEQfCGCF9wzNVKlPHVMYYY+XsVJFZjE61hitDY54/I8sbNcbQSCfsYKizQp1S8moZMTnPVY+eiXkZgWreCz0LkKkv1TaCIDiGpICneFIZ9buaqffEJMxf/OIXMMagyJXUEEFXK6Nd4nHtmlVoJ6hau3YVZukANEOA0NAAABAASURBVKEVth+jovox34KYQa6QOIdoJBa4qhjGvv0HLUDRewPTXFGqrYV8hHgM0GT5yQMT+PodI/jq7SP2Xs9UJuQs4lek7HNd60bnkIVoM1DiZC4vpdUtCbztFW3Y0JXAR97ahY6mGP7pe8P4rX/qRRRroqHJ2D4ZY3h2UJOqgaJDiwRbExNTbINLMTZslpLrOvbdmWZGIwI63XGG/JPJFASA9M5WgYCGRY98ZchTNHh65+PAgQP4/vd/jBquUK+66gq4sQS+9e0f4Vvf+RHeduMrCCzVVsTuVCaIjtID9e3INfuoZzJYIRU6pDMI+ayzOYPrXrYFq9rqLFgQYBwdnyAtIJVMQn8VKUdfpsHUy/gjBJEh6ycZJVtNUN3e1mLb1xaDDP84AZrGOKCOhEwtzQ1oIrhTf0ZpVKcYHUwQvEpn8tySEH/qdMToUkSedA22biCQKfPJEvy6MQ+u7yJZl0Tj2gbIyO+75yCa1zUh25mBTyd67tZ2/PoN52JLd9rqC+zHoL+vB4MD/XRern1SOZAo24kopKOJ7fHeodEqUFcXGK1tamyo6CYnekN9EqX8CBTVEo+u6/A6j7HRAwRrj+DJJ+/Ft//7a7jlJ1/hswHqACBZWZmzf4Z0g6CAUmGOLIQo8zpkhCPgNm2gM0FILJ4knx4mxg/i4P67MDl+iO2P05HPIOBWaMCyUVhG3C+z3CK3VGeQzaatI/e8o/1jN9hGBAGvgcERlqmzTlZzSyBIoDrOMTSGcrYleeBXCwSNfyZTi+6udguy+fiYb4HO+vDhYebF0ErQHlA3tGUbkZZeOQio3wLfnit+IkqZ1aNKKlOO09QB3tl3grT40FgbwyOTQLZAyDjnkNqpJ2h0KLc851VNKgXX8yqOgPT4JW0dYQECVQC/fuMFeP1l61BXG6N8AM8xlJULj+AwoL4b3jtMnuvAyss4jIawTMy15VzmuY4DnckOtRBMERzeOI4hHQffuGU7PvOth3HXIz246JIrMDExhq/957/Ccxw0NmTh8BxyLHX2YzHECMwko4j6LbDlOC75pq6hBF6wP6Gt08rIci6Xt4CqnmM6NTkBbc+ma1PQZ/Xai9C56hysWnMet7bqqFtlBNSbxsZGSK7bt+/AZRefb2mBXI+MjmGGdlVztUT7ks2k0dRYb/NlZwV4p+YK7LdH8OjZ7dkz1zfg9Vechg7ahXmC25BzHfxEVKhqktxqaYuMcaCx0hyRPMftwpq6zbKgvIwx0D/RUF2dA9oEAXfx08LFwLWvuQYzuQJuvf3nEJBXP1TGpe5ccP7ZePMbX4s2bu3laSvW1S/gqx/eihsvb0Vt0gNI3Sa1YyjKCPwY8JZnfk0liR2lCe56/Mrf7MBDe6aZAZyzsR6tjK6taU2itT6BjV0p/Hz7LKQrBsaWqR50d4SuHuqBzkq8bq2P4RO/tB7/+rtb0FQToK9/AOeddz5Wr1rF8QX6+vowRF+2e88+jNEO1ljb3sCF8Bhcz2GZCA88NcWIpRZpYJkxUX7G5FDH5G+NMbQPs7RDxWPKjhI06TfF2tvbOUdb4VKexxR4tptnyFe7nZ2dXKS1ob+/H2pHY1strgXnPHGI2hN/Kl/Ne6Fnn0A+nU7bvgrsLW9X13omHautrYXKqj1HBz0QQ7o+1UkdTKVS8GiYxICA2QIjKQKCer4cEJ3qtuM0LBKy2lKbigKKBz0XChZvavPqq69GPB6jA1i074JpO3JVVycK+QJmaIxjBFv9hwehqIvK66+xstmsndyiN8zQ78DAEJ1Qng5lDo10ikUalAwNivqn90cqzsQhfW4jRS7Ov+BSDIzM47bHpvDI3jk81bOIP/hiLz7wj3vxhZ+M40Of3Y+P/dtB/NN3D+P+nTN44sA8DA2s2tdklbHWOeRB12Ua7xJRWsJ3uGI2+JP/HMT+iQw2rl9jIwczczQ8nLTGANXk+x6jFA02CXDNMnolRcHSxxiDBCMCMjANDXUYHRvDNKMMiUQcMjgyaEtFj5ykR3VUwvq6Wvzge9/HPffchw3r1+K1r3s1zjh9KxXPs4BIPNPe24mtNtmNY69p+dU3mi0+55H9C5lyi0Xc8cgh5IoOVnV1QOMrY93LiOQ4naI6p4jEKjpnnedzC+jhNuYkx1FMprjyF2ir49gUGL3IcZtcz5s5ZgJrPieRVoDDBOKO6xL0lSH6jXQiMrxki9+IziUgX2HlrCfqDChcEWMKimUUF0ssE2HnLXuxMLmAteevQpyOl8UBytbAwKdxk0Fta5MhascZ287BpZcSxLJt6U9FNhHpUAYU0tH7pWekMTI8CH3SmQx1UgbSQDo7OTHNBVESnZ1tQJjDQP9TGB/dw0jmJLq6z0F7xxnWUZYInObnxjA+dogOU3SVXIJIRrXYJkNjiAiqyow4BgQv5VIAx/U4Z5KUzTgO7f8ZJif2E/TXEnANMSK2gJA0VScoL6C+3kOhME8n6tMwNlvexK+SJc+DFkgDg8MIucBQH/WeGEVE3WyE9MkYSQtWdKqn+aX3gjzPRTf1QGOt58tTmcBrgFHU2dmc/cMVR/OHdBK0R8PDI5ienkYdZeZ7Humyz6wcMfEGEcdThlo6ks1mKKcEDOsbY0CRW0a0OJmYmsY8dayGDksATP/HYYJ2J0E9gz7sm2hWqINyKCJPu/KWq8/Ab7/5QnS31iLGsXZJ2yFt8Siw4PsuUnEfniPn58AYB2FkCEZcJGOefe46Dh2XAauxpQiGjOva4XOPeuVTNh7T6GwRnu9hw8YtuP++e/C5z34ailrFSV98GWPg+zHEE3H2G7Rh83Z7ypDq4uICMnVN7G/A5KoFnpmhK9arr69DhjKcmZm3dSWvQqEE8TA12WfbmZ8bJ71peF4CxjiQU0wx4rztrDNx9z0PILQgKqI+xa3z8shzG6OcPudijr5imIuqIudqTcLDtZdsgM++xVgmQTkk4z6ytXG8lNuYV1+8GYZwVVHeSHJflsR0nDZevk4gPmCb9fVZCGhprs8zUq1eGUMKzFN58RUQkCmVyiXIeeu6o6MNZ551Fh56dDtuu/MeO55hGLF6xK3AIdSYafzz+zfhE+9cD+1gMAMkeyRRdFZW1edkU5c2GXsEZPve/n+fwsB4AW2NNfiN16/Fxs4ajM2U8FffOIQ/+re9+MSXdqG+1sH7Xtddoc26y2nxFlV6OivpmdrXWTytbkniy7+/DX/8Sxu4iP4+fvbze2gzEgTWNeQhtH0e44JX5cEKMQJ22cckF7/9wyWMTIQ268Ybb7TnZzuofpr+QeVytL2agwcPHmSbKaxevdrqgPJOdVK7qwg245yb+n8uJycnofktPZEP8TzvVDd5hF6CW6iSV57RZiVhESU9E1/GHBkZOD6V/kjNF/FCHZazluEtc9WpdjVpX8QmLWljZGx8q1ia1OJBSZlSIg3Grbfeyvwydu/ajf0HDkHGVdGsdevWYMuWTVzNBRy8HJH9HCTcOSJqCVbAJMeoxNo1qyDQUSQIkzFRXktzo6WjSTzPlZtWjlr5TU1NQpN6D1cerVxxqQ3xUqbzaOOKs5OTfXQ+BsfzETgp7OxbxL/+ZAhfvGUCH/qXYa6WcpxPNKM0AIFNlcmra/oQ5oGABzgwXIa2T0uku56AKJlIElAOsB8Lau6YJKVYRaeWTCYwOiZFPbaMMQZJKlVHeyuSjBbpL8vm53Ko5apzlNHBqSWwUyFqNG/pKFw0NjSgzMjNN77x39ixYxfkNHuGpvHU/lEU6dTLBJAyZJoUlQQaKvaNVoVfS07nkAZSZxjgnif6MTVboFF24TgGekG/g1GvBCfaLI2qgHMut2jbb2akS+ArvmREFDFTGY2RIgPtNPpNDfVoZ/04jXWekZTBoRGUqJ8yiGwOGiPRn2AYXWUqTNkjeQ1hjEHE6EJE4UdiUnbZjgJQ156G6zso58tIZOJw6USWsthR0mADj+waRLb7PLzjne9FilHLq695LTZu2gxLi0UsSR50X0l8SCK6VlSDJMgDn7GM5JFO1yLFSPcsx6emtoaOMI+pyWnU1WWQShSRXxxj5LKZsnMxyWhWLjeO5paNWFiYYpsBjTCo7yUE5RxCgrBQf6zAqEaZKWLUzCUQSxLQBLzv7XmAIO8RJBMuWlpakOJzY2jEiznSyMP3C6SxgOnpKYKyDOdOnIwe/UbkuUxHN8QtKoHeOMdwnNsnmjMNdPSN9Vn4Kwyl6mhLqEC96uxohcCS6zpHifIq4ryYIBgdo242NzcTMNSybxGSyRryMoeBwwPQXBQ4BwV4ZMh0wbTAOT3HOZtKJpGmDB3HsfUNCxtj2KcI07Oz0HtisgGSrXQnpA7U1CRhjOH4Uo81TkxkCSUC9ByB21Xnb8AfvPNSnLau2f41pMuy/DKiBbjUZ/XFdRwLuDzXge+78DwXgAOPwM0nGHFtOWPLGwC8tdeu48B1DZMDz147XJy5dlxeduW1eOXVr0VPzwHLX4HyAz++5yMWT8BxXUbtFgmoOe4EIVkuOGFiaG3bjIbGdSzp2p4YUBYEPRw6sJOUC8ijxzINSFHv6jJ1nNslyijE7Mwghgd3EITOwXE8lEqLiMVSbN+xC90nHn8SF5y7DR59EMVu510LI/K1pCNbOsLITD5ftO0UGHG65KxVaG9Osz0XPudSNcV9D/GYh66WGlx/5Wl46blrucVcYLuqy+r8Sm+UjDFIpZK0XbWcG4tILo3xLG2HbJkAZbBkb0Jrn0LaUyZeK2pYpm2Qfiaoq2efcxa2nn46/ueHt0E/+/OTn/wUL101gr/9tfXY3F0Dw3aXfysyA8gC7GdFgeptNd91XNRxAXfa6jR+8dQE/uxrh1AKPQvK1rQl8YHruvF7N62F71fGHSRQrWvp86B7ybbaNh8tfQ3HUxWganjluU346h+egVIxzwjqFFzP43NDXfIgHV/kImI+N8/8EloZAXRdB3QtOO+0BPSRHHU+mWSMoT44GB4e5hgVSK8V8sP4/+FTV1eHdkbh5KPHGGBQk8ZQDrp4EZPjOJSla3VO+vNM+MdZ5J6/mHsReYEYEBoWExJImgi5+iyk8r9YbQc0LGpXk0irOLXtUdEeeOABGukMHnjgfjs5V63qxLYzlqI3nHglalomUwuFa+UwtMcuPmN07JJXQ0MWNZzUAmdy+MrXij5bl0F3Zwc8GgutnqcIVE7bshEb1q2225fiR6uyLdynV/08AcDBgz1YQ0AnIKZt0JDOJEVgpAGsoYOTQ1jV3cmBzBMQzmJ+YZmRYdmQM40s0wACvLUGUltORYLDwwODqE2nqfQlSOHPOvN0OK4DbdeVKRss+xhjuCqqhSJLnIkYG5/kuJVZQspaSa7rIiuFJoBRu6Kvs+Si/xJkgboETnNWsl+ShJxsK4GnXpa+/8FHUVjMAcbBT+/bj5n5PNRfGcpqgv1YE0JSOvOBmueJXcWG7gbIAQ1z1ayXs0s0kH7MRwsBcEtzk6UnQ64+ljhdd+laAAAQAElEQVSOnu9xArbYfBlY9Ut5MrwCaimOo9oeofPWeBlDQ8WGWgjmBAoiOlmBBAFS13HZuwpPLEJZRzaBAlO5kAAGyz6je8eh33Daes0m+HqHzFZStyJQBOyHsf154uG78L3/+W9GJuYwwmjX/Pwc+xFgmvojnVE11mJbPPImYjLG2PL6q6g4tw2Zw/yI9SI78euoiwGjWXk6MhnLPA1qgTrhOA7KpQnUpBaRbehGS+tmrvBn4cdraGDzONx7Dwr5SQTcagzDEhiyokOSHriIEdRLbwYHnsKhAz8n/3m0t7UiQ50wxhDULaBAnU4mI+Ytkm4OTY31kBzVLpY+4j/kvFdUdpzASfNokavHaUZf67MZtLUQrNDhLRU/cpLTnJmZtfQUtfU5tkcyeUGxQDQ0F5OcQ00cQ42J78egqEhPbx9lFKCWIMt1HdZY+kaVs+aMwJ5H0KMf4JWtUI4xBsYYyjaEgJrmu9qSjGXHCpSx5rMAk/pmEzVFdSNOygVGebaubcIH33opLt/WwciXB8814FDY5PLa81yOmwOXyi3eXNdFZBwADpJx127Pxeh4S2WOMfk1zAEPDvlyHAPHcUhT9ZncSvJ4dphks+6+86d48IFf4Ffe81t0sAnqTg4e5eLRpon/eUbQZetStDktrR2Y4dagceJIJBtgHJ9yY6MIeFakDMs+EZ/pNkI8HtPF05LAvXiNx2uh7XNjHLS1nwY/lsG+QwWC9TW2jhZJkt0oIzLTjNa7jkvdC9BMkKbt0XueGMTtDxygjBy4rgPJzPc9+L6LGJPP6wS3cte01+HGV5yBzaubuADNsc2KzRTtanIcx+qBoew0L7LUu0wmDemkdFPlBMxkM0IuuJQC2syAxlbArBoxU5+14D63dQSfe18XXn5OA3kzSzIBOERHr3kjvQE/htf88grQtUsdqOZJ0g75+v6fnoWaOPD33z6IHz84gYAR0pgX4RPvWI9/eN8WnLa6lv020D+oEiofS4/1ddYTw8PRbN2BxSPWq2TIhv/Rl/bi337cg62rUswMMMmFkey7fKf6LDloG166Mjw8av0Ra8ORivJikhEnnp71K7n2cTtUYGzNmjVobW1FIpGA5kiRUdBnJfACCoj3eQZTkgThHR0d6Orqsluthw8fpr2jXr8A2ieqKhnmGA1Umfr6egiL6Fq8SKd0XU1OihPQdV2ujo4qbjXzhZ7VmBjRWYBguYHTIEgwElKexviFtrW8vgZdRki01YbaMsZg9+7d+OAHP4iPfexjNEhzdqLOcWWUYaRHL+Jns1msJTgK6MgUxm5k9ER76w7rdna0QxEivW+lCSnnkKXTozmCBE4tpnI6mOMqWH3N0wEqf4TAYZpOpKmxwU6CgJN6hFucLg2wFLCd4CavF+XZRpJOZGSUe/Qcj2y2DrGYTx5LGBwcxqpVXVSgDju5DaeSywlsDCd+yJYjQJOqOqHLdAIyTjXcFjjAiN8o9+c1qcYnJq0z27B2NaZp8HQvWWHZxxgDRY0EbgSw5HzE87Ii0Di2NDdAfZID1soyHotbXgV29G7d8vLGGChC2FifxfZdBzFbcJBpaIbkavkm4xU+KE3yTgxk+8nHPLNzS8QMz+u66vH6l21GW2Mt8nSEg4yuyAmrVIrRuy5uz9VTdkWCj8PcRlYfQ9KULLq7O8hzveVzYHAEMvzaytRYawxDggQ54hY6csd1oO2oiclpOw55Ag2BbLJgx5Fd4mUEGWqliE8rz/iY36AUonl9I4wxmOybQpkREtsf5hljMD2Xt/qifrzz1Wegs3aWq/oFbvHejYd/9j/4zZvOxwduPh+djTEavwXW0jey9ADDdkOrd67jcJWfYuuwspIcIwowYmOxWALZbBbiu0BjF6MDDimLLVtPx2+873fwhtdfiSgcZruLGB89gIDbjCFB5eTEQeKwMtsoI6AzUj3jgB+XQOxuRlFG7Ht2DQ2NcLnAKRTydrEQUn51dWnMzU5zoROnI22grrisV/mSJdIkqOGcGxoeQ4ygS3WkY57rEty1QMA3qhQ/cixwLPVXvgLPnYwga54cyVy60Ev3Q3QUjuOimcDcGAPD6wgODnNhUqSu1NHhxnyfNaKKvHilr/oooBeyr/pZlEQ8occwhjRgIFkuco4KmOucTtcQBHgEnwXrTOSURVHlLGHWVl8XFwuIewbveM05uOmqLWirT7CeA49z13UMHCbXdeA6Sgb2mhFIsN0QBnHfhQCGw3xjmM/y8ZjDnIhjGiDiWDp85joOaTqkp7Nrr0XLYR1yz0XQogVLXV2r8aMffJssGugjGzXHSJ/Gz3EM1q/u4nj5KJSyHONFO1a53CRsvywtgkQbHQtVnc/tyR7UX11MHMcxay5u3HQlAVgSTc0bsH7j5ahvXI32zrOQrmtTNSkvIzPT0Hz0qVMh7WQqlbDz1WHbBc6/Mp/1Ds3Y/nmeQ17dyrXrwHUc+DzH+DxOudUwanve1lbov2nrZFQtR7ts+wE1xdEiw/xyPHw6yFoEQURQsMj2GiC5qqx0s5IiyoKJ8yqkjuiZ8h977AlMHrwX3/jI6bjhshaCJ5fU+ZUCG575NcZwXPD0D/ON4WEpR+1XLg2MMWQS4BH/+rtn4tO/thn/9P7N+PwHNuI7H9+Gl5/TSJqGfa4mQFVUHvyoXwF1Q2eb+Kz6teV4MMaARfC1Owbxia/swYGhHAanQrz72rWoTXow/NfNQMD5F5xrbcA8AYUX820Us5U+Sz7B5ZzddbBoSX/pS1+y5xMdFJHq7e3l/GymL+uC6qu8zjWMiupaIEW2WNenKmnRJLrGGILw2iPt+rQFnZ2d0H+LNzAwgKmpqVPVpKUjHRHQVH+Es2KxmH1ujIGu9axIu6wy0illOjqIMQmkSkDC1vPnm0RHgEiNqVEBouPRcjiJksmkFZCAm8ofr9xzeZYnuFMH1Se1rTaq9c899yX44he/iD27d2DN6m46nYBtO5Cy1RC87D9AR0SnMsboUBcjXeqHwEVYylnAOsoQuhxCJpNBO7cX57mtIYe9acM6bGTSXnsiEbf0zt52JmqXto/muH20ZctmbDvzDAxyS2zDxvU41NOPLZs2oJFATfVGCcS0QtuyeQPLDKNcKkNbIgJ1awgSlT8xMYkv3zKEz/xgBLc/OgXjcN5yxoWcWVy4cYJF4K01LjpL0Zu4unRp4Pq5TVOkY1ukYZuhQ2xn2FmOa4D8zNNYVWVUPctxtTQ1EcBlLR/qazWvcjZIJhNoa20i2KqxZaYY4Uizz0XyPsEVVqWcjoYHQ1m7qM9mybSh8Z3A5CKQKxrLM70Ez+SfFzpi6WNrGgPHqaQigc5DOwawUDIWICco75nZOfvuhs4Oy9bR8SqqmGSeZC9QPcsIgKGRyZA/vfyt8ZbDVL9CjrnqCByL3izHa3R0AhHlKh0QjWw2awEQ2YM+IQ0zSC+ikWZBfkNEXMGyc9DHoWPITS0g01qL4Z2jiGjwq3khB+sn9+7H9NwijCFXTOed1oH3vm4T3nRpI95yzZloqq9BOhnD9VdsxRuv3IzaWASNXxRROkxqQ/NK4HiBUcdzz73YOhS1oexqOZ1ra2sJkFKY4+pQ8nnyycfw85/fid6eQ7iGW6Sl4gzHMoPJiV60dZxGAxxyfA6yCUOnF0OZ/Hqej/m5ITsO0hu1LUM3wyjeLMF9miBF+ubRSLdxK1i6QQL2W+WnQFA0SCBcKgUwzBnlYiWkjJsJgKX7xugpM5a+AR1wRY8iaMwymVrYijj6CcjbKMdqZnYeohOLeRyHEJ4f4+p3HOOcs7Wc2wJN4ODJVyqJQsS2Nf65+QXqMGVEW2SMgTGVRElDYHZyaoayy0H6lGIZgQPHOEgQULIxfUWO1O3JRpYDbsW+4WVb8MG3XoRNqxsQ8114roHrMNmzw3uH95WzxznqOC5pGfieyyiaz3wXjuPAFT+kbgBwtsB1DdtmPwGOTQRjDMsZ+1x5Dttw9IzJGINXXbKRgHmadmkeL3/lq9Ha2kGAFuf29SLbi1DHOXHZuZtw1dkt2NKVoK3jwo2AKZVME5hNUGzUbc6RUDofwX6iKLB17Q15Y6Fl95WnK4+dXWejoWkNHNdDSODPCixCKUtBeOW67D/HxBiDNton6dgCt49HGTHL0UZRLLjy/PUEBRFinmcBmOdSPo6hrAxcnkVDz2K+h0TMQ0MmgavOX4NrLtkMz4nYtxybXeoEyDXblg4mEnHIJugVlIB9ZRb9Q0hbGvIcLCVek7/+/sPY/+S9+OCrEvizd65DW0OcYwCbwA/Zh8aKl7atJXK8NVAeLyCzoXarnBhjUM1UnsZQ/fA41l3NCZyxthbr2pPsN8sBqBzxtE+V3sqManl2FyEPdz0+iQ//y27cv2sSvaNF/PI1a/A7N61HY10MjuNAf8AwRRv+2KOPUz/SUICglsGbNkbECww2iH4HgxRushNnn70Nn/vc53DeeefhjDPOwJve9Cb83d/9nYrYNDMzg56eHvgEQGsYFUtyDtmMFYcYAUsNgZnm/QKjyrJdK4o8p9uQghcd0ZMNFH0RWJmkZ3q/zBiDQ4cOYZ52cmWZ53ovHJIjiBVtJWOqI3CUkuQsWSh/kbtLRYIz52g27CRVpjLUkecjkCoj6rwaM+bpjCxvU9caKA2ErtUJIUpdP5ckoauuOilaHifs8vr6PRIZUk3YBU7yAUadytzS6mhvg8qWCCJWdXfh4KFeJJMJTE1ztTY1jbZGB+maMuZpENSGtsEUrtakVQRJgz5HYDZLh5DJpOnIJqE9am3vXHbpZXSSC+jq6qTSvgTd3atx1lnbsHPnbui9rvncIlfYSdue5/lk12CaDq6BkbkpnpOJBIw1Mg44h6AXUFkIr7sceHD3LPYdXtQtQhqJgElnPdC1zho/1YvTcciJzlNBhhhRSiZTcFzf1jvj9C2QTCSPPB2m6imZpWFLsG4nZeTTwOm3uBYZKVD+0WQgENbR3gI5rDE6wHnKShNghNfTjA7CGuyjNdRea3MzegZmcMu9e7B/tAyXk1G8Gpoah3227RvA8NoxBsYoOXhw+wAGxua5jRMn3w6auCXWTNAp/gQI9Reg0kHHAIrytXM1pzy9UzQ4NGz/MspzXSgK1kYwKSDWwTIpbl1KviPkWdtn4EeGq6E+i1ZuuU5NTcKnTkXqC62eZBtywke0nnqmcxiVWevo1yEoGz80icY19XA8F2E5xODOIeTH8ihGMdzxUM+RwhE7r3ETTbWre6UyAUddJoUbrtyCl57VjkI+BwEhFrcgS33bt3eXdbj5/CL1hMyRR9WtppC6YYxjy4NyWbt2A+7iFtbdd/8U//zZT6MuU4PaWhc+DebhvscRlBeRmx+FcRwYY/jco/Oeg8CPRxkEBEoyWtPT08jW13H8a5hfQLau1l5XOyUexUOZ28oj+tFJzpF0Jo0ZAug8FwaKZGo7U+0aVlLiyfZBZRRtbqVj1ovjmtfKq6aQsp/mALkS8wAAEABJREFUAmCUW81yForMheynz6igfmx0cHAIMeqsgKKhMlSkslSbN7IB03QUmmPZugx1ybWZxlS4CDmuAnlTnIeu6zCKkib4CSVZJDgnHD5T30iK6s2jvuRJc+icLR340Nsuw9mbWuFTB1y2L7LGGOjadRw4fOY6DqSLLnUjguEzh3PIYx2X17DJGKtdqHxYSjTopEUnEfOQ4BZdBH0c0nbgGCUDFgMM4LCdq85fi3QqhvvuuQPbCcaHBvvhUzYxRjzO3rIaNxHwn7chi2w6jkvPWo23v7INZ21sYH0XTc3rUflUWqlcO2hoXI/5+TLtW8UGVcYatCmhLWKMsWcdHMflifd8ZsQUSVXKs2+UWeVRRKBVgsZadlRAWPZGW82qEwQlvO6lm3HW5jYk4i7mFkt2PIxhrgEM+6m+ujxL5koa/7iVkYe17Wnc/IrTcOnZa1AsFlCgrbPjR0aqZ2OMBWXV+4g6oBSSRyUtiHdSfpetnsE/v38Dzt9UB1ahTrB9XrBbAMjMsmSMgTEGgBL40dnAGAMeAPDMVKkL+zEOOAfsJWwxXpIF+4zs2vb46Mh3+TNREy1bTzcspZOe8RKDE3n88Zf34ds/H0TA/p21vgEff8cW+wcDyhctndXfPOeo6zjEBT7ndS2mORfm6euMMZBdDTivh7mg7+vrJ5/G/l5nuVzEI48+jI985CM2CvRnf/on+OhHP4o1BGLZbFakT5iMMWwvbpNAilJUZeqENY/NlA9QXeEZpWNzj38n/lavXm11QxEz4aDjl3zmp7J1+hkLz/NoU2vhUH7PXLqSozI1BKLGGDhY8VFmkghWnVCHTpYpMTJPZOm6rmVE5xWkn/U2RqesttVmjuDhZAZCZRaIplVHETHROF5DGzdutMYi5CrPcT06p6QVvLa0BEbkHNT3ddzOKzKS1ELAUKFjeDJWATu4XTLCSFaBijpKxy0wp5XEMLcgh0dGECf/XZ0dGOCe9M4dO/C1r38DolsqFfHZz30OP/zhjzAyPGRpLZLnKYZIH37kMd632mjPvv0HUVhCyau5RRlSEQX2enr7ufpvRCuBA5mBn1yNHT05fOl/h0AfVEmMwOiaVezEVblKotFbmo3ZbBYCewIm4xMTqE2n6RznUU/QsYWROYFSyUOOV3WpH5xooFIZOu00Otn/IvsyyZWTxhvLPhrvhoYs+9FGueahqJTreDT8PoZHxiDwSjOzrAYgoCiwt+/QEL7/s30Ymg5oJAz0T47l/6PtPQAsOaqr4VPV3S+/N29yntm80u4qopwlhCQkBAITRLKxjW3A2GCMM/YHxjj8+OPDmIyJBmOiSBJJAiGQUJZWefNsmJzjy93/OfXmrWbXAgTIvV0dKt66deveU7d63npUrpbBmDogDdnBtuYUZKQEnKamZ50nMZGIoaO9jd68Joiu+vdlkw64xGl0eriqk+EXmB6fmCI9UygTgAdB4BSN2KM/VJhkfZKnkNqvOZ9DK/tjjIFAZYxj69NwNrRh5DwENfZH/KWhZiURZYsRjv+xVADLsgkauc4TOhCyzn0/HUK0EMF9w2QNRuginKQXjUXBriHkpREqBG8LKxVUBchSPj0mHk7a2IHfvfYUbOpJo7Cy7Poneg/s34tHH3kQvh+oede+e+BF8lDne+Tqr9Ov5xrHqQwBHrVZpdcql02zzhW00gin0i2sz0O5vIz5uVF6SmZQqxaRTCYwRyCmdts5R+a4aBHoaWtrhrVPqhO1G1Hhy7s0Rc+uxrpIIzhJAJWhx6qLIFd1kcRjzmXOi0l6qJu49SmQH+P4rc2gepdoFLRV7VPpCZCH5K3Hvmt8j9ATrDnUlMvAel6juw0WsD8VgtdFWPK/lQufIPBd9cYYGMZFLLFEGqYoC9IVTQSQ1nqQgpecOVAuIhgiVxLka0j5LqK3PYPffeGZuPRZAxwvS0BoCZIM5RWubtVvjIUxhvFMc/QZN14CVrHAQgeT4SLZhu7MAcME0ewCM1iP5UmvT5lMxjjPCPyqTgdEzGtc8CzzeB485vn71z8bzZkY9u/fDZ95V7goffGzd+DZp3ejqyWJuOpg3kQ8QE9bBpeemsbvPX8j1nXF2bIB2KZ4I16D25aZbAfaOk9APNmHufkSZakEHdIxukeiXQ8MVRpplVFfVAejeOqJ4I31Kp4RbnFljOHW0RwXxPOwluPHerK5NHVUM776wydw8517SKvn+hJyvixyjtTYb8ty1hp4noFAbox9Dhh8z8JTPAOzYGt/Hi9+9nas78k7OShT34KH6F0bQDlovJdpD/bs3ove2BF8+k/W4/pLu1mnJRcAs/qPZLonHHcoPloTJxoar4YPCry5U8/Ky2kDVtZgC1SmkQYeeubt6NlIV4TKK921qxdFMiyuVPGeLw8RjO1CmXO9ty2NP3rhJlx2Wpurn1nYY13rQTpvI22h9MPk1Cz03ZhsXYKexOZ8E8QTa637ZQHhhL6+bve5z8GhQ5jlfI9RXyr9Ix/9CD73uc9iI3eQFKd5dNNNN9Ub+TlXz/Noo1MIqKOFBcqr4/RzirikSqXChcISZdwnuE5ThqyLf7oX0dza2goFbbGOjIygxgXoLyqvPEvEP7pnaVd9v65XflG5tenq68+kVoQJ4BhjIIbI0K0t3HgOqQxXqMDECHlFVGkj7Ve5N9pNJpPQQJeoxJ+qHk0WpSmP8ioYY54qq4v79Kc/7Qaoq7OTcy1yAyaAJcZ5nnUCJuBz8NARKobWJwfBeADDArf5pimYeQrjCpVZivQtcKWvb1esscwfurDIQQlicWiFH4/FXL1FunhT9EoVuZ1ao4HVX5SJftUpha9+LJOHWq1re0zzSCtzeZzkkYpzRS4js+C8TUBpRdtJoCJNoO5ViUDdxAmskvVnjYcEBO6ImAaGCJaTqLW1xd13794DgasiAeY8vRcd7a2QS3pmbg7aKgo1q135+sUYg04CnzZuMYl2ldX411PrV59KsIteDdW1tLyECRrgWDzGSbIMAbNqrcqMopO31bOJW8BNuSbc/8Qwdh4qwE+kqSQMgyXNQMjOWSpU3zcOlLyQ23jdbVnKRxECX4s00KA6yXCVIfCVocFXn/T7YnPcTouo4XKcJH293dCH2PKACYTrz7cXOa4CaeIvu+f+ElR9lFxoDPWRbxD4bhxl8EVydBxf1HY9KFUhch/zF5dKyFDx7f7RPpQXSsglM5Q7j32i/FHRNDU14ZF9E/WiEcsxcDq51f9SoYp0wqcnkPIHHiTOcrYm4wGas0m0tnVg/fot6O4ZwIUXXgpVkiN4AAyePFgh+SJyFRrxIRsxxiCfz3MrbgVlKjFD/obcctU3FXOzh7k9OYnDQ/cTiM2iSiAWhmXSXXWrXrVTkYIkKO2kl9Gj8mzUrbv4I77qjy6MIT2sd3pmBsZQfgjE0hyfSBnXhBKN3iSBmOpav66Pyji5JrX+WKKcjnBFXqFB6ersgPIaY2Gsh7GxcRrYBWg+xQniXP26KLC4+rzAbWvNC3nENH8ZDaN/hpCHDCpS14gGze9cNgPNO82/gOOvuUlWkgecSyzoqmWZEssITL3osu24/ort6G1NIZUIwGpRJVBg1fCshXSEa0vP4pfxQMyNnzx4EAdGZmGMS+WdIxmyDTYQrt5VmeH4qA7Lu2ctPOa3Hu985yMY5QCgMcbVawm6PAaf89H3PKZbvO33LqOX6ERsX9eKP33Vhdi+vgWZZADf5bMEMpbbgJ67+6y3JevhmrPSuOqMFPJpC4DB8Abyi8wwvKdSLejqPolvWczRY6lFpu/HlQlNzb0cx2Zkc11MB3lXQ7S6aOEb8xgGnqRZ75qr01zswb2DshZAoNl3YLuKMmXkkb0T8Kxlf4yjvSkdkM8hiuWaiw/UX7+ezmywaoK8lEwGjI8HHvJc4FxyWj+uv/JktOYS1E1LTneTEncqL4fW6Z0KF26P7bwL56yv4I0vGABYX8hEnnAH39199cKm6k+r8XrXo+6N4DIo0j3UL41X0avuN+6NdlS2nlOcqj+tjavHQORB5bF6VCiDP3poFm/75G5MLxQdT198cT9eekkvVHcjuDJ8Ud9VtIuL/1naAb2HTl8AqWQCbVzE6BMbS+ZqvujXBbq7OulomMQMHQxxZ6sq0EJJC3jND5XXNqfmnjDFNddcg3/4h3eqmV8YfN93dlt0/DwcUiNoUrraymSkZ39pQHQMLYlEAtKFzc3NOEIHixahx2RYfRFdwiDqp9pV/1eTfqWb/UWlAhqONA2dANkKQYM6rjIiREQIZCQJThQU/0wFDbgGT3cBC7XfqFsDK+YrTXmMMY2kn3l/4+t/B793XRzD3Mqo0NWaSiUJNFeQTCTR19uHOAfAGMOJbuklKGPI/UUWRZ7bUFFYwTzBkMfJLikeoPcqiAVcFRcgA9HDvfR1gwOQ12mJ4EC0rufqIkXDM8Jtsgl61dppiAYG+yFQIvBVokGTF6ytrc3VMUmPWycngb5tG6cXJ6IyFphRvZ0dHW7VWKXQgUelZnHNeT149XPaqYwigjKQrLoSJ8XMAfikNaTyGxsbc6t75mAeXlcnXYxgsaOjE57nY5RGrsZJV6KhKxI8DvT3OkUoOkSrq3DNJUaZ6CGt8mJMrX7fsSbZPSY5eeVB1CSeprehRGPayq3FBYJYAZ2QIInUuLy6GGPQQoCwsLCMz3/7Adz+6ATKCJhk4HlPjq9oFIhZKNTQSZ4Gge8MwQj7sFxYceOnbca+ni6urpjGcdPPXSzR42rZRjO3p3p7OrlVHHegeZ701AiS05SHro52Kp2kG9cJ9qvKLW3rWSwuLqOJ4ElyRy6vGhc+hVVE5FvIsUI91l2xemToMdF3ZKYCAqgWaM5Yz0MsniCdHuWswvELWTSCeliqhFjgVkyCRiOX9pkHLt6zhs+GfLC49f4h1NIb8brX/wl6KLcveekrcdY55zPNZ/0AuwgdHGb3rjsbYFTE9sqUlZCGJmQa22SjAldSPlokaGWn8oWVOeapoVhaQOj+2rIKbWNGtTmC4AJET88qD1nx0VNtSX7GJ6a5/VSlYfe4hT9Lr28JbS0tbnwtFbkrEPHKEJJ/MsJlzYfBXnpw80w49tQ3d9rynCe4FtCXbNU4F4IgRiMwhwl6qJPkqWSNo1IfA9atfkeUM8mwxj9LRZ2lLlPtBobG2kKHjK7kQPUnk3GCiLoMKE16wvAhZOdUpQJfUa1WyM8KLj5jA97w4jO4UGhDPOYjoNEPuHCI09sloCbRULAcQ59z0ljLMSBlZPS7P/Nj3HzfEXzkhgfx8a/dh+n5FfI7ZHpI/odqBiTTjb1lfp7Q3VrDOIIORUAHKRRhfFf78Zjl+BrWY5jPcLzqeQXyT1zfhVdefQr6O3PUERYe5dFnULmANOvusw8eafUVPIvNfTG84rIsLjs1iSTrDgnEjQhT0JYqeZxvGUB377PQ0bkV6zacjU1bLkZn54no7T8NXT0nkp7QjUvEstNpMboAABAASURBVBHzr74goo5qPIOHtRYgr7XoE++LBLz62Zbl5RWkCHQv4far5/pvXN988ropkyA4i6FYiSh3UZ1H5IUByM8Iyh8PPMRcP3nnOCUY2psSeOHFW3HFuVuYFhKYLbPpyAXwEJ0VLlZ62pIYnS3hLz++G3c+PufaqHFQQwaSCrEBqwebdd1xFxLA06XorqB4DdXRu0uFXt2Tq49PyqO6GnWrrILe3Z15Gnfl5Svprtfj6mDhJw4v4y8+ugvfvmscK6UQF5/ahbe+ZBNasjEwGSqvvCqvvihO75b8PXDgENKZrLNX69cNQnbo8PCY+0Oobur+kBn1R10R7yHnsB9I/3DB1dWOnu5Ot6CfoE2zrFQ6X/a6hzp544b1HDdLQPYup0tE9y8KxhjECfRSqZSbc4VC4ej8UNt6l/5Ic24r3y+q75dJTxLb9Pf3c75XMTQ0RBlZOlpc+Ef9CmgPRdvRhF/jwT7dsolEgkYsgSK9PNojVfB9n8orBWPM063ml86nzgp5SgGrzfn5eQpexG2fDJT2dCr87Gc/i6VCyIkUQvVo8GSE52msh+mSLK3+lVh/Xw9d403ME7JuCa1hWxRyrvB7e7qdMEgAhg4cdHlkKLLZDAdpkUZ8hWUCN3AS6GUCsxoNeiwWgAxy8cv0nkVURgH5VuFqT9t4VXqMrKWSJiiQYZjlPn02m2Z9BfI2ya2/I5icmkSKghFR+MHj6z9cQnOKfQnBPkVUvAqik4mcXavZXBmtMJfYroBThduNSlM99RAiSeDURlAob9EYvQxZeqtKpQp8CtmWTesp+BFGGF+kYmTtx5xpThDxTPQLaBYJ5o7JwJfm5jyUx6OSH6I7O4KMgI9xgk4ZyuioKmJmnuJNFwHocrGGr/3gUSyUA7etyCQ3Fg/tGcfuQzNIUh5lTKQUmvNNsMbS+M9BW5llKlFDnsrT1U4Q6BF0agtqjMC4xH74fFeaAJj60E2PXjaTJi+r0F/SyePmWY1JDflcFu30CGrl73mcLuSvSI5oWEKOZcRAzqMOzEKR6YKmxNyhecQRg7w21hrE6DkVLaJBsiw5DDkgBQLheW69RDRu+UyAgEbGsBZjDCyDsRaeNQwWV527CbsfvRM3fusG3HvvnRz7GrcIpuGxT8tLC05GRc/aELENtaUFVYW8SaczYBRDxPENYVl/hv1XuvLG4gHjPBozgo5qAclkCM8WKfMVdLS3HB0PrB6qS/VKxmZnF6g8Y1zALGKJRlTeqHZuAQSUJ6hTR8tEWCRInuMc7KYSl6dtNemY2zy9LvJ05gikm/I5R28QxFAkwD8yPEK6LDR2lvyJVFIXhoiDpDxzBHEJKnPR4dMgG+ZTUNYawYBokEdY46At9xrnoXggudB465nVMbuunGcEgkXqwE19rXjTK87DBSf1Ih7z4FO+fdbN09HkWQvJZCLw3Xu1ZlD/L1glBz6+ffsujE4vY4l6IpNJYWiyhLd/9Af4/l37MLOwwvYADj3rMO5ujIFl5cZaAKY+dmS86BZlhmmWwXgWojsWeI4utbvExcvCSg1N6Riac3F6wWydXuYNGHwGlfHJH8+yPEPgGQJqw7oY+O7zffugjxdfmMbWvgAkwYU6f8htir50YyrTBtEUuvlR4XOFtFIaSat7YEGlsQRHiJSzX5Hb/AO3PctuLDXO0p1z1IXij2W/Brty+O3nn46LTl8Hj++BZ9kHj33xISCZiPn0HMfgkz0Ly2UuAqoICZhiBJk+afdYxuM9YIaYz3KB5/gT49idMNCMVxOknnPSAIpc1IUEGBHprctCiD992RactqUFC+ThF28dwT98bi8ePbjE+sH5F0EqgNnhDnXJPfDCZ558OPY0x766t7VxrgwvqpNku3RdGEVG6unYoLJKIytdwsRcGe/50gF89FuHUKE8D3Rl8Nev2OI+dVC/lE9113RxhdkHliS7OCZgvyJnB/XHC020b/oLZemPgLK8wt2hMm2XdO4o7YK2Mj3f585C2o2dgLPSpQ9isRis9bBxwzoE5LmA2dz8HOsPOdYliBY2+7RPYwx1UZJ6NIYVOocWFhbcXe0kaR+fdkW/ZEZrLdpoIwcHB7k4X3S/+C97YIxxOMT3/V+yxp+d3f7spP+ZIgZKWMUAEann/5nrmY9Ru1V6tdSmOi9Qpbin05IG7nOf+5zLOrtQcffu7i4amxpAhgpQSXikZLVdaYyFtjbkZWmiEZhdDDE5W3WKU+3O06OSzqT5vuS8HlmuuuXCdWCG22KdBBNyz05wdbDAvNoebOdW4OFDRzA6NsFVQdF9HzHFfXYJ8+HDwzTYOU6API4cPgJtSxpjIIEPqfzjFOoyAZL1rAN14HHFeWkKtYxDhCpd0lqtKWhCMfmY0xgDGaNsNkUv2ywN5bwr2+Bf/a4J2Ix8Pg/9Lpr66Pkx8mEZ7QQ0+ivSZU7EaW4nVEnT2gaMqdffz+3AlUKRXsI5aKwAzXS4w0qgaZS1stJvbGkiBzTQ1BWY5JZmkYAYThW47O4SJ3jpYNu33r0L//Wdh3BkpsoJbAgKalTIYDszmKMxV1tJgsqOjlb3l3JSBgKH4q9o1bavDH4ul6ESKEPGfZK8rxEIx+MBeZNle5Hzlk2QFvFDcp3hGAvsyQCq7zHSG/gBqZTyYqDSJkEsCwiMMYbPEV8YmCusiqdNVPoxCEAEQRyiZ4nguESDrjkUY5097TnKYuS2J2OedVwzxsAyGGNgzLHPhvL5hpechQ1NczC1Ir71ja/ia1/8CH7zqq1408vOxMauFAoryxxjWkjUyZHe5SNfgDjBSZxe4YhWJKTAREzU3XKMlrnFrHeB/5DevzaNWWcaM1PjVLYpSI6VD6sHi7p25jkOU9zO99kfeX7lEdWYyIOpulazH70VCdw1PrlsGv193eRPcDRND6q3QFk6dHgEhnSpHkOe+gSdESwOcwthRWAvl4XoqXOcJfXAW4ULj0VuwasvrS151u8zds3JfCvFAhc6M9DCKMd6AtK+tLQCAX2Ni8qKDmZ1BfUsuluycfzeC8/Aiy7dimzSZ90efM9SJg0sDb7HZ8u7MXpXvMc0BsbHPI/8Ah7dN4XDczmcc+416Og6kfqgTM/9GOKpLL5222585Cv3wbDfkgFrWY9VPQYAuUBCRBvZ4cbTGAvLPC6/5bOxMAyWz5qqhVKNBozbdJkY6fSO0uJ5Fr7lO+8e6fWsZZqB1TOD5buCZy14gk1AR1Pa4NmnJfCKSxLoabGkIYLhvyiqwRijLIwLV0O0+l7jHGEg7SHlTrRHvEeNOcR45WxrayYNFho7/fU6YNDTlsErrjoJr3n+s6Dq7374MDzP1sEYjbxPgOWROJ5sM2K8dXOJoo1iOUTEui07oDKe5zHdq5f37NF7oHoscNa2Trzm2tNdGfBQWWMMvv6TEZwwmMXbfvNENGWTmFms4J8+vx8f+MZBzC5VuEWs2c+gTrAci/B63GnWvK99XhOtR5U9mswH9WO1WvBVWZ4yKK1AL9hnvj+CP//oEzg8uUJZDvAWesSuOrNTLF9TjrTyzbIxy4K8sc9w9es95LjEaXfk6Spzy1b/H2eFC7kg8KE/ulghGNJcSFLvyh4vc1Ehh02VOlU2T99Td3Mb09kw1qXvruVB0s87LTHvhvXrqE/S+NqHX8hF9DR+2UP0qUzAOWuMIe0NDin2fy9IHnJ0WCjM0zEkUNag5ZlqlWL4i6tSo8tczZa5rZAl6JBSl9dKJbXSr2nm6+V/IahNtZ0kApZLUkGDrzgJiZj0s5qV4Lzzne/Ed77zHaj8wdEKzjkphgP0cM3RiKhchm5OKf8yUb/qnZ2dI9haxkQ0heLlJRp5i9a8B3mzlCeVStCwlzixfe4tj9A1O+M8h5rsBYKWidVf/7WUbCkf/aL91NSMa99aKotUygljKpXk3nhKJNAwTFGoqE/45vk+gdM8BFoENtTHJAV/jqtFedCY5WjekLNVQEwhpOLRu0RT78q3Noi+1pa8U64TE+NQnxu8q98jGGNpdNtcsb179zk+1Ogd1H8HM9DXiy5OMoEW8a5exmV1F/VNHid5UGZm52lk5kln5NIaF4EQTdQOAtRFgtVpAqME+zZP4ymQpAld50K9hCUPW1uaCVjzuPPB/bhnzyxOPXEQz79oK1qbuK3k+D2tvrAtIEsDr+/XJJ/qn7Yxlyi3EfmU50TSVmWa28grLKef+1jgVqRA5Bi9dQWCBLUnRdTZ3ubGd5lGX2DbGIOQBsTJ+WqXIqo4xYU0RLpHVDwhgyjnUNBQBwjZbkBgCZZfIhCTa93yOd+UwXmnbsBLL92E7evbuN3ic6Vv4FlD0AbXF2MMjaBhUQXw3piqbJn1bl3Xhje++DS88uIOvO5FZ6KjOQ15CcSb377mJGRi4Spf6gT7foAYwZhkamJ8FOdfcCm37JdcW2wR1lr3jU7IPkTsax+9xfMLHMfZWfT2dsGnMsbqof5FvEgRD4+MkxMRy3tUrrPsg4UAVI4LFSaslqjfNH9mKRt6W/czvhNTnklueQoE9/b2HOWjH8Tc9skkFzpNHMtkIl6vXt0jLeqI83iRz8ViGXkuptLUGWpLgVxklohzt4zJ6WnK9gpXt2mkVuUhYP80z9SvkPWpWpVTKNMbF/OA6y7djtdceyq6WtOIx3zSZuETEAiQ+TTqnvXgeRb1uwfA0ljzai0STLcElIv+OizGLkTfujNRLMa5RbsJW7Zehg0bLyKfB3HFFc9Fa0vefVv2hn/5FvS7W5ayQJIc/eq0o41xhvVaa2AYeELPChQPLK5UUeYWXmdzEvl0HKl4QBkC5BUxxsBjsJ5xZTxrSbNdfWac0lghTxjLsTWopx3Nb5DPeLj2nAQuPjmOHNWYaKFkApQdwPD04PhIYiO+G0aBnjDDZ/AwxtMVUSM/O7hMQDw5PYuQHUhxe/Ki0/rwhy87B5sHWjE1t4wDw7O44LR1CMhLz/HZwLJi1RlSbmtc4ZFExAPrwHJTOqBXMkK5GpJ+C88y/2pfPct3z6vHGbi7x7rScQ+8QYfqnKBuuGNXBf/2jSk8dnABv/3cQbz22o3obE4Q8NXw1x/fg+/eM4VFeiGld0k6FFSeTcDoQSECjFl94zN4WL7r0VijYWWMztU8emSiZR4FvRqzJg31Z2ahFyziVuo8/vDfH8UwgZhk8/nn9eK1Vw+Qv2DdHBlm1HioHrBsvTTTFB8CnmWsqb8bY+hhrDDCuo/2s/SSqaxspXiiBbtsgBYvAmjMjvHxccQIkMrECAHv4BFxTLXwUjlLZvQP9CKfz3Mej7v6P/K52/Ccyy/lPCgy9y8+1fYS57f0sPBHkvM7TfstnSY8oPRfXMsvn0P9KHIRLf0tYNnU1AT91aiAmf5/TLX9y9f61CU4DE+doFgRUuIWzwoRsTouBii+EcT4LAGa8oioZ5IhYvICXZJqS8zXgOpZwRhDZZrRIxXrEpTXvRx3+bu/+zu8733vw8knbUOfykhIAAAQAElEQVQum8YdO8tYWDYQnRpUVsOV6Sjm5ueg+mWMS/ESggt8RAMRil8pMq2GI+NV14bKTFNhyNjnc0mWqdcVcQbGYjGIT6JFW2YSQsW5Dx39CpWjXPesk/xUutpbIChZN9gPgR3RF4/HoO/KIiqXbdtOAKtFEAsI+mY5sSLnHbrwtLh7ZhaXHjKT8DB1kXvnHGA6UOHKZoXAQ2O4li0pCnFba4v7MdBhbvloAild5TgdXVmNs7yIVVZ6+PARTmiDEuvTOJ+4dRPyNHbaciyyLyrbCOJn4Pvop7csQ0M3QeNZojFbm65n1d9Hz0gymYAUnvK0t7U7r9fC4hJCbiUpXyNYa9DZ0Y7FpRK+essj2DtRQ5DMoa21mQbRc+BP9KgeYwzaWvLo7upgmg+BQ4EvAS9jLPTjtJ0ddcA1Q/A9S6AbkYca+w4CsTTplpdnkiC6TJAuGRcf05z4enf8JLNCDoCeda/zrUbeUbOtEt3c3OIAkSaxlIjyZQjCTzlxAFed1Y8tXT6auD3peQbqn8c+yrAnafk9a50hBw/LeGMMDQ+OBjYEkGYODHRENGoqr8Ds6GxJ4/euOx0ve/Zm2LBI2a0oGxcFCccT/TzG7NwMwUmJ8ZGrjg9ugSDFA1a8TMU3SAUqkKu0RmDXKVsVjI5OoET+JBIJTNE7tsKtnnZ6NOVZtuZYtVIjr+Y5l4uUl76+LrS25hvVHb1r+19gTX/t2sZt0Qz5XaFy9zmvNE7Dw6Nc+MShb8AMS0UMdcIjsiKCxneJq2/JdxM9XkpWMMZA/yr0sM9zvsmQaJ7lshloXLU1Jm+o6orYOVcv+6+ymsslem/PP20Qb3jJmThpQ5sDNgK+wSoQC46CAwuNn0/Q5VmP1RnoiBEcWM9ivpbHo4un4J7dHnbvHsIYgazmLUgdjI9Mth0rhTy3Q0bxuje9Aw8dLBA8Af/3v+7CB798N+b0v1ocpc/AWAWWNgqG7xaAxQq3+pcKVbTmEmhtSsBj2/W8hkDFZ/DIL1C+IrAKWF6sMe7ZGAMduhlun1sGxbg81jCPgce76tTd9wx2rIvhFZelcfL6GBcVgLEeL4a9MtBh3JMhRy1fdQ95j8ifxl3SpmeQrohAN8CW/ia8/Q8uxXPO2YTRyQXccvdeAsCE264MAg+eZ2GNcfWoxmq1Br3qmz3R5FkD37NQ3mZ6NDVe4kmlFsFjWqM8H+v954PiFFQ+zrGtcXD27tmLTev78MLnX4kLLjgfB8tb8bZP7MP0QhlveNEGnL61jTQD9+6ew+vf+yge2r+IUiVEyLkZwYDqk/0EIOJASiPw4F3PDHyBMYb5sdofA8NIYww88lbZOeT1OpiiZzANjYPPB8cLeOO/P4bP3XyEgMhic18Of/XyTRjsTK6Wq2dmF1fbqL+zKMdELfCdjapuTlPGgeUiLHC+HjkyzMVwjnoh7WyPwFWS3nVjLGkOSaPP4EGL1gzn0yLnXz8Xcp3U1Ye4IzQ2PomB/l4scWFboYdNCxvpnhznZ5lz+zP/0IsHHnyY+mOKRPzsU/NSekm6VHpYOmdtbr0rXukKoTqyNsOv8Sy6V4h/AoJMtWEMmYV6hUna0oGBAer5Ap08B1b1aT3tV73an1VQhCxRKVtrIUD0s/IpXqhRQYSL0Yr7VYOYqXqqVKC5XA4CNT+rLjEpm806A7FMT4jKNvLu378f733veyF69HMSS8sFTlIfqYRBZ6sPYwwZWaSB8liEk8LWMNsxB5wKlH9cQXRvSMkEiEPw0b/rZf4IubR1ggge29eVKaQhFVyIjuYKfLOCS85uhwxLB93s09ze27JpI3MCA13W0aEX0VgiSOmnx2nrlk3Yt3+IQGPJrUSkBGR4urs7USoWUCwUeC9RsQQ0RgmIxw/ujeEjX57HFLdfh6fK4NznxI/qgbOKqs49q60lTpBJbsMJnBlFoH7Vo4xQe1sLvRrT3DacckabxZnEGiLeeGY5ybTlOjExwRXQBJKptAM4fhDDpo3ryPcqPXkTLFtl7mPPDIHNACdnRLAw7H7zreIykO1Q0Is8Af0EZlKEe+iRM8aD5E0Ayk2sOkHK6oIMaR/B3vTsIr07y1hP13cnwZX6EjHvFMGy+F6lMjWG48w0AQQ+YoreOIVytULFFUDePPU/kYhDXjUpCfF/dm7ObV/K4yHZSbMfqmOBxly0rbKG9Eg++MZ2IyoArSAj9hV1lcbt7Ha38qtSEfmeh63re3DFWYM4ZTCF1mwMAZW+Zy08akprLKyePQvjGQQ04sm4B2MMZSxyitRgzT/GG2NIg84IxhgGuADDO+ukVsX67ma86fqzccqGZpSLKxynGqNDTIyP4e67bodH8EDyAdKc5TxyIJz0alxaCXaZcPRUvioN3zT5OEGZkjISeBZf8k1ZdJDX4tnRAnyIWGiZymyO7n2tpLu72hl77BlSgBfpIT18ZNTpmebmvJsr8uYJRB3hlr5H/glAWfaT0klqWUckqkHvRxX6xEBtNzc1QQsCpsIY44Lm4zLnkUCdgKHoqNEwq27V6ZHnIcdPZeohQkiaJH+97Rm84aXn4MJT+p33MQg86gsLzxoG68bMAO5Z9VjrIaRHWdXFfA/6b87KJof95WdhuLIDhw5N4cjQEYKmEsfBsB8GZClCFohYLh7PYmbO4s1veSN2PrqbbfnIciF5eLqM//PRWwlM9tMrU4Vh++w+jP5RboyxlLUapuaLBIw+2puSsMxjDInjxRgD/QPvihdwibMvAigkQtEMzCEAZlhGkQp8thZMg5NBj3UqWNbje5b6lIH9BAwuPjmJ11zZhO4Wn3kZQ17wylrIT3qRwbkhmhXngt4ZoIMJEXPmkhavufYUvOqaU7FML+cP79nPBXQJzz1/KxcvCXhsyxgDRJwTzB9yHKv0fsU5XwLSI7os7z7nlu97dfr4noz7aCM4Fc0L9BxWhZQMSLVxwZWzfGbdhnfpAH1X+pIXXU09N8iW2J6x1L9JnHTqqXj3fw/hY98cQjoZ4K9fdQJO3NCCrtY4/uPbh/GO/9yLI1MljmsoMtkI68WawwBsxvEoZL9ZORgFHYp3UbxQhTHKKBnKoDTd4Q7jtkrf+5UhvOtze8HuYrArg7+4fjPO2JoH2eLKqV5W5UqQZe4OVqR5KX3F4SaN7BtTFNfIq3I1CqbmYoGeIemwubkFWEuZXl5CC3ctNI/0Q+oCYy0tLZAeaKK9rnI8SuUqEsmkk+uAQEY6Wp/rFGn3ujo7IT3CJnFwZEU3KI97eIqLcMgybbvypLlIM0bUPUVGRik9xgWc8pcJ+Bj1K59V4o8l4h/xRfV6nveUdRlj3Pdl69at4yJ1FPqZDNH8lJmfRiSn27G5apQEEaK7lLQYcWyOp34zxjiFajmDtY35yxKljgsFKwh4CPU+dUv/M1bGQWWkRFVedZ1//vkIfCoHTrAMB7I5n0NLawsePWAYDwKpej1VemOaT6ERuKCM7FQcbQ/5aM8bDHYHOGFdAq94bjP+7D1jnEAGf/qbeYKzdrz6mgwVdBkb+wJOhhqWCyHaW2Loa1vBh/+2BzvWFZGnkZrnKkOtPPvslG4OCGzfthX6hf7de/a5LU+BCa3aczSI8pbFYj70/cTBQ8NIEQyooP46pbenCxIyfWBJucYt98/gY9+exJdum8bodAml1e8lNBOrnJHGGOSb84gn4g6MjE9Muwmi+lxgukf+CJTkcmkCrnEsLi6s5qF6XJ2dxhhuY7ZD4Fjfl8kronIyxvrLuc2b1hOkzblQo+y4utdcmrgaGujvIQ2zLhyfR/KiLUwFjZ+Mvb7LkwIZG59AmQBBz2uqRCIeRye9WaJniUC7j6BO5ZPJBMr02oxzm2GOnq8aFW8yGXf/q0KavCxyW3JsbBLTs3Oo0QgmyJs8jbjkZZmTXuXUjitHz49441Oei1RKojMWC0ANJhZDICziFkzEt4h3lWOiu4VhFUb/yLu+ng48+4xBPGtTDp35AMm4T8VmnDxZyqYmukeN6nnWxXtW93rwGR8EFlX2I6Tx8gjWFFgtngxm9Vl3BhhHhjEGIRlXrtSgv6iLxxMYGNzAcWzGFVde4+jPUYEGgUePVQsOHzqMcqmA4z+uF28EGLRIOuK8VAnofXpmBj6NnsBsQ06hg83rViqXMEnwFk/EoPHX2Ci+EUgaivSYHTkyAmIR9BJoSwl6BIkBadUKe4neUo2P73mu2KpIuv5pe1JGQMaiJZ93MqFMxhgYYyC6S6xfNGj8miiH0mVL3BZLUU4Cyr74E4G1khjlj8jjcqmCmG/wO9edieuv2IHmTAyxwEPAcfDEf46Z4RgZY2AVrAfD94idqFQj+J6HCufBF3+wG4/O9OJQ5TQ8/sQo7rz9XmixFcIDjIJPGYzcs8o6WqIqkokcEok2yoJFc3Mz5uaXMD+/yHFrwq07R/Hn7/sehlZ/JoMd5VgAMwsl1253S4p6zWdZgzptBp4xcAdvejSo//OsQTLmwRiDEmXE8YEZ+QoX3DPz8sUyKL+1Bp61bMvA8ywiwwDLLfcYBPJyKYvrL0njd5+bRT5jYJmONYf4y4GB2ooiXQVaqvUcfH/Lq89Hb0cWdz58GLfctQ+Xn7MRJ23uZHsWlm2D4wPmk/yVCRgCzyDOPqgCJYumgPz3GHxrXTmPdPoMuqfiPvLcxiyWa5hfrkA8NypowMOQF8DySgVTMwu4+MKz2FSIUKiJbWph8e3v3oqhoWFcevG5iLdswV9/7DF8/fZRnLIxhzdctxltzUks0zv5z5/fR4/VCJa4jal+cvqyz2xCZ6RLPZCtgIE71Ix70EVxCnxevaGRr8aMX7t9HH/8/kexQllNxgP88W9sxG9c1E16ASbXs7IdPath1WGMrqqGCeChWz3qqPaqFwTEk3QmDc2/+fkFLHOnxZKf0gGqb4Xvmns5zqkidWoQ+BBIO8TdlMP0qoHjJMDW0pKHHA4F5hH/V7g4W2ZoYIPX/J8p6NAWoO5rg3SBcIjiMpkM5c3T4y8MHsc+S1uqjIuLi1zQ1vT4tENIuyA6RaPaFcB7OoWNMVhHUKaP//Vr/zPUjxr7p1NWeZS3TBBp9aKgCBlEKTER8ssAIpVvBN/3uarLulcxVB10Lz/nIkLEvDgNbSqV+jk5f3aSMca5VtWPnp4eKrE5MmiAiizL+BRWKERL9BhJUCZna7jy3AQyPRYXvz2Dqy+M8A9bevC8s9PobQ8wt1TDzDzDQogf3rPshFxA64NfXMDff2QO37uziO/eUcDUXA2DPT4BWhqve3Ga3rEa3vOZSWzfMohOrgSe2LWHRstQyUr6Aa3Kn9i1l94wKlDyqUywoT8nFkgT3YcOjxBtt6JIAOD7Hjrp+u2jl0lG6zANVyqVpBKvQXHbt52ApqYcdo/U8N6vDuMz35/AF384QeMdMQ/Yro8SkZvAhf6EXJzTKkUTifoF0IUTR/Geta6tiMI4MjJKz2GByXWala6smpBdXZ0ufhf7Wb/TmAAAEABJREFUBeMhzrGap3djCz193UzT/2Mpt7X6gjWHz0kySNe1QNMY3dgL9DYdnyfJFZW+8dIPuE7TuzhGMJZvynMcF6kgZyA5Eh2q1lCRWCpSea462lowTO9KjEY8T364bUy2t1IoQnUUqQzUEwFygYd4PEbv2orz7BWYR7I3To+PlIbq1IQWnQJfRfJvgluXapMM4/iGfDTUWwYwFuCT4qHDEWekr8gjYO/eXTh92wDO39aC/vYkcikfyq42jDEQPxU89sO6dwNjVSeglathfQaANUA88CADU+Z2iIbMGAOea4JhTvC9fmdReo5IK1/veOgw9i/k8ad//nZs334ynnftC3HyyadD/G6hwpwhr+fn5jA42Av1HauH6tAYlbnaHTo4DAG7XC7n+KYOipetLA+24YpE7uoUoMavRlCyfl0fmqi06ylPXqXsBH7nZhfQT7nwvYByW0Wc2yHj9MYe5nZHE9uq66DIFXRXXiJamaWVZTeGTVz0aLHlMpAhhswSzVLm07OzmCegSxJYS6csce4H5GMqlYAMseCA+uEGjH3Q3AzpPb36ou34g994FtpyccQ4B2OBj4DA2LOWY2FgDAMbtGzLGAu9lSuRu/MVdz96BF+/t4DTLvgdLJeb8KMf3gUtAgQCwpDyQeBWLlfoXSYg4GIwrJVIRhVhtch7DfpmK988CGsDthIhn29CmgZJMqqxkMJ//5fuwz/+x604NLYIfcjd2ZKm5z9gGdJIuhxtvBvD9thBPsKyNsPg8UHBGANjDPScpDc2omBV6N2QPDOadRlYPnjWwmMmBZ/zyiMvAANlTbGcyloPsARHvgsWTZT1374ijeecniBdbDACD3dhH8N6IF1gPZEEjZBAqY/tm8Anv36/25p88eU7EPg+1CbJYBnm4NiXCELYDBKBB5IGpfmr9HnWwrMWmitWcXy2xjKPgQEPXqw1nIsB8gRmy8Uq+VcDOCbGGBhjCE6rdCykIH2jUKIOuO32e/Ddm3+M0087yc2Tn9xxDx7c+SgG+3ug78v+7EOPYfeRRfzu1YP4/edvZG8sRmaKeMP7HsV3753iXKyxPidxJIInu8Ir+8Tr6rPhI7sH98qL3l3ghSc4PG5L9DX/8hA9cCvUCT6efVoX/uQ3NlBOLUvzVEbeGie7U6/PRUTsH7vKZ2OUMaKdiKC5wCiIL4pVAc0x6egWesI0PhEblz7UXJaneYZgI0bPV4L2OpfLQAuNCmVaeSKOZ4nAQlhiamoazfk85FVvpTNE9kp5tfhVmyOTVejD+Po8VwwgnitdOkI4JGA79ZRf7iogJWBWpadL2EJ0/bwalF7iAk5tSzcq/Lz8PytN7W7ZssXp13379jlb/rPyNuKlK5fojfM8D1aRZTJQEWKMlJfift0gRqbTaUeQOqkOH1+nCFmgF8kYThIqYGOcSByf7Zd6/6M/+iPn7ZHACMRoRazvUgR+JCSiI9mexfdiZXin+tjz/gpmH/QwMePjyvO78ebf3IAP/s2J+H9/vhWvexkNStbgLa9uwb9+Zho3f3Qjbnz/enz939bhOx9aj0++sx/nnZrBt35cxP/50Cw+9c15PH6ghKnZEs47JQcdOzbGcMtdZT1CDG9vb6V7dwHaepPn4Ij7jquCA0OHXFzIWXnCCZsx0N8H0V+pVF1ZjZG+/ernVuccvT+7du+F7uJtmkBt/1gZHf2bcYD3/7x50pWRQLe0tNDztYwU82zevBEFgr2R0TEH1lwmdzHumkon0dXZhgJXMSMjI5AwuwTOUs4z95hIxDEw0AfJy65duxHEYtxyXYEm4emn7kCGnigBsypXsK7AmotPgVs/2A/Jxoi+QaKya9SroddzmuX7ertonOPu+z4ZyiaueEbGxiGPo8ZP+VStyhhj0N3VQU8AoO++tu3YDnkUBarE71m62kfHJlx/jTFoa22mx6+Fysk4j50UTBSGTiF1tLUiQ5BZ5SSepDIpcoLGCeAE7lKpNEqVMurtRwC3YQz4z3gkxTAwapUwtfv8izbjwpO76WEJIENlrSWNDLp7vHuGbVoG3Q1rgpuMmpD6ficizw3qh3tmQjLuQxmd4SQJRi+8MyuMMaQNqNI7qg+3AxpOy7hLnrUOB3c/gE98/IP45je+7GSvWFiENcA4eSoZzGRSaBzqgvpYI6AaHhmHQGs7+SLlOjs7h3YCYAF8y340yugekYgFAu15hr6+LkjOFb82SLaVZ2x8Cp3c4szncxCPY1Ts+q23oaEhymlqFcSpY/XSjaciZXeeXtx0MgmBMWvIFGYx6gwJD+mKkLd5mnR69LTlCWYklxrPTDYNw3/qm2PUaqU1jr3+eOOEde1408vPxUkb8sgkYsimY/DJQ05HGMOSDOqz2rKeZZxFlR4xstsZxH3DM/jAV3eheeML0dpxKu695zGMHhmj0QtpZFTeOrBarVVhrYeQ8lMprzCuyHoKqBKY1Zgmj5/obcoPYGl5BSHps+xfG8eAjeIwF20pymjZxPHPn/oRvnXbo/RglKG0euAjDBqHMeZod1kNR4ly6hLJgDryd2+S0Rg9g5q2NXbaspza9TxDehVULuKWaQ2qPhEjDwDK9GqwvHsWyu8HFoHv4dTNCbzxBc0468QUPGtZzAK8iqCwVsHUxF7o4NAplp7BGP7k1Re4suK9aFBeIhwCWLbLjKkE5xPr9tiW9Ina0d1nnM/xUrxnDdszMEYBRw/DJ8M0Q1osQ955Py1mlsqc2zWXv6UpxbaqnCdL2H/gML7wlW9h4/pBnH3Gabj/gYfxw1vvQGtLHlr4GWMgb2tzSwc+9p0pvO49O1HgTsWfvmwztg7myasQ9+6awxvf9xj1coFjHFIeIjcGJAWiRxdDtnA09OiC0thV3Vz3ZxcrDtx99uYjKHJR1pJL4m9etRkdzTGogMoqNCp2z+B48YHddXXwkbKkKyAQ1qif2eAy8EH0cBnndHoz507jD8uWuJiZo82RHrSs0BiDaS7kJian3MJIIGSBi5807X0ul8UMPeNTXMjmm5qg/FoUjXMhXqNwBb7vmnv9S7OIx1PIE7CxacZRtji/l7lTkaJ8/6qASHWtDXHqFgEz1duw/2vT9VyjrhNok11SXmPECaX86kH0b9q0ifxZxq5du6A5fXxtEQdB7SpN7XqeB6sICacijPn1CVnbqDEUWDJXDBZDhECVLiWjd4GMXC4HMULxv26499578fGPf5xKPemAR5zGNM3226n8BSQ6u9sR3x5HcEWAzAN5vHXLORQYi6svasOpJ2SpHCOEVEZi1FdunsCdOyfR2mSxUgQ++rZevP5dwzjtZXtx0e8cwtV/NIGXvPUwPn7DHIT0Lz4jjZs+sB6fedcA7ntsGm/9zXX4xzefgQtPT+LuR4pU7h7k2aoSYGmlEFLRykvQTMHX9qW2K0O2rZWB/jz4EN2/bTR+UxRu/Y6L/u9LTQpNDhkmCXoThb+fAE38zdDFvJfboOLlYwcLEG/HxsbYnxpaW1uJ2FPYt+8AtMJua2vmqmWW3o5JCoqmIDm/Zug1qdrZ9vj4OMbpqQpJK2etmzTM6e5qr729nXvmY9w7H+MYxqCflLCehxO3biLPijjIPoTsk8qsDaJ7/WAfivReDdMjpwmhdIqLbm5MOghc++kdLHPlNUSPiYRVE/+wA7Bl0kCK6vrFlQkCH+sJ9g4dGMIYaT7ppG3O6GcINjSeAmuzs/Mc45AGNICAZwsVqxSEvn/KUw6lqORVmSWIU1uiL8XtraZchp66eRjTYJIattR/EaKw4tqPuIpU8KlwjDFY15VlO8aV0fzSeFnPundjGA/DfoKHgdW7AXhzAasHa4fhP2ssDYwHj+VjgYdk3IdAV5XjwiQo1IgMynRb+DRKPvMZY1wtolQfpJ+3JUGDF+CxR+/Hhz74XspBMzo6Wl2exoX6AeqDeCUQm6VMCZiOT0wil82gq6udyjrA8ccKt42np2a5bZFHP7ePrbXHZFG9+v8lhw4eIQ1JCIwVqXxjsTgkHkNDB13+ZilnZeab6Naj7jUC5FmCrCAWoJULDM/zyBUDYw34gJB913di2p6s0evUnM+5+SaveJZ0BxyTiJUpcNCgQ8/L9Jq3ZBN4y6suwPMu2IRE3Ec88FnWEERbxAgsEjEPNRLpQDALGmNBtlOOjMu/Uijh099+DLbzclxxzWuxa88wRujNXqJh0WIqZOYy6ZeMh5SVamWF5UsU3pC8rjGE9JyXWTM4F2sI6OlNprJo69iAEueH6PS9gF6bFlx9ze9h89azMbdQxsFDI6wnwnd/ugfv+eyP2a0IxtXCqvWm/pLukEFsUoiYzmiElFUXSJvqVwBLG2MQJ9CKkQf6vsywr5I91Vsi0ABVRTLmIUYZU32WFwWNh289eHz3OTYB+S0+xmM+YoGHy09P4/XPz6OnLc48FsYYGu2D5HOCvHoIqxRjx8YO8gNQ2ySR0eJNDVUaTI1DwLrYBOsw8DzL8h7HyXPPnrWwTFQw1sIdBmwLwOqdzcLyYvnu8eJZy/H20J5PQMfsIseFD2effSa+fuMtmKG+uPTi87BI+f72935IHeejt6eL7VgYY9YEIGC/SxWDv/rYLnzghv04YSCLf/z9HehsS5P+CO+74QDe+pFdWFipUnYiJ1MaCw4V1FfDduEuAKuGjiJ5ru/Sfv+9j9CeVdGcjeNffm8bztnWrOSjwRXT4DJGzy7owned7CZ5CVevojXeaqMRVFS0LBQizC6T/1x4ViizPT3d1JMdUGHJhQBNjYsen+PLSLf7VKSMSrYtG1nmAmKRwEz1+eSHANssgZzve1Cb0iVaIOm5pyOG//fe96ka8qOGBTpm4qvgyRhR6ZKesYucE6pfeEcASBWLDrUr+nPU/+qD4p/J0Erbu3XrVi6kDtOTOIxwdc6JlwpZOhtEV6NNq4gGgxuRz/TdGEOFknGCPMEtifn5eW4jpgkSks9oU7/zO79DoTMY4DZIX28PQUkFcqNqeGeDeSxdvQwzaTD5yWnMcW/8g1/YhbNP6cWf/utuSOFQ1uhejvDuTx3E2Tss7nxoGX//hm7c/3gR1/7JJIZnWll3H/QL9J4FmnMW2VwbAWAG9+5K4do/PkLQdgSwKew5uIB//eT96JE8s5cS+JGRMSTpqZKxO3jwMOvppmI94n44T8JhqSQOU5kPMa2rs8OBJnnFpNjnKdgehXyB++LynvUTiAlsGNIxQ2NlYJxyEqDrZ/+3cUtzx0nbHaAaJ7DySHB3dxcpMRT+ZefBEG/GCF7kUo6ouA1TwXrAw1pLg92GfD6LQ4cO08u2yFhChIg3ng16BWZa6NrWH05UCQhyubxTZJ0EayfvOBGHh0fpiZpxE5LFjjkF+gZJ6wS3DLWiUp1rM1jyo6e7g0qhjSuNFYyMjnNl2urqOkJgpvzia6MMxcwpzUF6Fx966FF6zKaxbqCf5ds5RgkqtSLB2iQN2iLrAA1qnP1r4nMEeWrGuIpTXX+yMz4AABAASURBVJqgsSCA6LPWcytmj7xXnNKxyiMDi6nJIUhhwdR4r0KTPSQvLYmx1sKzFrq74OIMjGGwDCxhqJEjamTxP+JkDdkhcpkpgFU+BusZeAyuHegawWe9nrVYKVWxVKjCWIMYDSU7wwwcJNZjmNfwrlV7yWbduBcLy+ilB5JJR09mYbEIBQKUg9ye1Dd8Va5mJzgu8XiMctqBbDYNV99qKbbAvtYwPjZJkBXHILc8lXc12d1Ub5WK/dDhYaeIBgf6qHyrgCGYSaYhOV/kPGyl/PiehQ7Vq0CCeIZuS0NKvI15Yr4P0eBzbCz7HpHPJXpZJ6en3ScJzc15jnPKeZY0VolEjHWQmyLEVaoW4MZa8+SPXn4eXvncHUglfGeYBR7EZ89aGKOWFADFK8hA6ne9RGssMPjOnfvxyHQvzr709/Hg/Ydx790PYJRexSLHhKTR6MLxiETwXtQNIT1jVXqHatyiDMMqZasMw38RQ5JeWJEai8VgjAfPT3Gb7Ey88jffii0nXsYF1RjHoR+bNl+KDRsvoP5M4y//6h2w9AYeGp3F9X/5OYxOcZ5GqyKA+iG9xii2HzHUGEIXmAuGWVxXebeUIc9a+JQ18YSvWFypoEJPYDLuUZdal6b++5Q13cWXIPDgK/i8MwQMPoNnLDyvHnIpi1c9O4lXPyeDJPnd3rEVhunxRBbg3YD/jCGwsYhZg5VCGUsELzHPg/5K0rMWlkH16q42PKs4w/jVwPI8WRPqcwfgs4HHSGMsjPIbA5U3Ht/5LH5rvsbZnyZuY65oLsFQ97VzcdGLG799Cx5+5DG32IsFAVgEgAFcAMczwiF6LQv0pmveyOnw4N4FvPHfHsGPHpzCBSe14a9erb56LBHhrz/+BD7z/WGU6OkS0Pd91QUwUSe1Aesk8P3pY3N47l/fw/lSA9UC/uqVW/CSi3uh9lVCdGtMoYMRepbM6a48igbj3V2X1Wele+SvyitaDc6vAEdmQc+wQRuHI5e2WFleQnF5EtecG+Gf39QP2cdegqimbOB0rO/7lN0KNmxY56rRuFQqFdIawhgD6TElKE5OhUTcIB5nWfbXmhA/uGsZL3rRizA6OoqQHWxqanLlVOZ/K1iOv4CX9Ps4beIKd4L0rvn2v9Vmo97169dTpjrw2GOPuT7HCT5TqVQj+ejdamvq6Nv/4oMGRgyQh0auzSXumUZHpeKZafikk06iwW7Bvv0HIXdrMhHHxPwUpp49g+7BThQ+WcTy6AqkuItcoZeKZXzlu3s5+Wt43Tsfx++/4zG8nvf3/lk73v7hCfzwYxtx/V8cxO7hJrQ0N+PwkSM4c+s8NnbNYG5+kVuTVRqAJCanF8nkMQLAMrcPQqS5HXrdG2/Gjk0J/NMnaq5z8VjMCbIxBkLGQSxGQaxh/boB0jtE9/hBKi/f5ZWAep6Hvt5uAohxHDx4iEYvQeM0B016pStIEeivKDvoTdJWkTxqAqOj3JIcOkC6d+12yiek12CEnijx2/MEtNo5wSruP+bu6e6kwq1imGBxZnbBtQ9NXgW+edY6OkDQcJBAUWPIaHeqPj1Y5hmgsTXG4N777keKrutsUx7ytJxFV/9Afw/2HTjENsvKfkzw2E+BMnlNRINWWcdk4EsikcDgQC9aW5tJ5ygE8po5HgvcHtNkP16MSAaa6XmU11HeR0uDJWArPvlsT22MEXyV6X0THwU8CvR0qB+WhTvoHYwTiAgIN+oXnSTl6GmMRUTj2t2zDTNT+xCFFgY+Q51xxhioLmt5V+C7MQbGKMB9Jyb+iXYFGDx5UGtal89SJlSvoUEPaeAjeoNoTKl5+YRiueoMWCruUzky3lUEqN5GZVPlLP7l07fjx/ftwYb1/U4GG2nKrryam/v2H+JipMoFRhZHCKKltPRNn3jeyL/2Ps5tR21/b9gwgGw2vTaJ7YMhghYg09PzXMT0un6UqbATBB0qe5AyrTESn5lbdsGV4YWvESRn81w1t3Kc9VMXrgHyJGLOarWCkMQvckXutkq4yNH2yBwXLeKbvOLqF7O4ulxZXqpEJkv0XF17yUl48yvOQS7lI5UICMZ88sWDZ8lva5izfhpjOCyGdQDlSuTyxQk0yjSmM2EXzrj8j1AOW3H3HfdjnvqsWBJdzB4ZjkeVNMowhRy3MiuMoHkIjh0HEdVamfJh+RrBsk6fBk4yFqOiXl6eoxe0gN969R+js/dM/PSOnRgdHkepVGR+SxYZJJIt6Om7EB/76Pvx13//Idx9KAZjDP7uIz/EW/7ft9im5EG0RORYyHKNwHcxhjLGBNIFsIew7LcCq2D9oG6InHxlCVI8z1JHRI4/1pJHnkVAeoPAg+gOSL9CLPD5znTVxUqt7gCIdeCrDENns48/vDaL552TQiKRRibbgYg8seEMQLo0HwvFCkGYh0wyIN9DiEDR4FnV7R1tw1iQh8bRhWOOyL2pLwoqr7vlhSdcUA62x0b5JJ6wzwSeibjH9xCLlL3v3fIjbFjXj+amnCvDBJ6GQfVHGJ+YgvRvG/XvLL1p0zMzzvsr77t0zbfunsdbPvAwHhtaxh+/eBNe98JN3NIEJue4wH/bfbjprkmsFGsI2f+IMhOx2gOjBVz8ljuZZ4XxwCWnduL/+4Ntjn+WTSsPswN81vjpnapZrIP6RZa4Z/BwWVin8ujZwLjuam4oL9dcGJ0DkjGgO8fxpoxrLOaXQlx5Xg6vf2knbvrJHD72TZ+1wYHzVDx0i+OA4LRQKGJqahpyDBTpKcukUzjxhC3U0y1Yt24QyuMK8lIohuhutXjxc1IwxuC2+ysE+DHoW2vNddlEZvtfP0sEzgodHR3wnC1YJr/IpP/llsMwdDpt27ZtEAjcs2cPisQgxzdrRdjevXshV97xic/EuwZ/gcJtjIFQsOWkEiIVKNNAaOvymWhHdbznPe8hCJiGVuVqa+HiJTQ9pwldt3Vgeucs9F2LDECS21B6Fm0BlUgLV9Yqr0AyceXrh3Df5zfj8j/Yj0S6yw3cQNsUV3ZxfPWWJQfQ1g0OQIGjScDSi/Y2eZOaqCx8/OT+cVWFH9+/Anm03AsvAhaH6S3QD16Wy2Xs2z+EKt3xUmopGpUyXcWD3HbTqkOeMtGnyRQjOIg46zZsXEdhtpBnwRgD8VIeAvFTXg95IuQWVn9WCgUi8nb0EtTJmyawJgGIWKFCJpNFFz1ms9yey+WaHODReKjdMoGqAaDQuCaTSchdr7+8UR9qNG447hBvN23a4H5b7N577+OKKImJySmsEOyce9Zp5E2AIW4/1tjn44o6Hm8gONUkOXxklMJaOj4L0uTRAD1quo8QdK5QoKUEDpKnszTG7Joro+mloJd+5o/RYMgr+awzz0RXZztaWvIctggCW9MzXBpSs9UIWuURS1OpyNhPz8w5j1oiEUeRhlDjI08N2Y4T17UgGTfkf4Sx0cfZz2YYI25RsbMuQxmv1iKmM47xlsFYwzzgQcocoRGM3vis8eCNJQFjDIOF6rAso7Qa+aUJrXuNciAvTZnKM0ZLpzzGAgkaEg1JsUwFDyDfSkX+uXvwmRt+RDntRZIyz+ijp+qNqCQmaFRkTDo72p1xmZubgzxW3fRMRkdzP/kwQ8MjQCWA3NnR9mQCn1wfeJnjWAwTQMiT3NSU4QKkSM9wGiv0wB2gzGfSSTTlMirBQBuhhhT4JsWsMckQ1EuOjTGMBQx5wUHjGbnfnZNcsaST8QotS4VzpymbBWAQ0WK56kgLeGg89ccmg93N+LPfvBDb1zU5IJaMB0jEAhoOC2sMeDIYaF5ZY/lsUeY4hjSW8cDjO5DKd2LMuxA7DzW5D/YP06NYoadL3g6A+QnyBRglCaHiqyVE9IiFCmGJQKnMUCPgqUIVJhIpBL5oiJNPC1hZmsQLnncZnnXW5Xj0sYPYvesARDuHigY6RJV9lSz4fhyAQS6/Da9+1XW44evfgDEG2UwKXiyN177zq/jqDx5GSHmJGGoUDpULQ3KmfsIdLGOscWV5hdKLJS4iTUQe+WASgaihvHuosqwxhvPYI80ePOvBMoMxpl6ed4+BUauyjKPpyudRXuOxAAny/ZRNKbzjdzejtLgbr3luH/7xjc9h30KAbQgkB57H+g3nvA8DC3bbgRLP4xvbMKZ+V71YcxjmNiRA8cZY6O5Zy7osLMsY43IAq7JhWFZ9LrMB43n42h0j+OoNNyKXzaCbusIY5VgbKH9cjA8dGqZhzVI3lLkYHyedSfTR8xzQnkBlWCSRSKAp34IPffMw/vbjj4HOYrzjd7Zh+8ZWMBnTi0W88d8fo9OgQgAf4qXvfADfv3ccxhhYL4ZP/sWp9M5aKC+jcPyhOHVDweVhBnJQLHTBxSuB8TpDRfCBLMb0sgFxL7rz4PgCxgIJen3JBvYlhqn5Gsg2LjgS2LvvAHScfkLMfZ6jZ81TNz/5kqJt0MJe/ZX9WeFCSZ4vz7Po527F2eeciedccTmGRkr4wncLpM3gla98JVL0EFk20tTURB0adxikRl3HKp/xM+QEmqNui8ViHLccjDFcECSoF5Ou3RV6y57xRlcrnOeOoECg+qn+ZjIZbOU2ptrcv38/RNtqVliBgY0bN1I+Izz++ONchZUaab/2XSBPhORyOaidtRUaY5Cm0tWgLHF1KYCyNv1XeRbafs1rXoPM+RkE1/qofLOC9ida3IQRGPE83z1r5T5HIKIVuE9lKGPe1xm4Jk/aHMftn96Em+9ehB9vphFZwYGhgzgw3oTzzj0Ll158PmZoxMtc7UcUcCk6Fcxk0vTK5NHX14f29jYYRm4ZDKh8PD6BE7fELcgZCkACWlWorAanxhnQxe3JlpYWl17lrD1MgKHtxRK3Y+R5klBrEKXl5hfmoa0f7dWvJ4Dp7+vh/vQw2zMwxkD1JTlBBghEZGy1ghNQs8ZSIVRJi2HQGXHMgba2Vk6GGD1P4w6oyMiOE0SNjE4wPxWzsq4JAjMd7S3Qt2VjY+Osg9p9Tbr6lc/nINA5PjFJT+UEPN/HCLe2PGuxg1upK1xZCSAp75qi7lGKcANXpWX2XXnWCqsyWGtIcwsG6HXTCu0IPXtxAlbJmPoppcNhUdajwaeSXEeg++D992OKQKursxMCX2pLfGnldpgAlzx6WvWqXp/KuchVX1PKw5Vnb4T+/Ls9n8TLLt+KE9a14eKTAlx6SgbtHZuR4ba1tR6M9eG4SwMoOkv0pIgWo0g+6KZQ55j4z8BBrfNBsYblDVRWcVJOJXrBbrpjL97+sR/hX/7zbhf++TM/wQe/fA/2Dc/SyFgXwMP3AM/zccNPjuAv3/sNtHOcWulVZNLRk2S4MZP8j4xNIJ1KO4M/xq3rXC6Drq4OJw8kC40gypaoZCUTnZ1tWE9Pm+dRg6N+NOqUghkaOkLwlSRQanWA1vdjMNbjdtsBOoZqnCM5V0h1uqALYzTOM7NzCLjy7qBMGmMYCxiON4xBRCtS5OpWCl9zrpke0JB+ADyFAAAQAElEQVRxcwR/MgixWJyZSTKJqVcp3oIe6wLSiQBvesW5eNElmwkyAgiExSgTbtvXM7Cs3xjDZhQsrLUETYBsQzLmw2eeUs1gJXcx7hkewAP378EhenxnZxdpSNWa5VwJGSosGyCi5xRRhf0tghQhpDxUqmX3XKnUEIslkOKCyFgD61mwJczPjeKCc3fg2ue9EEOHFvDAPQ+SfwVIb1kbB3Ehg/Ia0lWBPGwRavC8GDq7tsOS5q6uTszNL2GMc62DC8Q7Hh3Ha/7uS7j1Xip90iB+RRxUsq3eV5axpAEwINH03hAosqFE3LJeo9h6MGD9xoGygHwr05MUAi6Px/IKVqSx7nr9EchO5ogYwGfDvJZ89Dm+HgLfA7EZPJb5lz++AicMtrNPEcfFQxB4MIxXfR4zeZ6HOMcgGfdQIeEVAktjDPQPPDRPIvaNZIDR9QCmGsDjuBljYJloFAzcEa3KiKirsL/GWMyXA7z7M7dRXpYJrLphLYmACiioWIQKPbP7hw4jHg/gsw/y6CtFYER/va/ntSEkCBijJz5Br6ehLXnrhx/He764BydtyOGjf/4sZLj4K1dD6EddX/++h5HP+FgpG/zHn52CbYNZVxVJ1dBQhgB2xQV2BaKK7IAO964IvTDosZGXr+5UPXpYLBrMLAHNqQiZOKB8EQyMMRw9wHJLUfx5fH+J8gt05KtoHNdcmG48OhsUT8SR5zzUGGnRUOZiRJ89sDKCrSS6ufsi4u+953786Nbb4Ps+BunI+M3XvBo7H7yPC5AC3vWud7k6xW99PiX7JweOeOcSnoGLAFGF9jqfz5M0c0yNale2I0HwLLyi9o/J8Gu8CLQK26h+2eTjq2qhze/v74dA2RHuvildUueIVKETTjgBquDgwfpHtsrwqwQpkWVuDQhEqKM/rw5jDF2eGUeDGCcj9PPy/7y0gziIkdO+ivbKCkY/NY51fQM4SI9MZfVD+kkCDQ2AQhD4rIqTrFzk5DNozVvkMhbxmEUmZfE37xtDhoBRq/UzzzydirGM2396t9t2O+20kxwoO3T4CA4dPswtnhEcPjLsvEGgWC8tLcPjhB0aibga8uj6zeL0E3zKZgTL/pbpHUtSAPT9lfuond6Z4eERxOMJ56Vw8Xw31nBShASRY2xj1IWBgX4i+iW0traQfrg2168fJJibxQbeBeREc5XWJKKiUqbOjnbM0NgNdlYggYsas5O0Kt33A/T09ED3WQJVeTZSyQRGRsddOeVZGzzPQweNfVMui0Pkr/q7Nl3PlrS305Xf1tZCgTsIeRBa2ztY36xrS9tnAgQCQcq/NhhjHOjqoYGZmp7FU+XRGPbR+9dJL43A6RC3wHp6e7BM3utnQkJqK3VToVG3QHMfV7FTk5OOnvUb1iOfz2GZYGNluYCXvOi5+IPffQVeef11+O3fegle99pX4uprrsa+yarbPrn8rI1UykBrLo6mdAwdTQFedH4Kp6xPcFwtg4eQSviEwSZ47H8i7gMGKBGYgQe7xStWtyspKRGfGWkNy1oFZuapOio03P/x9Qfw37cdwaYdZ+N3X/MKXP+SF+Clv3EtXvXy38BFl1yMz37nEUzPr7g2Veabd41xe/LHjFuGPsA3hpWhfogPGncpzIOHRjjWPuURGCUQi8UC5u9w8m7Mk2VUUvNxnAZe2/8bNwwgoFJVvEKjTuU5dHiE20tV9BMohzSaYD2S5+GREYKNOQIx8oRzol6Gpdl3iZ9uc/ML0JzQd2LxWIyJPFnekC8CYvrLwykugrQ92ZzPQ3NH+iVJQye6yEka9LrhkGwaY6jsS6hwnr3mBWfit689Gbl0HIm4jxgNvu9ZeB77Se1XpycCi3D8LHkJlOl99ElrLLAolkMsxnfgUPVc3P/wGB7Z+QRmCAIr1CniZ4WerwrHKgyrpKHCUETE50qlxOd6XJXeO9Vfo2yk6BWocr5bjrdHXi4vzmDThnbnMZic4Zb/PQ/hII0+xRdVggXRVywuUQ+w7mqBcSUyJ+J7lbTW60+l6XExHtkZIZvLoqW1FfrvwFZWitDC6Nt3HcbffeBmLBXKMPxnKZsKosn1gaCgTJAVDwxiNMiGLbjAi0c+iafih/UsfL5nkj74SLmuQbxXkKqJRHQEtlAPlg2oHY+ZPetR5iwsVg92THJSJu8C8jkR8+DyG7BuC8/32Bbv1oDVMBgkAg9xxmtMKlzIQocB0+xqMPWybM9aD4b/rLVwh9pT4BiEvJc5J1Xv9IrFu//zJ/jy9x7AABe3MS4IFN8IKhuxcwcOHuHivMBFThv18QQqNPBdXJx0drTCkkblWxump2a5O7KEwf4+tDQ3uXnTST08WUjjD9/7MH766AyetbUZf/mqE/AItzTHZyt4w/PX43nndMFj4zxBMo9WafjUeBeb+Sq2g12E3hXAQ/l4q6fxoREvb9jUIpBNAK0ZkNdM5Kl0s3qPKEEh+aPfYotRDgRWNw+m2D/LHMDXflhwd8+zGOViLpvNkBfjzh5lM2kuBubRSn0v++VTtg+SZ7I7elZB2ak0Qejn/vPz2PnQowRtKbztbW+DHCmHaUeVJ845naWnW44cARrF/apBOmKJzp5cLgfV+/PqsdZC7dZoN39dQFim3hG4U5vCQMaIw0/dekB527RpEzo6OrB7927UOb2a1xhDQ99KZNuNQ4cOoYHaVpN/4a1BiBpJE8wY87MJOb4ylZFLTwwRE49P/3nvRRTxBf77wH9+ADf/6QJeeXIaEQXr0MHDBA5tBHxpyHOUpQBpIqmuwJZ4izDY4+FDf5PHn78mQ8Hz8MjeEkORQtLrQFYubbFr117Im1bmCkC/IyahTXH7LJc2SBK4tNMj1k6AJAGYmpriqqICyjaNPjC+0I4Pf2kRTxyo4PQTY/iTV/poaTLQan+WIIlEQAC2k5N1ZWUZ8tqofm2VHaanbJRbc1kKaJFbkGpL9FvPw549+3CIgLCV7R5ivjwnvcf42bk56DuzBbrVExTuRCLmlEeaE2H3UAllAtAp7vurDWg2Qwe1KAmOExB20lunb4NEX1dXBwTgDh8ZwcLCojK6YIyFMQZB4KObeUJ69YaGDtG7Wl5Nf3LcRVM/vXVq7/77H6DByMPSi7O8UsLJ209AN7fGDpJ+GQ9XeM1F9ff1dDljPjwy7hTimmTSACS4StP2WZYehwMHhjBJACcv3tT0jPvmTgPRUGQqa4xBU76JPEphn/53APIsRj5d//KX4n4a2x/+6KeIWCBa1VRJehuvuPwivOTF1+GW+49gbGoeAY1CjKv3gIYkHvNw4kAcLzgvDVMewu+/8DQ897zNpM26eiwbjVG51WhcS9xOZNWMEb/BPAwwMFTovEJtik/f/PFufPCGh3HBxc/GJReeC01sxYc0DDXKtX6g8u57dtJbey5E63QljX/+z7twaHQavX3dzB9D44jYlPJoHI8cGSPAKDueTUxOc9usgs7OdrTSQ2iNaRQBSaI0UHa5nVmip3Lduj5kOXeMeTKP6hRvNS76g4zenm4CnriTlyS9bpOsX4sMgeBYfJUe0oI1hxTuwsIC8k1ZeupSMIb1M4gf7BhBR82BnxkCIAGvPMdtnnJoPeuUOZhdhNZpITXsbJnKUNv1l565CW96+TnoaU0iSQ9ZgqBT4+ZZCzbBzCRklR5jOFYw5E0IYwxBia0rxsw6LOSuxL2Pl7mifxyHCJTK9FhGCNisDxmsWq3KigzfWSU9Y2FI4ETAFa0+MxFg/Z4XwKM3y/IeUAmvLM8j4a/gsosvQLapHz/96UOYoJFbKVZZl3FGlrYBVcoNK0CNwE/yETEyJOADqhy/MsQCazx0955C4LuAiPIhw6rvmuJc9GmhKJoRy+DN774Rb//IzSixDyHlW6BkpViDZSXEOq4uw2cFy0iPfLbWg/UM3LshXxgPHr71kIiRBwSv2kI33OK0LGhZnskwxrjgWZYBnxkZEqirXeniYqnKWCAV9+Ezj2FBzzIv6/U83lmeRdypRwWNs4YsTuDI7ByvGuswsHxRurUWjICeFcAj4pyJKBehgvpM8FklHT69lB/86k588qu3o4s6r4lA1hjDEvWT2TkGEYHtBKa5Ta88M7xrZ6CF80V6z/f9euY114XFZbeo7uK86ma9jibU6zXGULZ8JFJZfPSbQ/iTf9/JhZ1Pr62PJB0ByYTPvuDJg0SoS+qzAskHo8BqXB53VwLfyAJe66eLN/XnWghMLNSf23KS0fDY8kwSf1SmcWcUNg5wPlISrzw3iy2DcVx1QRp37KwDshor1Te5+jmpJO2gR30ei8XoEFjnHDr6IzEWhU89GXIuiHe91ONaKAuoqC3P89Dc3IwLLjgXl1x6EU477TTIIaSP3o0xSFLvqk7lFzgTTU83yJ6qnOr4RYDo+Dqla7O0t2XpkV9yGzMMQ9rJBY6hpb7Muvvx9f+sd/V18+bNsE+VQYkDAwNobW2Fvi+bm5t7qmxH4zSQYoCET50Rs48m/pIPalurSG1/COD8ouLfwDfwY/57AV6Af3rFP+GqK67GP31iAW99dZqAKCSCH0Nji3GByrynzaI5a9DSBHzgr5rxL2/KoyVnEVLazz3J5x3IZQK0pGbw2hc1cVUJelCWue+cdaQIzFS4qlNfSxVDofMJFFZQpeBpUi/T2zI2bXAWt7RUQLyQW3KpEOF+Kvb3fq4MKZTrLk3iqnOtKz/LiT7B7T0Jw8wsPUI0hCkKuk+hTSTi0CyUEpijYZKBDMMQmlXG1IevuTmP4eFR901aKwGatgo7qBC66GGqklaBuFJxkfxgsVoBLzi/DbMzM5ibm2PVqzMaOiIYY9jXHA11B4VrCblsDu3cQlpYXILqVV0R24/IL0Rw+VPpJHrpnlado/Sq4bjDGMMJloCA2fDwsPtLE+t5mKPykpI+5aRtMJ4lwByhsSgfVxpIEfTqw3/L/h4ZHjsK/BoZjTHI57PoJxhJ0ghp9VahB0M8PHho2I2fFFkjv+4BjWIXwWRAOgQMDtNlfNFFF+CkU07Gd77/Yzz0yONQH8XrkH1Ns4/Pf95ViLWsw4e/eq/76NYjzYHvIU5Qlk35eOVzT0Y+m4DvGUiRWmpJY4zjkeJ8ArOqDIIbPsZbyzQNb0S5C7F/eAb/7/N3o3vDSXjRddcQdCRoiEMITGm7ZCdp+sJXvomtW9Zj24mb0EqX96dvegQf++8fQN5I9dcYAx3qr+ZljQZcv/slGUtn0hzzBSrNZeSbclyVtcEjjaSARTiYvOpc4rhMT82gv7+b9bawL1bRLjTqXWSew0dGWUc7ed9EoE+5Ju+X6ZU5SA97nCAsk03D8J/kxBV2D5Eb47n5eSSZvyWfJw2eSzaihQ2I7/OLi9xenoW6I+Vf4mJIfMhmMrDkm6piVt7qdKufS/TKbx5shYDYWdu7ICwj0BQPfI6JZTukxsDVqXot2zPGokxQQTYRYHguz1ItiYOlU3HfwWb85Lb7MMyFj0Be4sMtvQAAEABJREFUjXIQReboeBgY1N+XUasWEVEHhAq1MsFkFbUwhLEeAgL+GENAOorFFZQLs7jwvGdhx6kXcNE3h91PDNHLsIiQdUcEcqqzRuIjgolarQiBPCBEjfXWCMxqBIEKastQfus/ldHMeVGCjpDtdrb34crnvhoXXvwK0pFiO8PsZxVDI/P4/X/4OpZWKlD9cYIbkIvsiq7QXfz1WK/1LOkHrDFoHFFEfvNUGxHb8X04vhVLNQLU0GUTXxWMZTmeEWsOwxp5EnLxWUWVfROY81W/6raAby2U32MZe1wwrMNV7C6Ro8fjgihFAENs4No11sIyo+XdmEYBthxG5F8EzbsSvWIwHr533zje8ZHvwRJIdFFPqoyrevWiLmphOzwyxoVC2umP4ZFRt5Dp7emk3MZWcz55KxRKmJiYZv4UBuhpCzjWhmQ8GYzj/yF6klWqm7rZi2fx1R+N6JUcApQXq4doAAzHHIhW++B4Dx7kP6/udPnYjntZvbg4Ps8sg21GaM1EiPsstJqgG9/Aalm5O5kbjn8eibDWULc04dZ7F/Guj40gEY/wo3slWwZN1BuyMfNcSGW5SOugI8F6hjtRhxFw0bOwsATNUS3EughIpWNV3zjtm/ST7FRHezsGB/rQ2dGGBx7Yia/d8HXqJc4DeohOOeUUXHDBBY4ez/OQJTgS8F2kPqhpkrqUp74oXfmUX+WOH9enLvU/Y40xHOsE4pyzcg4J4P3PXE/GaFyUT8BR7ar9J1Of/pMxBhY/5xDC3LBhg8shd5oUontZcxEDZNCERH9VQtZU5x7FyBRd+4lEwikqoVWXsOayB3twA/9dhIvwHP5LIAEN4I033ogrrrwaH/jiEp59ZozeDEOhrqElW0N3a0iAYfD3b8jhX9+SR3uzBzETPGi/sXV94N6v/aN9GJ5J4XPfLqGP22ACifIC6B4EARbpBlW/pYQWCVSKxRJB3xxkEMSDiBPp8QPgoAasmYJuLY1bHzatb0cml8f4NOlIx/H1Wwu4/ZNtnOD1wZ8j4JK3QoKtevU7MAusX8JcoRdK7Wv1ESMNbQRJlUqFgHPc9U8Nqf/iVQc9dkP0WA3RQ5iiZ6xA+gwzVKkIfQ9oSdXw6svbcPqWLMbGxh2P63yImCtyPLDWozGmwWaBZa4UWlrybjIK7ChUG5ODs5snjDFoa2uhoc9imNu3Y1zts7JjTmM40Vtb0MmJOj4+iSl6E/1YHNqyyhCAbt+2heC2gKfeojTI5jKcyL0/M4/HCdzamkcPwaH4cIQgNc3+ZwkqR+lplPyK1gZRxhg36ZT/4Z078eUv3+C8ic++/FLk8q342je/h4MHh2nQauRxCEtFpW/RXv3Kl2LfTAxfvvkxeNZSxurBJ+DyqJws8xlDjkdwR523II8sgsC6esq0JDISNd617fi+L96DR8YsfuNF16GTSi5yxjikIaniED2Un//SN+EZD+edfQaBWgpP7N6HG77xHaTZtw4qNmstdKh/ES8KMzPzkCdM3qXllQIkOxnyo5P5E4kYs68SyCedxVIJEzQq+h5mcLAXge8r2gWSAxkGx1d62pSmcdR2nPU88iiCtq+VnstmYQ3pOVp9BP2rUmbm6LlVPS15AjGWU+XGklfkl+ILxSImp2dcv5vzOfLMYJnyp3HU+KoeVsZTlfONt0KhiJamJN7w0rPxgos2I5+Ju+/G2hjXlI5hfrmCEre42ATApnQxxpJmgNGIx3x6LjxUCYjGo23Yu3giHts7jSce2cO5vkLDZQEEzBtCwJitwkDlK+RJmbJRRUivlcBSSMCkuWqtjzg9ziClHtuqVktYXJjCOWduxW+8+GUohyns230IWoDVyBdiG8pelfUzVArQ+FUJwAxbCgXylIF1CbBBoI3xsXgSnh+D5wWQXvL9BM4662w8/3mvRV/fWdj1xBEsLZYxMHgWtm69kgutZrzqVb9DI5dDPGbxJ/96I/R9meMLAMsHQ1oNZYk3xhx7hlHIfkaOD3qOSI87KW/xmAfPM+47tBr1jIFxfYgo3woleoeLDDECwBjzsSlYaxgswZjn7p5nYRiHxsGxFR9CIodwtf+qF0ZXw1yG/fAQJ/hRmwLfyh+t5tczHzn2IbgOwu7RIv7lU7dh99AY5LHx18g3Vo8iPcJHCL5i8Rj747lFqOrp5uKtIY+rWd2txv5pzpAk9BOI6Q9WjBFtLtldRLs+/5Cd1I5AnHXHYjE3DuyiWIjGQVa6R8XXq4lweLKAf/qvvbjxznGEzMDTya4yWgs0WlO8wkIBmF2KkI1H9EAynRlUV6NO98wX5QUPPrqxUt3sjnu+/YFp3P3IEm1VBQ/v4fzh1r36IaeG7oatysZIpyiuKddE/TKL9esGkOQCWrz1PI86YRj67lOLqqWlZYiPPm2KwO7QwUNoobdR9Q0O9uHEE09wP6Px8MMP47zzzsM73vEOUgc3DsIX0t+yu8rvElYvGp8l2mTZQ+VT26tJv9ZN9Ks+zS3Vr/aPr7BIfSXHUZo7gslkEsaY47P8Uu8czp+f33LE8/k8tM85PT2Nxl5vicpbRIoQgSdjfj1CnoqKBkOMMfTWLEADMYMZfJX/4ojjOv7LI4/jj29961t45LG9WKBybaEnjOOPheUa3vLqDD1iTejr9Ch0x5Y6NFrFloEYLj0zQ4OXhAa+lR4Iaz1IgJrzTejiqkaDMjR0kKvRMrQK6O/rRZ6GQ7TlcjkMDPTTFZvHciGkYKZp4CbJsyOO/hrSTnHWqCW+fMu8+xHZi393nHWV0NvbTbDRBz8I+F5GmR4BKWtRaTkGqj/flHU8kICTJe5Zwuh5Fq2tzRBt+oOFGhW4yilNq9AWCv2f/maLc4u/5OJWJdG417CtJ8RvXdGBLf0ZutmnWL7m+KK6ZUh0T9BD184VjbUeebJMRd+DIOavfl827+rSJVq9+FRyAoSJeIADBw6y34tKOSZ4nKgdBAVxGiz9WG2RSjCVzmJ2bsHxr4er0FECtlkCVNXbCKrEkhcq28b+6ls5/TWk4teGIPChlWw7AeICV3Ka+Pl8HktLK3D8oQFsKCOVM8aiqakJzfkcfvSjH+PWW28juGzDs5/zbMwtFfDNG29xIFDKN6JR8ilQp5x8Is6/+DJ8664xfOWWx2GMgWUwxpCHdYql4MRHME5BtwgGOpR3pVjBt36yB99/cAbPe941OP2UHVQ+lsq25oyzvpv6CkGXvHznnf0s6DuNSW7JaltVykdGJaC8qD71J9KF6l3bvwKj4pUxBlMs43kWHe2tSNPTZ22dBpVTqNCLOjk16+hfN9iLmOqMmMLA7kIGrkavzDC9nwWC+86udrZST/eDGCY4VuKz6IvT0DCFZ8Q89UBxp+ws0TtSRktznvMmBUMajDEwps6vGsdE47lIpa16EokkVgi0krzHuVI1rPHY0zhPW40A6DeecxJ+63kno70phRjHRuPjWUteGvj0pLRkYxwG8mGhzDnDR1ZUqdLTwjwxguhv3fYYbt2TwKR/CfYeibDrsT2ct1Oo0DpF8DgWNYYKy4Ys6aFGcFWrrrh7FFUZF9L7U4Xjv/UQJ82GMg5Yth9gZWUG6/pb8ZIXXQdjm/CTH9+DPbv3YqVQgHgTkslVtgXjwbBMRGBYqzKNfavR81ariu4K52cFtSiCH0tyDsYR5/wJOFbFwhJ8r4Q/+IO3Ip3bjt17hzE6PkX+hJDMql7rJdA/eAm+9KUv4m/e9i584fYFzC+VcMOP9uGdH7uVW/FL0JhYY2GMAWDYn8YdCEmoMJFkgQmr7xHHmDmZjcMJj2VT8QDGGKxo65UoSLJV4PakZZ44FyPG8IGnJe8VPM/CMtEFphljXHnwCNnXGsGd7oDiLXRY5oF7F41w5QOOM99QYLtFbcmybJljDB4rtTj+73/diZtue5TzuhVpLv4M49eeVSLzw1zALXAXJU3jKpC1wkWMFi9dXEB6bjzXlgCmOGcWCQSka/LUH8YcXyugBdE4dzykn+UhUj3pTJZAfM55lYzrR71eoxsvnHZQVewCvnjrCN7xmd3IZ+N44tASxufKZH8EZuMdUD6JDocH7Daml4FELEI+BcoE0wEor/JpsFRnBEDvCtDBCCe7vOtV/F1YWEYmaXDBaXEEHuWbg5/LcaFlrZsLVc7XOOelz/nWyp00j+OYzaSgsdInNAfoEKiRMI98E29934f4KNulUKWDQWkB4/v7+yAPfqGwAtmDAufFnXfeibe//e0OmO3atYv0Gqg9jY3SFUSzAJGeFZ+gA8cY9Va9eOaC6FT9NfZZuCAkL6R/9Rxw/gm0GfPMtGufLtmWA9HZ2UnD3wp5y2a45SVCFP906/hV8hljHIjxsz6+Wv4q9q/sxwuiF2CA/wzMz6xycHADvv2dm7Ht5IvwR6/sx7+8uQ3v+/wihkZqYJWIKHwa0EYFR8ZD9HcHOHlrwrVXpOEp0wMVEtyUuZ8sT9X06rdXShMY08RWeppeBxmxVnp/ajRci5zUNQ6eBquNnqwNG9ZjmYZGPBO/FF+rBXjdO49wOy5Aa97DfoKXaRpOfXvTTPAgIZBCkCBLAObnFwhY5kl3RMVcpQDPudVFRGUub5NoUj7Vr+d2thuxk2MylvNT+I+vzuMll3SA2V3/G/2m+cfJfRVcdWYzTFikkpl2StyYOm9VBziT1cd2et5EkzEW+uOBUrkEKbE5AifVR5bq5kKaHk5tY9aqFQxxcooml7DmkqJi7OOqUhN3z959nHAJTvaqC1s2rWf/8s4D+FRlYzT8muAag9HRCSwvF9bUDBhjHLDuZ/3xeAwjo2NY5Bg0NWUxTy/N7OyT27X6/oXZ4XkWAnplLja+/rVvYOeDD+FUgqQLL7oQP7nzftz2k7tQ5bjWqGjE62w2hYsvPhcnn3EOPnXjI7h/1yjELymlGidtRL7pmcNAgshFMijkAKi8/s/DL/xwHzbtOAMXX3gu+x6D6qxUqtBfmN7645/irnsexLatmwkuu2iIQ9y381EMD4+Q9x0E+wnXR/BQmwqSuSOrW7qSsRn2scgVnLyuAkIelaNoUWAxthdBXrQS+9vX00VA2gTDf0qvBxLMPsioCAjWgXYcIY1XgqvB2bk5js8YEok4kk4Zqlb1WkHPQIFbmJL9bCaNplwG4jOrhKU+UQ7xY5byIzAWZz1NTTkUS2Xm4/ixDWONY5woUX6FKufYErcnLztzA/74+nNwwkAz4jQMMg6eZ2HZiJFmUyEGviKV8NCSi2NxpYq5pQpiBAf3Pz6MG++dwakXvRbJ9Ebcc++jOLD/IBdD9YVJRGAkHVALK2zWQLRGUYXzo4QaPWJVArNKpUx5LTMtgkfl7HsxBH4cnvWwvDSJmalH8LxrLkdzywDuvu8J6s4hLJMn8o4isixbY6ggJPgK6RGr1Up8Lrv6gZDyJsAXIQwtvCCORDJFMBYj/TEUCguolhdx3jkn4dTTzsETuyZw+OAIVlZKLB/BwCKMPNIbwuPXKiUAABAASURBVPoJymYN/YPn421/81bK8h0Eiz488mu54uEfP3W7+/8xS5Q/8Qs8DCJEtPQ1yrvuURSy3nqIImbQyQeezMncfKhxfoCyT3zERXDZ8TIWeLDWkh4DjY3a1Lue1ZYCGgfriFg+JBCL2LailU9Bz8ZQHvhgLC+rZ8h8IctELOt7BmVuQS8Xa0hmmvCRr+/Eez/zA2TSGSd/ane1mLuFLDvNeaIfF87nmwjoSpwTM9xJSbt5F3BMXcY1F9mCcQLedi74ugnWfIIKkaXQyCZdoz9akp1oYz61m0qlKdsV7N93gLynPDZzvqk7q7wkKSAjySfWwjiyDD98eBEh5fDiU1tw3o4mLC5XlYUZXFZ3Z9cxuQB6J4GWVATxXpWErENBmRp3xXMYQVbBGDbOUzUxq7Kx7qgezzeuRXHPYyEGu32csiXmFtfi8RL1aIJzlVnIqzlYazBFr/Zh7oxIrypeVVvPYv36QUhPa44rn2RpeXkFgwN90FxnY668gPAwAbEWdPoEZ+PG9a7s3r173A/Iqk4Fay3SBMyiY3x8HCE7n6KtMcZ1RFn+V4Ixhjo6jiR10jQdUyv02me5E+B53jPann16tcF1fImrAQnfli1bHFP055qzs7NPt4pfKV9EEbkVt+In5ie4InEFTk+cDv1OlgwNfsHRQg/Xidt24Dt3WiystODtr2vH525awaP7KhQCUBaeHMT9I1XIS3bC+gQnYxY6hN4BwxVHjYokpIFPcSL5LGtdWKLHRcbqwIFDVLgENEbxHhVmgD56vOTKTFBw3eDlcqjRkM3MzEKeNm0P+bEM/uD6U7GJnrlHv7IJn//HNrzrD/M4ZRMVMhVbEPiQoWsl0JOXa8PGDeiklw48SjRaczRkIWeaMYZKuOAATCwWuIkj75rnWU68iBPKw2BHmmPIcYxYmH2qgxDDfgHGGLSka7j85AAXntSEwvISQcuCK4vVQxNY9TU1NSGfz7s2shTI1pY85glAtUV5/JgYY6gI09yCa8Pc7JzbHhW9WHMYYyhLKW6PtrrtAa2sfD+GEr02hvw88cStjg55fLSqwnFHNptBX183aA7cT3eU6Vlcm8UYA9HYS6+bR8Wh1WqJADtGkKatV42R+qYyxhjeDBKJGDo6WjE7M43/+u8v0RU/jYsuugCbtmzFjd++FY8+vhtSLArqT3tbMz1cz0U56MAnvvEgdu4eQ1Wrc/Ha1RmR9woh7th5GJ/45k5E6V4a6iscCAqpVKqUjQrB6wMEXd/49i1obm7GCZs3oJleu8d37cU9BGfaDsnlMjDGuEBieUaOP+rX9PQcxA/99p2UnjMGlB3JETiPmNmdUmaLlF3Jj4yKvAC+762m6SbCI8ioHOJ2aTM9rOJhlfQFsRjkgdD2pCUdAlrGivuig62oKKuocLmuPywRn/Psg/QGqaa8WaaC/AixSDmTh9MYjVEzauRBjSvnNIG66HHjwvp4Hi2zTGOweaAdb3rFeThnRw+3Jn0CIM8BC8mnMWzFMHujEJ+NsahwPGSI8vSWVdnGl24dQn7DNejd+BzcffcTbmXutlNXAUypXKRhLyHi2EScYzXnsSqjRsDESIKmCrR1GJJIn0Y7Tq+Y7wfQc6GwiLGR+3HuOSfj6mtegz17pzE0NAyNiQCc+C/ZKVeKiCKCPxjWW6HMFN1dXr+QAK2y+peasD4S3AYK2I7mhtLHRh7FpnVZXHXVlRyPGIb2D2OGhqJQLHOkWR9prgpIsW6SCNEKHpr3bR0nkpYlzrk28iWExiBBb9vMcoS/+Lfv4ys3P8L8EWkJOU41htABsZB1inYFEq7TtcUL+cE81FnqV0Hfk3H+ZpIBEnHftaGylmDJehbWMhgRw7B6cthcfcrn6jccQEZaypYxzKyTd9N4ZznlizioIccoJG0VeuRKbNfzLL5/z2H8+f/7BgF4DZJxyROLHHMuLi5jdGycsuOR9zXqpwnEYgEEIGT0j8nMF22NC4hlCAAGB3qRoG5n9DFngQt5/RRPlbzQ4k7txuhJsl4AeeoLNOStnE8xjqUKRhoc9k3P7JpuLrCrdc9YUxZ6PvvEZmzuTTONfOFVp4rO0SO2QlHsyAG5JJyXjE1z/MC5BlcWPAxD42zUELICsk3D5/LzFWSnG+smLoy0YOaUxOhsAg9x29JaoKedF1YkXe95HmWkxoVB0dkp3/PhM66dnvhMOk0bMk+7tILDBGqSXfGhjY6C7u5OGFam/yJwfHyC+nXW8T1HD5x2isQTfWIyzMXn3Nyc++a48V1ZjZ1r4JCuri6oXulwzWmS9b92iqZGO630CEo+9C4+PJON1rn7c2oUIQIUalhExKiQlT1HgLFu3Too/cCBAyjTyCn+mQoRxWQ3duOL/HcyTsYV/JdDDpYDKZTqc1Uihvy8dt/97nfjQx/6EPYfHMMHvjSHG2/38eZXduCnD1Xx5e+vONolkJLGvYcq2HOwgq0DccizIGGL2JmIEkrbhcCPGD9Ll3cLDXwLBa1ARVNljvopQ2go9ZqAolF8qtDDplTPs5zwFbTTyM/Pz0O8lIdpnl6v+55YxkO7imhp8nDmjiTO3J7B1GyIC09NIOZVKagxgp8FhkXorwInJyY5yQy279iGM844HTs2BejrsHj5lTFcdxGBZlTEyZtjXHVX3dbnJWfEMTkN9LXHUWVnI8068tbAiDSIZoWQqzDqNXRkCcxOTeKMLWmM07smI6KMyqM7WFZKq53eMvVRq/12TrJWGn6BgnHSV6NXUfnqAW6SthK45eglGR4exgTziIw6LfVaPU7kNq4k21iXPqCdIXCN00jMc8tR3p3tJ2x2PJ/mSqxe4smrpUw0cXXb19sFgZEpehrX1q2cHpWF6paSrCvWSQLBtJJIz5TjlWiq99OQLxZJGsEW1vvAfQ/g61//llPAl3Mbs1wDvnzDTdCv26uvMgaeZ3HC1o247rrnw8+vww8fXcDnb96Nr926B//9vcf5vBdfu3MCue4teP4LrsWG9QM0dBGkuCsECMP04H3zplvc+6knbUOeCvEgwdD3fvBj0gJ0drZBsgUY6FD/FGa5zTsxOYMUV24lgtFJDrbGp7OjDQI2xtTzqww4dkV6w+SNUlp/X4/rUz2NqZGeIifXh4+MwuOY6Ps6fScGYyEZGSZNMiq5bBoeQZx4xmpZWGXhFPTi4hLzhtC3aHEaOKVYlhfpollbkQIBhUKJi586wJScid9SsJEqXKVFFauMtiWSMQ+/fd0ZlPONaOEWjmctfN+CNwb1U4UUALVljOEcN9DWo/LJa/mZb+3EnvlB7Djrehw4OO++4yoUC+Q7yxGMSbFXKb/WS7JsyKA5HiKkR0xBYKjCLUSFCB5lJEU+BTCG/AkjTE3sxpZNTXjN77wFsXgPPW5HMMXxEd9DAiSNdZVWTnxTvyJ632r0tAEhIrah+tX/Kr2APmU2Fk8iiMVcG9Z6mJk6iExiHs+96lq0tG/DvffIq3cIi3RnhJzDYB9q9C6FIWuh7grpdYsI+iqVFaidkPXG41nSnXc6O0HPZjabxTzByczsAvxYEj+8fwRv+tebuLAYZb/JFwCOVhJdf2MEeQuyPKLSqNJIqk9Fbk0WCcYoFm5cmAvGGCRiHum3kOeKVcAy7mg9zKS4Br1qxzDdwEDjCh7GGD5b8AYDIGQB5Q/ZdsR+hgylSgil3/rgKL19PybtI2inTopz4cUix5zywA5z+73G8j6B0dTUDEI+a85o3nmU+7UFlDZNnaJ2B/p7kOaOiDGi5MlcyjPOubfEBUMHdWOa89H3AyR4lx7VT+3kaTM174wxRwsay2cyg1dJveuDEtklDI2t8F0poPcrkoQoiXHAcgmYW4H7Rqwp6aIhfsV8uDvXQ+wTXJ1kVz0Dr3o2vDdO8VuZFK+4j3xrCOXQc58YaE7KvkqfGGNcfROzlrYq5vSlMQY1jr28W3GCU/Fzjvatwsbdnd5W8UXAVTpBdUnexI/Dh4ehMkr3act7e7pRZX4B5HnaRZVJpzP0ojVh8+aN0PfGsvcV2tRUKoUY54ToDTh+eq9Shyrd9UcJz2CQvRYGEu0KlowWzWmCTsnKEh1VouuZaNL+vErEQHUyToSvThuzdijBgbf0yrSgv78fk5OT3E4ZdgP08+p8OmlzmMNX+M+Hj5fxXwtacPwhhogmxYtGCYae14ZDhw6RRgPDyCAWww23TOD/+/QSXv7cDmRSPv75k4tOyDiWmJgOcfNdK6C3H4lEzPVDQnT4yBE3ARMxi3ScgIc8iHOSC5A0N+edQWkIgYRaIU8jLmDSTC+HMYb1JVyYo/FMcfW/xEkrgZIH44579rDNELRNKBQN3v6pFvzf9/0nSsE2ru5CeNGcW31K4MCeSCA2b9qAZQrBvffej4f3lDE8GdHol3H5ORls2xjDn746i1hgsW1DDDt3lXHqpiwNTsg+RdDkAw+ShbouMFwRGXiUhICTWco0EdTQl6/g2nNb2CIcYCnT2IOHMeImoJsMaFdXB6SoFhYXIQOvFdLwyDhmOangDrbpGo0QsIEuAoWAE/AIV03ir8uy5qI8nZ3trN9wG3eIwLJGRWRoMJbQ093F1W6ro2d2dn5NqfqjZKKbHkQBuPGJKczMzDlDUk+tX5NUkL3cnlMeTXIBmjiN0hJRt1PMNJrqWz0Yyo9FvjnHcU7h+9+7GXfddQ+2bzsRVz33KszML+G2H98NKa4ay4XUoh4ZOdDfi7PPPB1XX30VLrn8Clx59dW48srLcdEFZ6Ob/DJGPA85JlUI/H/7e7di1+4DEOjUj6Iucvv1ttvv5gpzAaJV8gbU+Q7yUvK2zDxSXjLyMkr6LiOiAW4jqM3Ra8gmsPaoEgTMiGcRMEAgliU4XpsuuQ0JRPTtnjxjXV3t7HtdCQcxgnoamzl6w9MsF4sHpIKlWRev7oxYgT6+L9Fz25TLIk05N8bAGEM5s24cKlS4M3NzWKJnLJmMQ/n0HVWc+iVJ8GskkAZrDuMUf0hv0XPP34Lff+Hp6GlLU1YN6wUs87N6PpujZQzM6rMhEItgjEE88DC/VMQtj4a44gVvRiLdi12P7cX05BS9S2XS5kH8KRNohbB8B+WOuoFgpkbAFNIrFkbcKiKwqVJZ+H4c8USKQIl8YL/V4tzsYSRiU/SUvgDNrdtw3z2P44nHd2NhYYnzqwrae94jGBt3vAvJ65B111bvAkpV9lPEK07eBEuDHtDgSK4XFydQLhzAlVdcjC0nXswt+GXs3nWAvCwQ6NQczVXKYJWAS3IYka6q6A7L7FuB6coTsvqIzxH6Bs5wRjeizBhjnGc1TqM6MjbBvlcRi2fwvv++G+/+9E/w6P4JlpPk6WZIv0HI+muUKbVZ4gpF34yJDzHqHWOM47vl+NSDReB7SCV8V65UIfiMWJ+CIymCaAYP5WdhGJYFDByQx2pe3qsObLK8GMr3Mr1iqmKu5OM9/30fbrt/H3L04ku2jDHM8eRZJXjw8+ubAAAQAElEQVTQXxwLQEj/zlFHLXP7rK21GQJjAh5P5labkZufyt/OeaXfybPWrs3invWtp+aN5l0TPVrSAalMBnPzizg4dBjxIIDSFA/2CWuOBoVkBcdFbdYTXff5GLKfZDX2DS+jRi9vpWYwtQBwHYKWdP2usswKqh8YC/IM1P8AWUXZgItXmsvHi8PtLKB6jQHHE/jOPRN48wcfw56xiGA9BdkpZuG24YDTuydzkZigfCh/LmNw2VkpLNEGGWMoX1XUyFvlNyRA/Uxze1Y8DimTGfJCaaMEwZVyCcYYl1/pnR0dlLcKqswnG6J8HR3t8Dzf0RCQd/LGazdOtk/h+DEwpm5jk9TtAk4CUKrn1w1VznX1UfOvAb6Or1P0Ka3G/itvJKYen+mXeOfw/c/cDUKMMRAzveNWDMeXEMG9vb1opStPIEjbmL8KYSWU8D3+ewJP4AX8twEbjm/qmHdjDDSoqVQKZXroNBgSYGUSHe9///uxedNGKs849C1LSKncuWsBb3nPNB7ZW6WSjvDhLy3jt98+B+snsOtgDdZEaBh7fbQ32B2gUChisWC5MvCg1ZX4U+X2jQZgjisC8Uf9LXKlvUCPjt71vZ0Al4RHQeCsiYqiv78PAhwTExNOMMs0Uuv7UohI9Ee+PIm3/tmfuq27B3c+zBgwD6CVB3jISKZSSbqARzA3N4+AAKeZoHAj99vF/5f/xRjufqSEN797DrR3aMpablWm2CfVAXBugyxgTajXy5mpiR/3Ados+J5hsNDxwN5lKuI5XHWahyvPbEbSKzkgpL4r3RijG4NBngC0jZ4tGXKfE6iTE2qZAOcQvSxSeMx0zJnNpCBgVqG35gg9Lhq7YzLwJc1VaBfBlSaXwJvnBZy4NSqtCBs2DCLDdE1wjQ2zH3PGCZgFDhNUIFLAywQvazMYY6CP2wXwZCgmZZhJizwFc1TScwTOjXnFrCxqoDEVr+fnZvCFL3zJ/a8WZ5xxGk7cvt19X3bn3fejzNWbZCyikYMbURx3RAjD0CmjErc27vjpfbjn3ocwSJkY5BZIhZP6gYcewxO7dhO4tXHupdw41SuJ2HegSiM4Rjd/ifT6vg/RKw+PvFEtLXl6JrxjWo7YkXluKReKRfQQDMr4SB7rdZJKCp5onpmdoyd1Bq3cThFva1SQiWSKnpdljAyPIvA9pyCNamcZ3Rp1aAyWaNhSBFW5XAaq38C4O3hU2a85zgu1EVA+muj9q1RqqFDhpTl3PWtZXcT+1YPK1ggslpaXce7J/Xjzy8/FaVs6SYOFT4G1DMYY6GD3XDk9W8Ux0EaTz0DMtzDGYHIlgd0Lm9HWeSoB9UPYRaC0RJkQDWVtTdJIqB4SQf4WuAAqIXJAqYqIIEnesBpprZEnMYJT1z/juf6ViksoFQ/huVddhpNOfg7275siUNqHJfKjSuMZcY6FoeWYhwxVhoqrO4rKpLFGssP6O5cdEflqrUedFuc4xiEgXCVInJt+Aju29uI5V1zPLbYSdj++lzpqjrSSPhYKOalr5HFID1uVW6u1WpHtlFhvvT2lVamvwohtwSKRTLPuBIxNgMXZD4Pm5h5s23EBTjjxAnh+M4YODZMdHh7aO4F3f+anjo/G1Hmu9kIyucZQpFdM73HyWvyXvBljYAAYY1wAD8UrBJ6lrjEc+xBlAjlHE/ttjAEzu2BgAAZjnLSRDsmp+BdybGoMEYF06MJy1cfnvvs4/vk/voMaee1AE8thzRGyk/pOTJ+XJKkYi5w785znqVSC86wd0hNrsrvHlZUCvTIzkMesm/NGOsUlrLnI0ytPmz4r6eA2ne97nCNp17f9+w8gogxpvh0L9NhZ1lHiwkXzoUKQVY9hZONk96Wr9To6NsmtyiTGZkv4j+9OImQfWzIgyFMq4Lq6WgGLQYHd5SiDfAbnAECxRVWiBvKxEVSGme/fM49//NxefOe+ecQSacqdB41TlQUEfmQLx7m41X/z10cbrzmgn3XaPBjD5sEAbc2UIxIxS/0hPkpfz3LRFcQCt6DUpzMh+SAZrFA/ypbl6JFNpZKU0RqGR0ad/GnnR/orFoshwQWa8i8R8MkzHpIZvu/D+wU4xFpLva4++FBZtcfu/tKn2l6m7tFd+Edt/7xKjDGUoYRrW/1X+Hn5f1aa+G7XJqrjIqRK5ZNOpyHluTb9Fz1rANevX++yaRtTgMa9/IJLSGV0L+7Fbfx3Ok7HOfwXIPgFpZ5MNsYQ1ScR50BqAGWsBMjyBAoSFDFW8ZpcbXRjB7Esnjgcx6Exg58+HKK9vduBLgky59TRfqt8R4tBNgWucLKg4wwrVLRqeZbehmU+S7DSBAdi5jJBSKVS5tbaCkgSgzkaPM+SxgQFZRni76UXX4Bzzn4WBgf6cdb2NAQEp+ZquOnb38cHP/wJR8+5JycxMVuDxsUY4xSEyqo/FQq3vuVKcVUwy8lw6NBhR7dA8dbtz0JzSyvueriEeX0Eyo4ZEb0aaqHh9qXhliig/lKO3aTwrcHekQJ+8OAC1ncncOFJOSRjBt35CBdui+OsM5/l6JIyU39JEvtXr9TjZGklbyXAS+RLNpd1HpBJuvq1eizIBcisho1JF4BqNptNQ385Os0tgwluY6pvzPLkyQYy9PY009M4QQ/skZER9zMPVSqxNOP1H9mqjIBZSIP0ZMH6kwx/X28nFUxIkDtFvlfqCatXj2MiJdDTozwRjgyPoFoL2SdLj+80x7HAsuC7guFdcpZwf604TA/ff/3XFyGv0SWXXESPwzroB1v37T/IOmpUNiHLhlA/FTSGVSq5CgG4vhP7zvd/BCmfTQKX9DrtHzqE+x98mGPoERTlXVuAQeMIwwgyKAppzs1Fytoit5kymRTaCYZjBDo47tA4LBCMteSb0Pj4+LgsBFxLrt8Ck5ob8s5Yrk7LBEz6K9kq5Uzj5FFQKEbs05M1lOk11apWCqs5nyPtgUs0pk53SEUqz6O2SPWs8ZDclEoVGq4EGjRHlAVXkIIRsZ9LVIbre1vwR9efi4tO60d8dcvLo3xayo8xFsbU21A5YwwsA4fOGR/PWlhr8IXvPYy3f/j7+NB/34lbbr4J9979EwLYeY5PxDlleTfsj+Uzx4uepDAscag036qM551gLKRXjC+wnocYtw89L4BoCAl+EBVw6skbcdllL6Z81QjGhunJXYQAgEKN5auUS91r9LaFBESgp61Gz1WNgFNxNeraGvscwbL+OIJYDJ4XUH5KWKDXrbPNw7XPfwW8eC8efng3JsannMFXX0Ma5yrnQsR6a2yL7COpIUIawIjeN3dnWkharfUQJ/0+DWUQxKAx84Mk1g1uoFfvNTjplMth0Ip4vB19/adj64lXIJFsxqWXXoFt23ZQV87jre/5Nr57+24CohqKxSpKBFSBZxGQ1ywMw7v1PFhjoGdjDI4/wtBRSb1jXCgT1FUZp6zGKD8D78ZwbFhYfYuYrnIhO12pRShSNhmF7987jLd/8NvYPzKPHoKmhjyx2NFTi8QRemYgAgE3h5Svi174HHWIMWyP8Y2zzIW9vM1B4GNA25MEDo20xr3CMRulJ7FEUKXtSeUVTw15rK046QQBwxQXKI0yjbt0wDQ9zVog1ecDRU4saWTgXRRFq3NC4/SiC7tJfYRMPEJbzsIyg8gm6xnPAjw1N/Wiu7Wsk3HMxivgW0D5Oe2o9+ESZxbL+MANQ/jqXUXMrHiUt1XExmSdspeyo+rjysoKenu7uRuWh3YWapTpr/1whfbQw+RMgfPeR4p2KE07mKFu0jhpgRiLBZTFCB75onjf96Cx1AKyTN2hv3hXviIXpxnqwIQ+USFQ1rd21lpHU5L19nBHQ/R87nOfE2m/MIhnskOic4mgrsrx+oWFmCEi89ROhTpP7QpPMPppn8YYqJzaX6YOK1OWnm5h8Vp85lDVi4iQIlfRAlUKxph6wi97ZX4Z0HXr1kGNDA8P07NRYexTn7uxG9/nv3a04zn814a2p874NGI9KoM0BcIYg7/92791Cl+GpsgBb27JQ6hdxmFsfJJCFFBI632s0XCIka1NwNh0lUIUutYkZE8cSlBxwymwsekan6s01lNcUeaRpStWQGNxccnlr3AV2pzPu60AoF431hwSDIEZYyxuve12zNHL1U9AduaOHNuM8A9v7MQNX/40Hnv0AVdqfqmKwI/BGENvSdrFJeIxGuxm9x5S8U5NT7v25KLXZGnnSm337j04dGTa1Tm55GNirs5/KTHqM04QODBGmefkNqwfmGSer90xg3hgce05dOE3B2zPMFhEkcWuwyt41z/+M+677z5cf/317vuyFa4iJcTMdPTUKkkeQPGzSIUlwKnJKLf+1AxX9QQkrPBo/ljgsz9NSLJfw/TECFweX6evPG2tEADV/1CgVZdH0DBPr4u29LZu2YA5bg/M0bN1tGKn0CJoYmvSd3W2YoEARjwPOd5P5gN57BNkUfIIKAW4JSPyupaowQSAJD+cq45PxhjeLfmfQltLnvx4AN/85k3IEzReceUVmF1YwTe+dTMN9BQVSuhClUCsSqWgPwf/xo03E5SvYMeJW12bWmHrrzdXqPQ6O9poEGMADOBCRFZFHN9ljHGlnKKCD0MCM65Yfcp6R0cr0vQwQYeK6M5QIt/1jVaKHkLxJ5lMMPbYs0RlobYnCYa3nbgFF51/FvTtnYEHjcPy0hIEloOYTxrglHj9EkF9WWR6RGOfb+LYsR2x25BmhYjMWqEuEQ1FeiPkNYsRBEjHxGMxSIaVn7XytmqNeCvQE62FyW9fezpefOlmtGZjrBEEACHovF2VVcMyqNPECowxIEtQLIe457Ej+MrND3MRUsAnvn4fHtg9jZVijd6kESwsTHOb73EMHbjL6aNyucBynM/6WQmCJVAmNJ9CgjKBmxrnVo1x7AoCGgrPDxwtNQKdYnEO6wfbcMnFF8P6rdi9ewijI2ME8MusJnJjXuGYu3pYd8gyIUFRyOcq24tYN8g71a9K44kEgiBgiEPvhZV55HMxbk9egZ7+U/DgfbugRccSvXokCepvjUYxIiALowpC1qc6Q3rTIgLIKKqiRnkjlxBFQECvXhCLgZOBbcRQKq4gHqvixS96BU45/WrsH5rBELfWCoUVAtqI9bGMn0JX9+m47/5HccGFz8bjU00YnVrETXcexJ//2/fw+NAkdYUncmGIEDTPjLFujGAMdIRsnCd0r5HoKgFVyLueFa98scADmL3IbUzFY/WIyB8ZduUP+VxjKK0CsQf2zeJvP3Irbn9wPz1cHdC8WC129CbdMzI6QS9cxc2ROepaGdp2bj3muXjwfbZ7NDco0zXoE4cV6rQeeuYF1tYku8eQzJ+cnqE8zbtFkLzsnmcJpBNu7kzQc53NpiFdbIxxZRqXiB2e5+JohnRoPrS2NDv7pPTjsoLNgN2lzQlw7Xm9uPLMXvxk5wRluYqOpjiMMWB19aAKGBgFtcjh5htANrvgXpigVGxaZgAAEABJREFU+RMPAMuIT39vGG//zyEs2w5oZ2NwcADaYVlatWMl6g9jDPL5JgLvItq487XMRbYxhtvBWTd/ZhfAhYFBOklaKH+dBMQCQdpuzOZyGOICs7NFc6EG9btIPRCSqFn2P02dZUhHLpuFpcx41GUT3KXQ+OhZwWec9NYU47WDwew466yzdHvaIcF5JTygeguFAvnV4M7/rKJIfbVCHRxwHqqcteLU/8z3dGJ8evPUbsiBXCYwk778WeWUJtBoDHlJ7GLLVMwqJEJkhMSMn1X4l4lXh9ra2tDe3k7jPU6FMooalUijjmlM42b+q6KKK/lvEIONpF/7HqPyufXWW7EkIWJtWolM0Iip/cZEFNMEXnL05OhnKjQYf/6aZrzns5NO4FgM+iammUKZbWrHAoV1eh4wFKA0gZjyl4mkwcMYiZcYmsICQYImn6WSMkbxzLB6VqmkTzllB+QNEn8eevhxGpsIZ2xvOzp5fvyJ9bic+/PXX5XCY/srkCArb09PN3nZhhJBgrGWoHDafbvUQiAgA5fP57miTeDAgSEYY5zwDQz0YfuO7UCqGzfeNYP79y4iQY8XSWN6naglGqyb7p7D0FgJzyMQ29yXdOUBCaRFBI/GziLRth3nnnsu+vsH8P73fwD33nM3Tj7pZExNTZOmsivDZuuV8ppKJTnJu+mBWXZ904rUMF4gYH5hiXHHTo54PAZtY9YIaofpqVpcWmbuY88gFqCru5NyFLp+Fotl6Hur+YVl9HEFl8/nILC9zElwbEnQELFsZxuachnHuyXWr3F6Ml9Er00S+gugfFOOgGoSokEAYpFATkCxRoOi/OqnMQbW86jQmqnwE/j6DV/HPffci+3bT8Blz74Mew8cwe3cklwiLfo27ZYf3oGHH9mFbSdsRj9pXSHtd9+3E1qNd3W1ubbhDnGJvKHGLdCrqP7IuFjPkqYpyksN+k0jfatiYKDTBcB9FDsnTUnFJ35Ithl9zFnlHBynkjt0eAT6YP+lL7oG558jT20vWpubOJ5TXGikEU/EOPYsSlJ45Rm5MStQcQnM5TgH0lSslnxQ+8YY5o+opCsExwsQf+PxGLTyLRBoeTSAym8MaQZc3ohXPqJMmZZCvOzM9fjjl56J3va0oqF6fc9AoSJPiuN/pGiXpifaaBhj8NkbH8D37hrCyCxX/l+4G7uGpuD7MXR2n4iBgWchk21HsTCPUnEZIyMPolYtkZdlhARKoqgmDxm9TCH5U+M8NZT7OBV6QK+SNT7Uz2JpifLj4fLLLkFH10Y89NA+ArzDlJMVAOq/x/rAwGcCo5DjENJYhfSGhWwnZFzNPdcIfELECJT8IAGwrE/AV+bWacyr4JKLz8LJp5yFoUMz3F7dw/lXdsAiIgCrsnyVcySksleIVK+CQJju7EONfRBvjQ3gBXHHB5/3iLSUCtM49ZQN2L79NEzNVPHIw7sxN7cIfYgtQFQjj6ssD3Dus7229q349Kc/g09+9guIcwciZLs+t7Y+fMP9eP+X78F9T4zAGANrrLujcUR6MAijCKHjQ1i/E2kwionMYHjj6bF8jAvBGleLJQ5olTToWWUj5ndjT09goWbxqe/swle+v5MgoRmapyx+zBmSvonJabddlqAMS29ra1B5teBJaPGwpkREYua5mJvljodAUjeBRcNGrMnG+hYhgJeixyZPmwDSnspkUOA81u6E71ko3rN2bTH3vEyQpwVpjPqro72F4+GjRh7X2E+XoXFhnWQF6Hh0vycWcX6kY2W88l13ocz+v+7aQShd2ck9YDW/7uDBrrhHstvdXV7mYdLR0/OA23ZOoq+vDx5fRMcK6ROA2LBxAxcVBc6LGiz7oXkbEFwc5O7L7Myc+920IQL3gKClSsC/bWMaWwYD/O4LU1hZGHX2yPM950lr4kLtRZdlsKnfh+Z2NpOCgJHKCWdIhyxyUbdMG635JvAlIrVjIZrm6CmTDvHZlujQD9TrvxZSnl8mGGOc1ypGTLBCwFUiMFxbXjTJXogX4oHP/q5N/3WeE9Qf6qvaUNuSzUZ96qPilKZ2RZ/SnPQo4pkkRBU3ghrS4Ofzea68hzE6P4of89+DeBAX8982bMMzfQiMyUvX1JSjEok54yA6qlS0okODLkQyw+20ubl5CswSPvy33fjIlxZwZLSMVz2v+agHTLSNjo5RUFc4sAlo0qYINvS9UUtzniCpFWm6asXcHFcGzS0tEHhSOXBaGGMA3gELz3p4/PFd8DkRRA8QcUIX8fnvLGDjNbuw5fm7seF5u3H7zmWu9MvQoXwayDG63ae5OgtigaOlmW0rXgpGK5NDhw9zhTfrlJ6EbuPGddDE0V9mPvr4flUFk+jglmQZ47MVTvAQdz2xiFu5PamtyXO2ZbnipThQCUf0iAEeqfO5mRzDzoNlvO8DH3F1NC4nnLgNN950Ez7+8f+gkcpBtIVhBGNMI4t7Fq/loVrixJOMtXGFukSQot/L0kSLnszt8mvV1E5P1fLiovt2SQuGo1n4YGCQzWagb/T0QbjaDWIxVKnMSTC2bt4AayzkUZIiYJFjzjgVci+3MWVgBZREw5MZIoj8DJVHd1c7+edjijyvUcm3cpWo/IsE5lJ8KqO8gIHnWScH01NT+OIXvoLRkWE861mno39wEN//wR348R33QD+7ccKWjc4Q73z0CTz86GPcBk8jl8vAGIOjByvXXxtpJb7AFXU8nqCHbMmNuYyK+CklCRVRYMGIfF8kaNQ3LV2kWzz2LMeSaY1ThkdK7uDBI07+rr362Xjucy5xhk1pqqNAT7JW/a7uiCUZIjJVochV8zK3SWNBzI23J8VlAGN4gXH9Eg0zNGwe5Vv90nxzCofAzbN1elSXAnhUqdRXaAxO2tyJv/yt83H29h6sZmONzEBeqHpjDALy2LMGVRomyVmN463gM+6jX7kbU/QmRxynBYLzZCrt6tHcsNaH9QLkmnrQ23cq50cFK0uTGD5yP8HjCkFsCVV6rmoEOgpV1hGjIvUDj4YpgiUZVW4x+gRKF5z3LJx62rk4PDyHxwmui+RXjbyPOGfKlTJBUxF8RSiPGOsDF5tRVCMHawCBRaQ4ssv6Hjzy0VoPmhMRwVS5OIdtW/tw5pnn0vAv4eGHnuCcmgWMz/KW/I1o0MqIODcjjkuNNFerK2yrxrgqDXzF3UMmRuReIpkh4Aug75tq7NPK0hT6urO45OJLUColsHfPIYxRr5VooKLQIGS9zAbA43NInpQQ0lso2WjK9SNGMNbMxV8YAVNTs46eg5MlfPKbDwAcH7KAdEZQOnjoHhJwhKw05IvqYTTz6Ep2wOhCmt3N3eUdNcxRKldRoie9Qn1douesWAH+6+bdeNv7v4OxyXnIy1Wv5djrLHW5Po/QuFcoW5LFRCKGboIsyXVE2p8MEedUgYuzGQgM9Pd1Ix6PHVsh36QfDh0ZgfEsdU4bBKqSBGWMwP69BwjyC5xDLS6e2Y85y1ywT3DBGpIHojm51lPN7qvnxt0BZoH+oGye2J67eWjLAi+9qBPFWhxb+9P4w+vWo41eU2MMjIW453imcnyFMXAHuwjbeOaL+uvSVuNcJl58zl+PfSoQpMR86xwJsmudnR0IYjGn0yQb6oPoX2a+CvsjHmluKy7iuMZ84HkXJvGeP83gxP5ZOl8mIE+b5vZ7/nOaLYE7P20oF2fxsitzlNMa5XsU69f1uzTV30p9X6J+GZ+YhOpUQo2ANU29oTZPO+007kTcp+hfOXjUSWl6oHRfIhBU31bYJ9GZYjuylb9y5T+noDGG8pWkbMUhL12RC9pGEGBLUpaMeXJwrM+B+Tn1PWNJsWQMs32zuL16O3JDOZyzfA4C/nvGGlhT0Ve+8hUnoHNzc/RGTUGGLEYh0wB7lNZpArFJbtUYav+ICvMNL2vBup4Y9H3Ca1+URzJu6JaeQywIXa2ZlKVr1hIIZGFYHlQaUaQVn0IEy3r0vZwxhu1aBuPKKZ8eGM1bREH3qQRWaByyBIFFSBD37T+AL35vlOlAW0uSxi7DLZfAKWoJTzNXYykCQAlOM0HtEj07ciE3N+ddHq0GtdpQ/0JOkD56XwQaS27ldoTKt+wA4+BgPzo62/Gjh5bwlZ9M48PfGkdz1sfVZzcjk/DYI6lCSwDmASZAxFAO48w/j7/9xw9xRb0dxx+e5+PFL34pHty5E294/eup3KYc+DXGOB5E0gYsJP7IlZ2k4K+sFJHn6knbvVMch/HxKZSkgZivcRpj0NqSR55gRR97ym1dpXJupDfuefJDIPgIFeY8PZNtHZ0EuGX2swMn0hMlD9rk5IxTAo0yuouefHMT5CGSQpjgilrfdimtETQvRIOUeZle5D1798MPAiYbgr0Jjl8J6h5JdX01xtDLlUAXAdFDDz+Cb33zRsgo9Pf3YaCv103KI6MT9e/EaJDbWpvhedbVxwsQgQAghEDTGL25PnlbCyMnh6lUwm1vJggmXd7VC7lMeSpw9b6AbCYN/RBv8BTzeZEyI4/YMsHPhdyafNX1L8Q6bpVHToYjGt8aHnlsF/KUNfVJtICXiKFGvi8ShBpjuEhpomKJMYnEkgYBX+UpUslom1db9rkc5wiM40+KyibOecesrEk5WY5nSDAlQ9dLq/OGl56Ha87bAFbvgvIqKPdKqcpH9ZLBGscvn8ajSjkXnWLfEr2II1MrlPOKAwmxWEAeLjpe/tmf/TVe8pKr0dIc43uF8y+B7t4dqHJrL5trJTCbYpv0VgkokcKAHitLvgMGlkAIJkK5NI/NG7pxwQUXUb6LBEq7MMnxqZEAAcIaQUeVxj9SfhgCvALrL1E2qojksWKQcanSwFSZ17M+gX6CuiXG9AjFlVl0d+j3xK6C8bLOYzVFeSzSa0iHFg11SDmqubwhI0KCPaDG+ApDFdJfVXrMIlrmkHyJE8DLs2c9D8Z6nA9LaMnH8PznX4nB9TuwZ88oDh8ec8ahSq8jSUK5UiDYKzq6KwJ5BHuqN2R7EcGiF8S5LdhOHpcRZ/36rlOLojhBWggPOsgOkIUMEcchJF0hwlX5UjrIG526R6gfESNULuSlRkIUJJP6rbQKgfdKOcIdj07iL9/3Hew7MoO+ni7EjwNNLMqdjAKN/DhgDGXEc57kiAndBGLN+SZYyg7WHJrrmvPMgoH+Hi6MMmtS649VjtcwF8Fa5GjbPx6LQTrBow44dPgIZWAS8lQn14KselGnbzSPtfDUPM9m06sp9ZvhrUQwrzyiQUF1LxCMcUhofwDLvjz7tDY878w8fvM5/cglfdcPaxyLG6xmTaDOdjfyPIJLqL8+eWW0XljUpVtrOZZF9Pd00mO/0YGjzRv6IU+f9LSASjabJa/jTm+laH88ypPs5jIX1jWOlQCM5ihYKUlFa97ir383h3e/KUDSn6YdWKK+yGN0OsDf/PskZhdq+P6dBbz5VXlIrk7dMI8XXFIHaPPz80cB7Rw9Y21ctAuISadom690loEAABAASURBVFKfyUjXqw+/blA/RPsynQIh54zspjHm1632F5ZXu2pLulIhzrmjcTi+oG2gtuMTnsn3vdiLG/kvZVN4ceuLcdLASRCA0fdlMnbPZFuq6/vf/x7dps0UUMB6lkKVgCbAJLdqQiotMUbGrVBYxh+/vAVXnZcBZRRvfHkrfC/ETx5YQYKr5NLyBIUn5JaBdYAs5ACqfk0ghSon7QKBgBisH7mTEpDE614PfGNGPfMJxhgMDgxwBbFMYW2m0K5Q0SUhIeyj0R6bDsmXJWdki1q5smyRE1eDV6DRK7tVeNn9HESBxlXgzJJwfaMlevXtlrEehkfGMDM7x5VkK9sk0Gtrde7kB+5/EOK353mOPz2tCVDvcUIb9tMijHzO54DvcURBG1L9F+K7t96N6667Tt3+mcHndsvfv/Mf8NDOh3DppZdBAEkGl91l++ZouTQ9id3ccvQIGgRWNmxcTyPpQ9tyM1zdNvjbKBCjce1sb0Wc9xFuYy7RC6S0Oj/1BKeAO7Wqo6J86KGHIGBW5kpubm6BoKOP/O7D1PQcV4A00hz7eqn61VC7aeXaTnA0T0WgcahxTOup9WsQ+OgikJU3VFvb+i4qRQUlkDI2NkEjJqMI9hM8DO+GoDpLEJzEnT+9E/v27ceBw8O45dbbMTo25sYkIK3GGObXSbVGugSWRlmf4Xj65I+UUUigIPo0vsq5NsioKI+AW19fjwNka9P1LD7og+ZJrtK3bF6P33rFb+DkHSciZHtSilWCrUOk7Vvf/gEe37UP+n86SQ1lIKJRjbBMj1iVNMjDmSIoVJ1MBES6ZJMyKiUto5XNZuDklNuTPgGnM1QENI36VC5iu5Jrz9Zw3cUn4pVXbkdrxufUiFyVmrBiy/7hWfzfz96Bf//Cfbj/iVHSEgLMQXLhccySMQ8xArMagd0P7t7PdmOcr3HyPEUAUmL/apSrAF/72hcRUDZPPGEjTjqpH4sLE7BegO6eHfQOPYG5ucMoc06Bh7H1RUlA3kcEPaXSAtpbkrjm2uchmWnHww/vhdue50JHgDKiS6gsIBSpsE/AV0akbU+WZYdIQ5Ugp8K40BnoJMFpKp1FEEvAsg+l4hKyWQ9XX305Btdvx65dh3D40AgExCLOQ9BjVa1FTr4QRRBoCQnuBMgkF4qr8b1GebXGh8d+JpIy/BY+53eZ26tRdRbPOmUrTtpxOrfT9xDsPc4+z7GukDwFQ0S6awAM6nXXELHOkHXWCFpr3P4M+cxhQzbfwzm0wHwhjDGYoxGtUR8m2K97HjnCciHrWw2im0HlIFkBD97ZDYBljTHQc+gAW0gaGFiX3kv0iNXosds/VsD/+cgPceNtj0GAKEl9jOOOorwq1OkCCUnSIVmU3mnntqDmjefZY0qIV/Oc5zLGfQR3WnAdk4EvIYlu/EVmB3VPNiueAurnLHXKMLf689x5cZ8MsB8scvSUXlpcXobKZzJpSGdYa4+m60FzTjpEi1HAoEY5AhcBAqGdeSCfAhYLwEKRqZQTzzNQM5bPdZ4Bjnl60aRSoAzqVfmYWk/WA4NhYDKvALvm7lo0nbJ9C4LAh09dFIv5BJctyDfnKashenq6ea9BfVDIEpz5nBdJgs+WlmaC+aKbc2DbatOyi5YPHu/5bIDfujaNs7b7KFE/VGsh7W+Ssp7B2edfhg9/mZ2DxWtfdgLO3BHHJ97ehXSijB0bgLbmwJWRXl23bh0++tGP4vbbb3c0PxOXCu3CEr1j6ksLd7LS9JiJxiJtq8bumWjjqeqocQ6pXbUhYKlQ5SJOcqi0tWWsiBKBSlSmtYm/7vMc5vAd/tP9+Xg+NvMfeFiOYFdXF1q5DSRQNjo6SiFqiA0z/Brnww8/jL1792L//iGufnqRIdPL9MBUaVh8GgoJYWtL3gnVs8/O4rkXZKkgAcN/2zbE8bkblzE6WUGNyvbweBUrhYITzNNOSEAgiDJIOYwgfi3R86C+GGMgHspgi4cTXEFLeYdcYWqCY/XQgFjPopcGtEigxYo40VNYv34d9F1Ze3u7mzQxrsbOO2MQIZVUnF4RtZMmmNFWlqrSxChTuDQ5rDVcQVfonUk6ICQBCzjJ1LbKykiqbtWRyzWhq6sTJ5ywBevWD+I/bhrDh74+SqNEMIaA6+4YTKwVF177Bnzky3fhAx/+D9K2Xk3+zKA+FSnQSxT0zq4ufPjDH8YtBMRqRxOrRKVpDLlrnqwiS+Ot9PHxCXhe4ABPmV4o/cL1Ar0xqlMKphESXE3o+7JiYQWSF7X3ZG31J8/z0N3dTQNWIwgagn5CYn5xheO0gg3rBpDL5aC/6pHCdmNYL+au4pP+0jJDHmvlXKDXRTS4xNVLJpOCPGpJjoe8q0vLBadkZmYXaegXj8qvMeqogcdx7qBCz2VT9MQsYR1pCIIYPV7zblyhgyJfooEfG5/ECgF2jOM+Se+IeNZCD14+30TZpJZT3tUgmRBwlCwMUI4ky2pxNdndNMml8A8eGoa+m3nFS16ASy86jzLqse0aNBfmuR16+533Qj+zMUgvgfol2VW/i5TNFbrzMzQqGc4f8ctwfihEfFG+WRpk1eEHPhVuAho/ayzSBKvWkmb2jVkl4i6oTJXg56JT1+GPX3o2tq1vhQ7JqdpUv3T/8g+ewA0/mUCx6sNQtm/44eN41ydvwwGCtL2HpzDNPZ26XERgMvYeniGv1a/QjUGK7QdBDJ61XHUn8IH3/ys+//lP4ds3fR2emcfokftRrZbgeTEkElnnAQtiyu9BRlHfmcWCGs4/91T0DWzBww/uwdD+w1w8LaNWixhqKNPIaEFhYFlXEbVqgaCigpDeJHU2FKjh3Dc0tD4BWDKVAYvAkuBKeRlRuIQzn7UDZ5xxHh7cOYTHH93tviWssn72ClWWra5aT2O4QBLQqxUROQBTZV0KBFLMo374sQA+vVi+H0NkIqwsz0D/d+apJ5+FmfkaHnjwcc6DZRQpa+Kz6wfL1mqqp8o+lFh3DaI7Yts1gsqa60MIYz3EYnVeBbEM82lgwf6GiKifAuqa79+1lzSF9cCOhoyPOEg8WSfz8oHNwZXkJXTvzM+8tdWgv+otVyIslSJ84qYn8JEv/QT6o5kW6mocd6iMvsma4yIuQY+ZdIYWoAJK3fRQx+npZBNQUFHRskTPzizzCyTJc+Z5npKOBpIFeZKHuY2r8u3cRjPGIEX5r3JcDtCeqL/yihljjpZrPBS4EJmanqEMGXqzW+HT1jTSdBdP5heW3OIzJDPaqRuk0z3PwJDXNRptwlRQRNCcjpCOR9Cv8BfKcHWqLzXytcKy2snZuZ/gmEQrHnXOAjD1UzcG8BCpqlNZ9MwoGGPgBz4S8QDZTIreq2XccfeDGKQ+YRLkJRM9WHPI5mgOz87OUV6qBHMB+WuhZqwF5xNwx84yXvXX0/jyj3tx/y6s6rQANcqZdNoPbrmVNRp00gZ96pZ+es4m8JtvO4I/eVUa84tVLCzVcNLWZrzsZS/DE088gde+9rXM/+ufNfJW9klykCW4bIy9MRxf7trIdkvfyXb++q09WYPaa9SbphxpHjVSE1xgpNi29GaR9lN5lUZWAiJIQQkiXgm/bljGMh7ivwABTuU/PMUhomRERXSDYU+R7ZeK0n9Kqr7IKKizmoQSWE3iEo2+McZNvMCr4vqrmlCtaRoY14bm0P7hMk47IQ7KKYwxDrEHVDolrtwqNCjKWKDBknDGqQwkaFpxKF78U5vFYoEKcMWVVdsNZiuPgjHWCb1WIkoXzyuVCgU8gjEGMoSnbykpq1tlazLII6N+JQgIimzfJ7FaCavuFRpzxYke/QZcS3MzjWTS1TUzM8N6ASmAeRpR1b1AYzx04CCsm6nAnuECQniI6ME8+Zwr8bLXvMG1/Ysualt0S5DFo0Y/1m3YiD9765+ht6eHAGQW1SqNB8wx1Xmehf7oQ2XEz5bmvJvkc1zBFo4KaMQyCoAxxm0txGkcpqenHV/wFEcmkyH/MtBfTBn2z+fYLXHVmiUIFA+kvEXvUxSFjHkTt9wWCS5lvP5HHnYhn88hyclU5QpHgKS7uwsFjofGQPyQgiSpLMrMvHqeB62mj3CbQ8rceh7lb4lKKmQfqIQWF+EHPqy1UH3KLyUZiwUsrb43AiXl/6ftPQAjOaqt4VPdk2ckjXLa1ebsdVzndcY2GBvbOGBjbMAGTHzwgAeYD37gwcPknJMJxoHkDM4557x5V6ucNZJmpInd/zklzVq7XkdMa2q6p6vqVtWtG07d6hmRuKJRxhgoAmDMdBssuOOlPowzkii5F1g79OA1SBLYsTbkCGTUJSvPr98MPW+zeNF8e9+nxfZo8PWAfZ4LmHg8igBlTPfBZoyRnvi233I+hUIR6mOEYFn0XMe15VVWnfH5psQTijSI4tfqxU04ZM8WW0R0fQEMjslXYsEtBF3t/T7noZoRMKCOTlHyqt+6uunBTbjsxqdw12PtSE/mMO3UfdL2KN+kJhozSWPlJRYsWsw8D9If13VgjEFFRRypVAdX+HGMj/Ujkx5CyconMDU1homJQUatfYyMjmGYkcWR0RFIRjUWtSn++XSgPoGL7rHbfJVsO3YcHJPOjiN+ECCRr+mJYcp2iNuZeQKZHBa0taK6pgkb129FdmqKAMwjDZfJsOvkMwkbwzPv+H4JHp2wT7pg8jhHOmt8HBBcRsYcAr9gMER5yqKQy6CluQ4LFy/HWCaH0eExtlkkjRKLT9MsMvoluiTPFxvju+iqDXISvogrwZB+AGBfXMptOJxgnvoKOmDaC0wfAskey/M1fYPlAQMd05cz17wh+h7Ho+TrzEoFgTKSTU2WcNeTPXh63VbahhqrE6yy08vj+KWfkkHp9Ghq3OZLd+NcUJGc/Vx+01iky5NcQMnGSGbLebPPOeqw9E9lZEfV/TC3Z/P5IhdyvZSbhJWj2XXK19KXcS4kZRcS7EP5fvmsPuhRjbINlz0wxkGRcufQ8lJEykVnzgYuGRcPAxkCVO5eg4IBbZMrOvv89jR+f2Mn54K3d/Oa5vYLGfazfQNlDXBIO0jdDlF3E5VJPP74UzjowAOwvaOLlQwch73inICHMYbvQJhlpfNh+jzXZT7ngaxhnoH+eIH7nvKxdOkigqmNkM0JBg0XPNRV0pKfCNF2i9yyZUvw3LPPUSY921bJqUPXQAlBitryPd+Eb3zjG1a+8AYc0l3Ze5fyq/Z3R1J+Nczx5YkP1M/dlXmt9zTnoqdzlNFbY8yLSBhjuCiMWD6UyzrlUupQnChOHdI2pgS/nPdaziXGWZ7CU7iDfwJix+AYBPj3UjQEyhYtWkThLEK/Xaa2X6rsK90v0kmeffbZHOS0MxkaGuEqIGwdphyYnLWc58T4GL78wXosaA0gHPKRLxjQv8AYg9OPrcSH31GFZfPD3FZM2pVxKBjEE+vzCAcL0DZRSJLjU1kYIZMCj3Plo4iVVmElCp/ASUN9HUZGRl9CaVh2bupjAAAQAElEQVQZvm1PQHRgYMA6NwmP6sq53/JACqsWRegkpuigolZwc/lp4TbGYIJtCmhonmRMYgwna1JrGFKGoUNh2729/dC8sritL/Ag2voWo3WiNOQLFy7Ak+0FOBUL8cNL78GFn/wqlYGa8QrMFq/Vd/VZAp0liMoQ+ChNMrqyes+9cMWVf8HHPvZRbnVMMKUtRWNeEEyXit3U1GCjV2MEiXreQ4BIIf1+RhnFU1uJvJJBUlXl13MLdpBbFQJm6sd0mRfeZQxq6cw7uR2n+aqprUeaK+Tq6hosXbwQ+ndP/QPD1tG+UGv6KknA1drSSHksoJ99KNJoTudMvxtjrLNo5darHPn69RsQouH26Fx6ewcsCJcSspidX8Bw/mJobW2C+uvRkFVX12JgcAQ9ff2sG7aRizFufcuY19fVoOw0fLxwyAGNjKZQRWA5h9stxpgXMmeuMgTm7TSqGfL/yMMOwjvPPAWKGnh05BqH5GPjpq246tqbYIzB6pXLyFYfRQImOUeVAckqOhcMBMl1nx+NTSXKtaLF6kOeyiK6xjjI0YjFbVQqAI/ekC/bG8N38UH9bkhG8Yl3HoK3HLKId9mkKJNeiTxTeV93+XbVneuRy44g5KYYZaiD4xgCz1osmD8Xw+N56qiHh57txHf+dC8efb4bkwwfqI1yEm/L13L8Q4P9KNImFDmH0857jOCkhLqaCvK4BI+Rp0mCMIdyOD7ej+6Ox6GH6zdv2YZ77r6F6S+UGy0oiizrU15Elc6I/PQIyrwS9dGela/k2fZA3rqBEAHSJLZsuB3dnQ8jNdqB6mQQp572diBQjUcefoYAfNyOyee2lc9tOsl7kdEEnzLi8Tz9m2VTtCFarJXYfoGcYj/IK8mcS6fq+1nqq8uoWAoVcYMT33oM5s5biQ3rutDX00/6Odbz2H9DO1fg+EnCuCgVs+yr8vLM0/0iz0xs1/N9BBhlCnPh4TgBuI6LfG6S8xGirOZIALQrIbY5yW3cIUwQ+Hl2Ln3OLLPZP77stc668Am4NN8lzrs3kwqclyy9eoljf2RTCl/91W14cn035rY20zkHSOiFF7vE+c6io6uX5AxtfAQ9tG+hUIAAtMHKuSRrOk3Xky8bpJ555Gcbo8CS0+mcF94LlI8e6m2aOtNMWxSkbQ8EApSPCDq4iNLujaLMUdrXF2pNX8n2ycbLDjY21BK0xaczZr1rwa4IuABbVVUltMiYYgTepWxHwqHpklIWXhljJDo28SPCQS5KKgzIWgxnYH+a6BfXtePn17ZjbkME4ifZOlN+mveGFcVznXlp66o+WQCyWrdsqq1vRG1jC+dvBE0NdbjqqmtoF6c4x47NL9ImlEoeUowqTjH6J75W0PYIlIXoD4vkm+u6tiy7DQ4HDz7rYpQA2TgOFzvjWDw3zD6yhywgnsovaDfoCQLADRs2IUg6ixcvwkNbV2Ay6yMz5eHKK69Ea2sr5Sxrk/TZNvIa31RPPklgLMZIVJSg6OVIqH8VFRXQnGbox3R+ufIvlyc7O6GFNuVImMqY8my8uJYxxvoH8VJyNM39mXLGGCvoQpJingakgc1kv+KpE524hn+NaMSJ/KtE5SvWKReorq7GggULoE5pW0rKVM57pbMUTkyUkAh0dXR04Oyz3oF8fgq6T4vG8yQ8rmpHhofw8XNqcMDqGCREHDJiYYmwT6EATjy8Av+4Lc0tkrw1QsYYO0m5QgAJGrzgjMKqTy4ZPkqB1eRVc4tJypZKpUjXoSEssD0Kowq+RBJv1eemxgb7TNcYI1j1BHLi+9auEg7cI0ahzKG1qWaGluHKOmn747oOgUwFx1hAmFEzOckgBVwPHMsIhKnsop1kdERfANC9Xobjxav53D4rnztpdMYJhn7x55sBJ/gSPX3htuppjtRHCbGET7KyaxKwVvtvf/vpuO66a7Fq1QpuN/YSYGYtMWOMPetNfW1paYbjupBTaqVBDpDPvX2DGCColmFQOeO4tozmrYHAJcZxC1xK+MVLYwyMMSoKl7RaW1toJCvwLFdjGr/juHSCE9w+nIvFC+cRIKUwwWiSxmQrzbwZY6BoVjMN9CgjJanUBJ2XJzGyScU0942N9QQMNXS2o3YrIkpgMkVjO8Btx3y+YMuSFPukGoYRvgo65Qr09/UxiheHlFX0VUYAPpGI0dlMG1ZJpGppXoeGR7k6D2N+2xwqb1S3d0rSFf3vSRn+FcsW433vPgurVy1j+x5lxWNkpmid1w0338F+DmHfvfegLMeYV2LyrGzJ4YmoIg06g2w0xpCGb+dEwHaKhrkiEUeEfE8T4IZCQTrm8Eyf1WMlQA5d/A44Ps47cR+cd8JqRLha1hztSKxF8rapvuE0fviXRxBPVELbsCHO/XSegc6u40BzMYegVm3KiV91x/P43mX32/7voMlB6FpEWRNTdLIBghbZBEUoAoEgkslqO+8h6oq2oEMBoKfzSfT3Pouq6lbUNy5HsroN0VgVDMFIb/ezXFh1ochtK4+owuN2Hhi14ihhr0H+8T5g+Nkjb2JQmz1dT2DrpjvJHxd77bUXTnv7KQRKq/DEo+sxJKBP4ON7DuA7tBUlFOgAHeNCbRQLU2yPiaDJKxU4xiKkS3LAbiBMmmE60i3Y8PxN2LT+DnYnjeOPPQgHHXIUnnyyHZs3bkGKtqRIwOPRGxfs2YPh9meJ26q+l4Nsoc9x6FwqSlY5Do7RDQRJP0IwOUXwlme5PCbGhwm+xgCOs8R+godDXZIdiMnRGaMs3t35xdvglNAp+/BUl/1QnzTWqVwJ3HTAYBq46Ge34fo7n0YrF0LaOt+ZCgj6C+jl4iXLKFZNTZJjH8YEI1IN3PbTgtgYwyrTsscL8qvEOUvZMq2UGUWKdX92KnkeF9cp0hqF9LiSzlj5kWgMWnRspw+plu1k0v3ZSTI2RpspnZBt1eLPGPXhhVLikxZ00l3xqJnbdKrnsd1K6pBDmVZpZ1Y99Un3xLPps2/5BwY5bn6kB5fe1odTj5qHOfUx3vfJU04JC5MkPwOGOgUenHL7mZf2LCCme8EAYChyAcq+4TwP9vZgnHKS4cJm3333RlvbXJAi1McAfdvkZAZaAEtG7LxxIebSrma48CsSkIEtgofh0JWyuSwEgGQfCoUcNrTnbfsB6mCckcOFC+fbXxkQb1gNK1cupx2M4dZbbtdHnHjim9FK29/c3Exf0Q35swzBUZ6LPlvgVb6pvHyC6guMvcpqtpgCRKqjccinac5sxqt4E9/GubBW0crKSohXun41SfwWIOT0vLi4CCUSCcsQKd00819crnxnAhO4ln+DGMTb+deEpnLWazobY1BfXw9NSFdXF3p6eqxwvBQRMSvLyIwYJyaKmSorZhy4ZhU+eW4DmusdTE6OQb8oLue359Iw9D8fXY7cGAOHwgQewYCx326pqQriLzdPYvmCEEDDJbqjBFn1jMpMTjnc289hYnwIlVUVdttRq6d6goNQMATJp3inX6lX9ESAgE1Ah/paTuXPOquvnYzkxKIR9nOKK7MQQkGHRjGEw9fEoX49+sQ6OFRgzUWQiqI20nSIUzOKkSIozBMAyDGrD8FgAMmqKggkau70kL3+16ieDRgZHrEGS+BxCyMByhftEMPJOqtPu0vqu0BWhgoi4ZHwie9KuldO+pynAql8mU6Iq+1vfvPbuP3227lCrIWesVNfjTHgq1wMMSptM4HZ2NiE5UMzAZGeldK3Dqf0/AudmI0czNTQOFtYJp/LWQVWuzNZO07ileYhT/6sW78eck7ZbIHykMGCBW1Q1GdbexcENnZUmrkI0JC0tjYiWZXAICNyGfLbWhjml41KlA6phRGrmupqaLU8RoVMxBPW0I/TaAtM0mbCsI6SY1xGf2oRj4bp9ApYuGgB9KUBZu/0Ev1x8qHA/YoF8+aigvq4UwF+UJkhzmd7R7cFkO8553QcedjBzPGpNz7n2eM4J3D7XfdD/x1g+ZJFkKwW6RjVLyXNk09r7dOYy2myMoyhaad/U7lRypbmI0z5UB8mCcpc10E8FoXGU+aH6ikVaahL3No/fL+F+NgZ+6O5JoYcPW+Rq22fnkPtqRxYeyydw9V3bsBlN61HfX0DAWsCOowxMEZJn15IEW4rzJvbSvvQAPUhR0+TpjMRTSWV1Apesql+5BlR1n2fYEAOIcQxdHZ1E9xGyfuilcNksortOmwPvF+Nvt7n0cVI2cT4AGpq58EjaJkY10KCeiOAxO0+byYqVqI8FgoFC5YcN4AIV+LDw9ux/rmbuBU5jBUrluE97/4wDj38LGzePIDtW7dDzj6XK1q25QluSlwkegJdxSn4BHs+2+PM8doj3QLb9+BxfoLhKMFenAvWfjz/zA0YGdxIBzoHp55yBgH2/tjeOYEH7n8MExPjBNBFeBS6AueiWPTgc/wltlG036BUf/M77nksw6kGjItoPIF8fhKd7Q+xr/dj25b7IFtXKmkRVYKxxtK3jyFo8RikfvhsR2kqX0KBgE59tfRA8+nByqDHMZbYjxLnP1coIW+fFSvhl9c+i+//6U40ElhVcx5YZaeX5FPR8mEuSBIEMQJA0kOVbW6qp40I7lSeXcE4dw6kE7LLrdRL13F2KiO+KFrV3d2HOLfltfBS/6KcuwL7uGXLVguo6xhh36nizAc5agEtAUfZJ8nhdJbhyUDjn+AiT4tJYxz6iDoEaf9kOys5hlAwAGNUlsX5Eu942uk1ne2TFvDMtnF88ZINWL0giXcf34JE2MANBJAvOcwnp/kCD9XR+JVgddlnGXBOQB8CUGW1cWL9nfSiZ3sHnnl+PR574hmMjIxAdrtIWTDGUFa3UNbC5E+celKg7YlzHku230HOeYQLsgLB2USmhKm8j7EJj/QN3nuSi1hgnDKaxpnHVVDGfDtHefqDCQLo8m9kFmgfltAW6TlrPevtUS7WrNkXafq0SdrY4eFhPPbYo9Dz4C4BoDEG8n0l6guH+pIv5Y/T/hpjIL+qui9Z+GUyjDGIUR7CtDcZ+jv1f3fzVCahvEku/uwcE4jJzpTzXuvZebkKGpBQmyZqgiE4MW52+RxyeJB/t+JWnMC/fbHv7OzXfe1QiRQt0zNGmzZtYnQr8yJa5T5p8AKPxpidynzgw/+Db/yuD6lxDwu5Nam+n35sAh89K4n/+V4f/nxDCtmcZ4WMerOjbijgY+0+YXz0HTU4+ehqK1By1h6NWpZRstSEQ+FzrOBlMmmu/jyrGD4pZLmCk+Dp930EyniLL0PBpGLQcKsPmjyPBlaKo2tjDObOnYNehs2NMZbWHivmUQAzeM8XO23dyngA1ckkHMclUAvTUBcJ2oJW6FRAzy6EQvxcUcn+huCTfv/AIEHBiB2f6zqYbs+Dfu5BUaWe3l5LK0lDqOiMwM16AhbxFbscEkgJum4bY6zySgAzFFYlXSvJWHlULpXbXRKQ+/VvfosffP+7FgDJ0HrsqzE7z109Q+jJ6iTGHm0t4wAAEABJREFUadiqCXTmcNU0TKPRwe2KXF7bNqLu643jA1dxCSjsLmPd3r7dGg/sckhG5s6dCzs//f0ce4RbEj0oEZycdfpbbai9u7uPvC3tUhMIMdrY1tZCO+ehn9GvXC6PHkYbZxdMJGJo5TZmgI5ZeTKaSc5ZL7dVJmlkNE6V11CNMXYumxlhy1Cveri1NG/+PGiLSDKRSU9CjkVATat37HKojLart7Z3Ik9+nHX6STjt5DfTgMZYUoacxphGr48ycM31t6CxoR4LCT41t3JyHudISXRsogH3lTQXpCDHmSbv7XN4xkGyqhJ5ym+WwFfjNDAsNevFqRBdjXNuYxX++5xDcNCqRlvAZwSJNhxFArJckbrCsnJ89z/diZ//43FM+RE00bnawq/yLUFjOY/Rwkpuoaj/aldnVde4CuQJm0EoFJmRe/aCYybbkaS8GwKLNI2/xiLAOU5nUaKxX7G8Gfqfok0tK1Fd24bRkQ4kKhuguRzofRrZbAoeI0wlRpQ8ASduNUaiMYSZpjIjeO6p6xj9WgfJ6xmnnYUjjzoPW9sn8eADj1K/+5GnrPlwaDN8CCz5tClFAjyx0xdosUAvx/wiBKDADN84iETjjHJOYdvWe9DT8RgkE4cccije9rb3YyJXjY2bOqD/FFAolDhPJXCoKLItj/REv8Q2dO0R8Hn2Jy08lKzz9eFxKsORGBzXWCC6fdsDbDVH0NvIiGUU2clRfvbIxwLKz9tJj5WCoRDvi9NAOOSAbEWW4LtEY1MiP4sErJKlouaefcvSebNb+MNNG/Cln9+CCQJygTHscniUQ81JV08vIpEQiqSlqHOUi1ZFNQWkdqnCyEwBsnkC3ookByR0M4XUQ6UcgUFnVw+MMdCXeBzHRZhONxAMYysXp5O0Z9IVLXqxy1FiHwTECgQizVwEqp76qWIkpxPlI8tI3gCkmypTRb3JcSEZ4xi04LaFQIZPX+zgHVXP3nFIyCfv9GEglcf5334SG7sn8YGTFnAB51J+OArKTIHj0PCG0z6I7cFq07RIWtceJzVfNAi6sKlM3+eF8tO0L7fddR8XsX2sa2g34vZLcE899QyB0BMEpAG4BEKa4zDBl3iv8fpsm1NDkFZENe3zI89N4qkNBZz26SFc8JURbNxeRM8QW2E3L/vXBILBIPLURdVVuyEC03nz2ii/DRA/5YdkjzVXk1OTeOjBR2j3JrgwiuCaq/+BffbZBz/96U8tHdnvPMed4Rz5MzwSn5Q8z4Puy/8IiKld3f93k3igdh3ikXQ6bfs8m6b6oT4pTwAuHo/Pzn5d186rqRWJRCBgJgSYZURK4GQLtuBK/q3BGpzKvwACr4bUayoTCoWwbNkyCwAEzDR4MV/gQMwQ88Ws3RE1xqCmpgYZ7k3rF+8j4QCa6yNoaQB+/oVaHLg6jI9/qxeX/TNF4+hTAKepSOA+fGYN7ntyArc/Mo6QMwVjDAoUrDX77IU1++2NEkLI5T34xQk7SepDmkZ9dDRlhRlUjGFutUEXAMHHFIW/B53cHizROPkSbAqRVgz6uQyX2tVC0BGno5GgjhBEVlVVob42jHt+P49bqWyLdWSMcgQDiUScRruE+fNa4FE4M0TnruNgiCuLLEEhm7SGJhgMQPxKkpbPciVaQ4EWXnLlVs85TbBciNtYA+xjFnvuuactL/6qnvqilbDOUk4J/CTbKicpga4lFyqjdl9NWr3n3rj++hvwrnPOhgCL6qt/4qMxBsYYBKjM4kmAY9A/oG1sZKQqWUmjO4QebmXK0O/aVkNdtY0+befqTxFBjWHXMtUEeOLttvZ2+/tddYx8Xvuvh6B/Rr5k8XzOUx/6SH/XusYYylOS5ZqswRUPOxjZlBMoj91xXUZ6ajGHK/Mp8mnjpi1IzGyF6NtbBYIa1VOfSM6OU4ZaIKCDfR4ZGeXKTHProZGgVAaBKJDGlu80cqqnZyC3bOuw2y0HH7gvLnj3O+yYlafkUYDVnxtvuRs33nIX1uy7J8RXOWjJnke5E6/LqfyZthqSpRzlfJgRiTz7qoePg5yHNMGLtirD1EeVU1eU1J7oTE5NoSIawEfOPBhnHr0MhP/w2Q/RhgbMFHAMXKaOvhS+/af7sak3C21P4nUeruNYHi2cPxeu60CGfZLAl5wCGYsiAQcMP7Ft9bGcxBtjDPRFnDxBQpE6oQWNy7lbsWI1znv3+3Huu05FKJBFIBDCUP9muDyHwjEa/WHSzVP3qI8kHgwFQXZiIkXd7njYzv3BBx2Md77rkxgZj+Pxx55hZHUYBYKUYtEnKwzyBMo+tyl91vcYtQI8bg0WyVaevTzLFsg/3mW/Zf+CgQC2b3sQWzbeAcfkrI6+7aR3Y8WqY7FhYzf6uYjQl4hKNjpVsvbI6gbboKlh/wrwCCIFxkoESJ4Ffh55BI4rjHA4QuC5HZvW34rs1BCaubVWw+iQ47hgh5HPpzE1OYKR4W10jL4de5iOVTxTvo/ZhyHfOEZGyzLZInnl0bZ60PYkO49Ng0V85oc3YmB4Am1zW0gvMLuyyCFL0N/V3ctxeJAj7+FCVXLU2tKI2prkTuX1QXkqUyJgUiQ5EY/ptk3qm5LKdHExp0ivwLL46nK+o7E4F2Xd0E5MPaN0EYIPW3HWm+qOjY1zwTYGLZAqKhKzci2LyKMCBFpGU+NcHFbQtjYQbE4SDDlIMAq3UwV+8Dm3stljjOZQDGCMejlNa2KqiK/8cRP+/HAIIc6NxyyKK4p2fn1kCWphWJaCV5swoAhjJKN5MaCLYD4boDSFgzyzLkvyQi+f1ViRU68x6Y6SrmV3wuGQBVk1NdXWXqTTGWUzGchG8oIvA9lq6Y6CFIlEjGBumt+bOkq490m2xrG1zWllWXAOSzz7qE5WMSWtbOc5v520mxs3bub8B9Hc3IQ5LP/8c+sJxKII0N7vt2Y/3Hzr7TDG4P777sKFF34ADz74oM0X8FEf5IvER50naWsFhpTHBt/wl3xfBe247HeawEztFmlfFKSSHCnvjWrUeS2ENOhUKIWfjv8UTs7BefwLIPBaSLyustrGXLx4MfTQ//bt2ykEcTuZr0RMoc+//vWvSCaTXO0lceMj1TjtU6P4170lCJj9+kt1OHSvMD7yf7249PoUBcan8fKRrHTxl1sy6KcBGc8UsP/++1pD9OAjj1MxSli2dDGGxw2a61wUadAl1HrgvoXbbRJoj1okZRvoH4BPLfEppJq0utpaDAz0857PegUrjMPcclL+1q3tcFwHAYIzTXoqlUJDXR2eWF/Edz6ZhF8ap7HK234kKeBhruw++45+uHRyrutQ4CtRW1sNqgQM70W4KssRvIm2tkkqKxP2vvpQQ8Om+wOMoPT3D9o2DzroINYFZKzUVwGaoaEhy+c8VyYS+gxXJ7OTFENCaiu+jrdzz3sPbr31VqxYvsKC1Tz7q767rsthePDJx2g0ira2Niq3R8NXpCFvtf3tpIEdGR2DxjG76SD5N7e1iYYwRnlppwHJzs621w6deUtLC+UohtrGQ7F0+dGIVOyN7d1prD1kDWpplNq5jTnO7Y9d6Rtj0FBfY+nojVNrf/fNo/dToi2E47qc20ZLZ2hoGDLWSYLJNIFNH2XCozFVPdUvJzkSzfeoQFk8xm2O0DRdliUz4NGRdtJR6TfmBOA+cP47sf9+ewK0sdhx+JYfDz36JJq4iq+pTlLOiuRdifU9mzQeAa/ZZ9sXH8wvWWBTWVlB3sShlbT4GY0y0sQ2VIfFeDX9klzkuS14zgn74H0n74OKiGvbVzmQEWTVdEFeZLhN/OurHsPNj/ZgAUGU5Gw6899711y2zWmxEY8SnbIWJDqLfoyRq7332Z9AatL2S3xXazorhWeckKIx4v8vf/kD/P73v8I3Lv7/8PbTzkAmPQhDWRka2IxQMI7JzBDlaRQRLlBDoQgCTgDBgKIAGc53MyNW78UyAiX9S6XBgSEu2grkqYExIRQYVVPyOZ8lAqNiIQvfU34RPgGTImIl2hL1z7hBAvMKylGA25//Qi47iqXc4nn7qefiwLXvwIZNQ3jiiXVcgI0CxrU2oSiaHL9jAvAZGSt5op8n2CvBZzRPkTIaEZYtsc/sN0GVHtTfuO4WDPavJ4ioY2pAgAA8S6epZ4sEcqemUqSRphyRDvVRfNL8UtJI1+c0M2H60H2v5EO/uB8KGIzTdmYJznpSJXzq+zfiT1ffC8mu+D5dY/pd8qfIU09fP4FMBpVVFRzbCDLUlwYuTPTA/HTJF97V1tjYBIaHUxAor62hjWS2erMjkbDK9DBKrYhYkjrIW3aRNDIyxqjQVupokrazijVf/JrkQmNgcAhJ2tv6utoXFVAfBqnf/ZzrUDAAgT2yiDzxkKS9lWzuWilHW6o6SxcvwEknvAnPbB2nbPiUE+BPt3Tha38ZxFtOOw+HHbYWH/rwB3DDA/20+wI2JMuBGTNN0Z/Rr1gYqIwAgxOwwExAzFEZDVRnGJZkRVXjZ/W5RDlRIEC3lPQMnOs4tK95fYQCCwLcOqt8uU1rl1lCviAcyHKrMwVjDAKBAPvvQfwK8rqnr4+lYO2OujHIXYUh+jnxcZqewRzqbDNtVA+joGmCvwDttvq1dMkSPPLwo0iPTyBCgDzFAMMf//hHnHDCCRgYGLDtCXiJTnd3t5VBRbFsg//hN+m92pZvFA8UECrz5I1q+lUDsgIK+Af/+pw+fKzqY5gXnMfw4rhlyBvVmZeik2VULk1kqmjZnDlzsGnTJjs5mpSXqlO+f/rpp1PARiEmbty4EQODI+gtnYBTPzlqgVljHfCbL9fgyP2i+OD/9eBP16XwyW/3o2/Io/Nvo7I4ePrp5zDOVRJlD+3tHVYAJQRancho6GvYJTpkCZeMmIQrTMBkqBl9NDJhGv4MhS7Cc46gQ30zxkCT2tzcQKMyirlz59jP+tkK0Q7SMNYkQJCYQ3O9g9t/2cwPQ8iQDw7rrpg3raT//Nl8JGIGTqnXKogMmyJtVVWV0KF+yZikGab2aS1kDEZGUlaBZDBqCD4EtBUaVnnxWhGyqqoquyIZIihTlEx9VcoQlOksZ/xq+C+aL5c0zq9f/A1cc9U/CAaD6KfxFMiTIhtjrAKqfoJRwSau3kdGU5b/c7nCniBPtY05RuCkMrNTwHXQNqeZTjTNOdtOPhZ2K6s7xsDtp+UrDkffSBLDqTSOOfpQG4XasrWDdYuzSdtrY4w9+3SwuugjuNUWi65pAaEUJ7BqYz8VBVPUbZQraBmlgaER6JlGta1x2jp8cxwDzVWyIoGuzh60cOXY2z+EQRoz/UZbntGrD1xwNk44/iiWpkmmnZ1dnzftK8V2auhEPPatvGDQtdrzWEF9tmddK1EuSAqGf9oGlAyDC4l4LArV4RvHoxIkb8t7kBwcss9CfOKsg9BSO13OI2hUOyxMSoAxBhrTkxv78OtrnkIiWYuyQ8cbfMQJ3BdxW7ahYdpx5un4nnrqMTz80JfGs7wAABAASURBVH1saZpXvLByrz6Wk5yAdSgc1+lnvIsLg21I0nH/6IcXo6mxAY0NNZDRLTKa5RgHE+O9ILsIOhxuIU0hkxnEfvvugyOOPgubNvfhiceeRj8ddMn+nI6DAusVCL7cQBSWj0bAWIuEEtSHEoGaT74VaT8UEYlGY+ymgeM45J+PYDCKw9YejTcd+16MT0bxyENPEihnrPM0BHolAiDPc0jLwLdALMfrIgFUHj6BmM94vvTJcQK8T3oEYiXfQ4Cgb9uWe5BIxCC9ikSirFPEOKM2WhRMTmVREY+zjkfH6qGKEQLHYRvk0w6ZAAgW8ggFXVumxDGIdoHRwDyjgi6d7E/+/gR+dOntmMOosX7bi1V2vEjK0h8kqFGS7El2B+nABbBaaBsFdHZUmLlQ33oZxVbESvpFRkndZnKnT1k68k7qUCwW4RzWs38lRBkRKxD0rl+/kfyd1rXp0ju/S3YE4nxOdDNtzuxcijQ/+pCOaHHkccwtzY1wCUTkCyoTMQRcl/QdlnvhVaIu6nm4mpoqnHfO27HPXquo6zVYe/SJ6BkzmMgatI9EsPawQ1nX5dx55I2Pw/j5F9du0xCZDAIEuqIqXdU8yAeRNJqTQDIODE3409uYnCsSYR0wqbQBhwPwvsNBFEsl2rWCzVOEzBjDxYbkElwMRGEcgzou8EsE+qRgy0lPQqEg5aSE+a0B9sWl/E/ycxHJyijOPC5JeYqTbpG2PAQFCEpsR4BPUbYc/Th4JGmburh1LJ5E6CcHCXpbuUDWM88KuNTQJ82hP1y5cgUeffRxaC4ll8PDg+zjlJVR9WXOnDlWNxWp8sQE0v5PvmTzFIRoaGhAnLqhPilC90a2ubPUvATlu3E3ruHf2/F27M0/8JDBEEKU8KpjEg7efkNfmsxUKkWkHOH2WoWlHSRQWb58ObT1VN7GtBmv8i3GbcHf/e53SGeyWHPCz/HWjw7g+nuA6ioP3/9UNS69YQyEQFi9eiU6urqssGmM+6/Zh/0IE9ANQaDKdVxs7ihQ+ArwKOnBYABVVZXWUGqLsJpCF6bwpgkaurq60USlHaChaWuby54aClKAtEv2mQNFIDTRpx8dpJAHKXSTlu6eS6J4fmseTTUG85qBW39Rj6CTRl1iBF/8QBM+fHE3/nBtCvsuj+BnF1Xhm5+ogQ61qciXrie5ykylxqyREJiRwxdflaekvGXLlmPVqlVIkde6FwgE2Icpm4wxVIgsBrg60TxLAL03UPjVF30rNhJL4LLLrsDPfvpT9Ok/DQyPkq8e2DyTUbfsWcpQX1+PoaFRGrRaLGPkYJTj207jK2OLXY7Kijhaadj7+/u5PdpHG+XvVEL0hwe3oK/7btQkhzE28iSNSRLtXUHKWBU+eME7sb2jm466d0c9OZLyhwDnXdcBOh+dd+INm1LZJGVBDsmloe5ilEv8jRPsdNAoCdyqjOoqqT/GOJCjyWenLO/3238NeeHjjDPejl/99nL2p4sORgbb43iYVHFWkjyluIAQXY9v6pM965oOxKO8epzD6eSTBhNdmox0nqCvIhGHMYZ3sCOVyQsEJ7gs/++zD8GaJbXQk8JySkWG8EukyyGT3nQ98BCI2dI1CpcyJSenfshWTCcWeINflYkEIyZt1jF0d3VAdipMo6/2PPWPPOCLfeSYeaH75aStP41FUZWqykqIh+NcqTdzJe97w0inh5DLphEIBOmQB7Fx3a3oaH8EN9/8d9z0r3/g3nsup55sgSJdeW75lnbwush7k+RliTqf44h9SO5LBFCGFphSDgExH4Z8ClL+gmxrFMnKAD584edRVbsHI2LPoXN7L9hxvaBD24mlUp40p0gvB48AzKMD9Rh5KxLoCeyV+LnEuXZdBwGCsSD7LsCQTg/DcVw6XwFAcDwT3MIfo7ObQIygMBaNsL8+qioraKtc0vZQ5h87gSLHlstl8YULDsf/fvAYSPd0L5v3WN7gkpu22n95ZIyLua3NMGZahzFz+OS9tu22be/i2KPg1KCP0Xq1O4cRbsnwTNEdp3yhyKhxPwFgEAsJvn3mKPG041UiAGgnzZJXQivpqB3NfzgSxebNW5GemIDmMxwO7ahTvlDZ3r4BKNKjPiSoBzZv5k1DKBLQdXGbeIxyoehdFXV7cipnFxplmqLjkefGGDvuFMvmuUA47ZQ3Q1+6kS4EqA9xLtgq6TM++P534ZMfvwBnnXkSF6bXcgu1286Nml2z/37Il1yMZYpwRI83yTrmGzDojBABWpCbVNIrxwB1Fca22TcGlLjI5CSyBqBLGJDPPgwLRhh9EtBRpuzTAEGR/JcxBmHqi6Jj0/msxEIp2tixsTEY48BxHGzeXsS8Jo9zF2EukOW8L18QsFu7xhjUVFfbAIExxt4T6MpMTkELUdEOhUKMvHJhwM4LuA1y4a+tzAT1t7e3jzrmMhDyLGmMWvoHH7Q/9tlnP+p1wgZXAuSfMoLEA6qTJdhLM1ihe290yjFiLNAXJwhTEn2XtrySNkJn8UXzrfv/bnJejkAXuvBH/h2KQ3E6/3ZXVpOnjglQKO2uzGu9J4HWIKVcyWRyt9U1EUuXLsU4V3R6GF1ld1vwZW6ec8451rD85qopnHXRBM77Upr75QQ1FKIoFVgrJFVPxIJ44KFH4boBayw1QZnJSbxlbRwSZilugcZCk6NnEQwFHpTjPJ1blCt3GeaOji6EaAQ0NtFkE2yrFk1NTRTqKCTwdz1eQDE3SqM+BAl9Y23JArLaKldV0FRrcNsvaqC65391Ar1DDi775yg6Rxtw2Hs78bkfDOFtR8Vw5cUOFrb6tk6RBnnP1aswRYGV0Gh7RhmDgzLIDg15CX//+99RpEOVkkiwM4yCzU66p/6ozDSAmKYtOv9O0m/8DA8PQ1uSUirRWsbtyzvuvBPnnnsOOjo67ApM99W+xq1rYwyNbQvC3DraSCM7f14bBDS1Yu3uHVCRFyU9PJysqoCe1VK0tDwPB6yZjz//+Zv43a9+iHe/40T85LtfwsVfvhBbNt+L1raj8NdrH8DC+XNxyEH7MgLSjs1btmPuvKXY9TCGE86bKcrj0MgInebOPHJcF02N9TZSME4DrW9GRth/GZaOrm4U6UhkaEnCzq8xBmE6UEV9nn7iSUi26upqcMEF70asohqX/+VaC9bkbDWvPtgeu2CMweFrD6BeTJBmEewIX8wlcYENj9ERW54eUPItPjDXlmNVWICpC3WEdXRSmmTERPL8odMPwLvevBLGURWf8sNE50NyKsa27GnmzVinwJ4R3CbtllgvIxujNO5qF+zz9Hmm+Bt0cqh/zeT1wvltEH/TXBRJZ6fb4zvHpXbLiXdsywU6TWMMpNNTjLBo4SW5HGQER8BSwCIeC2LblvsxOLABsXgNxEuH0aaR4XZLY3S0i4usdeR9jqOzTCJPPPgESZ7mmEChWMzbJn16SdcNIch5dp0g+xrE1OQYpjJDeMtxh2Px0r3w7PpOArFOZHNF0gPbA/LU1SKBgafnxBiB8wjsbNK1X4CAGEuCrVraiUQFAkG2QyeWzowx2j+A7OS4lak0ndg4ZVb2VjqWoNMBWyrzxuPETl9reD4834fswVsOXoCLP3ocKmIhlEo+JnMlFvAxVozgE9/9J4ZHR7Fg3hzbBjN2vFidvClB8u9RbmJcmPRxG19RvNaWRvuc5o7CMxce+9BHsJbn7sLCBfPolOMzOTufugmUFP1vY1RawNN1XG5/VtOOdHFB1YVGbn/GCYJ2rjX9aZQyqcdHBNaqk9z+9Kfv650ioRMExHoJ2CoJUpsI0qcIxIJciMUZhbMFdnkTsFPk/OgjDsEZbz8R+qJXgOWj0QijdTFINh0SVzLGIBR08bEPnYe77ribuh9ivktb4OC000/FH2/czmsfrmPgOA5K5EkkCPAj7/Me6ztM4BFwfTRWcJ7yPkYneYNMN/bkw/APNgElypHGnOLY67gla4yBDmOM9U3BUAhBAh5jjG1TgE0gVHOmHxEfyVTCmOk6WepLasJDKEDpYXvxeAQ6JDt1tFuqp/5VEHBpHlzXUTYUaezhAjxCEOhRHlzHMPoUw7Zt26HPEQLHPfZYiSeefAbS4WSyEn/5y19s3fKbMQYxBlrilF3Jc556XM77d85F8qesFxUVFbslFQgEUMXdJPVNoG23hV7DzWmu7FJhDGO4hH8OHJzLPxfuLiVe/FEMCZOpUu5/hyFiaJbgQYMMUSBe3NLOd+rq6qCtzH5GQLq5p7xz7st/koFcTbAixsv46vmqGAGU2n/s8SfRyC0LUfjmx+sRZ1RAipgnyOrq7rEC+8hzXO2Wxon0S1x1NSLC8RtjYAwTjAVBcRoAfoQA4yBXIRI0Cel0ApTXy330PIVofCqM+qQL5Ulx91waQ44rj2SFg/LRUOPgT1+rwrx6tksBrqqqpPB2sA6wcNFi3PKghyPO78O6rQWIfwKKTzz1DHSIbmVlQpc27bfffowa9UKAWgI1SZBZTgJk5WsZS1WQ8EVn+PPvgG8JuULTDQz9Kon27OTQ4LzrXefhlltuxUEHHkiD2mn5BxhrGIwx0CF5W7hwgV2dK3IzZ2YlLmOfGptQkZ1SkMawlWXCoSBB1hz87e+X4/RTD0H3lueQy6QsH5LVNVi2fCmu/8fv0NV+F9rmH4h4cj888fR2vOmoQ8lnH/fcfTvD8fWWdpaGyF7MvDUTCNTTAPXRyYxyRTlze8fJcV20NjehtqbagqYeGvjGxkYIKPdye1tzRHtmy08PkwCBcyxn9ec/X4Grr74Won/KqW/DE89uxBUzwKxIZ+/RSJNFCLCNow4/2NLY3tlt++xRVpRKjGyUeK3kCZz5Hg2fD5+lPdVn4z7z1Q9D4yi51FbMmcftjY+csQbxSEBNMKmGD/XR4ZuSMYafDSkZeAQbuaLHzz5WL+L4CEKNMdA3BLU1p8jIGKMVamc6sdob/JIctXHbWltKGodAjc50GeQJ3/3pBsUTOfuprPVe8Dj+MB1BdU0SclaybSop5xqJhKDIlVfKcGwO5i86GG3z1mDhksNQ37gMGUaeAm4Yeu6skB+n3BKY+SXy1+d1nrRLPHsI0NFF6UQCwRCdbIB6nmX0ZhgH7r8Sh6w9Eps2DeD55zYyQjDCOuKnx7NDMMNOc45KpRxKxSneK9H+FFBipExATKnARZjLxWMkEoPHssY4dOBFjI+PIJ+bQKnIPqEIYwwmGbUoEdwJiLmOY/vJKrP4w/Z0lzezBERtDQl8/aPH4sBVc8kSw377KFCmMsUQvvjLu/CjP9yKeXNbrS1kgR0vVidNH520nSOjY6jV87RcFE7S5mhrrLGxzvZnRwVeSC5S3H4fHhlFG2nKsbPLzNn5pTKKiunxDzlsz/NRmeTcUb42bNjIxUAVIzbJnSvNfJqir5GuarvULqZ304D+VVoXI9thLqjVD41FUl5ZEYdkbIbUjlORuthDvT587YF433vOYt9bON8uXMflJk04AAAQAElEQVTYxXeIfs11AIGSYNBFIOBQZx1rr6ton/fdeyWm8jl+DjPPxbx584BADH0jefIaFFzqFU/ll8ara82U5tvhGHQdDxtURX2kpgxSkyph+KYcQGVUljcg3zTERYciV/qsZIyxYxun3vbTluVslCgNj7pRSXCSJd+MMXZOwaOiIoGuAQ+5gsdPoM3ebs/yf2GOd4Db+AUCHLXZJ3BNP6r5dSRzZGiE+ib/wksrk+LNnNYWC3YUzJC/Wbx4ISq4uPjud79rae/6ZowhWE/Yfo/R9mpcu5Z5NZ/VL4Er1a+qqrKg9JXqyS8mCDaFX8SrVyr/UvnO7IwilfQqXIUu/gmItaAFhn+zy7zctZhbWVlpGaIBafJervzsPDFcg4kT5Wpws/Ne6doYAz2kLXCm/2M5xPDnK9Xp7OyEHrB06byklI10pHJLxhiClH4sWbSQkapBXPfzE/DTv4zhnW8JIWL6KSCVkIOSAfdNJeqrHUxy1SklNA65xfrG6AwK77Tw5yl8ca4E53G7MkBQoMhQJyNm+nc6eu5M2xvGGLtayJlGzGPEp0QjFwlRmcZLiFKxwOPWh3NYcnIfDn3PAI47OAIByUqu1hRp0TgUDjYUcM3DAQessdueBxLQFOz2SQn9BK2PPPIYQ8FP45FHHsF1110HY9TuBI31uE2aA4ExzYcES8LJpne8jDHWqIQJPlUuTyC5I/MVLkRPX8zQ/M6jkVGfX66KZOGiz/8//OmPv8dYKsV56bMGgF2AxmiMsdWj0Qj0bZ0MnYvuzyXo0pZCB7cxBdRUSHzhYJGsqsRvf/dLXPT/PotUXyfGh3qhdqoYYo9ToYLBAMJ0ZAGev/yFj9ltqWIxy7kZxn0PPceyMRstGxoaIDlDgxmAjuwsYBais53P6EB1spJbLH2MKORYRLKgxEt2W/LQNqcFcTrlzs4u0k+jmiBNxn+CEUrxXcZpeogGitDUMT8Ri+OSSy7Fww8/hn332QsnnnQi/nnzXXjgwcetYVU9kL7rOjjrtJNw3DGHQd/K3MIVp353qH9gkHJZIh89nqeTT2DGG/w80z9Qdtn4xEQGB66ej/efugZN1SGSpYbwvvTa5xnsnDGGJwO+8aUzkCMQE+ALUB9ov7FsXh2O2bcV2roXn2R829rmsHwA2raVoRa96YQ35FD3AJ888ewzmlEafAMHDY0ruR2Y4VinHccUI38CoNLBQCBINviQ09AYPTr2CjofYwzGxtPQYk3jGeN2cJ46vXJZKxYviNGBjEJHLFaNuW37YHBwA/QgvsCZx8hYiZGrIrcQpYduIIQ4nQqDSjBc6HqMbqUnBrFiWSO3pE/FVCFCmdvGbZ5R+/iDT2BbIGBSe4XiJPtX4pjyMMbh8HwYxsH4xvscD9nvc4wBtuGzz8YYaBGi31QbG+1FIT8Bn+0BJSj5nPcA7ZFkHSzr+z5pMsu+eE3+6TJP+0Eciv93/uG44OR9YfTH8gXOM1EFfnXts/jmr/+FutoaLhaqYYxRNZssSb4JVPXTKauM7IZsUUVFAoo0Cfxil0Pz0tc/ZCNm+ga0Q7u2SxGrV1u3ddAJxzGntYn2sIRINIYibeeG9RuhLy821Ndid3U1F/0EBhqzomLiA/BCv8FjnGBEUfci+S9QHwyGKAcTBAWx3dL0KBzS3xht/fnnnWH7FKQtCIWC3NKMo4KypGF4BGzBYAAhpgBvBANB2hEXug7Trh5GIPfXK/6CMIFMkPU9RlUPP/wwXHFbJyJBw54p8cSX+m+MsTKr6bI55Lc9M9+lDiajQCIMDHONeu+zY5Sfkv3yBLN3vARGfcqDz7rynwO0E4qe5Wfse4j9cOkr04w2Fy3gp/ztqE2dJ1hPRB385v+rtXd//LkmfPUjdfjShZWWqw7HOT2eAIFmiD4kQh4aqL2WliYMj6QoqwGMjKagnYSG+nqrAynafclwPedRetdBW6ldFdvIS7wFAgH66SpLO80I8EsU2+1tyaYWCQJXmovdFnqJm8YYymKCcxmAAGGZdy9RfKfb44xSr1+/nto7c/sO3IF/8e94HI9V/Atg2tHMZL+mkxiiAUnoBczE9JciUCRqVmdCFD7VMaYsSi9V46Xvi4GLFi2yTBEwE2PxEsUVlZCAaQU1j85hkKu1AoVPhuOIw9daYTlgdT2SFWF86SOHYP22EqoSLrxihoqVwMDgINRe70iUDieAIa4wNBbXceDRIPRR2fU5QkcwhwChujoJGeUS82RskskqVFZVIBwKI8yVVxWBgrpKfYAxBlLuihjQVOfys3KAL/0mgiupqF/5yv/hZ3/zURUHJmg01IZNpFOgo6ioSMCbUa6NGzfQZrp4y1veYs8lGoNqgg+NX8Iq3kt4dC1+KWW5+lG56VZ3/y4FE5DRWUKsse6+5PRdRcQEyObPn28Vcvruq3tfuGgJrr/hn/jaV79iQeUoV9iSKWMM58khf4wdm1bdAmYDQyOYM6cVbVxVpxgp6xsYhiKgHQRoz9NQn3POe/HD7/6AfHc5B5qHJII0jiFuU8tR9vd2Y5jzW1NdibeftBb223Zsa27bfpjiNkX/cAxLF8/Hm489HJLx009/J5YuW4k4o6GYdYQp0/PbWu1c6KF+RSuBaUfn82yMQbIqwYhZI8fhopurcOO4cB0H7QTsea6SJQ8iyaI8GSq7g5bmBqRGR3DZZX9FlivXN7/5eLTNX4Ar/nY91q3fzGiIxzbZDj1SFQH7WaefhH33WgWXBrXI+fcJNCRfOitNywpg77HBDKMWcUbCLjh5P+y7pBaxsEvZ9VEUc9gLvYwxOk0nXjtMBdItFH0EXOUZ9sNn8izdeCTIqEkAeQLXATpmwHCbIYKWlmYa4XFu8/VbAwryRXPLbuD1HKqn+hqTvgzRw6hjFfUsRuC7aOmRnMsRbhfVIBypJZCahDHG9lE2a5rfnJlpIrY/4okxxhp4FrYOOcoosTGG3fNx4vGH4IPnn4CG+oB6jlA4wejPfM7LBMZSnbQFJaikGwiyzTiME2A9F1GC/szkCGqTDnXzWJaL4757H4d+PDbLeS/QLnrkZ5H2ghVgjMv+GBRtVKyIAs9FRsWKdI6FQp5yWIQxAQToOCN06gFGyCYzKfahD7lsBj7L8Q36BuToSAfvd3BeSpBMiF8+wQQJqCkmyg7f1bZ4ct4Je+GT5xyKSCiAImUgxyiIcQzueT6F/+9nN5N/wDzKuUO5ZTX7mmEhHX8a0jvpV5FjEcARABEIqkiQH0bcsVXIP9hxCIiJlhY18gvTuS+8q7+KiClqpXwBnBDHbCOvXHjIpgmIhULBFyrNXKmuQFOGi7dGRuUS1FljXuiDiuVpQ/W84/hEGrU1Seghcy3sKhIxAqsY2bRzedVJEaSr/HvOPZ124QhIRtyAC2uXIxFoPGpG/Y3F+FmVOGL10SUvQ8EQIlxsVSaruWhowlFHHoaRkSELnkK0I3vutRoTWWB8qsD2sSNRRKBDPRL9HRn2A+BxIny20zk4iW9d/jwS1Gv1LRTQoozwnXOW5A7MVGYUkrcMAZd0Rc+AlWgrPMpFBSOB2VyW+R4yM88kh8lvQK3Cjg1so7oyDI9+Z0lbAF//zRAaawOorgAaKgcgOqv3WIEMAVKefjbNdsAjQJskYFydTMJxHfK7mkBsHJ1d3aRukKW9iFNO5J8FEDV/smms+oqvAIFZnAEeBRfSbPflKhS46BBWEW9UxxjzcsVfNk86VVVVBYe8Vbvq80tVEC82bNhA3fahnT6nHe24gn97YA+cxL8YYngjDmMMHV7YgiM5eTFlNl1NkBigSa+srLSGYXb+6702xlAJIliwYAGd5xRD/5uo5IUd5MQc9UUAYvo6S2YAyWQlQdaQDW0ffMihWLdhEz59/t6gVKClIY61+y3HCWtD0LdLHOTs2NITI1DEZUtvEGtWBLgyHqISjWKQETpjDJUyouowxoGOXoaxm5oaYYyxAjpJo5CZzECAbQ7Ds8YYGkxj89W3cKiIyvh03b/fNoXzz/+ANQ6HHHwAUgQaoxNUENIQ0BGt7dvpAKhAAiXPPvO85enKVSttW/p5CT1zJyHNEnDJaCkJTKl+OWk+8BoO0ZMCq7/i665V+xmV0zNbc+bMgebZGLNrkVf1We2sPewIXHvtdTjl5JPQ3r4dkh+1a4whz8Bk7JgFxnS/n1vE2g6J0QAax8Uq8kLGLU1jcM0Nt+CTn/s/hAiYg+EQjBsiCBtAf28vIygTjE7kmPLQajU71Y899jwJvT3PoGXOnti+7RF09ozi4SfasWD+XEykurBxw/PQfxXwsfMhpawm2J7DFbyidqOj45yP6VIylLqS4W6sr4GciOakj2Bekc9AMGSBiowd7SrHJ9oaq2G0JoKmhjrcevMtuO7a660cnnrqyfCMi6uuuYkrzlE6Ss+25dDgr1qxFO8+53Qsmt+G7V09IkQT6sMTYXWCd6STPlfj73rL3jj7uD1QESdfDNiugevCHnlGRXzDm/xkwD9eU+QYFfPh8jrgOlafFCHzmFGiE163bRB/vulZaHs6ST2ro5MbGhq0ixjHcbj9X4O6+jpGE/uhZ/A0d9NjnukY23qllx2G3jiqNJ1GZ1cvQgRBSRpGYwz75MPhubFlJea27Yvs1ARqaudb2yDZUvIINlbvuS+dRgZajUu+BKI9ej2PYwmQnuZFz9NFKDf67we//O0V+Okvfodsuh+9XY+hv289KiobYaTzBMQFOjXw2nGDEGAQjWx2nCBpCG894Wg0z1mC559tp+0ZRYZAuMBojO+7IB5jKtAh55mK8LwcQVuO4yiSFSWUGHETj0rsczgcRYyOJxQOcp5cOrFxRrv77Rg9RueAEmA8AtBRDA5u5uLDsbIq5xMIBECi5JpOPs9KgMb4loMX4PPnH4GFrdXkHZDn3HM6kSkG8fVL7sVjz26BFhyWBl44NA1FAsAOOlUYw3GHaBNHyOs8GimzNTXTzsrW4BRPMPqYSo1THkbY9xza5rYQAFeyqrFFZr/JeSsqdsyRB7NMBZLJaiQqK6HnkHq4HSoAVUEHPrtO+XqE0RctuFWmmnJojOHQ2QEWkByWOFd93J7TA+4CIU2NjQS+nh17ZUVit/2ZYoS1nwuMow4/CO8993SEaUvEjzDlI0aAFQwGWc+H9CKkRV/Agc7RaBgRghrJejAUsmOo4liS1TWIxquwlhGxu+95ABGCOddxWT9g7ed4usg+gzTBw8A14OEzAdJlffa96c+6mZkq4WuXbsLz29P4wruWY9WCKsjWu8EE+Vdl6UzmAqig2zeU1yJ5EGa/yBq2Q1ngZI7R13ikuWwe5YaCmWM0LMxxin6ccldbW01bWcCRa8K4nbs4P/ifasxvcfCXm8bhOsCHzqzGgtYQNm7awAVNGuLPiuVLMDQ8AkVfZffGxsfYr7z9XCQ4qq5OIhKNsH8G+o1P8am8sGpsalbTryoZY+iHo4hxQSZ91thnV9Sc674xhoGWGa9u6AAAEABJREFUCjgOOzy7wL9xrXGKP2ozTUCoMZTJqd329nZG74exZMmSmbkwcDLI4Az+1aMe/4nDGMPIQRwhCp06JUQ4NTVF5uegiFiYk/+faNelB1HERMCsn6Cgu7sbajvD7SC1+dBDD3GiInQS9XQEPVY55jCSpZXRz372c4hh9TVR2zUJ+klHz8f9z1Tg7OOTVnipWxhP5yABrqYire8MIhYxNKpTkBIJ8CXCOSiaAx6Ua6hP2qKUco+MjtLxZ2D4N8Do3MjIqM133GmBMMbgnIvaMa/FZW2grdnFT372a1xx5VU48+zz7T29hakY6qsm2xiD5uZGbNvWDmMMJNRDg0NWyNauPdhO/rJly/C3v/2Nhi8L9VF1lTw6HNF7PckYAxmeMOdSYE8plUpxi6qLfahGPcPPGvvrob1rHcnMhR/8MLTdunLFctuGxiH+GkNuMjlUKs1BS0sLQYlvnStg8Mwzz1qel8faSWDy3g98ChMMF/f39rDcGPKMOBW4Qi7R80TjlXSY83HmmSeRX+NYsvRIAodF1uEWi3kCuO2oqNkfjz25BW89/kiOtQrt7Z1IcbWMXQ6NX//mKVlVYcGSwBm9306lIpxLPStWzeipHk7uYsSsrq4OI4wI9nMLQXM8XcHwZDivxq4oE/Eorr76Otx1191YzK32Nx17DDZt68Y/b7wDiraUOLceDaocwZp9V+OktxxtDWMvgR/YCdGl6UUiGsT7GBWrqYyQWz6MmArYa8cxtr1Q0FUVEDdAnqpAfGCMQYiOBjxEiyfIKZTbnZjM0RkXsL2jG5LzAJWngeOqplPsYwQrTYAs/jRz68IlcNnOSKYeiBat6SSKL52mu+nTpuS5BdrLucqjhjyc1iWOzFddnw7Lg+i5gRDmLzwERYKaOXP357lo+/fYU/dj1O3Bge/aB8d8fC2O/tihqJwXR2YqY+2Bz9W/2pJ8GZJctWoVuggCinRiTz2zDprbRMxHT9cjdKAhArshdHc8CAvEnAByU2kL6vNT3aipiWHTxm60b+lASs6IUQP4hkCpxL5k4XFrUW2VCGxKpSzbL9h7Jbal1bzPOTWkGaWj4QTBGNfmZ9LD9hEKj/IJAjHrZAuTGB7aCt/LwBdRphhlxhiOgteWPRwPM5FjRGJRSwU+++7DsOeSFo7DQZGyQ3XAVCmEn/ztUfziL/dQ1pPYFfiQFEn45Ekv53kMsotDQyPQYrGmOgmBsQCjRgDbBSzfFTHTeAoUpKbGBtqKWsqZw9ydX7Kj26hbstH77r0Kjz/VQX1NY6C/j4uhTYjReetnExznxXUFdKU/iobV19XAdXcuI90YZD8FrILBEG1oAxt3aDuKkG65LmWed2a/PPJ/gLb1TUcfive9+x1YuKANcsAh+rl4PIYwz2rFJUIKBoLMc+BSR5QvHgR4L0ywVV1TA6VINAH9x4ciAgjHomibPw/r161nX104M/09/vhj8YcbO6a7wUmz0zf9Cfxouerxs0Nd5QmX3dGNP9zchQtPWog37deMUCiMnpGitdUuafqU5xOPSMBxHIxMBLFyYdj6SNnuwaFhO5fimRYhK7ig294ftGX1GTwmuYCIB8dQX5HG8YdWoam2RF3xMafRxVc+lMQ9T0yif7iEyayH7b15xBid+8xnPgPZZS2a1a4xhmApaulKDoJaIFA8JhidHOfuj8N8lRNPs1M5ytIkTj75ZLb+2l6iUWG3jB0uVsbtONMESWpT9wNq97WRfFWljTEWD8QJXIU95Bv7+vrQ1dVl+dDc3GzHXibmrPRXwuVf+cZ/6uy6rhUEdUpMCAaDMMb8p5rbQVeM1jcZ1V6nnhujw9XkqICQvhTLwDCalrUCGGA/hZh/cNGh8jfgTfg0SEWuDr/4oTW4/MYpnHh4FIfsGRQJCOSlCfKSVdV01PVoZgRMYCAUCmKqEMD85gJBWYpGNm8NkNobTY3xumTrBwNFm9/T24e6ulp7T4LY0FCPrsEgugcdXPC/I9h/ZQgXnjyBX/7qF9jKsLwtyDefVrDIVUuMSpykExqg4y6Pq6qqEvrfbBIG0WRx7LnnKlx00UW23/r8RibxVWlgYADql/geomF6I9so0xJQ+cY3v40f/eiHkAHp58pWecZwNpnK18lkkkYtgNRYSrd2SnkCr23bOvDny/+OXG6KzpBzRAcYCkdRXd+EWFU9ohVJrNxjFYaH2+H5JSpPAAuXHIoVexyP5auORTAQQtvCw7FuSwk50nvzsUdYWdLvhsl5zm7QGEPlDKOVoDkaiUARPD2LOLuMDJCM4Nw5zTTqQYKYThqhKVRwha7y2hahUM5UMTwbBGhMGuprGRGZImD/G5599nms2XdvHHTwQbjj7ofw8CNPsu8ePMqxMQY13LJ+2wlvwhGHHmi3k7QdwwmD6ziQA/fhswkmUnccoyybjAEM/1zHAXjW9iTJQcmnHJZTic5K12pP5z2XNOJdJ+yF1voKgo8Jbkf0QIArRBug50XYBDo7uy3/JMetjBYXGfnpI2AsEYCIxnTCTgebZL98jqvESOIgQeYEktyiDc/I3HT7quJrREw+yxawecOd2LLpbjQ0LWdE63k6qgoc8M69cegF+2HJEQuRqIvDcR0YB1iydgEOPGdv5AiKpGfqB5nDdmF1SJ8zjMjJSTmOi4mJDEFyFR25A3IOwWCMdAKY5PakfvdrdGgbt6a34qknH8S991zFca+ztqBIAFWg7HmqRdb7ftH21RBU+ZQ7j3kcAHzyNhAIIkgZBW/oG5/6cdfe7mfstycL+UmoPOABrDc8vJ2yPSyqKJKG+Ou6DsuQL2Qgm+IFaJ+KqKkI4SNnHoAzjtkDcYJzlxNT4Dw4gSiuuHUjfvTnOxAORzi+ariua+vpjWRIz+dW0xgGCGzq6moIirPopx1IJGLQHEf0EJoKsydpAnBtQckO6pahPKlfwWBAH3dKii50EMiHQgEcdsgatpHGcCqKmtrFWLb8aNTWLaDdrLE6oLlQwswhO9jP6JVjjAWDYS54ZrJ2nMYY/dHOhXxSA6N3st35vIBYDCHK546Csy4U2YnT3p579qlWl9X3MGUuRnCs+q7jQLwLBF0CWiVDOQgg6Abgug7phqCIZpJ6WF1Ti6rqWkS4+HOCEVQyoltZVQNFjg455CAuEKfgkJ4xhuNdisGxPApEx8YBNC5DfmoONQfgNUUCj20aw9f/vAmHrKrF+09ciMpEhKDaYT0Xz2ydoDzkOD85GGPw7KYpgv2Snb9124qoSjiUO9/myXaHuMiuYp80vqWLF0FjnZ4n8rS6iP5RBx0DDmkAQ6M5jI57cB3m1Tj45Rdq8LVfDeET3+onfUA6/6Mf/QgKkjzz7HrW8XDcsceitrYGGeoQeESjERS52pO9E/9lS1RPtlq8a21txVe+8hWWfH2vYDBoZSVNMCZZCXN8r4/Sa6tljCFfPS7Y221FATHx136Y9eYIIAm1zbr3hl8WCRgEclwqcTWFsIJIVYZWbYspb3iDMwRFW4xX+/X19Vi4cCEVI8gI0jZGStIUiBIcCk+SQEYPxPf3D6GxqZ4CUcQBqxutUBpjICH35cxI9+JPHYYn1xehaNjHz6lDwGS5GhyFAJUmNxgMoTIyQeb7mOLKoKu/CK3QphjaThIgGWOQZHtHHbkWRxx+MOob5iAcMpDQqy6bIL0RCGB87B1xvPdtNbjmzimsOqPPhoNbG4yK2KQHZI0x7G+JSpa3SibFrKulkrOt3t5+O0YZmmeeec6OfZzbA8YYHHLIIbjxxhstnTfiTfPZzSik+D137lxonsV/zbFHJ/JGtLErDWMM9Ns0V111Fb7whc/TuXXZ1Y/adRyH8/dCjRKV/IVPL1wZY3Dp5VfjkUefgsu5q6quR0VdM2KVtXR6EeiLFyP9PYw60KkZ0XSscQm4EcTidRQNzgeZXplsxryFx+L5zTksWjgfxx69Fp2McOnbVruO3xgDRRdaCcwKBBxyGkWeX+iVT2PrEDgloefFHNexv9HksH3XdbGdEaSddZZ9gEGMxkzbmH0E93/7+9WU8QyOOOIwNDS34Iab7kR7RyflwWP/PbALlvZZZ7wNi7i6l8HTPRlAFuC4wOTbLhnqiMPkOg4Nu8/IgU+jZhDiit/l/XzBo7H3WE2Ax7dnzYF6Bb45JKykLS9tIXt0KH0EW+JPkfMiAKrIRyGXxQAXFCwOGf4aGurh0XH08940D1+gLfpKimwo0qexx6JRGPZR98e4wp6g0U2NjdkxcDCM+MkoluAGQnR8reyaQXXtPNTVL8bGO7dN95sLL17w5VsdTg9l8Mw/16N2bjU/e6TlM48nvhy25TjS3Urm+RgZTSFKRz3K7Tet5hWtjkZ8rH/uRvT1PIcAHe6CRYdi3oIDGAlaAtcNIp0ZQuf2R0gzANkYn1vGJa9AekWmAnldQomRPM1EiXkByqhDx54a3Y6tm+9inUlG+esonwPEX0UIjLFL1INepFLtHHMReUbfpm0T26Cs+uXEMUhvRf+0o5bj/Lfti9qqGGjqILCt8a3rzuIbl9yOFHcDFOEN0qGx2o6XaGUmM9ACROXzXJR0Ue5dyqmAmObWmB3FreMdY+SjSJ+gRYlyIrtxisoXHYGlU046FmECwY1bM0jWrOKiplLVZtIs4jN3JMOaC31ZSxExyZIxO5cTWOvrHyL/J2mPKyGbOTmZRSQcZAqRkg+HdYwxvJ5+jU9MQOltb30TTuR2s+x4gIuhCPUuwnl3XYd1fAQYBQxYMOYQ7Aes3XUdh+cAItEYKghwktU1lMFquCHy2wmihovxem6RBhjF6uvpQsfWLVi8sA2K1kvvpYPgEWX9YYIymVROIyjEbNNA3dzeP4WvX7aJW8s+/vuMpWiuTaDI7e9CKYCCFyK0j+BfD3UgGAzSV2Rt6howWDrP0IcQhCbi7G+QMuTblKfcaCEvGy6AqJ/zKVF3i9RZ3ZfexwhCg24Jq5dEbRRs3xUh2xfw2H9VCGceF0M2J3rgjlIJuWwW99xzD7fOByEQvGnzZjz73PRzzqe9/WTeH2JNWPuYoyxJvhrq66wMS+7vvfdeRKNRW+a1vmk8wiGhUAg1NTV25052VJG+10rrtZQvUta3bNlieaodKgUqNC7x1dNEziLmJBIJClAAcqSqOCvv375UY6IrpS+3I6LGGMhARBglEDPEFN1/I5O2RZUkMGrHGAmtgZ5jamtrs9uluj88PIpAMIBgIIiidYoOLjxzJQKugeOwDgDjwB6lko8kV5HvpOFKxIAHn87g1KMjEB0Jl0CZ6gyNBXHIXgFbp+hHcfi+Ia4OshA/kskqKLpz3/0PY4oGYO7cFrYfZb8qrCAPaFUZM9CkdfTl8Y3fDSAScjAyHuCWqcHmTh8VjJbIyKQZmZucnKISheC6rnXIuh+goxxiyLlIQ97ASNsgQ+tqW6t4RcwkDI7j4Be/+AXGuV1nO/o630RLz4jpPww0NDRYQTfGWGpSfPFf8/y9zP0AABAASURBVP+fmGPxXHMciURx9NFvwj9vuB4nnXgitm/vwHR7Bg7nMBwOzXzGiw71TTfvuf9xVNe3IkZAFk1U2qjlhueeRm/HNkylx+3c+TBUqiL4xiocoywi0+DAZnRvvxcBsx0jw1sYpjd45Mku6KHk/blF2M4V/uhLbGPWUB7kuEbpxEdTE9N0+c5G+O5buawnMKmpTiLNVWQ/5aO2ppqOPzYLqLCofRkY4zA6Q3migN5/3wO46cZbOCfVeNObjsbgyAT+efMdjCYNoFTyOCYfoWDA/mr46aeegPUbt7BZGk/SMoZv3EKzQIYfOExr6F1eO9QHn15bjk+l3ZnPWUYWiqSrPLC+re4DHX1juOymZxGNV6GSizF9a662JkkjW4C2rASqXM6T5Lqa/BgeHoa2uiTTtbXVSHLsAnDaCvbYEcmcIoU9XHAEKPdVpOm4LpSXJghLZ9KIRsIwhp3gMMovj0DHdQJc/DRjamqUQ/NRlWzmNuLTSPWkMTWes/dER3O86Z5tGNo6iiWHLEQoHtItm2TY5aBKtBfqC7uEKJ2y9MvKHcccoszJtrjUxcb6ShhMIRiKUj62o7vrafT3rUMkVoV4vBbGGALRdVD/PI994Halx+hWqVRgeyWUuLUUcIMIR2KYnBzG1k13YWRoM2qrqwjs6hGkE4/FIhxmiQ5vDIMDm2CQp8MrIsj5FeBRlEFzToIco6bZtzpx7AEL8MlzDsHStul+yMlq/Os7GY2/6jHc8eB6NDL6GiE/2cCOl8YsHvT0DtjIZigUwiBtTqGQRz3BRQ3n13UpGDtqAKKrfuiWgIz6pmslRcIUXfRJeGBwGNrelu5oG/OWO55GZorz6afwgQ+8Ce/7wJuxYmUF5SetqjslyUiKOxCVFXFUJytpF3fuQ5FgYnBwhH0doQ+IoYFRsSJBuE8eV1BnHAn3DEX1V5cCb3r2rIbBhAvOOxNtc1sRCAQhvkYJSEKhIPkNuI5j7wc456GAS90K8p47PQe0UYmKKiRJoypZjXCsEiUTQKKyCnX1jXBIbyyVQn9XB8ZTw/DyOTQy0likjGHmMMYgSf3IcQE0cwuazKlcCb+4bjs2dGXwoZMXQV/EMSaIfMllCqDgh9hWFPc8O4xgwEdd0kC811jlFza0lyxdlzqUL0WoH5XMD6KVkWrJeBWjzhtpG1yHi8SaJKPAaaxZ4WA0HYJ4M7fRwdq9Q/SHeRx/SJQAETAOQBbgv85OYF5zAGHKhwB4nHjD5xy3tjRDh751P8mtT/Xj29/5Plpa5+g25/kDVj71YWBgiHOVwJ133on58+fr1mtKoi0gZoyh76zgHAVsfY0/SnAX5oIgQ18qGbQZb+Cbvswme6Z+VxGIG2MsdbWpttWm2hZPlOHoLUCUH+ceZ5FITgZNk6D7rzeJuByljJPoqnFjpjsym6YEQPlqX+0WCoXZ2a/rWjREK8hVQIzKIqbvSkjt6p6Yod+lyjJ6FU/E0MKIRX9fLz5AQOa6hsrE5DoUMAN1X8kjKNtnRR0FZA6OWhPFw89M4sLTEnQ0UWji9e0Q1w1i3dYilaVAoFWJJzYa1FQ6dktl0cIF2Lp1GwU+gKeeeZ5lDPZcvQdXjhm2YbDHYgehcCUN7yTW7hPHtu6i3YNXX+UIApRyRduKNCxShhhXZkriuQ9YZRmlQUpwtSPeCphlszlrJB0qVJFzvGLFMpaE3cc+kQBGtO2N1/iWogHRT3gIbNfV1XFMwRdRMMbY+zLYWa6OlF5U6DXeEJ8lX6omoS7PZwWN24Uf/BD++pe/oJmrzf7+fgs8aghgjDEqvttkjMGTTz+H8UyORr6ALevXYfvm9RgfGWbkIY1RAqVoNAnDPxlA8XqakMHSxQ349rf+C5dd+lN8/lMX4Bc/uAhnvf0g0uFWQ2gJNm7uxYH7740oHVr79i6kuV0zXfeF9xBlVdGHioo4t3yGIbDxQq5mFYhzniWfSSp1X/+ABTICAIoADRBwv9An1TQQTwR6gpSX6677Jx5/4iluV6/GIYceik3bunD7XffR4OVQ4grNI7gS/blcqIC8gG8AMPGls6IlOgepE+BB3wU5K9WTMyt6JcqxzzYd6F6BOqKzyonEhu1DdgWuiNgYganksKqyEvPaWrmYCdvx6nfJUpTbUCgIAVA5xwFG0cSvQID3CPaN46Knpx/68d+pqRyNawIB8k59kVFTWTmPpsZ6RKNh9sUj32LCIOo1k4HHTlVUNaG5ZSU8jh1w7LZXlODI52ePztmjw9vywHZ0PtmDugW18Mkf6T0J0AFl+dnjWF3oN/B0T7yfpgVG9mIIc64zk1NwyfsCQaoAZ4ZOZ/niOhx60GJU18xFNFaDzMQggWEK8Yp6XvchleqARxBWKuVR4mKK3YHvOwhzezJXyGDblnvR0/UEKhIR6MtBkViUoKuA9MS4lashbocWC2MQSGZFxOMx9jePbC5P5+jaOfLZ4VwuhwVNFfj4WQdjv+UtCBFAeHSSJc9HyY3izzevwy0PboQbjKKqMgFjDGtNv1jM8m2QoGmIi9kY+5DJTGGcUa9a6pkAlOZwunT53SDFrcEx6REX4bprCMB1VkpzoeE4ATQ1txGIdaG2Jom1B++HDZv7EIosoJwsxXnvegsuveT7WNBcg31WLsSXvnwRfvf7/6NML7b905gE4gUc6wjig5QL0S4nj2MbYx/66dzB4TRSRsCLQoGRoXgUgUAAux4lgiHZz1WrVuAT//0xHPfm43HZX6+HMQYx8jZER85LVvNp41zScGwKBgNwSS/gugizTDxRAUXEklxYxSqS8ANhBCNRKCIWpo/KcAHR09GBgZ5OTHLx5xPUUhAQpPy4pFEoFjidmjnYo0AZtRec6ctv78IlN3bhxINacMTejYgyklj0A8h7LkoEYp6JwQtUoXPUxdbOTdhraZi+yBAkObRRecpPkbpZsgtQjVfjkX4aYzDBOQ0TSG3v6EIoFEQVd11K9B9L2hw8uxUcWwjzm4pYuTCKlnof2/tKmNvkAgbQ9DqkccuDOfz2S7UoSZgN2GYOxhhG/AegdhYvXgAdul7IHaxvfOMb1vf99yc/jUsvvRRXXHE5HnzoIQhQ7bPPPir6qpP0MkOgJb8pHxXcRSbKhMTjOPGPMcb6YfGhnPd6zwNcOHd2dhLwN6CRvkht7EpLY44SEEaoEwKlkmGnXMgYA2XEYjEyjUpM51nOey1nDV5M0OBFyxjOwisQkDKIIWJEmitcgYZXqPKibNVVu5oEMV80X1RolxsyJj09fXS4Y4jH4jZykKeCfv4HD+Enf34Wz2waRmffBBXDQTDo0gg7cOiU1Mbpxy/GzQ8ZrGsHHnmuiK99pBbN9SFUVycJvMYZ0fJRUVENx3GpjPVwQtU2UrFx02YkuXKTIXAcA4XAZUAzNEoVwQGs21KAgMWc+gJ+f82o/ZcZi+ZEEI2wbeMhS3AVoJLGYlHSdlBiRCJjnbyPAkO8Aj7auhFYk0LZVQnLpllmkI5b+/Vpht41BhklCYKiW3gNhwRHQMxlP1paWiCheqXqjuNY+dK8CEy9njlWn7OUS8mYZFUytrt2W+fMwY9+8lP7rJzGN0YQIJnYXVndU1+Urr36amx5/lmMDPTRMKa55ZyjLhRx970PobF5uTUkgIExDhbNT+LTn3wbPvLhtyJi8hgb7KbRCqChsQlvP/Wt+PiHz8TEWAfqm/dHd38A+tZaJZ3bFOdPW2yKLmDWYYyxEc5WLgrEq15up2TpSGcVgUN5EWib29rE2z4UXcoXSpAs6CcetEUHGmlm8mVsCtI5NHCl3d/biyuv/Kvd1tWzKUuXr8Atd95HoPYsZagEyaO2OlkJUFW+efQBcsBy2GyaTgGQ4/YIajwaWMmeJzDmga2yMN8pEnAdoEhQViIBvnDkmoV42+HLUVsZwfBoCt3cUhUfXMeFwJO+yKB+joyOQWPKcIEUZcRJ0QuPTrGvrx+anwQXGY1NjQjTOURpyMBDOj/B7ckK5jU11nEOQugnWEjR+UfonHLcdmEx9ox9ZL91bQfC8fEOLz2b53IRVcyXMNw+igf+9BhGu8cRToRgAZoGIUawpOTX47XP8Xd39xBQZadpcPiST49lHY6roiLBvoSRJfhJJumEWWdrezfe+uaj8H9fei/BXA088m5ivB+p0S64gRAmuX2Zz09yPopQ94Icp6G9GUt1YfvW+xBwi9a4x0nbY/sZ2sqxVIp9yCFMx+84PiRXsVgELidC/REN13XoEDnHdKaVURfvfuveOONNe6AqEeZ9H1zbIVs0uP3xLvzo0juRzfuoYfQtQECAWYfHsY3Rdkh+I2xD9IeGRxAKBtDCeYmwD7OK20vNsyJnmjtt4Ybo4JUhPqbTk7pEnnOUqKhgZHsTDj5wX4LIEtq7SgSuy6D/Hfqh9x+DD7/3FDQ3NaFtwVJOWxHb1z8Nx8/jm9/9X/zslz/BsmVLoGfXopQbS3TWW4bguI/gXrJQz2hfnLY+T6AcCYcQJXg2xgr8jhoa5wjlNBAM4R1nnYn9DzyAc+KhkpGis975Dvzhz//AFGkCHvnsTCcqSDAQQJA8k1yHAgFE6eQrOffVNTVIJKvhBKMwnOfaunpUViWRzxUw0NuDXkbF0mOjKFJW/FIRsuOSm23bOxFPVFCOQqD4sA8lSiDskUoX8cN/bMPqhUmcf8IC1FfHUfQCFogV/CA8J0ogVgE/VIt7nhnA9XfciQNXx5Av+KhKgP0Ejj04hqXzw7QrDun7kJ1Usl+8Yf/TAjMMkmiucrRFes5zgLrV0R+Eor1L5+Tx3pOrMJwioBvPwXXMDBADaObw/q+O4GfXVOET3/ewqNUwiBGHMYZy70FzDh5bt27fcS9IwHTKKafgq1/9qvUVuj7llFOxevVqlnxtL/kJ+Rn5CSVjdp7j3VELUTaFQ9Q3+Q3Po2HbXcGXuTc2NmYfiZI+zp07F9EZO/UyVeBSV9Wu4zhwdi2omyKiSZCxy1FIdi2zu88ymGkaCOXJ+am+rl9tMsbYSVDHFOUSQ19NXRkFMU/tCwCKqa+mnsqoDZ9G2qe0D3GbxKVAXf+TBfjw6T4O3mMQ3d1P4Kqb7sN/X3wjPvyV2/C57z2A3/x1HW65vwt3PNTNKNg4BZtbiU+m8M3f9eOo/cNYOT9nBbxER6JvUgrsyGFI2CpodAoEfMYYaOWpscoBpdMTOOmIGCM0QE1dE3rpsL7w/noKuocLTmnCH75KZaYqvv+0OjTUhBAlwBJNCYxWk8ZQ2HzQKIegMU3RoWneXBqHEI3OBMFYjKtA8WZ0NAV9u7COq7VBKpee8XjsscesQoonL5fE435Gnca5zSnUr/G8XPnd5UkupCDquxRG592V2/VeWSY0BtU3hmPetdCszxLyY489Dtdccw0u/MD7aQRKs3J3f9nX3c1IxTgkT1kaoDzTXfc9golskkYxaitV0Emfd85afPjDb0PEmUTvto1wjQ/9sGwljWy0xav+AAAQAElEQVQwFEIwGMbhaw/EO884wm4fxRh9GWY0Ye89V1nwtHjhfGiO+ugkJCeW8MybMYbOMIk5LY3cCspbcCG+z2Tbk+O6EMhqaWqgYctBRtJhvRINSD8jAHmtsFmSt/RuU5wyozobN2zE1Vdda+f7mGOORmV1La7912245/5HsHTJAiu7VAc6atBQOEyG9adfFogws0THrGQ/M4uix3fA8A80KcYYBFzHfhJgLBGcVdL5h8NBVHPLRTrQS5Cl54OK1IdwKIzW5iZIlmX4+8mXvr5B9tFDsqqCoK0OGdoWOQrf6iug55akA9bRN9Vbwzc2nubKexChQJD953w7BqIP6o5e4OGTRz7H4HNL0Ccg0mejiCDv6VmxTfe2Y2osi3lrWuEGXfbBh8/xMhtKjuNSFkIwpJ2jbdQ333RWG8qfpu2xrI8A9a+SUdsMF1sRghVFW377x6vxfxf/CPNorL3SJGnFObYh6nQSamd8rBcu+x9wQwA5GHADEF2HxjqZTEJngYEUo4njHK/jOgiHgnAdntmG2lH56X74lI8CDt97Lt570r444ZDFOP/k/TCnoZLs8KFIi882nusYx2+ufgybu0YJeupph8OYfYieQI3myyt5rGGgOVIb2s6sJFAx5AczdlSTzA4Njdp+6fnAikTc5hlj7LlEOhpnPE50wDtN9VVo4vbh+o0jnMMB2rEJZDIjOPaYfQli30z9BYyfhX55vrGxBY3NczCZGsLA9g1oYrTrhz//Kb769f9l/xtRPvJcoPYPDGMsNQ61X8WobJHoM8B5jUZCcMizctnyWXOVmZzEm998HM46+0zU1deR/77Nlu2KE2S95/zzcPlfriOgykPDDnKelee6Duc8QP5FEK+sgrYnK5M1cCNxeCaAqmQ17bvoGYwMD6Knsx2poUEU9R8iGBn1mGRzpANZ2p6773vI9lFyIVkKBoNsz7H3quIBfOCkhVg6N4kSI2IFRsSKPHsmQjCWgB+sRZS6/eAzTwD5dThs7yjE+v1XxRAKBlBbZchfD3svC+Pct1ZyezRk6WpOY7QVsoGyswHXg8YVooz5AAR6AwEXVZE01u4TwW+vTiE1UcInvj2CvZYGSQO2nU99bwwti0/iPGYJ9hPo7C8ixQWXxmaMgbZDPeriokULEAwGcMzRh0M23hiDiy++GD/4wQ8gXjucI+EK5eFVHHmCe+EW13Vpa2Psu/sqau1cRPhHY5cvVRJPdi7x4k9qd/v27Shy0bNgwQJUVVW9uNAr3Alqfl+qjASszBANUA3trqw6q8krEYCofIgOaXflXu09Y4w1ruqc2s3R6L1UXTFLbYt5QqTGTCv7S5Xf9b7nScRgBcincayu8BjOLSAacTGvtRJvXluDT7+7Hj/8TBK//GIlvnyhyxD/IOBtwbd++yRqa+vsVkGSTmbpvCBa6gzG0yWc9qYK0nAQ5WpNoVaBss7OLnR0dKKeCj4xkYEbCNDxT+HdJ1Xi2WfXc4ugABNqQIqG9sefbcBvrxpBe08O554UhUfnEQgYPPxsDrXVMcg5id9VNIQyyjkKoQTXpaIYY7iyTFIYo1YYp52YT0VxrGFRPTnFIa5sIwRrGa70vv3tb3NVmrMKgd0cvu+zXykME7TWcLVXX19v6e2m6ItuqV+SJc2nSyVRAWMMJCeaNyma5lhtKG/XJLkTcDNmWi5Eb9cyL/fZcVycceZZ+Pvf/47m5mbOSfQlixeoTJNc2mXJz86uATz05BimCm2sU4Vnn7qB6Vqse/5G/PWvf8KdN9+IoOOhknNfSUMbZjQmEAzBsL2R4SEMcltxv31WUY6C4E3MX3gQ6rilI5FL00G3tjRDz5iNcL5TY+PY9XDJq3qC5npGt1LcOlCaXcbnhyCNZDNBWZJbCeOMEqXoeKqrq2kEc9AzLxoPi828DOXcoWOKIcx699x9L2677XbUN9TjoIMOZFQ3jbraWhp3lqMRlLypovqrtko0nj7BkMezkk+ZmE6gc59OKq8rZlFmfStvJIW+4QlcftOzMIEYBLDmtDShsjLBCGQW2sYcJQ9UT/IsnlQnK6FnjTq7ejFCI25IuKYmCS0epEvZXJbjiENjVzRYUZg+gjgZRccxKDLKIABa5OqeVXe8fPYf7K3OGhNg+IngCUy8kR7OQGNzgy6ev3kTchM5yBn6HBBHYyMUhp0JUM8c41idefChh1Gkk4c9SIQUWRyq45F5OssOgBWrOE/6NW4t1K7lNnI8ESNAjVC+Ihge3AaPep5O90My6zgOvFKO25FD8Ga2rNLc2prgYmiMq3CP8xCjfXEF2Ni2z7H5vKceGMNO2ns+PnT6AThoz7loqk1g76XNXDwYFAmQWRTru9K49KbncOcjm9iPpOUpq+14aRy5fMECpClGpuWoR7igy+VzlJVq2qIkgnQias02yQv1S1EWLThaWhrpmCo5HmcHTUV49UE8y3A8bXOasHrVMmzeOoCunnFunXVxC3k+AoEwSoVenPOOk6D/MuEFKgh04ih5JUTcnI0ItcyZTzsXx+3/uh7nnvUuXPDeC7F1azujrP0Y4gJIC5VQKEAZr4NDPqld2bwAdcsYwykxumVTlnovndl77z3xoQ99AIuXLOZ8+PDsHMLOJyvAoXxFI1Gc8Na34IYb76BMeMwEAo6LMAFxnBGtKupgVXUNQrEKlEwAkViCfWhEgAuPMcpzT0c7BhkZy3L8fjEPj3Iq2c0xapdl1GyKPi/HNDaeYXuUA86tgYHLfsufsOv2vm9CKAOxIsgvE4cXSMKNN6B3pAv33n89ou4gqisdGPYbM8deSyOUhzCGxor2t8L+dus4zjw2jve8rRL7rKC/IY/j3JLNcs4N+x+LxezYZKvDbhaH7+PgxCPiuOWBScTCAYylHWzcXkR60uf8GNz9eBG3PjTFgEYPpNPz2uZiMuvPtD59KtDG6qpIm5unjN1x570EYDEEAwFUVCTwxS9+EcqTfMUJgn0KY4YRO0+Cq4q7pBLxh/JVTuVVb5cir+mj9E/jFs+FMfIz/d2ViPrT1dXFIEovWrhbVEsbumuZ1/LZeaXCGpg6JuYIqaoD5TpylEpyrBJGY0w5698+ixFirM5itNovE5Vg6J7yVEbMK+e92vOKFSsgA6nVAm0oFs2NY+WiKnziWyP431/24w/XDuHKmzO4/xkaxSnY1SRlBcsXxPDU+hK0xSAnOH/eXASDAQoicOejkzj2wDC0dbBsXhgLW4BoxKFxCdABVUwrNYDGGh8DjGRIeH7zjxE0MzoQ40oxMzGEiz+aYBsRPLkxj7ccVoe2xiK++8cJ/PYrNVi/LYMaKvuKxY2oq6ngdmeaaYIUgXnsh1atsg6KQGRpYEKhENuPQEZoiNEw8W3OnFZrZFSpZI2Nj7POOovGLqJbjNxMWUWwH/gmPmt7UrQUFQvSAPP2K76MMeRL0AIv1VWSnEQZwnVpWETAGGMVXTRlgGYLveRMsqWz6gTEfFV6namO2wSXXnopys/P7UpGc1CkY50gsHniqefxz5tuwWOP3Egg2o2x0W1obKzB/gfsbfl0330P4n+/8SP8/dpbGIZPMHwfprGNYGJiHP09PRi3vyuVRYGG5tyzT8bo8CYka+bK7ZPeGOQcssxT9GjhgnmkEUcf5SFNoLZrvyI08oqEJRjhFOhIM9q5axk5OYGcBB28nmHMTGbZpyDbGkeKzlty9kIdzUsAdbXVAA39tVdfC/23Cm0nqUwoaBBwjVRCH3mWU/KszHiSF3t357dprWcd2lzZS1uOZT0aUb6wtXuEjqsEPYSvMbquY525Hu4PhYL2kYHtHd3kWxoOZaKaIFdRlQijGKMEa9s7e8jbNMIs21BXi7mtzXTEUeqcR8c7glRqGtCq3VqC3joC2Wg0YuVYMsduzXTYwOOY/Znk+UWyoGTHSGbQ5RnEa+OI18WQS+dQKnrM5/h5Tg+mue1SxTnN2qiTHEBXV7ddHEl+1YDGqiRaL5xZn7wAb/hMkuksnW4sFoH0dGxswtqHUMjhmKoRCicwMd7PCOAoMhluYxWmrCN2HIf30wSxOcpgmFGOIPvNVknT0tYlk8cJUBJtbRFXVYR5F5Q5wy0tzyYnGMG/HunFTfevh3GCEM8cx9hy4pWSbIO2GrWgC4ZCmKRMCYwJ/DcRxMve2wqz3iSbmgvZVW03uzN6Xi5i2ESGMr5w0VIsWTQP+++3p/3duL6BIumnOM4QkskW1NS08TqI097+VuvUe3u6sGXj8+gZGEM4Vkv5DKFEsFoRLuLPV1yHL371+1i/fqPliUdev+O0k8gS30ZzotEYpIeRcBBB2mljDIwx5S6RTsnKn/KOZZTm4EMOgeO4tkyK4PPGf92IB+69B9cwqpwlQClXbJ3biki8AoODQyzvUP/DqKyqpp7XIl5ZDRMIIxiJsQ/1BBoJbkdPcmuyE33d2xmFT8EjqPUJtNW3LKNheUaKp88526d/XP0vvO/977XX4GEcY3UjzUhxwAG3lTWXLqaKQRQQhR+ogh+pxwPrRnDNzdcjNbIBFDHqjGFyEKZeh5gCLuCS1vyWEMbTPsLhEEKRSvz6H2N4amOOUXkPh+4VwMr5Hi46vxrHHBDGwavyePNBPj58RgRf+WAFwIXDo895CFEu9l3VBM/LIx51ccm1k7j4t+M4cr8g1q5pxOYt27B1WzseffxJ6AjQdwhwSQ+04JKMbN3aDi2s2ua2oLo6iTzBqWywQND73/9+VbNzobai9B05AlXliYYyddZnzY3yw7SXuv9GpSD7HCcgFL0MAaH0XtdqV4vD9vZ2ymsN/e88yldQWf9Wcl5NbWMMjUCEghW3DntiYoLGImM7ILDmOK+KzKtp6kVl5IjFkCKRtFaGaltM0T0x60UVXuWNpqYm7vW2Y+Wq1fjuZ5Zjr2UVmNMUwZJ5VfjAGUuwz8oWwERx8/0+/ucHOXzo62P41PeG8b0/DeG6u9PW2GuCBoaGkaLTePvRlfjaRxppJF0qeB5nv6UCc5sCOO7gBN53ahVWzIfln8pyKGhsbEBlRQWFDSjmJ7B2dRY3/rQVzfVB/L8f9yCdKeLj76xCJltiZCCAg1YHcdIRYdz36DY8ta4bQyMTVASuzgCsWrEMGzdt4RUgx6qwt0Oli1A4p2hEpOwhKp6eGbNOhIKlwuKj5q78Q3vipxyYR6M+zpV4N7fwVEbIX/OsOq+UjDFwaYilQFIO0ZOiqL5S+VptYeZQH1ROZzks8VXgTPVFZ6bYv32qqqrCr371G+iXkUVM9IOhIN517jsxxHmUTN165wNo394FrXTq6ysZnZDT7aWxrcR9996PDkY5VVcK+Yc//QXX/esOZGkk9O+WRkdGGDXJosgtwxLBXZgr6bZFSzB3bjW3N9I0ZNMyMDAwgAFG0FyCzKmpnNWtpYsXQOPXqj63m9VYjMaobU6LdTQD3IbJ0YirH0qGb5rvZGUFWpoboEjJwMCQNeZROqRBRjbTM3MOaMmleQAAEABJREFUe6gGrANr5DbR8NCQlR8931X0HMowu0pH7zHJMSv5ujtdzVLQmzEGhhc+E1hW5T2CHY9OcbqOUS3sv2oOjlyzAIlY0H67TcAyT0AacB20NDVCfZDMDI2MoodblVNaTNB5NlFHWhhlCdCLDA6NoLu3HzLkam6cUUNtoZVKHowxXFXHSafW8lB0RkbG7GKEIym/qC9FXnMk7CvYT80hP9l7mDkGNw9hjJGaZUctQjQZwcRQBlsf2Q7jOIwE5KHV/n57r4K+qHH6KW+GYxzOXxgiSUKkQopkiKXNc/keM3a8Kqzeu5SVPLcqowRiMStv+UIGeph/YrwPhVwGvkfASOeXz1N2WFt8iEbCMPybJm3fLY+ZbV/S13AAeMdxq7gVtSftRxGTuZJdUOa4rbW5L4fv/PFO9A2m0Fhfa3VVFUXJJr6Jt319AxxXBDAGqVQKmivNUzwWxa6H5HWAMqnt1dbWJkQJhl9UhvLaZX8Ow6GdraKNzDAiVkSp5FD3tOBZikRFHWrr5tuqU5N9eN8HPoT5S1bb/nf1dKOnux0b1j+PkYyHRKIef7jsGlx73fWcV8/WkTNPMdp8xd+utbZ1WsZcjiPMYZBrHIstyDfNzzi3fNMEiIriSCY30IYa2k2l6669Ac88/Qz7V8LBB+6D004+Fjfe8E9kKZvGGFIwOJ7bmrff/TBiiQrUMDISjMYZEQsCboi7FHVc8FeT7yVGy/vQ3bENYyNDKNFW0HnwVUCWPMlSD2SfdV3yShZw33bn/Xj/B98PyYnHe77vs//AXXffw3pFHLemDsvm1cG4UQTCVSgFarF5wMdPL78bV990P7d28+gbLqKjr4BOpk0dOWxkenpjFk+sz+KxdVO476lJdA8UIB7pMZZszuN1EYvnhrid6aCtOYQb78+ga6CI4bESKP7Y0pnH9y8dQXrKZ/Jw/Nq5ePS5cXz07CpQle08XPavDM774jD2XzaJgD9AmgWMcU5k78PhECTDjQ0NxBFZZNKTcFlRNm9beyckc4sWzoPKGWPw+9//nnx+4eWwE1HawbD82tQU0uk0MrRr+izbrfwXSr+xV/JDMUYK87TN+lUBfTtULeiLCLqv6zcivSYkJWWf3ahHxz3783/qWsoj2gJnruvqEuV79sPrfKusrMT999+PO9cvxR+v7cE/bh/Dn67rwXmffwZtBGd7L6vEorlRJBJRRCqXYe+D3oU1R30aBx64Bg1cJUphxBOtRpfOC1G4DE4+sgKff18jNmzLU7B9HLZPGFu7sjjlqASu+X4jfs9I1x//bx5OOayA954IXHByEBe9twq1SRcX/agX7/xsBx56ZtI+K7ZoroefXTmBs46PwvMNgV0c0YhhO65N4BEMBvDcug1UGAdV3BLx6KDkfLXaUERMQqp9fxkSJVZh3+ss/xwKveawsbFRt23S51QqRYWZQjKZpDGL2LI28xXejDG2H0GuKgSwpDxSlEQiQR4mrIHRtQRYSYqk/mHm0Jwqzb43k/WGni655BJuS3wIe+21F5o49ssuvZz9i0ORGPGs3JjG4Xs+jWs11j2/vnx7x9nn1Te//WNcceXfya9JyJkWuep1gyEk6xpQUdeMSKIaxxxzFLJTE5aPjmO4aq6jEU9A29iDBIIRGvJJArN6Rn9kkNI0VMMjXEVPe3m28sJL0Yzm5ga2l+W2ZAoCJC/kAkGCvIb6GmjVKQfV09sLOUrJ6QBX8y+Mz7CaoaE3qEjE0cCt0Wee24Sr79qCzsEp9tWztCUPHvvBF++Bx3QdVuTLgG8QIlAZj7yy5cCDsqC51GfNZ3NdJZIVUTrKhHVEAlcDBFklbi8KbLa2NKGSgDLLBYSAlh7MF6iNcJtH0bKa6iSkZ719g9BWZiYzZZuOxSJobKwjqIkiTefaNzAE13HYAaBIXRC489VBdsQnuPEJxNRhn5+ha06i8pVUqW5+NQznKDMyhUK2iInBCczfrw2xZBR1jc046rCDuI2awhwCj9qaJCMKOXjWDpICafJFMiSqNpmUl6UTV3tRguNy22E6J+mrwI/4w0qYygxD114pD/UVKFFuRjE5OWjbkO2zlNUIk71WRV6rHcPxrd1rDj7yjgNpv6rgug7i4QBpGjyzLYVf//1h3PXoZrQ2NyJMYFeur7PIZAkWevv6Ld+CXKj0DwxCEZyGujpUM2rpOtN8VVmlYrGEoeER63Tb2lpRXV2l2zulEreS+vuHINlbung+amtq8Nz6QVRWLWdqQkvras7fUlQlW6iDdbaueLV82Xx0tG9CJBLFyj0PQH3zAsr7GLoJzLo7t+Lue+/DV77+Q/Rzvm2lXd6i0QjCjOA4nMvZWaI9NZWl/uTw0Y99BFqcicbKlSuxZOky8soh6NuIo446AkcynfDWE/APRsIHhlI47ZTj8cuf/4pyZwjEDfsWxtLlyzE2MYlgNAFFxPSFrDjtXZG6MDo8hB4CseGBPhSmJsGVGhd4BQvEs4ySSj/zXLwVySPHceAEIohWVOPEt51oyxQZLZI9hz0Mbr/tDsxvimF9RwYrF7YCoWoMZ2P4w3WP4teX/wsTtBv6H5XhkE/dLaEiDiYfcxsdyoPDYIODPRa7TA42E6CJbJxbk8YYLGkL4biDK1ERcwjiStyCzFO2Pe7QuFi5IIQn1mUZnMhgc2cRk1MhnPu2hdi4bRzH7F9CU62Dg/eOW77QIuDZrUH84LI0BlMh1DBiLd2trEygyEiEHpExDmz/wpJBCp/mak5rs83fsnU7LC/YJ53Vx12TZF1J940xVjd0/Z9O6v8IF906N9JvxGciZ29ku2TNK5ObFuIpKl7eRnkquMJTZ3Rf4UJ18JWpvL4SQqRCwnKOalOOPECno3ZzNCCvjyrsJMo5if5vfvMbrD30EJx95ttx4fvfQ8MQx4/+kseV983DvH0/ju/97Fr84Y+X4nOf+xx+/vOf49FHn6DwwQKgGFeMKxdGCJQcSBhpG+E6BFqnUrEOT+KGeyYRDQObtmdw8ifa8eWf9+Pvt46ivbuAa++awLauIvpHfMxrjuHgPSsQZFjZ8wx++Jm5iIbyePiZLCMMLuQ75jYGccwBEYRoLMUHjV1OSmcJqMajlZ7mJUxjpGciark1JaMvnmXosFTWcdhBXuSp8B/72MesAqjOOKNi/f39VKIaGslGO9cuAbCiVq9mjo0x7H8QYa5gIhHyhKsZ9VPzVgZiytNcKoXYR53ZFRrIKZ3oWGOIsp7KaW40x+qbzXyD3tS3Cy64AD/96U9xxRVX4h9X/QP7r1nDFVo/DWEOHAaTZpNyQsa3z/rPCLt2Qbrwq99ejsnJKdZxUJmsQ7K+BbGqekRiCaRSo2ioTdIA5aG5knyIhuZHSq2+bN26lSAlx+0kn0Y1A4GyOQQog9xmFshQ+dnJdRw0MLpRSSOnbSR9aWNXHoUpI42MfikKO8Zokox1Nbe7FUGQE5Wj1DgBjdPAGIPqZCUc18WN923AAxvSMJFq2MPw3Sa9EXjwI3zxxqce+dw65LnkQ2PjbXDtAJ3B4jp39Y/hL7c8g7wfQjUdewsBgUCY5LGzuw/a+gdr1NKha+sikYhx5TuJLkZUlOd7HpJcbCivqqoCHhuKUe9EJ0GjmGeUQU5fcxBwHTqSPLdsA+CQ1FORJnWeWM/nfCrxE/PYQb7v6DivR7rG0Li0Dr3PUxYmcmhczIij6tHBDvR24W/X3AiP1wJj29q7UJmIoipqrG1kdb6m+cCLabKsK15L15YsWcTbhvdVRpwBdSzGugV7z3UNnVKO1x7lcJxb3duRzY5SdorUqRCBtQtmTo+FlOw1eSO9Xzo3iU++6xDakDaWAecE7CcwymjG7659Gvc8thW1tTXWtvmqOytJLgcJjse49Zugg1ZEI82t8RrORz2BepCLvnJx1fU5Js2L5KqRUcx6ymI5v3xWGdFRtHleWwv23WsVtycnGO2qRX3DIs6NeG9oLyIWjE3Xm76nb5oa10VtQwu3aVPo6dqGpqY5WLX3waiobkRPXx8+8JHPTFd5iXfPK9kcY4xtyxhj5WKEC53jjjsO11xzNU477Qz8+te/wcMPP4yf/OQn2Lp1G3kcgH6rsYpyKuCm5yzfec5ZuOFft9GuG7zjjJMwQhDqUAeNMdh3331w3Q23wg2GUdavrVu2oqt9C7q2b8NUmgsx2lmvVECB0RUbESMwyfNafPeoN+3bO7G9ZxAZLspKXETI5mlOSxyD+KiyP//ZrxAwRU05AqEImuctQ+OyI/CjP/wL+hkb0ZKM7bE4hCPWRHHMgVEctm8ER+wXw/57RG3ab2UcKxfF0NoQZdTLR4Q2OhQMIsmxzm0KIhgwmN8SYt0ETju6wv6bwFWLohjP+NjeW0S+SJaaIN554jwMjeYpmymWdVBdCXT15a0sO65rF0aVXFyBkqq+ZyYnKc95ynnezsXo6BgJUUYJ6D3Kr3yTdF119BiDR/0q8b4KyR/prOTx3iRplQhgEwS9SvIt5fs6q9wbnURXUbFu7hg1Eog1NzdzrHE7ljSjdJqrN6pN5+UISRgkHJmZsKCc6+zycppynmK6GKXys/P/nWsxXYM1xkBOz+VEl+lpAjURxhg6wkkaMUlKOfflz+qjwEWWK3GNS20o/YqKediRx6J17kLceONN+Nb3f4MvfelLWLt2LQ1iybajcsmknGsJw1TKXm6hyLEsmRcE9dMmw+YpTzSIPuY0BLiN2YBTj67CHY9MITPp4emNUxgc9agYcSxsjaKDgn7HIxk8uSEP142wLQetjWHsu7yIP/8zjY+clZhejXHVE4/5+PCZFSgV81SGKbYEKxTGqFXsEHiHq8IuOjNjDOTUJy1YwA4+Ka+trQ1//etf8e53v9uOraury9JqaWlhWDmA8iG+a94llAJmmpdyXvlsjLF1pODlJNnQtc4hAi/NWdmIleuJpuRL86E2gjQO5TxjjDUYuqd230ihlwxIZtW26M+ZMxdfv/gb+MEPvmcBoeZW7RljEItGEE/Eod8dKvdt9nmC2/f6/Ner/oWaplbEawhkucpVtGHzuufRsXEDV8dpmqbpOVLZ2Uk8qmMEQs9NdHX1wHGDSBFA5QgyFi5ooyMOMyrQD9GbXU/XcQJXRTs0hh5Gjia58veVMZMc9r+qMoHWlkZuTwbQ0dmFIo2ZdFbbk4rEzRTlydj5DwZcNDfWY4hbfr/7212Y9OPIFozNl4FlIV4DAkUeBV28tDccluFL+QbG3vKIzOhf8PzWQZR4IVnMMloUoC7XM4rXwn4FgwFGPkbZtx7K4RRcx7G/QyawFWCewGNHJ/O4ReFwPLUElW1zmqFxeTTQo6kxCExITvVZgK2BACERjyPHtkTfJ/fVoR19JZNU1vMKHEcJ0/d5k4UqGhLoYwQn0RBHpCIMlfM9UiAIOXD1XBy3fyuymVFc8scr0bl1Hd5z0l4449g9cOjqFhgvD8kyyZCm3pUMsrQ1rusgOCPfJUYFSZzfwBgAABAASURBVI5lfKs3km/1IcoIWqEwRT3OMDI2AuOoT8YuUIKBgC2vO9BBAnLC9dxWPf+UfXHKUSvtKDUvRTr5COX20c1pXPKPhyBHpyi5MdPzoupKHseVIgjTwi0UCFjAIl7GCXYlAzHKl8rNTrIlA4zqVtAhansyyDmana9rAZmt2zq4cAzhyMMOZBRrAh09HqXCQ0uzj4ULQwiGRuCVcio+k9S36dFpnpW6u7sQYISspr4RA/3dmBgbxsLFK3mvxi5cZiru9tTV3Ud+ByzPSpR5LUTmz5uPP136J3z6fz5DfU7sVK+SuyULFy6i/rlobW2GAw/RgIdTTjgKv/7Vb/CRj30Yz29sx8GHHYmrr74W6p8iuJLRCTplPYh/55334tvf/C4u+9NlFogZr4h8dopzyZTNI1fgZ4Iz2RZKFOoaGnHvg49ZWfrdb/+A559bh82bt1CGStSXEkZGRvH0M8/im9/4DoYHehi9cgmKSjj7nedhn2POweI9DrT9LcucAHAdd1pKnNfRcR9DKZ9RqhL6hgro6i9gW3eWuzVTeOi5LDzqjuRSC7px2pt5zUFY8aBcSZA0ExQj1Fa53B4NUU4NDDmW4zYryeOuR7px1ptDiIYD+OGfx/Gxs6th/ByMmfYFWmwZ6nKedkx1gpR9LaqYbeeEpKBIv8MyAqpaqKkfvX0DkF2ORMK2j3kCV+mG+io9ke2SzVT9cpKP0T3lTxKwqXw57985i844gxTt7e1cyCQwf/588iGwg6TGJFCochliJMnZjszXeeG8VD1NshpxaTzVqBi3u7LGGMS4typGiRllBu6u7Ku5J0Ep01G7GvRL1ZOjV7tqU3VU96XK6r7yy2UFrpTkUHXWZC5evBhHHnmkBQKaZNUpJ9WVIl1xxRVYunSxnRiBDK0Uly+I0pGAyVBBDM8A5QwwgA/f7ssHufqQ0IDH/dy/X7OqBp9//wL86KKl+N6nl+D9p7XiX/cMIxbx8fkLmhEJF/DXmye54g2xBmCMsTT3WuriqP1Dtn31UYZEAqE5kC5VVCSwZPFC6Dj66KPx8Y9/nOH3oyj8LdDncvorwdicOXMYFeqjI5yErisY+VS93SXxWv2X0Elh1KbKST7UD7VfTpoTJc2d5EZlVU/8k1wpid+aM+WLjyojersm5Yuu7quO6Oj69Sb1QXTUb41H9Mu09tprH/zxj3+CeCYDMDY2RqPgozqZtA/llsvt7nzjzXfBCWnV5GLb1s3Ysu5ZjA4NsF6a4GaUglCC2szlstbYzqZhjEGSbdRxy1IrQkUegowyTmULdMYRrFq5lGB+Cn3cQsrTwM2uq2ttOc4lSMkSgAwy0rFrGTkPRTvkZItclWorSqAoGAqir3/AAgbRmZ2U38zoxw13Pc1t/MexpS9LO003RWtcoqWW0Zfz92F4n8PzVZsCz5O95LlY9JCZKmDtPvNx0Oo2gkIH/dw27Wfkr0jnFHQDBH8NjNxUw3GVN4wBOvs8nVaYfSs/X2Ycw34OQr9/lcvnSBnIcJEh412ks2W25VNDQx15HEBqbJwLplFECSwc8tZ20L7RDdIReYySiYj0xWcUwl4zn7nIp/PgkNCyshFuyIXAGDhmyafHc0NNAmcdv6fdFnzLoUsZUTEs7mPPpY14z0n7YNX8GuQ5x75tw4cxhoCoEir16KOP4Zx3nQ2Bb3IMah88JJN5Op6JiXHScxHmAqbEKIqiF+KDz4I2YfqQDgQI1k5YuxjvJRirT8bYRZ9y5RNGOHhw3SC+9qtb8eTz29BC0GuMma446z3NCFgvtycdZzpPz925jsP5qEclbcisovYyx/7JeTssP69tDm1+xN6f/ZanbPb09GOcDv5NRx5CGxXG+k1jCIXrsHxpDX79s6/gUx99Dy767H/h95f+Ep/+7Lswb14TQO6IH7AHQWowgp7uHrRv24pNmzZhYGAAFckaROMJ9HVvw49//Atb8uXeAlxYKF+8jrPeNy7+On7045+gqamZfCop60XpxLe+lbq7BfvttRJBp4RoJMg247SbR9Aeh3E1o6N9BIlDQ0OQ3EmfI6Ew84/C4488hrvvvBOnnvo2C8A8bkWWKMclylueOid5nSIw17xGCLwPO+JNePf5H2Z0/lqO58e0z824/vp/4u9//Ru+cfG38fX/+yZ+8uOf4/prrsWS1gia68JIpUu4+Ds/w7Ennml/q1J2U9Eax3HI6wAq4w56h0r42y0Z3Pv4FO5jevDpAp7eXMLG7SV0D/i47MYs2la9Gzpkn1tbW3SJuY1Byp6h/hjSAkLcqUlPlnD9PRO46YEJTGQ8BMMxzGmM4qZ7exhBc9FY6+DWB3Norg/h0L2j0A+lFym34ovkVQuG8udqRuEGqPdaHETCIchnbNi4BVEuHLSQrKfugkeJixWeaJNydgejqamJ0fIMQtSJOBdZxhhlvyiJB8oXXfkV6dSLCr2GG/IRek5MdBYuXMh+Rl+ytvoW5eIlxx07ta2xv2ThV8h4ESDzKEACYmKkAJEm/RVo2GxjzI4wXrm+zXiVbxpElgIrRsgBa4CvpqoxhsYhZhmmunkaDtGaXVefNR7RV9/KKc2VjRiozxOMdEiQ1PbsurteX3jhhShSwVpamrnaa0SGhq22KoShUZdGERRqwKHRGk97eJz77r+7OoV3/3/dVIi8FULR23d5Ai0NIdLxMZVlynn49Lc3MPoVwnCqiG9d0okN7Xmcf2qcAM2oCta3F3H7wznc92QO//XOuBVYzY2EIJmsslt+JTonGcP1GzbbOj09PTj33HPxrW99C//4xz/sWdff/OY3kUqlMML98IaGBvtMkzHT7diKL/FmjLGKIQEUn1VM/JIizE6aO/VNSqIyRSppmc9qd3h4GBJ0YwwkbyrzSknGQ3Q1Rs2z5vSV6szOVzvleuqz5np2fvlafX7rW0+0/Dri8MPQ19dnDbgxL88fYwy2b2vH+mefwBCN9iTlSe1l6aRuuf0ezn2FbUL96O3ptfzf3RgULdPX6rds2YY8jXplVTXGxtNYvGghli1ZiBFGhFKManh00pbgzJvrOGikUWtqrLcRtlGVIYCYybanUChIh1tntzu1kOhkRC4ai0I/jzFk56S4AyTYCnyroBGcw4jBPY9uwnX3bcUE5bXctjEGxmEho2QIaWDrlwjYJiaLNkpcEQsiHApg0dw6tDZUIUYDLJntYXRZDl4OK8EFnSJiFQQCk5NZGxEUQPAIllR+Lp2GDHmWgLObDl/P+gm0slUE6XgbCRwj0TB1KYd+PVPkAS7vyyEISKicOucTJE2nEvupxIJwmOWz4yzFk8NtwxAd8aa7tiIzPAmfPPRZgrnY1jNCXpVQpJ4VGfFTKnGsNJmM9oCyDBy651ycdexKxEM+FCUA6wocOK4D6UE3tz10Fj3l+ZxH13UJ0ibImyjEW/U9GouwJkswX2XYNejscetr/xXN+NR5hxIENrGAISlNgouOwSn85IqH8OT6LrTNbeWqPs68nV+KVvT2DthxyHnJSepeY30damuq4VCOZtcocZyjXJioTAu30aurk7Oz7bVkeogLgRRls0jerF61DLfccR/C0UUIBqM4iFHFX/3wi1i1x2o0z5mH9MgA+rdtwOpVS/HN734Kn/jEGWhqrLa0YMEZuO3lYvPGTZgYHSFI2srtRM4HQXhNYwuefPJJvNIR5XacQNB5552Ly6+4Egcfstbargjvi/9Z+hrxU3T0+dprr8UDD9yLhXMbEODiORgMoLqhBamxDB595HE4rotF1MEh2oNAIADRAQ9FsAa5UHr26acxp6UJo6MpK4dZyuoUo0l56r9snYblOC7mLViK097xHqxYtTfy9FUkgQsuuAACnl/96lexfMUqNFaHsefCSuy5qMo+xrClN49IcgH+9o9rscfqvcjToKrZdN5559H/RaxsXXh6Nc55SxXecVwl3n1yEu89pRrnnVSJs4+vxJsPrWCkrIT3Xfg/dlfk61//uqXTzwWZ9JPqAg4ZQQIxydr1d6dxA8HYqUdHcOHpCSt7IYIiLbDmNkxh72Uu0lMGdz2ewyfPrYVDn3fYvjECOtf6IvkD6bl45ZJ32pZVh+tqariYmoQWkOK/dN4Yw/FvVTbbgV0QhLkg1ZfNVEY4xHEk47bIy76pLbXtUSnl30uUx5etsEum5kq7RQLdAmK1tbW7lNj9R/UvRjsmuVC75bndfend3xW/doxSA89SSJU0IBHefbWXvxsMBmkIElZABHReDUPEBA1Ck6e2X76F3ecaYywgFGNESzQ1Jk2MmDPJUKb6o6R8Jd0bZ0hSZdSuJnP31He+u2XLVmzYsAk9vX0wFJSD9gjQ6RRx56N5/PJvE/ivb/bh4t8OULgK+Pg7o/jkuxJYtmwZGhsbLaHlC+I0iAbEdVDbp/33U/jDVyuxZmWAKzGDLV0FHHHBAI7eP8wQtc/9+xKO+/A4vvuXufjkDyP4173AXkvVZpAKFLArUo1b/NMYlFYsX4LdHRq3BK6qqsr2R/V2V+6l7hlj2GbQPmem6JzKSVEljAJMmn+1L7riv+RJPBef+/v7rePRfc2Jxq76ryWpLcmm6EqARevl6itf5ZRUT/Vfrnw5L8SV72c/93lcddVVaOP2rjFmhxEul5l9jhJorHv6SWQoT5OTGVhjzCjQ8+s2YXQ8gmi8xhYXKGpoqLXz3tXVTWCdtfdnv4mHrQQhRQrIM9yyEGBKE/iPjWewcvli1NRWEygOQitLGc/ZdV3HgbYx9RyWok16dkw8mF0mwhVqa3MDt/0qCMpTFvDFaUy0dTXErXjpLHHA7CoEcXUwThB/veVpPN1VBNwIHOPQzxiWIxhjBY/gZSpbRL7goZJALMIIE1iib2gCl9/4JMY5VDl9PYQfJDic4Ji6e/o4jinqio+aZBVa6dRkjCcmMtC2kx0jgVRtdRX0LdN4PAZjDMLhEPTFBQG1ElfV2g5Ns46iSlOMUKlXgYALHQJU4pP4wF1UtuVZ/nsEfB63lfiBxXxLN5QIIcytyhKje47rQKjIK/qYTGWxYfsoHnqmi/V5m2O19HguFBhx8YFQwKFDclBTFcU5b94LZx+3CmkCc9kiyxtuKd926x0EBsFpGqxDtrFtIEgnLzBWHp9PupY+c306l2KxgDn1MdqSQ3HMgQttl1WXeAnpvMGvr3ka19z+LBoIymuqk6y186vIRZFA0zDnV22kCJ4mGMlS5EJgrMyrci31RfMzynKaM9Et55XP6t/ERNoCaG0V66F+gZZHHn+GtjjJPhZRX+fhJ9/5X177CJkp1JC3rW0LUV1dg6GuLRjq2IK9912BH/zkIrz97YdRxwJcrGWRqGDE6J8PYsuW7ShwPvWL9vpRY/2Om0MZL/dhd2eH4GDt2sMYcboe7z3/fZhd3hhD2QlzDkJW92SHBJL//OdLce99D+Ce+x9GdW0DnGAc7Zu3IFGZxIUfupB9KmCQ0d0+RutOO/3tVlb+9yvg5womAAAQAElEQVRfw+8v+SNuv+029FKO45EwF28e8xy7PZkjGMsXChAv6xuacfSxJ2LPfQ7AGAGunklKMyAgO6Y+aBz/8z//gyeffBJPPLcNF//4cvzXRd+1z7g+//zzuOGGG6AdHNl4lS0nPQ+XiFcQRAZQEXfwqe/147M/HMAHv9qLddtyGJvw2BfP+qNYw5E4/vjj2ccSPv/5z0P+T3KRIzAMEoQ6rmEQYQp/vHYUbzsyjE+dW4mW+gBqk1GOyTDqPILWegfnvjWMMHX7u38Yx5c/WD8ThAD23yMC0dO/FJPNl3/Q2CT/YQKsILHB5q3tqK+vx+Yt7dQVl3ZswC5EgsFAeUhUOcrzr3+N1tZWO087Ml7DhdpLcFtd7Wth7FGHXq66ZHmAc9vV1WX7N3fu3Jcr/pJ5krWKmZ0mBXnEj5csPJOhMuKX6jq6p05LOIJkmByr7v27Sc5PtOQIxRANeFeaJaJXdVp5GsSuwrZr+VfzWTRES7RTjAJpXEoasM5Kuh6n45QyqI+hUOjVkLZlfvnLX+Lwww61CqB+x8JFXPi1Hvzvr/pQW5XFR84M46sfqeM2ZC3edFCM5SIYnQhBYGzjxo1WsBtrI4hHDcYzBVzw5efw6GWNSFCZgsEKJGIuAcAc1gvg+a1FGnmDz/94DF/98kX4+U++g5/++NtcBQ8TkAWt8Bfo9F3XtUrmOIaG3rfX69Zvsv0tv2keJGwSTAmb+FTOe7VnCYzqSdiVJPC1tbVWaaR0xhirZMYYa8Ay3FfX/Gq1McwIjNpWOQkg/o3DGGMjopJXydZL0dN9GR3Nb5QhZWPMa261pqaWofOf4ZJLfmvH9lIEFNl6+JEnoJ9lEBgbHZ3A3Q+OEFzHkKxZAJdzw8nZUT1BYCFgJuOs7RnxZUfmzIV43NLSTBCbwbb2DhjSGBwetfO7dMkCBGjEBGgkAzNVdpxiHK9+rytAUNI/MIwcncOOTF4YY5CsqrCrepeGuEfPbrCMAM7A4AjHweiQD9tlFqXcgmNwoW3Ejo4e/P6ah/HUtnEU9DMZRAbZfAkTkwUa6gCiYZdGdbousxjdHYDmXg9Uq69BblUKBOj3rBzHsc+AaatLdsh1HEZL6izYMrzuZ8Srs6uX/c/DcQz0bdA5rU3seyVp+lCkrJ/jC5Cm/udfPB5FQ30dNI4sAZDL++XO+AR2Pm2Oz075vAYPnadBGgfLz6OdY5gYSGPBgW2IVEUwOT6F7Y93IkDQU1WZwBMb+zEyNkV+GNu+R+AUDLoQD40DOJyjgOva/C1dI4w+1+LgA/bBvLZWnPfOt9v8yspKtqSX2lQSr3zy2idNTx9AAvYsGa6pCOG93A49+y17IRQkb1mlQMAIE8STW8bwsyvuIZAJWTCGXQ6fY5UOaHs3EgmTjwQWQ8OIMzLa3NTIc4w1SJDv5VeWWy+DLFNRkcAcboVLf8p55bPsiWRP/WxpbmBfgXAkwjGAfalEa+ve6O56Ev/z8QuwvW8U4UQdgtyK9AiAE6EC7DzOX8x7DjY99Si+c/E3cPHXv4Jnnr4V27Y+SEf9POKJZtx17zZcdfX9GKH9yE2l0dvVMc2jckd2OUueLv3Tn/DVr32NNkJj26XAzEeVk02Q7YzH43AJiM98x+l48OEn0b5lCwYGB1HXPAdXXvl3gsKt6GFUO0z+HXjo4dhzz9X43nd/iEaC3zCBRpj+Y4h6mRqbQB8X6fl8ltvWOdvPeLwCBxx8BPY/6AiEIzFrs+WblMp2UXZSdkzyLzsgWyKgdfrpp+Okk07ivDZAtlb9VV81H8aYmZEAV1x5Jd7K7daLL0lzOqbvewjgO39M4cqbxnDRj4YQr16OL3/5y+RJ1NoP+QBFEdu4/SxSmzry+NmVw1g2z8EXP5DEgtYgGmqjiDJafP9TGcpBKxoZfV+xwKV+O/jDdZM48fAKNNcFbJuuY9BUG8CKhSF0dHTYNiQUdXW1lAnfRs0cx0FLSwsGGFEED/GAJ6TpJ/K0PcIMJ554IlKpFLSzo7x/N4lnYc6ReCyZlT7sSlOYQNuTsVgMCxYsgMrvWua1ftYcVRCYaT6lf95uAKHuKU86rnkNEn85cphilCq7NCSvteGXK2+MYTg1ZgcohuSJxMUQJTFBDFK76vzL0XkteaKtdjRIDXiYiqzViACYxlpOYroE4LXQVlkJi7b6Vq9exY8Gn+Qq4h/frcElX67B0QdEOd4I5rWE4ZsAtnS76Ogr4tu/H5wW2hn+7r0shm1dU/js99bjtl/U0cg6NNQVOPf/dWIsXaJAd1nFPf9LI2wDCIcMV3M50nAQoXDp5t9vnYJLI6Ixuq6jW/DpHBwKvct2jDH2yxDiwwCRv37Ebs6cOXRUlbbsa30TXSXRVhIwU5IQSZjkZMR3zavmWmfxSm1LKNVPnV9ruy9XXv2REmnOJdhqQ+V1Vh+MMVDfjDG6/W+lVatWQ2D8pWS1s7MLNTXVmOKW23OMiv3yt3/EhvUPTbdJZSxy+3H6g/rCpBf7paiCUi8NuWRVfZ8uN/1ujGE0IYlWRsz00H8mk0VNbR0Uvaikwu+5xwqMMQrTR+BSUrhkutqO98qKBFpbGu32Wf/gMIoEJDsyeUHy9iH65qYGyo+HTm5jVrCO47iMfPQy2pUHfbpNKqsUjUYwh5GsTR0D+N3VD6M/E6CMhlAZD1FGZYZJmC9jjP181JpFXEC08I5nn4OTs9dWZTAYgNoVMFQUQc+IKapXYmQwFAqilf2ura2B4EJP7wC0vVZgnvojgNnH7RaVNaQcZHk5jCCNWobR8EFuoamfAeqC5EM0PEbEfFLzCcZeSCV22COF6Vfzikb22aDEKJ9Pfg5tGEJFJG7vqYTk/JHnurhF6SNEsBtkoi+i/hq4jgPXZeKN4fFJjOXDOOPUt+CW2+/FYYesQXWyknQceNRTzBwai6+3mc9itD5Lb9kLvO3wZdwyOgBNdQnWNYyscwTGwdPtaXzr93fikWe3Y05rM9t1yxR2nPN0cvqWY5E8k0Pv6x9EgP1t5hZvJWVnR0GIg+BcFzDICJrKz6OjjhCAvFBm+kqAWt9oHSP4ULsRghHHcRkBTqCrq5fdn+ZliVuraw/Zh3I6gYG+Tqx79qnp3w+rqCEhF76XRTLCWTEhvOfCT+PPl/0NSxcvhObsiLUHolhMY2K8HYMDG7Bx0yO48q9X447b70KW25bGGCxfuph0Xvz67ne/i6XLlr844yXuuJSPuro6vO+C9+GKy/+KvfbcC2877RzcdvvdnCcP573nXLvgTDMS+OlP//c0Fc5XT08PxFv5sAkCCodzPpJK4c477sCqFUsRDIWweq99ccQxb0VdfdN0vZl3za9soc6qLxsp/yQbpiT/omCB5qzsp+SrlKJcaCnpWvbXcRxr4774xS/innvusduRh609GA0N9Zg/fwGal5yE3/7hKi4oL5lpHXY8v/jFLwjO83bhLHmMRTx89cNJrFocskCsMh7ChvYsPvz1ftz2UIZz240B2ph/3TeFpzaV0Dvk4cQjKsDmwaHDpQtyubA76/gqguwQ7zuY5FxpLGv228u23dbWBkUj+7lTouDEZz/7Wfvt1h/84Afc5RmHfMZ1111n69oKb9Cbw05WUN5lG9RGGQhqDtrb29nPSWh7Uvx+g5rcQUZzpTRJm6S51pwraX51T3may3IFRx3VxJZv/CfOYogGa4yBVgUSPjlKOdM3sj2Pjk+D1mpDDllJTM8TCEro5fDEDLVrzLQReq3tJ5NJPPPs83jiiafslo+hQTFOBfRvLDJZBz2DOa5KRvCp7/Tjvy7uwld+kYIbSuJrXLGpbcDHc1sy+O0/2vHPn9ZReIPw/ATO/lw7PnhGEkeuiVmFMcZgeMzDyZ8YxoWnxfGNb16Md577Ppz2jnfbLk/mDJXAYdmgBWsyLAVuSxSZJHD6/IUvfIErux40NDSgqakJ/84x3fedKagd8VdtKmme9VnGSqsk8V81NCe7q6+8NyJJ0TSnmmcZAPVF8iUevBH0yzSWL1+Oq6++GrVc9ZXvqY3lK5bDGINkTRWu+edteH79Zsyb10ZDNU5HdAM6Ox7DM09dy5nnSpFGSnJarm94ISfZ1FSPcDhEMN5pn0Ph7Z1exhi0MoQfi0Wt7AWCYUYQKjE0PIJlSxZh8cI2DHBLRUBtV15rXhq5mm8h6BogKBsdG6fM0RnOaiEUDEAAqInOup8r2K7uXlRVVUFbhnLSJW4L0g+hnFQ1EYujbU4rbrn7Sdxw/xaMTXqkC1ANbTl2mXxRSWDvZc1YNr8BIQKmbC4PRWwEJH2CI9mGVv0UBsemqFYXt3+0feoTuCR4T8+baNzqi/ol0DiWGp8mzHcBsTjLWbDAvhcZNRagm8rmoGiPHelMx9Wez2uf7U4nAhz7mYT4Gtg8iOq2JHqe7UVuIs8FVszOmxY/gVCY+hZC31Ca43BZmi9OoOMYOhFDfTScc9jrlroK1MUKuOwv1xA8LERtdZIAtw+G1Lz8JBRFYbMAP/Nt+p03fCbxevWiOnzuPUdgr8UNdJoe8gSI4utkweAHlz2Eex7ZYIFYnJFW1Z+digRgil5NZaeo+3WUi2GkCBYa6aQbKLuSh9nlJY/ampTstBJo19UJNM0uAc6pZ7e3ByhjklUtIgTuI4wqjIymGNXaBgus1UlW7etbj4u+8EU0ty3BwNAoenp70N2xBc89vw55k+BOQCWeeGY9jj7uFNL2WQPYuHmrXTjc/9Dj2Gf1Sqxe2YapqVHoSyslLiSefnYdLvnDn1HLhU9qfIxAJIZ69lWLpEgkAv0k0WGHHYbXc+jLTvqi09cvvhiyI5/9zOfw29/8nvMFSJdXrlphyfocn+ZIW7O6MX/+PHzms5/GwgXz9BHnnXMGjjzyCJzwtndg3oJl9t5LvYnvspfKH+eOzfbt2yE/ZYyxEaYcI5Xqi8oFqTcaY4z8ls9Wkt7oc5iLdCXN60c/+lF8/wc/xjXXXIvLL78c2gZtnHlURu2Uk2iLbm9vPxqqg9hnZZgyGkENo8KbO/M4/8u96BvO4Y9fq0UsQqmlXGrc4xmPIG0I//vh+mlZZ1/5smR7BkvU8wjnbMr6NW1jq8+PPvaUzX/Pe95jzwLAS5Yswfvf/3686U1vwvve9z5oPLKltsB/6E38UTvi6RZGQbu4PTlv3jzqSMN/qMVpssYYG+HUHEoPlSSzmj9jzHShmXdHEzNz/R89FQkUBJSqq6utUZOz1gS/UY2KltrQeIQ8hYTL0TCdBTrjDE1ns1kr7P9OuxIm1e/jCj01UcCfbhjCORf14rgPduH7fxymUAbw7U8yavbVBhhTghx5WWEAgyfX9+E3X6qE64aRzUew4pSN+P3/NuMA7sGvXhyyBqEsnPqRvbcRlEXCDnp7tnMVkWE9F3PntlpnIz6Ch8avOhI6ndesWYNabic2EYiJH8pnsdf9Un0ZRaUynyXY4rf6IB7LqCgaKUUXvyV4Kvu6G30NcwYrpwAAEABJREFUFdUP9TFJwFzu12uo/qqLNjQ04Oqrroaeg1i9eg/sf8AaRsI2cJt5Lh548Alo7GViUv62uS0oFUdhjMFd9z3ECEeBzqkfUwRm6q9ckZLqCEToW3EewY+MhcZhy8wYQ5URX+UExsbGCMzUHhghyyCdmcJKrswl4+Vnr1R+dpJszKPcyMH1MOIkB0zMMw0GZgqGQwGCrGZUJ6sgYDY+nkYF9aarpx9yvD6BzExRe+Kw0EiwFwiGcNXtT2PjkIsSpo2M3h0WGExl8MfrH0ffaB5y9nKixhiuitPkxYCVd/FAoKWJoFHym05PWgCj58F8jr+ekTIBxnA4ZNt1XAcCj0lGnTz2SUBhjCAtQuck4FZidCvMa2h0rC/6Sp6iZH5p5rbAGCM6zIdRLhBOhDHakUIsHEN1dRXBlYMAwW8gELTbUGlGIwtkmiJ8qqHxGY5XoMwYXjGBhzEGR+63EBeeshfGRwfxw59dggcfuB8XvfdwfOysg/H+k/dGPpthJKhE8CpK4HUR8YiLT5x9EN566FLe92B3JknLg4srb9uCn195H8S/2tpqtrLzS3waHByGHtSurEhgkFvPfdyKrqqssFvNoWAAsw+V13aRQL3oCYw5jjO7CPvgI53OoKOzh04zjgZuB+cZeYtRJgoEfps2bUGY0UnVH+a2nc+5EHOz2TGMDvWgvrEVe+5zCOLJRkZZegg4etG+5Tk8t2ELPvjxL+2kL5g5BFKefm49pDuKIMzctifNa4BRPkXp7JwUSli5ciVuu+027L///rbM63nzKQOyIaqrhYgWP/ptsp/+5Od2XnR/dvrQhy/E9773LXzykx/HvffcR0DWhjcfdyxOf8d5OOSwN80u+orX8knSZ4GXPIMHClqk02nIbqtPuieeGGMs0FE52RbZunIqfxZAM2ZaDo0xL9m2dEw2LMpo9+hECbVVUWzqKOGdF3Xj+S2TuOp7DTjtTXEEAgapCY+6kMShhxwIYwwiIQfyR45jGDQocWt0GItO3IxP/KgCf7t1nHVc9jMAycMk7Zw6IfCh59Z0LV4LC8g3LVy4kHLRRVswbmVN+f+ppHblowR858+fb4GY+qH7/6k2y3TlNzWnss9Kuta9cn75TP1zIGeqCS/ffCPPclBqXOfKykpOVoBh6ShXN3GIGRJGvEGHGKtBSoBFV+NSGxLgEEPIEkIJhspMMoSo8q+naQmytqdE74n1Uzhk7xB+/oU63PizJnzpQ9VoqA1iktEy/fjrA09NQtEiCZ94MLe1Hp+7oIKgKsrtySDWvHMz1l+zgCtuQ+MPNNYFrdCDh/o8QcWsokEdSxvEEjWQwwpzLCMjo8gyAhDhypBFrWETfdXR1uRPfvITyCHps5RUfBBfVPb1JvFLAEt0ZCjEQ6UMQ/bD3BoeGRmxfVe++qJ2JVfKV93X2+7L1VN/RF9jjTKcT4HesRpR3zTXL1f/9eSpnX/+85/48Y9/gu999/v43W9/ZaNag4weaNzGGPLhBcqSF4EoAQXJXwujQfol/u7uPhTo3F4oOX1VUZlAfX0t9L/0Ojs7dxiq2TwUHW0BpDOT6GFEKUjQMDY+YVet2sYUH7p4v8jIwjTVF9717MiCeXPsjd6+foLEomDLTqmSfZhHMKlCXT29XEQF0cjoWTeBWcFuv/rKYt/sCa7jQFGudes24g/XPoJ1XRnSM0zAkxt6WM5HSpE5RhiCgQDBVD0ELFR7gCBCwEEgR1uMiuS1NDfYOgMDw9zm6EO+WKB+OBD4m9PaBD247tP5Zzj+/r5B6k8QefYrTMCmMgJqOS6+xAdfvWB3fYIxEmWT6hfvsr79zPmaLsJCWd/SFngJMioRDIWoW6VpG0lnqYmtjCmqDZRKLC9qdEw8waNT11nJI2grkveUBLzv5DX4/PlH4IKT92OWseNIxML4zLsPw5H7tMLziiix7x86fX985MwDEQkF2S3DLSUPOSKyx7ek8O3f34GpXAEtlB3s5pik4+vo6IZkR/+Kp5/bS1FuOc5hxEvgbNcqBS6Q+xhNjMYiXEy0cn5Duxbh+Ercwu61/RU4UoEQQW4kGsPGjVuQoW1qJoAWj5WnVL5euXIF5s5fhJ6ubRgc6MbSFXthj30OgQnGaQ878f++9HUYMV2VdpPy1Isr/nodYgQMxhjbB5/8HecCQeO76647LAgTEPvNb35jbR1e51EoFCz4kS2NzrIhjYwsfec738XPfvoLKHJbJj97ntXPp556Gu8673wcdexbEQpHysVe8exRF+QbVVBOWv1Qkk0bGBiAgJkAhPzYJP1VlvKsPJUXn8OcCwGxmpoaKAlIahGus/LLyRijKjuS+Khystn6zbgCo6/v+J9OrN+WxrU/bMS7Tqygn4a1JS7x+diEjxyj2vfd/5Cdh7F0CdfcOW1rvvD7+fjl38aweNFCbNm6FY9vjsMYh3Ud0gigfAgAqf8ah8YkPmvM0rFly5bZYvqmqcrYD2/wm/yfvhzh0E4pQCLfrfbVD82B/Nkb3KQlJ15r/vK0HZXEP/LHSrrWPfFDZWxhvjliiCaV1xalSkh0/UakDB21GCznoU7MpmmMsdsBuq8JUudm57+ea2MMxHA5YU2ABDbGEC92OdSm7qtNldsl+1V9HCEgEiPfcXwC9dUuV1E+o10+QRYlmBTiUY8RgwyMMfbbMalUiobXQ0fXAB56NoBH1gVwxPlb8fRf57M0WG46tdS5NMY+JDCJRNyuNOTI1JaMgk9Dn+Pk6ttNUk4pVJRGqzzWeQzB/v3vf8euh8YboCOUcIg/u+a/2s/qh9qVACuJnhS7XF/zXb7WWbyW4Ou+yuveG5Ekp1Ik0RJ9nWcnyYHGrHKSQ/V7dv7rvRYdyYzGU5br1XvuY53D+e99N51NhzXu9B2cU7OjGc3nHG45StcGh4bpWJugKJS27gQ6RHdHYV4YY5CsrkRDfR1pdlrAt2sZFkMyWUVjXI1t7e1IjU2gurYeA6SvbQF9I3OIUQu1sbu6AjXz5rYyAjKJvv4hK3eiWU6CG83cSlXkRHK2bv1GVHO7KM8twe10/iVG8lRWY9VZKU590zbm+q29+MMNTyFaWYs3H7wMey1tpo4U2c4ghkZSti3Joxx6IhGDwEsPt08EVOXwHMflFmqTHZ+AWi8jevpSgEf5V3tqu5dArMgojfrpMmrSRHAgectyq2dwcJgLvwj0sL/K+3T+PgGYzrxkEIe1mOExWubzrL7rvgBHIBhAMBTmLUPepO3CkR8Y3atj5CyA8966D8JBlyDQYQTLZ9896HA4ZzqXk4GhPTLgCcaYGSflULcNQuyvyu+7vAVf/sAx+ML7jkKS0Tn1JV8o2fK9mSC+ecldeOz5LsyfN9faAuxyCNBv3bYd4lFlVSWjDb1wHYO5rc2oY1Rxl+KW772M7Ge5mFswfy40X7sr00PgPTKagoCY5skYwy3yCoLjHrS3b7eAWnXV33J9YzjWmQ9hAuOenm4k6xqQrKnH1o3P0qlPYu/9DsXCZXuhvaMHA1zAzBR/0UnApKqqwt5XG1mCEcn3t7/zLdx88y30HQmb9++8lQiYZUOM4dgY8duVluu69iHvyy+/guBo1P4+mHTfJ5BSUh+//OWvcnvwOtTUNuxa/SU/azyiI/8jGyIfPLuw6Oqz7KUe/9Dzv/KR6qscuO6rjJLGoLICk5WVlfYZ4QZG8dva2tDS0gItBo0xVp5UTnXUtsrrsxKzcePPG3H+KQlEKfaRkM/FgMOFmqHMGmSmvB06sHbtWuj49u9HocjaQM+ziHPb/J1nncZFSwbtnWOcmyh1omgBvcqGCRz1bJgiUxqDMcbSK/ddZdT3pUuXQra6nbZsdp7yX2/yOFcbNmxg3yawatUqu1ifTcsYw8hvBTTX4vEb1a7akMzKP8rmRwn0dW920j0ljVlzojxHb0oSClVUhpime683SdDGuKUih6j0cnQcIlZNhs6q8//z9iYAlh1V/f859y2973vPnmSykUBIiBD2TYiorCoqm4jyE1H8KyAIyA9ZFVEBf6iAGHZBQDBsCSAQdgiCBLJvM5PZuqd7pve9+/2/n3pdPbff9Ot+3f2Gnq6ue6tOna1OnTr31H1vUOB68OX63F3OLwkT3aDFxdMNtKMzsTV+MBQME4VgqGuArNn01295i5HxovPyi/L2dx8YtUf+7qD98h9P2ONfeNh+cNO0HTq2YNd/ZyE4wLe97W2GThgDzdf90zF7zTsP2vX/ss8OHM+AJpRsxq2/J6tNJBPgCfrmtflhSBjKuJ5IB/RUyzUDcto4wMd+wiJlsXzkIx+ha82CjpljOpGZeqsFHkYUZFLnlEnA+NbTIYYHHLa1oKfzrdLFmcE7OHBmzO96uKCJPaAfynqwG/UxnvWBLJRS+N9+1nPs61/7uvG0ilNBHzLLFWcIfK0ymrt27ZLDWrQxHX/tUaYqm03sPh0J8bUEwKSLa3PtU7aorjYXPu0F/XQ/1+iArCj2/qMf/diymo8kk9ER46hdeP45enrdaxxj8vIx8Oni7tajbBzZLYKe8fHJdHe4zmYzxntcZLSOK6N2TMdg7e2tctSzNhA2VYU5hQC68qeRNdjdYf/0ka/Yf95wh11w3i570MU7DBtkLRwfOGGTyuown82NjUbmh2CKT6keUWZvdGxM8VHBGhvqbaeCC7LCE8qG8Q4Z5eSpMenV5PSXrLenywgO8B2DyrbNKZNUq00AeB5etAgDXwUCMi2WUINd96rMVBfUzrwReCZJNgTVk5OT4SGKub5k/w77zUfvsRf86v3lvJOVUqPALCf9zC8UNKdLRjAJrkDQ+VtUjNQsfj2URDe0ApdN3OBb5G1eGTfqrt4+e+uHvmP/ed33bZ+Cpjo9cIEpXZYUmBI0EXz29fbYgPR5UhnqPgWlPd1dARRcXMSa9/LQ+17ZXFdXO11nlJGRUTuqwHiHspCtLS3GOmvSRj+q7Osdd9wZHiI61zguBVE2l6UK5e6777W77rzT7r7rnvA1Dz079xjze/cdP7X3vveaMG8BsMwfNki68C/Y2yMe/ojw0voVV1wZNlfa6d9KQe8ENshWiQ/Bx/KpP77LcceOPfbFL37Zrr32C3rQvtC+/vWvb4oFfAi+sk4bNL6g3OAlBRLwh/9iUx8YGLAR+VuCBu6xTXBRWE/4GuSCV/wdBfzonGwY9PC96BU/Ad3vf//7yizmw36Tz5nldDwp05SNmtXVLmm+CjYzn9jJMa5z4R09PjTBPja/WGOP+/1D9tJnNWouF+0GHdvW19eFgKqjo90yScbgBzqveMUrDNtEJnhnn6eGH3RBuy3/dHR02N69e/UQesh4bWO5eUvVsWPHjHfFyMB1K0hdDwk+lDgEu0LHkff1xpTrQx7mCv2Dsxwc7e4egkTmCboJjbG4uzGRFJTFRMe+SmqEQdkZbQakTd29kmEBJiqECWKyQuMm/jAGA0bxKIGFRvBBjTGyEayFzr0oM/3IjLhVOPYAABAASURBVDLXgku38f4EaU93t/d8csKu/37WXvQHv2vv+Zd/sPtferG946Nj9qHPTRjOmWAqjn3MYx6jp8RZOzW2aJ//fzutu23J9vQs2oFjGZ3FF6diR1dW4EtK1dfZ+eefq2szDJrF8+1vfzt8GoRGdJzL5Q3Z/vZv/9a+973v2Zve9Ca6NiyMZY6ZXxb2hgNSABgqY5hrdOte3FBSIGUv0XEcAw5wlQVeowPboMB7Pp9fA6J8E4sD5wZdnFd5yDN7kBXbYHx0ZmdCFVtqFHBdc8377Wtf/aphS4MKWJDT3YOjK0JZWIS79RQ7MjJmuVxNyAZNKUA5fPiYTU1ORzCNSSzR2CSTMb46ge+O4kkTnABRx8K87t27x8Z0rHPTTT+1JJO1ufmCNrBJe+Bll1pTY5Pdc+BQOOpmbLpkMomxUTc01NkhBYezs/Pp7nBdJ4e7S8eYbcrKDehIbESbN9ccjZ7SNXwEwOU/mSSxfgULdTriuvarP7HJQqPuuxWwtkouF5/jIWNGdoyxbPTdCg7dPfB8RFmaeR1Vgq5L7QQbWQU/rgZXJNXd1WktrU3B8ZMJJINWq2M6grpFHU9yLdDVv4pOCiErthTGKZQUpoJgCtahbA4+ZGJi3Bb10JCI/x0Khp/1hAvtkZd2myeizK97cU5UZ9SmJmXMivNEYJZ4YplMhEksEUySFGt3cS4e9NdE2BRXKbtltqSLXDZn//nNg/aad/yX9SozSdBrJT8aGnR27NhxI4M6qAD0iALYVmXHdvb3hc21ZEjI8hHEFj95tyvovhRmUjZ34MB98v/11tPdKT81Z/UKqgvmduutt1uiumc50ItjmTOu5/XQSNBUk8+Zu9Nk89rIh2X7J08M2O233W4HDx6weQUZO/futx//703KOA0HuHJ/2A94QOnp7bXvfOfb9uq/fG0ARY/4dW5Yy9SbKTzQ4ENYxzU1NZsZaozhfbXXvva1hs/do9OIShEU7WpCaz0XfHal45aks0wmo8CpRutlLAQ2+CJkn9IxJvJQkIlCgMa84KsojAXO9EPWnDZdht9BHYvO6ijSPGM5BWPPeuUJ+7VXZuzK3z5mD/qtY0oynLIZ+QF0bub28Y9/3Pjhw2IkB+oaOuy5r75XNpe17//gR9qz6m3fvt12TAE9/YxDV09+8pPDWoNPeGevpsAXPLMPwTO4Y9m3b5+RVOEYk0AltldSg/fWW2/VGuq1+L53JeOAyWtfIX6AV/DQVmlBBuIf5qy1tbXSYQGOeYJuEu5K/rgXozYUCoGNNjAYQGkYXUtLi4G8BGVFt+4ejJ5Nm4mb1dHDRgOj4hhTq80Q2tQsHhZuuvD0UA4f48CBrJVMxF/91V8FXj/3zYXwfsHOHf16osgbLz4eOLpgn71h2p72tKet+rgx3ysD/cnpAlUoT/ijSXvLx3bar/7puN3/N44bCYraGrdsLmt36ekSoMsuu8yQieCL/7qJJ7Wvfe1rdsMNN9hXvvIVu+qqqwwHBuxmCsaHnpC3Ul2zgBiTXtiboQksuiaoQtc4FgyZ9nIFuwIOftFBObiN2rFn6EIffNjtemPgC90Ah20wfj34dF9dfYN9SkfHb1GQzJPeyMiInJKFzdndA6i7hyOFFm2mIzpuZAPevXuXDQ2fNLIfyG3L2ZviCLNWBSBkhA4fPmKHDh0yeAzIUn+amxsNPAQoh48csVodI/LJykSBwS9c8QDxkNhRZblSQ1Yua5VZOldOdWZ2xo7pSHClQxeRB95T2qXAjPtD9wm/1h3B0X0KJmfCmi3aN8GDhgV6BAsjp04Z7y3t3bfXyLbx0jz8E1QM6WiVACWjILJPWR4CM8by8jbZH4LiJJMYn6jsUX+7jk7pn5metQEFh7lsVkHAgjaHjI4W23V002R82tLdQWtSlH4VhOkO7qDLeI6e1KnLgp7IDykwWtLWYwpMGuzXH3ex/eqDd1iNNit3pBWYermkcIeM8Toj/mrziS2pkcBMoObSuXtijIZmQYEX/YvKhi0sLtncwpJ4drvhZ0P25n/7mo1Nzlqv5HNnBBROlykF7Oibd8KQARupyedsZ3+vgu2G04DLVwSlRxS41SrDdu65e+UjMss9p6tFHdsd1PEzvO/etSN05HJ5q1UG5+6771EQMG69CsTS6z3IIRmpjyszh+/YtbNfOqsP403S9vVfbP/4rvfbKWXt5man7Mihg3b7rbfpyPM+6fmIbfSDj/n3j37I3ve+awx+SuEzmYzoNRib+dTUVGn3GfesJdY8e8B2fUj0BdBFB2cQSzXQDxxNcRzXmy3ggW/mYVSnTxT2SHCzB1LwzRSuKfSjnxbtycjt7uZeLNDvXs4a5fJ5+81XnLCDxxfDWtq//5zwwvue3TvtJX9zytA1vvrxj3+8AvVZe/CDH2xvf/vb9WAwqAx2g2W1V+FbZuQzyLBjD8zfBz7wASMYgxYFGZgHeAIGHuGXwj22CFwsyEpAxRiOHZE19q1VwyOBGP76oosuCrKuBVdJG/zXyq9FHW40BjhkIKjayl4c8SfxYq0axEwmfRCkLi0oCYUS+DDppf1buXcvBoQYAoaHokvxMKkEgdBEee6+AuLu4YkCA2YRpEvckN1Pw68M1AX4GIdMKFhNq34xKhY2k0VQ9M/v/ag96Mor7S9e/Xp75m//rv3zu6+xHTt2Gsb453/+55Ykycr4+ETlnlEW7ZSObJbs4OGT9uI/eIH923v/URtJp734LUNyNI3m+rck5833xSAf9HjJ85Q2tV068qLN3Vdwb/XCvRgEM9fIVboowIv+6Yu6cd8+XfDm5QiQYyNdo3PmLa1Lxm+1gAe6yIpc4E/j4j7yBByOId1f6bV7Yr/w4IfY13SM+cxf/zVtRkdsZmY2DHc/rUN039fXq4C+VkdPA0aWq6mxQU+ag8FBhgGpP+5uPToO5B2wgwcP6qn51HJvQTXFzN2tQ0dL2P499xywEWWw6usbFRANW1tbq+3XBs27XAQzVvLj7uG7yXbt6BXuETneEwpmingjqLt4UBaHo8aJ8Qm7/c67ram5ydDpQQVpS8pQRVhqgVuDMmx7du20owom5+cX7WI5TQIzjjpwusd0HDo2PhZosfZ7dBTZ1NRg88pWHVMAyXdfKZ6SbBboEMjN8oQfCJh1KYtWW1sTNmmC0Xw+Z3kd37pL1xRTrUDCQEKgS+0F0VOL2gvKRjD3j3/o/eyZjzvPWhtypik0d40zioW/XIXCHzOjO1HglegC28pmE6vJZxSYuUqxv6C1TCAmSuZmkmnJEmXRZpIWe/P7v2V3HRq0nTt3KPjIqnf177wyUPcdPhrkQj6CIPS1o6/Hujo7zB2Mp8cgw1HpkuPXvXt2KRvbcLozdUXWbFjBP0fCmUxinsjvNjXbkaPHFDQdNf6bm3ptSu6l+M3GNOccgfYom8YcMe/4q0LEr4u+vvvbJz/9Y/vPz9xo0zpunpwYtbt1jAlse3trhDyjfv7zn69jwS/ann3nnSFbKTA+BH/NPsSeUNq/pDmlz92t2j4EuvhG8KPzNG3uCTjgqV4PRKzxdP9Wr5MkWZGDvZF9GfqxQHNED3/sFdDIKHCFF3c/Q5fuHo6BJycmbHCkxrraEqvT+hkeOml8QIn/gu+OA/OWCO5d73qXXX311bLPXHgtiE+0fuMb37CnPPWp8hGn1DajTOykArY54zvRrrvuOrtI6xseSgvzPzMzI9jZ8GoAMrCXU8M/tg3PcRyvEhCYkVXD3zE+9lEzx3yxK/rgeLKxsZHmbRd0HXFBG75KkcIvfGNb7NHuXgqyqfukEmg2JAhG4owhWIFJmMDg3LfHCDhLC0ZMQOjumuyJ0I3ymTwMjWgUpYWONf4wPvIH/yiXQvDIYkKutca7uzGO8WzYLCrQY/RcIy/0aePdHZ4WbrzxRvvud79nP/zhD+0zn/lM+Cg2/aXlPe95D9uAvedTI1oEi+ouhA2yoaHefuFBl9uPb5uwhqZ2bc45IwB64AMfKGOfXt6o99q5554bFiS8a3DVfpGnQUcU6Bc5qTF85HevrjNLM+3uxlyga+ji4FiMLFh0DU/VlhX67h6cC3OJLVNohyZ2ju6xAdq2W+D/ec9/gZHZ3KdU/MGDh8K7OWJhlZNsamo0XsSF/pSyITt0BAUMR4jDwyNnsEHAsUPZkXwuE160ZkwpUC6XtR07+mRPebv9jjstowwUOSA21L16At6zZ4cd0mY/PjFZOtRYG2Tj2PQ5FuMo1EugssLfr8CtRcHY0NCwsnun9GDRoUzvlBEwEYBQFO+EkUni4am6pbnRfvqzmxVYLRkfLOhUxgtckzo6I0ic0AbOgEbZJJs+sk6IR95vGhwctlM66oWXJQVWHdrcG7V+sBsybbMKepF7alpOf25OAZeig8CAJHdcnkZKsW4uEpTAoYLlGfvNJ97f9nRmlbVKTCAq9Ls2JTOuTD+gori7ZRRUJcLp7uaSzV1tSSJ4t7wCMzXZrAIqXroXRMiILSg7NjKb2D998of2b5/4qpERxN401NI/rMHjylKOjo6FjB/HwuiAQLxX2Q3mJw3PNXpB77sU3HV2tttaMCPS3X3KZvbpOLldekdvjQrERnXUTVasuanJ2lqazd1Buarwf43yoZSmxnoji1nE7wEGPOFCfxYXF8L4ifFB+9nPvmnv+dcP2I9u/LHNzUyHdUeAKrBVv016CHniE59oL37xiw1/sKpznRt3D6cV+LDJyUnZ1GKY8yllzthEWeP0rYNiS13umuN8Pvgv/FX0IdTc4z+Y1y0h32AQ8uA38Ve8nzWhoGpsbMyOHz8e7NjdQ8ADL8AsKhPKXOX0gAJP1OiY/fCLCp4mtbaODC5q7KzW1qgxo8C5u/2ljmgJwGAJHOiT8dy/5CUvMb6Q9ktf+pIePL9mX/3qV8P/LgBv9Jcr2ArzQxAF79QkGyhcE1ugQ/gGB3Q5wuT9tUM6GeD9MNqP6ASAe5IUHMkCR3s1C0E/eoIXeIV37Aoe0RF97mhs+1STSlG4ezA8jAxl4CyatHDPhgJKecJw2JgHdeaN8UE3k8mUgq157+5hM8JAwMHY5ubm8KWX1CiTdhRbigCjpw/lQ5eJAc5968rn3TPw1da12NUvOmzn7G615//eH9mf/8Xr9DR5rXV19SqTctR4+nzHO95hB5UBwQjOO+88Pek2hiCNBQFfyASPpXxv556FxhxjbDg3aKH/7eCsZCxyQAvnga6hia4rGbsdGHcPwbe729DQUHDm8OG+9Tleix9319x229ve9nf2wQ+8XyAFG9RRG4vb3c3dwybi7oaN9usIfHRsXJtXXkFaj01oo+HF/Ak5Tg1e9VtTkw+b+hQwCq7IqKwC0A0BTZ8yKgRivJxd39BonmQV7M/a5Q+8v2yr3g4cPGzhJXjBp395at6nTAuZLAKzGQU66X6umxRMkmmprc1rUxi0MW3ujWo7oaftYrBXkHxAmmQ1y2YzxpeUNgvmviNsg6FjAAAQAElEQVTH9BDSYG2tLSrNhm8ZVwbmxIlhZZIWQlDRocCBkijYoR9krYJvUSDo7jaqI18CjZp8Tpmk+RDw1upp3/gheqIWXKGwoKsl46lIHAmNgjW18PvCpz/I+ruaAn/cC1zXmhvdBFgNKs6XmScWgq7E3ZKEkgTYRPdgBG5RR5LUuSSxhUWzyZl5wWTso1++1d73qW9bXUOzERAhky3/wCplWEe4A7IPdD6h4BRdNMvfEkTV6lgZcOAoXANzTMeHHR2ttnv3jqBf2tNlfHzS7rvvqPx4rfX3dUvPi1ZTWyfeluyOO+6ygrJJ7a2tlkmS9LBwPTc/H7K1BVsyAmTWK3KGzuU/k+ITeWdnJ+S3vi/7vknHyCesualOtJbsa9/4tv3HJz9je/fstEc87Bdksz3LI4vVwx/xyIrfgy2OWP0XnhoUwLPR40NqpKe8AqbVUNW/c3fptC4g5nsY0UGdjnzdPbSdrT/uHvY2/DW+i2DGvRiI8VBHQENAxn4DD/h2fFuT7KhZeyA1+tqzZ48ejn5mfBLy3665Jsjy9Gc8w97//veHd5PJjDE+XbBZcKFraIGPvdR9czKzlifltwgm4Z95o5DlIzCbUKAJfoIh6DOnPNQy15xQIfvevXtl71m6z1px97D3Qm9gYED+bUw+s1FrP6kqzYqxYWRs0iiQKJUNEyXGya4qVyXImBAmngi4vb09pDkxtBKwdW/hF2ViNBgPmbdWOZ+2tjajpnCdRoJs0MUI6EN2eEEXabjNXGPE3/3ud+0xj3mMJrjB7j5wyg4dOmw/uelnctbaWLQJL8mR8396XXHFFfaQhzzEeDLgKQDa0GIx4GjAxYJCLtroi8XdA754X2mNXgmK0BG4ocl9peO3CoeuWZjIwhxXQ9eV8MJcMsfuHr5IF6eFzNEBVIJjMzDubuftP98+8uGP2stf/jJlPgeV8j9p8KGulTnD4fT0dBt2R3aMF7L3n3eOAvURI0uEviz1kySuh4wm46sOhoeHtBme0Ca4est0d2VaGhXg9ek49Lgd1JNmrTZkvt6gpqbWrnjgJQrI5u2YjgdTqMOlu1t9Xa3tVuaFI0SCyRUdLZPBBtu0psiqIc+xY8ctk80GZ3lUOHnZnnaCCIpQhj7+X8u52VkbVRB3v0suNTIvLS3NITgmMIE/vg4DO2xtaVKGrd6WhGBSGZAZjaPP3QO8FGgtrc2Ss0kZgjluA/9mblKyqoxqXQteF1b8WRZAbe5u7irmxS4FYStwy2AirT5XsLho1333Tnv3f95o//SJG+1fr/2pvf9z/2v/+ukb7ad3DSjQWRTMUsiKkUn70g+P2N99+NumuMzIbBKUClH4BScFW+TIsEZBNroaPDFk+Vw2BC9kARPxFgYs/2Eu+G+zCLj50Af2u9y1Ui0qGjysoJeGfmVUwZHN5iybq1HgdJ+NjY6GI+paBTDuUW6gzViH/E8N0zpi6upqV3a+3lDNsirCNfNyfGDQRpTJO6LjanjBd9TWZKwmn9VDRc4yGendTA+bx2xEx+dfuP5r4SGDIPyiCy8wNv83vOENgtj6L2sCH4JfxIdgnwQl6HHrWOPI8jX4oYuM7FHU+BB0V35UdXqgw6kCfqJWx8sEMOzTyI0vRydQgqes1mJeASpw7INxz6PG319yySV2+eWXh4zXK17xivBCPOMYX1qgCW3mGdrQgV4p3Gbu0Rc44H9kZER2MqIHrVFDJuSBBjTvuuuuEAg98pGPNHc3XvzHBjdDa7OwzDFrEzo9PT3ytS3hE6XoYbO41oOvKCCDERSC8plQdw+LjEnE6DFGGF6P0Fb6mBwmA5rQxuFTuMZQmLjNKMTdg2OokeNh0fKEgAwtLS1BwRgmqU8CTgyWvkjL3VeeRuCLibEt/uSUNn75y//c6url3ITDEw9P9e6uo8772Xve+17jkyw8ZaF7DLVbRxRjSkkTmGGY7m4sMBYXslDQE/pBN+nivtrJiuQZv+BkHiNOdw+6Ai+44AMYq/IPsoEbtJGWe1HXzBO6ptBf7YJNgxs9Myfup3WKXbP4z4ZdY7McYT3hCU/UU+m19tSnPEUb1REt8GnFDIXgZMRKEBe+eLeIeT2go85du3Yq49CooGzQyD4tLRUCXPyTyXj4YtO6uhrjO4xOnjwVu1ZqcLW1tYZjnoN6GDh1alQbr9ng0KmwMe9RNmz45KiCxRMrY+JFJpMYx4t8Sz5ZKT4JV6ojeCYo6+nulEMdC5kVbJOMEYEZL5ubAh0CEPC6u4K9euPl9Ntuu9UQ6ZL7XWR86jJmuZ78y4+z33jGr9gznvJL9qxnPtV+73nPtGc8+eqQbVlSZgc8rQrEgMdOx/Rgk1cgk9Mm5I79F6TXjPS7ZKdOHrLRU4d1XVBR6orBKvADpC71K3jz8E9/DBSJ/hD4sl6v+86d9vGv3WN7zr/MnvLUp9jTnvYrdvUTH2uPefzj7SEPe7h96qu32Df+56DB2+h8rf3zp//Xjp0YVTDco4xsjfAXfwsFaUJlaWkxvLeFbWQyGRtUdhA5eKG+Q9nBTJKEAWIh1Es6qh3ihXkdyRLcNTUp4xk7A0TxDx+KINvOfJHphPfG5uYQdGMfLcowNjWeOZY5HR0ft5PaGNvamuUfmyxZ5iFgFs8EeicGh4Md1ilY552/rHwbgXtjQ90KPGsJfNjF3Ny84IftJS/5I/v4x//DPvNf19qHPvwRIxgIeLfwB9z4LoaW+mvsjnU+Jz3RX+0SceO78J3uHvZG/DLzd7Z8CPJAGx9Jcffgr+uUmTP9sDdCG3uCD+xQzbJj2bRg4ZVx7HPsexSu0V+z7AMbBL60MJfRX0MLm3B3Axc4oQlvpeM2c898wjd0kIO5peYrLMgEkiGLgW+7EjR82/+Y9sYjOr7cDJ1KYdkj4AUZmWd3D7pGX/AKb+jFqvCTrIcDRmJAFJVfCg+T9GEcKK60fyv3GA903T2kBdcyDia/SalX8EOXMVxXWtw9KJUFy+LBEMHnXmxvU+YMw8RQkc+Wf9xdDrU2OBsmCWNf7tpUhXPi296/9/3va1P+nF1//fX2ute9zviel0svvTQsHHQKDXSBocMfwSKpXQo6AA/8YxwElvDLNTzTHgtw7n4Gj+gNGnSgg7V0TRv4Imy1jA+ZWHjgRhb31fyx2OGfPmC3qmtkSxdogi/Ovftquu4egm9smzVASY/f6jV6Q9fuHo4FkK+xscn+4EV/aB/+0Ifs/pp3nApwbNTup/lq1KbZ39+vrM9syGL19naFjNBhZT7ITAAf+XJ3I9tBpimTeMjATk1Nx+6VuqYmb2yi2Mah++4zGZ1lsrmQgSbbsmNHn/GVFmM6PrSSn5yOHAkW2pTJOjE0bONrwKDffh2T8m7QiLIip1S6ujrD13oMDZ8URu3qCswUkujatKY8vLvUWF9nP/vZLUbQunvXDnvUox5ht9x+r33lq9+S7HNqLwZRLcqWPeKqK+3Xnvok+Yl68T0d+JiZmbVsJmtz8ws6MltQ0AWdZSq6dE+sqbEl0FQnv+H4cWmxINwCQJmh0h9BfeFbd9h/f/en9tHrb7Kf3HncPvql22zvhQ+wJz7hMcqqtmp8QYFXIWTEvvXtG+0b3/qBPfjKy+zA4Lhd+6177IOf/qb4awhF6FZ+IQNXA8ouETS1tbcqgB3XMfK08TUW3Z2d4aGrCFccxgYwpkCJILqrs0P02wSTKXam/jIfhw4dsc7OtgADnYamJuGetbvuvNsIztpaW+QDk9So4iWZzEHNaa3so6uz3UJQqy5fLkzZiLJqx3VE6rKv/r5ey+XyVlAkTSCWlW0I1NwZwZWFeRgQ/MMf/jB7rx44f/3Xnxk+yYfPKUJs7e+UsqSsZzZK/EQplkRBJP6FmjXP2iqF2co9vpDSqHWJDBkF0Wk87r7Kh2w3SIm44R+ZkQffSB37Ys16pg+9jGqekHtGGU54wIeCA96psSd4R0fIEgt7CTgiTuDAw3hgoRH7Yh3xUMMj+GPfVmp4RIaDBw8aWTF4IxArlRl6tBOcHVLWn/fotkKvdAyysveCf605Bj6vjCN8AYvMtG2nJGsNRpEw4u5yIo1a8Nm1wFbaUBCTxAQSHG11A2PSGY/xoACEXSFS5gLDgDY0GQuOMqBlm93dUCg4WltbrVWlRlk0FjiyUeDF/bSDoQ8nAFIMFePherMFmvCNHJzVo8M0DvBG3phw5qZb2TKCRd7low350RdtLCT4pxDAYSz0UcMvfIMfPcE3Bp9up2+t4u7BwUCLMfC9FlwlbTgGaKNjivtpva41ngUBXXSBvOhgLbiN2hgHXXc38DGv642hn/lAZ4xD7vXgy/VFXcM/dMGXhnV327N3n73hjW+0N7/5zdrcl2x4eNgYB5x7UT/wwxzjfCYnZ8J8dGlTnpiYMo4xJ0reL3N3a9CG0dfbrSBo0o4ePRYCOnCmS52yG9jUmLJKd951j3V0dpm5Nnl3e+ADLpGuakNgxvGYpX7UrSxbnZHZIjPFO0/hHbQiuwHS3a2pqdHi+2WHlJEbE59kh4eVmZuYjF9ZUJC8YYg296whV4MCs2PHlAnUsd2VV15uV1x5hX37+z+2m352mwKnRQWkS6qXdMTZbr/2tCfZEx73CKuRgwQRXz9Ro4CiIJStTbV29VXn2sMurrWe9rzV1jXbxOS4evTricEuQc+8jvbm55cYTsxhB4+N2Ge++hP7vSe02dteuN9e/5yddujIUemnWzQ7NNg0VwXBL9mPf3Kzff6L/y3f0WwPuvwBygKdshOnJm1sWvwpU8jchQH6Ay3KiI74CGoaFSjNKXN0XMe6vDPWqyOR+uVMh8BXfqemp21AumhsarAdO3oN+VY6ly9mFIzyIRD8yc6dfdLRovSZN8VKdvfd99iMcHR0tKktuzzidIV9DylQxk75FC9zerq3eIWtHVcAyZfvdnV0WK2OvHlHsCaf0z6RCUDubu4ersFF8NiswP2aa/7NXvOX/9fOP/8CO6nsHg+V0cYD8Cb+4H9mFGTU6pgurzl3L9Irh4I1VyedRh8AX+Vg12uP/OJT8bH1OuWIPEDDfTUfzDv91PCLL18Pf7k+6OKD4Bua0CoHS7u7B/9Qo30MnzmmDBI1BTyUqENq+Ip+Fj0xLpY5ZRfhPd67r5YReukS8aBr6MF7ur/Sa3g8fPiw7LxGDxadYRh8ooNwU/IHvnfv3i1/02T33HNPeM+rBKSiW/BPTk6GtcM8V6JrdMM8Iy98V0SoBAg9Jem2yAgTACMYerp/o2smAmNxL34qkgnZaEzsxygQBqVGHLFvoxpjZ1xUCLhWjyl/xwRPTEwEB0LQgiNjAihcU7guh4E+JgNnxkSg1HKw6XZ0Q0DFxGNE6DvdX3rN3FDgF1rQJHXLuMHBQaOPNnTXJAffrLQzWb5WBZcEacgWC/MUcTCmlNZ69+4uJ1wr55vV0/a0nnzn1wNf1Qfv6CjOF/UqgA1usEfmGTzMcaW6Bg663ogvHwAAEABJREFU6AgbYc42ILWqG31BFzzYKHO3CmCdGxwZBT1jS+7lnZm72yMe8Uj7iI5wXvSiFxnzSjocuuoKNgop+O/WJt+mY8cJOQ4yFJ3aZE8qwBnQERIv9bu78cWwihbMFF60KJvUqiO9IWU+hpc3XXWs/CbKdLS2tlhPT7eeRu+2g3rSNE90jHlSR6RNdsnF54cjVY7S0OPKQF24e3ivq09ZO3zH0ImTsosF9Zz+Za5D1qerwwo6YuQdNORaUBDES/0zCiTgkzaCFUbWajNBrsPK3n32s9cZQcVVVz3Y6hqa7LNf+G+78+4D4bvGwAH8LmX0fus3nmyXX3aJ5XOJtdRn7LFX7rNfUjDW1Vpv3a05u+rienvsFX3W2bXTkiQTihQrfmeUVcxyacOj0/b5b95iO1vG7V1/vN8uO68J9La3t87+4Q8usKdeNmXf+MoX7d57DylwPmmf+8JXbU4B1ZUPukwBYsG+9o3v2ISCTo5tczrCC4P1B7ko2BDv1yFvkiQ6Gh405O7VnJJNTKRPga/8slZPKEBf0uBdO/t1vFu30hcv+M61Y8cGjHe9dipYyySJJZmM5Wpqw9dYjJwaMTJidQq+45hi7dJrIRxNTi4Ha01NDdKDF7uX/yIfx5+jCtpbFFxhK7y/V6ugt6mx3pDD3VeNI7MK/F+9/q/swx/+qO1XIAY67LdHQSdrAh9IsEB7JWVhYSH4nYxkYy1Dt5JxEQYfwrg5BRmb9SHQxr/yQNTS0mL4Xu4p4EQe8K/FEzIDw9qZUSC5GR+C72IM+NP2FGVar4YX6KIvfMmoMmbsOdggBbzogZqCrQELLcaiJ8YjI/fr0Ur3uXsICOsUBIOfku5f7xo9Hz9+XGtqzjgRQs/Qprj7ekNDH/B79uwJD59k1iqlzRqMukZedOC+Mb1AVH/gj3HYwIRiCnSp5op+0TPzkgANIzDNhKBAinvljIAjFncPE4FSYIhJxwhjf2mN8gMjciCMQahSmErvMSRwuLs2j8mQ9So3Fp6gC30ClbShgwelUpgUSq2exKhZWKU8ck8fBR2i3HJ0aR8aGjI+jUOKlUJbJQVemSd45xr9whdGi56PLJ+hIwvtzCP6iAV5oEOwhlPBeOCdts0WdAR+dw8Ocj0Hg31h6NSMQYebpRfh3T08MYEDXWyka+YDOOYGvbhvza6hj/7gH92DF3loX6sAw5xAkzGb0XONbO3pT3+Gffbaz9qjH/XIkNmaVCYJeu6uTa9IEX6Ye7JSE5PTytp0Wp3GEphRFubntNEvFYH1l6OnbgVEHDcePz5gIzpCBCdF3YItaGN1HXG1GzwfPnxEmbUpm56dM94p69LYnQp6hoZP2amRsQDPuFjAz/tlXV3t4ek04ifwKBbT3OV1VNVh7W0tghkXnlFrUJZhYXFJWaWTwgm2An9UJGvi4QX9luYGu+FrN9i3v/1d69Kx5+Me/1gbU5bwy1/9lg0r2EDfvKOW05Hrgy6/v/3KrzzJuvt22vDIlOWyiQK0rErGanIZ623L2S8+sMEu3FVj01Mj1tG4YE9+5LnGuvr6D++xwuyAArFz7emP7LW8xkrlKzrPZtwedf82+4cX7rFz6w8oK/Zl27mzz1oV7P7ghz9RFuqA9Siwqq+vNTM3xiqOCnItLi4aemfdYhd8VxrrIuisoz085DDGln+Yl5OSjUCpr7fHOtrbND/Jcm+xAoZPYJ5UMN4hHE2NDepw4z0xMlNHNIcN0m+j2t1dfat/w/HnyIiC7kbNSauxrs1Ow6FT5ptAnIwZNAqFYj+BWyZT5Me92Gb6IVAD/nd+53nhVYzHPOaxy3jVmfrF//T19QWZji9vwKnuVZfMDbqiEdtk/XO9leLuKw+VrGPmYz082FZGAWBXV5e1traGUyN8aJMefJEB34K/pWZes9lskGktnKxZ4MAJbeZvLTja4AsfwhhkTrRH0r6VAv/wiA0SlFEm9TAXC7zgJ6GJT0XXyNLe3h58wVZpu3vFumaO2RdHZI/dOgVqa2uTv6gJ4xsaGkINT5XwgrzMF0mLYT3MHD16VGsw+pUzNYjs6AL8zKn7aXs+E3r9FmjDL/IQBKPzciPoI3jDDohDEiaASQcJjFQibDnk6Xb34kRgBEw2BaIRBkZQAEzDPIqIfdutMWBwQgPZqCNOeMDY4AfeKLEv1u5u8MPCoR+9sPhYhCiNexYIMHEMNbqjnRoaLDraY2FyMAzGs5GCP/ZVWiMLEwh+jAj5qJG3Q0cIh5XixbkBh6zuHpwheoYuhs7THXIwhoK+3LdmgDhGdAQ9eIKmpX7QM/wBU6qvFNimL7FXcFJDF/ppJNg17dAEjjlJ92/12t2Dk0BnyIXzSuOCD+hGfcNfun8z1w2NjfbyP3+FffCDH7Ddu3aFzRybKsivuBfnK1kOWLq7u4wMirqMIykyJkeODoRMTSnNOmVJ+DTmkgKEo0ePh+8eKoVh8404B3RElWQyllGwQwaGT3s2NzeEb/vnuKp0bF5ZoT4dk9bryHFYwRvHXKUw8ABMg2BOKuggk4ID5l0qAhUdBCqvhzTI6WGDa29vNT6Ned0Xv2Q//enNdsEF++0BD3yA3XTzHfbfX/uOEQig/yWl0up0lPaIh/6C7bvg/nbdD+6zn951XOsgsZzkyGUzVl+btYt319qjH9BmT3rYfjs+NGH/e+td9urf6rX/8ys7rUaBWEF4UrGJZaRr9I3+c8rAPf0RXfavf3aR9eWOGu+NgbdVgZmFQfCtMFQisCYGT5ywYR3TNTU3hU+TorcWXfdo3mqUZbKSnzE9YaMXZCbTFt/LSoONjU3IJgZ1RNMY5hze6hR8EaDzNRaYSHtbqwK9THpYuOZLY3n3ryafCx/kyKuGTwrjTDKMKht2fOCELSmjyVem5PI6+lTgXFebl3/MmruvFNMPcOB81CMfqYeJz9jznvd8beb16in/667gUXbO5ol/jL4rjoAffAjrjHWczWZj17brjGyhThkc97UfKpEHIgQl3QoQmpubQzCG76xR9jYvfVDwMUmSALqy6bt7uF/rj7uv+JAoWxoOuvgQ2uo1n/DJdTUK/MI7+uTImL2EfRg+8JlcUyNjg4Ig9AMPFMZGOTfLCzIwf4xDNtYp17EQhDH36BhbQKfwCR/svdSRB/fyuo34Yg1d3r0lkL5PmXYCvthHjT9FB+5FO6yWfbkX5xi+2SeQGVuGJoVr9m50jZ6RlfaEDhqqxQhI04UJRJEoBgZgLtZMNpOchq/mNUJiBNDE4KihzWRHntajF+EwCArGwsRSCGoobCKluuMe2VhY0KUQiEEL44A211stGBFpfiJ/DIyadzKQDT5ZbLfeemv45B6GTjtzDF0K16WFdvjeCk/uHrKi6BsdQ5+C3OiQOXCvfBFthgfsCl2zwJETA8f4wUE7/VxXu2DXyAV+6DInyA592qtn12579+6zf/x/77JXvvIVK+/eYFvuvrIhsmG3trZoc24IL7azwRKYjWnTPspRVsl3h2logO1oJ1M1Zhx3Lej40Ep+Ghrqtdm3h6O5Y8eOW1Nzq00KV11dg1184X5t9llj0+aYND3U3Y1sTX9ft7kCmUEdpc7pWM/MLf5kMom16PhrR3+vWgt24OAhW9CGn1eAQtZnUlk/hTQCV1Sjv/zWqK+zs8OOHztm1177+XDcd9VVv2AXXnyh3fCtHyg4u80WdKy1qGCT7A5B35OufrzVd+61L3z3Hrvl3hOWiJ+MSlZBV0YZr2tvuNme+fAGe8cfXmi7umohYy42Qwl3Zro1At4lgjQzS1QyAtjRUWt/8vTd9u4/ucha89Mh66dmowhEwdeYsuFDxvpakH55TwwZ+nQ03Cjdujlgy8VDUMmnJ+tqa433xAiMlztXqlllLI9pTjNJYr0KfNFjce0mdo+OcSd1XNrV2W55BcYrg5Yv+D6x4ZMjhm66OzutToErLBBkwjNlfHzSBgZPKPidNwJ3/N701IzwZa2ursbcPRRL/YwoY0pm9x/f+U571av/UkfCPanejS8zmYzsrMPI3OPL8FtzOlZkLbOWaqUPd98Y0RYg0B34F2Q30MN22BfZTAnEWnQ8yXWDAhTg3HXMqyAVuFgYy/WS2mPZiJVE84ePoo4+BJ+JD6Ed37kRjq30u/tKQAhdaOK7kB35kBOd1yjohA9kxwbQA/sLbehsK7SRCRroC7rQJ4kAvv7+/rBOgIEHaFKgyT08uW/NBlh/vBoEjoMHD2qdjq2cokXcW5FnozHuHmSCLvpFZgrX6BdduJ+WKUERGyGtRj90KETgTAbMYIjVwL0eDmhAC4Nj8pls+FhvTLqP8SiTCU0bJsZJwWB4H4LADBgUHPHjZEgNEzDRz/g07u1eo0cWLzodUZp3cHDQqGlHZp44+KgwTwDIj6OI8rCoMEQKfMWadvjeCm/gRnZoYXTgoWwF12bHMK/Qx9Cpud8sjq3AIx+00DFzga24n15gW8G51hh3t6uv/iUdAX3JnvPsZyuAOh4+VeiemHtxg2ATYd7JbNVr85iZmbW+vt5wJMgR0omhkyFYSeOHf44PW1ubFNwMyH5G093hGn2267isqalRR3L32NCJIeFZtDFt3G0KAs/Zt8cmdKQKfjalMGj5j7tbu2B6e7uMb84fHoaH4qckA4hUBf4OHbd160h0YX7e4BW+FhYXjGCSACTALv8RSmUqGgy+77jjTvviF7+sHreHPuwqsyRn1/33N43/w5F1sKDAjGCD/5+Tb4FPmvrtyz8+Yf95w5328S/91Ha1TtrHXnWJXXlhi3AUfzMK1kIIGP4U27gED7RDi5sliUn3ZtlMYhftadAx5wX2kl/psIlTgwqKJxWoDhpZSHeXbk8Y66+3p8talRlTk6V/sB0yYuiPdwKbmjh6TENY0Png4JA2kikd+3ZZviYn+m41CqoGFECd0Ly0t7dqA6hbPVB32Mbo6HgY29HWGo4o3V3j1alfXRp6HhD+UWXG+FBBm+Z8QUFkTlmphoY6Y04Euup3UvM+Nj5hL33pS+2Tn/xPu+JBV67q3+wN/qO1tVWyLkhnAwocF6XnZLNoNg3v7sbapSSaWHx79Nn4xugX0SNztKDgbWZmxthTKPg8CkEkfcBVygQyU/Ah4M6tEUhXiqtSOHcPR4DI6e5Bz8hZoyAMHVAjM3sDhX0OWOaGuknHtex16KpSmhHO3Q0Z2RdJLHTpKBh80GUPhQYFmtCGD/Tj7hHFlmt4j0E/9LFp9+3j3Ygh6CAzNkLhmrbScQkbGEZU2lHNewx0UufV7m6kf1E+TGHIOKlq0krjAjc0kI/JZYHRDy/wxPUZpUyDuweHhCIxRIwXY0EWagwI/NxjVOiVCad9x44d4YmEBYzjtbP0g7wjCszImmHokUdStXfccYex4NGFu4fMRpQDuFiQhWsW5GYWG7SRD4eCDtA3Tim2nSWRA1pkgg4LGrosXvR/NnUNYWTFvtBTqzYR9AZNbBvZgal2QRZSIaAAABAASURBVLbf/K3ftn973/vsQVdcYYcPH9GmMB3IuJ92LBwXdnV1Gl+euqisTjGTklGAM6ijs5EQHIRBy3/YdHu6O7X5mTKrR21MmzIypIt7EgKBXL7GDh66z2YU8C0oozWhtd3f12M7lOki+8Jx3DLalQr83Qq4OpS5GRkZlS1Ohj44jmxjc12CaVXWjKCAo0u+I4tPP3K9KFph0PIf9N6iY6QaHbd98xvfsu9+9wfW29tjj3jEw+zQkRP2je/8ILyXtqDAblGZC4ads3d3yPJcstPtQ39+kf3mY/pM+6+OmsyKfLh0U7DAlwIzS/3QdvrWje7imILxk824PfaB7fahV97PHn5BEja5k6ckq4KWLgWclKwyQcDGgn6RdUIwPQrWyGomII4AqoE5JZ2d0tFuG8FUc6PBYF19g42NT9khzQUZUT644b6aS9PPuAIm9FdXW2MdbW2SN1Hr8q/A8YV8+TCBcE0+H95F9ET8zy9YvY63E+F0d3P35UFmM7OzNjI6Zk958pPt+uuusyc/5SkrfVu9iD4Eedk0+W/paOPBkjW1VbyVjIMOGyR0+5WpwY+4F/1kXjqBp0UF96zvmVQgxvqPhXZgKqEXYdA946Hd2tqqYLo+vMyOT4sw1a7xIaw1ZKLm9RkKPECXdcU1NQX52dPYG6JvjzVt9Lufto31+IUm++Kgkgd9fX16YOzTeqwLNgkNdIDuwY8/BTc8rIez0j7mblK+Cpx79+419mVsi/1ys/NWKU3gwM0cUxMQIh/XtGF3wMSSIDQ3MIpxcF2tAjGIogjooAhwuxfTeLVKQ7NxYgS0V7OwgFkg0CDCdi8aDDww8dCENxSzFbruxcWKQYMP+aihi7FBF4dCDX6MKvKBzFulC661CrpGXvAiIzDQoUTj5hMnHJ3SBhw8sTjhEf4pyEDNQuOaANS9qDtwlhYWGLpEbnRBiTDwwT3zD2/Axr5q1MjAHOI80C3ygDfecx1l5bpaBV1HvOgIeuB29xB4o1PkRS+0V6tAl+McHMi55+23v3zt/7UPfOD9CpK6dZR5KgQA7r6ycaIPNvAuBWYzM3PK5GSM7Mu8jg55v2xSQUApb/V1deGldPg/evSYzSjoOg1D4FHQk3Xe+vv7QrDHt8pnc3mbUyaFwOn8/edYrZ6y+W98yIgVR5hRg4djtPA+ksYMDZ1SMDlDs5nbyk+DjvL6dBRXr2CAd5KmpqaNY8yTJ0/ZKQU4Swowi8BuEldP21kddXXY7My0XXfdl+zAgUN2//vfzy686GL70U9usRv/5yab1THfLbfdad/92n/Z8x62ZK99zrnW3JAtoln+S+DBZeQ12uuZ7UWogrku3Nxd9enfuprE/vQZe+3f/+Jie9zlHSEbVaOj1tMQxSsC12HJFORVQJvJJMWO1F+CKY6ECZTaO9pEy2RjtTY/v2j8n6jzc7PKFLbqODGXGlW8ROYhZUWTTMa6dMzLOi/2xL8FBcZTyuQNBdvpVkCey+dtXtmfBtlBXoHuCqTSg+gD3RNA3v/S+9unPvkJ++M/+f80N7URbEs1eOd0PEmpke3kxQOI3F1H2i2a204bGRkxNs+l5cCa/moUfAgFH0kwRo3vY+MkeZAoMB0bG5P9zIZAiXU/NTWlTOPkSqENH7cZfpCDcdSlPoR5ymjO6N8s3vV4AGfEzTXytilAb1A2HR64pkBzRkEn85LGxxjmB1j0RGEsvjenrJ776nWQHss17wgeOXIkBGAEvYwDB3xwj97RNzxCB3ru6+ME70aFuIb4Bl3DL7wyBvy7du0KQfChQ4eCjZXKDNxWC7iYQ/ZGZEUucLm7fGht0AN6psAbfcEDsABQMoYJgtgJwFYKjMAEhGACZtzPVCzKR0HuLscwISczvxVyq8awqFE+uJGJehWAbtw9TAK8wSO8wrO6tvQLDXRHIMY13xyMYTPhFPfTsrNZo49o9NXQNTIjA0ZMiUIgE3yhD+a1VU9gyMv7ZXzSkzHAwGO0ARYFcxIL9/AL3xFvrDF08DIeGPfTckYY96LxwRf0kDv2bbVGZ8iBbMwx9NfCxcJjjqEJn4xbC67SNnSFDOgbedHZWmPhh35sAbrwuRbcZtrIbuLM0CNPlu5FXe/bd469613/ZH/04hdrg5hSwDKiDM+SNm4PBRpJ4kbmpVHHDGQ1GnX02KVM1amRMSMwm1kVdDHCtMm3WKcCgNHREW2Eg+EIqdgT/xa0WTaHjDcv/Q8Pn9LGXGMjOhZraKy3/efuUdapYEPhiHIhDgq1uxtHcv39PTY3PxeyWASJoXP5D7pra2ux/r5um1PQMTBwIgR1uXw+yDilIM1CCwOQlUAlbxwJ3qls8Gc+87ngUx75yIdbXkd6X/jc5+yyrmP2rpdcZA86n+PJYibMzM1CsfCVFWLNTPfozFWbfgoq7q6/xd94qRhFLBSCnOG62B1GAdPVkrfXP+88e+Nzd1hDdtJ4kR4QXrof0PFiJpsxPrXKJyBpTxeCKd43W1LwiUzYMmuQrzI5fOSoESS06Si4TkFrehzXi8oknlQ2Dbsn69mkDRd+KPRTZqVT/teECQXl2AYb49zcgpHJrFNQBEy6LCkQGhubCBvJq171F/b6N7zR2to70yBbusaHzGjzRzbWqvtpPUeE9PFaCBs3PhbZY99Wa+RhLYOb4Ava6Jg1Ha+xwXhPMIHPnFSGZUoBGYW1jS8AV6V84EOQl3HQAf9aY6MPcV/7AwdrjSnXhhz4DeQDhgxNR0eH4ePxn3UKvumHpruHQAFYZERHjEkX4IBnLPsDtkNBHmilYblGTwMDA8Ev8R5Xq/Yh4Kkp8EOBp/b29gCHjtAV47daGA9tdI2s8LwWLvr4NCa2yPtl+Nq14DbTht7Aw/yiJ/cz7dq9GIdEXcNnEom4u568agwEKANBECj2V1qDlInE0GFkrQkqxQVDTCyGzVjqUpiN7tn0WCzwjILBudEYeAOWmrE4sI3GlPYzhu/SIWtBtE2kjw4p6MDdzd1LhwXHhoEwcegMvs8A2qABA2KeoMOicj+TTkQBjdHR0XBLsHhETyocY/JJG/C4eziShSfmDb2UlrjgmB/owjOwLFDb4Mfdg8zuRQcDzQ2GnNENvagveEHHZwCVNLgX6QKPDpgv8JSAbXjLOGRG1+DacIAAIiyyMha9qXlTv6xF7Asc2BdzUooAW3/yU55q1157bThCIjgi+xXpRXnzynj0KvOE3ianZnQ01RGOpDiqYgw00rgz2WzIrDQ3NRj2PaojqogrwhG4tLe3aW7zdu+9B8JL7O5Zm5icsc7Odtu1oz98+zyBWeQnjqXuVvaOgCNkixTUsY5pLxYPRxndOsbsUoZnRoHj0NCwZcQX14ODQ3qII9gjZLLw4+6GL+noaLUbb/yhfeGzn7VzG47Yh195sT35qi5bWiSGKsILlBuNK2iNFi+Rj7KkQEihlrGiCLb4xCW1hRYr/tAAgO7cly90XfzVvX4BuezcZnvfn11sf/a0LlucG7eJiSnbvWuHgt5WS6Mz/TAHZLVGFCyTsaqvrw1hZ41OE06cGLajylo2NzWG730T+KpfeJ6YmAxzwKcrW5qbQn+atQUd354YHlagfCrMfYfmbkHZNsXs1qDgLqvMTBi0/KegmkzntDKsz33ec+wTn/yUPeEJV4dNG15Zj0sK1gS2qV/mGV+PrvFd+OCNELCeent7g00cPXpU2dWpjYac0Q+9GQWArGd8F2vB3c39dAHG3cNY+EROaMMj/pJsHTjoC0AV/sH/MI71ig9xL9JYbzh0gYXfzfoQdzdoUdw9zFnX8vtayE4BNzTcV/OSkR3ga6jZG9FBmk93D7ECOFhvTU1NekBrsebm5kAHnNjFsGwNmXmIhDawMQhjDIU29h3GoGPsgXnBPrAv5iNNu5Jrxk1MTISYBh4rGUPAT8BI8I19ofNKxqVh0BPjkQPZ0F+6f61rYNABfQl/0oVOBEAhTESlTGGcwIMrTiTXmylMCpPBBDIZlUwEk46hMga+wbEZmsBisCgEekwistC+XgGWAOfw4cMhS7Bnz54w+RgVuoMPCtdMjvtqgwe3e3GRoHP4ZzJp36hEmeEBmcG/0ZjYj14xGOSlkKrlqQADBsa9uIhZqMwjBThqaCGfu4cMI3pjzGYK45ljZEBm6krGY4fMM+PhrZIxaRh3V9BQG5w5dCvVNbYA3ahr5iqNd6Nrdw92Ac84ZAq4NhoH3aGhIW3eE+E9C5zYRmMymay96A9fbB/64Ads7969ymwN6KhlbmWziePr6+t0zNlpc/ML4XiqX8dlSZIJ2bIRBV3A8Q6RUj/6LYj/vIK3TsskFt4vI9hDhnRhXrq7uywjHg6ET0suKuNkxrfL89L/jt4eI4BiLPjTJSPnzxElGTGCEd57O91fXDe1tXnr7enUU329MmSnwnFpa2vxE6Kjysqhr+IYF89LNjk+bud1J3bNn+233//lnZbJuOZeRbV7EaeZav2GWtcEl1y7h0bjx4lUCIlWmgqCpEdFcL58R/CmltTvaTiBGWge/YB2+8RrLrHHPqBp5YMRcQC6nFAwRXCMHjqUnaStRtk9PuF4UMewZK8ItNw9Dlupyb5xpEvQ3aksQ+KarJVeC1mHkzruPa5Mo7sb76tlsjnZwLw1yB7WWsuzOkbke8quuuoh9sUvft6e//wXpDCa7KImbPisp0rtGplYT8xXfX19GL8KaQU3+CMefKFLxgzaFQwz4BiDT8Y3wwN+oLTQDhy+khrfSMEHYavQQgbGcb1RAQ54dw/BSsSx0bjY7+7Bd+FD4Ac50GPsX6uGBjLGmuwTPgSdU/DBzLn7mbaUxse6Bh7Z2d9L/TX94CL4AD8P+9Twh/54T2uXjgXpJxNJIWijsKdEHt1X8wHf9FODBx2m+Sp3DRz7W5IkysI3GXU52LXagSd4JDgjKONBFHtYCzbdhl7gEz0hK7pN91dyjV2uXrWpUSgCw4fQhCJNBE11r1zSj7FhKEwcSFc6t3Dh7mGzx/gwAAQsh4Y+lMCkMnnuqye13Lhy7fCOzMgCXoxqLVj6+K8Z6CPVCX2uKegNPPCPocIXhXsmiX731XzSBizjwY1OuS4t8ANvyA08+EphKrnHwOKctct5wy/y8OQXaWOYtDOnFGjRxmJjcSMTbe6rZamEPjDgRm84F5wdstFeWuAVndAOH+iK660WxqM76KHLKG8pvtiP3QMPv6Uwm7l3LzpV6KN75nCt8dAdVSZzQCl+5gbHsBbcem19/Tvsne/8R3vHO94eNs3hcGy4aO4eCmPd3VoV0HAUNKKAhne0dvT3hgDu6LFBm5meAWxVQQ9k2KZ0bDM4eEIb3OpXDMgG1dbW6Hi0XUHTqB06dNiSTM5GxsZtQRmn/fvPUWCUsWPCz5yvQq6bOmVodu/eEd6HGhD+mdlZtfLr/AmlpbnR+hTcYXuHjxwLQR86HVC2jMwTwVxm/qS94TnSwR9dZK2NOctlEsu4iWSlAAAQAElEQVTKQbsTrNmqH3eXTopN8G8KvtSkoM7U7ra4WDAzV0B1Gs4E4O7GT0Hw1FSMd0/TcEBDNxfuHq5f9dvn2EdfeaH1NYzbuHRDMHXkyHFLxGNvj7J40hVrQyeP4T0x7IUALZfLhvHpP/MKqglisVOyjXXKpCVEfwKCH+yJL5Y9enwg/D+gZBpbWlrD8Snv6NWucTzJmhtVQNvX328f/9jHwvFkLlcjjGf+wjPrko0ZPhl7JlSxhTlnzSHbdtcTGFkf+CIeXE6ePBmCTtpLC7rBh8BrnY7nqCMM/MJTLMBxJMqex/5DoQ3eWbPoE3sDD76DcdQRX7qmPfYDn8vl0t2bvnb3sDfCP7qGn1Ik9KFf5sPdjQCJwhxR4APdA1c6tty9u4dAkvHQRSb0EOHBBU5wu7uxjxCIXX755bZz507Dx5AdY66alUFjj03zGPGsVSMHew2yMhfM11pw6Jp+4LYaEKXxIs8eJVmgffDgwfBgnO6P1+gB20Av6AcdxL6t1GUDsogMxaFABIUogsc+GEEJBBsw7l50OLF/OzWTDF0EJuJlUUV8XNPGPTDAcl2tgiwoFtkIGCJedHDfffeFyTn33HONaD/2xRpemEzGM0HwhxECS809fegM2DiOGuNjDDTTRo8OYhu4mRPgt1rAxzyiRwr4MD7w8TUZ0OaaAhxyY+Tdy1+OiH5iQRYcFLCbLe4envxwVNCEDryBB7rYG/yhE2Bor1YBH3JHvUa61LGNfkq1aIIHXSEP18iMnFxTcPw8lcFbvzbDUvsAZjPlsssutw9/+CP2vOc+17DlkZFRBRoFxQan12kmkxhBFjyRQeFTiy066iLAOawggSxaQURj0aW1tbdaW2uLgq6T4fvJcJLozRSVUGtaraW1OcDxIvaYgo4kyRiZLL6bbP95e21KR6bDOqJcWFgE5arCO1W7daRHUHjy5Knl99fgmWIKXFzHfS3W092pAHLGCN4ymYzZ4ow948G19v4/v9Qu2dtkLqzwosqouec6XYpBS7rFpSMTvGuDL4Ta9LOoIAlYMw/9xWskVimY1eSSwNeSOqCjSkGchbZsxgOuqBuBW2tj1t72fy6wP/6VdvP5kaCrnAKuJJMxsmL3HT5iJxVkdOhIkYymlfygcz7ROqHgmECMeQMEukvi1d1tYXHBjhwbMI4/OzrajawYL+y7F0JWTCAMWSnwFwJaBQ6v/6u/smuueb/19Pat9K93kSRJCBYCDvG0lDrGXFhY0HxPGf4NfwHserg208e8s1ZaWloU6B8LdOABHPDAmqLGvqFPe2kBnrXIGiEQi4Wx+CD62OvwT8gCPDiiL6aPEtup8SG01SjgBQ74bZaV4ciBPNCBN+Rz93CECC13D0eHBEH4aWAp8IK+3H0F12Yu3N3AB310hIxxPLritAUdXXzxxQZt9oxmBWDMDTVja/XAsBUesBtkQKfIjOzQpuaeeQI/cLRXq0CTd8Khce+998rfxIdEM2RFD+gD2tWgmVSKBEGZUIyWYGhUT/EoFqW7b22CK6GNgUED4SNtnBFtOTmOSnBsBcbdw7sojEXWI0eOGMeTRP7dCkxoL1fcPaTimSQCMIwRo6RwTYl9THgpHowWXWNkGALGzqQzB9VwZu4eMhXoFh0yj+7FRbx///6wERw4cEAb7inDAaFr+IEv+IV3CrJRU+jbKm+MQzZ3Dw41yg1O6NpZ+nEvBoTQiDSp0Ufk5yyRDvYBXex6bGzMCMSgjX2h42rRxW6e/Zzn2uc//3l71KMeZUNDwyE7An730+s2m80Yn34kWOCdoW4FO5lMok1uwE4qcFosCZwSbcCdHR1WW5OzgYFBBXxTCjqWFKwUjKCEwMBdgZMCAXi4+557NbfTVlvXYGPjk7Znz27bvatfx5gnZGejYRw8pQsBBHwQyI0pqGPjSfeDt1P4mxrr7DGXNtinXnux/eajiwGESCs8NKOmmH5irUsFShZKbKOWSKv4cPcwHnj34rXUxO1KUatg3Gbnkd3MTT+CzWU94F9ScITq1CTcZu5u0em6uz3msnb7l//vYqspjBky8vUUBw4cDJ/M5F0xK/lhA5rQ0ebJUwriFPTyNRYlIMrqLRrviRFUNzY2FI+n5xZsfm4+vDeWiK6lfpjzWfWNjU/Y8573XPuv/7rWHvmoR6cgKr9kTvAHbJz4rQmdriwpOMOmMwo2K8e0OUhws3agxUMzexQ81Ckjhp+rBNv8/LxsdErrY3ql4H/BQ/DBvlOKx91D9ggarF/gkRs9QNs9WETpsKrcQxMficzYBYV7sur4bHQOD7TBj3t1eAEX+BFibNl38a4Yr0mU7o3uHmze3QHfVnH3EPRDH7uiMM/oAZvbFvINBqPTPXv2hL2RWGBkZCSMQA/YXripwp/oGypG5V4MNnDI7ttXciWEMTTgMDxq7ilcn80CDRYiT/mkfUuNbSPa7kVdsSAwGCaPoIxCUEZAQx+6LMUFbQpOwJ0n7KVSkE3fu7s2icSgCW0KfBEY5BTcwgc0kbVdR5ksNoLgqHf3ojwscsbFEvHgAFgc7lu3C/fiWPdibT+HH+Rzd22YhVB+DiQDCehGHbe2toanWvQfOqv8J0ky9hd/8Sr70Ac/pM2+KQRRBNulZNjAe3q6bX5+UU/cNbZ//7m6XrAjR4/reG3CeLk9Paa2ts56FLzxBahHjx7TE+SchUhIERmyUHL5nPX29arZ7Y4771RtNjM7ZxOTU3b/Sy6yvt4uO6ZjTDbENG6uM9rE+TQmWaIhBYYzM7MGTsrM9LQ1ZibsI6+4yF7xzHNE14PzDwQYTFG0oamV3atb1zRRuFScYM6Niti1cA+w7mmHBu26NZrd3QiuuE8XNS/30xpGBrgiLPcmni3AgNMT17ULpmA/vmvMXvj3N9vl+5uMzSWniI9PtyZEh7b6B9kJsmryeevp6rJsJrsKANwnR0bsmAJk/MaO/h5LPAnz19zUoAxVZhU8N8AN6Uj7fve72L7wxc/bc577OzRvq8AH/Lu7xdp+Tj+1ysCQnZlUlo61hXybIQ3v+PxZHZezPrBJatrXw8Napj/CxZq2s1VYG8gb/XCs8cMU+vDHzEG1eUA+dMzeCF32C9qqTWctfO4empGf8vOky77N/kf2mg94xHkPDFXhT1IJDgQm6ucJgM2XiW5qajIMFSdSbabSPEUaKAGaFAIIjGGziy2Nd6NrFuJtt90mZzZvF1xwQYjMMXL0QEEnG+FI97u7HGI2vNMDHgoyUQjQuHcvBgUzMzPa2GZDehhjpw960N2qrjFc9Ib+MCoKcwlueOCpA0fEUwdw9PNEwDXvl5ElhAdkYoGz0BkHfxRwUbgGJ/iAraQwj8gGLGPBi43hFCm0n42CPOiauYYmBf7hB1un/2zRZbPgSYvgl5dIkRu9ogds/mzQBWdvX5/9y7vfY+94+9ttRsHNiI4xF4qRA90KHAhVCjqOb7K2ttbwHlhrW5uRrSKDclRHYHMKpgJwiHyAN6tvqAsw2MmJE0O2sLgYcKHDUJQpqqnJhw/AcFTJexmKSuzY4JBsXWvs/H3K7BTsvvuOhrFF/Kf/NjTU266dZL/ceMdteuKU/f0Ld9s1L7/UOprzoFLwYaHWMrL4A3cEWmInNBFgURYWCsYx5PxisRZ7oT/+YZx70fHTxhjuFC9xa1xzAQh9sdDGNTV9Jh0hP9euUe6uwK9gR4Z0vPq6H9v3bjll0H7k/Tvsoj2NIXPN2HRZ0JEf31e2sDBv/b3d8iH5dHe45v8YPXLsuHQ5ZwTIHcpejo5NyofUWY0CYvyGuzhQYUBBTI6MjIWHs498+EP2d3//D1Zf30jXtgq8snbyChpZT2m7Zl1tC/k6g8HNngAIdPk0JoHZ4OCgjmxHgi3SV2lBP8iC3tYbAxzyAous0G5oaDDuZ+TH6V9v/Fb68BM1OgrlIZrxbVqfZHCQN9LG31Por2ZBHuTiOy3x0eeff758RYtspz5kF9lDgKkmzYgLvOxP0GAfQ9fonHva6Y+w1azByz4EDfRL8MkxZmNjo92pB0zmv1r0ko0QsVnBCILDTBoeo0AxMESB8XT/dq5ZCDh3cBIcpHG5ezhOZBGOjY0ZsOn+7VyDk/eojh49ahdddJE2pbYVdO5FuhgCi59Ft9K5/sWq3rigwINRU6NLdx196MmMa9rSg1h8tGEYLAj0ku5f7zqOxYCYL2rmkjmFPmPRI3zRT00bBdjzzjsvODQCM4yfdgoLnvHgAR8F+FjDLzDArlWQAbtBj+BIB3HuHjYLeCdIwQ7XwrHVNvCBF10jQxoPmwltUdfpvu1eQ5cjFWjwEeu0zOgK3WHP8IZ+tksvjgcXuoY+NB5w2QPD12Q861nPMgKoSM/d4xA9QGSsv79XmbKcEUS1tbbI+Sq7piCKjNkib50LmuBFlQKixDhC7GhvsaETOoo8qY2QaCMAFIINAdfS0hwCs6NHB2xWQWFWm/fwydEQPNzv4vPFz7COVk+esa6hNzM1YX/6jD127esfaOf21YMulMD2adZDG39INIU+3SgGCUeLP7xj1P6/d91qv/76H9vvvPWn9s5PHbQFyULgJrDwG1FRM45GAjiBcakwi1BLpRBuw5946c6oYp+7K0vkkl33ZjY5s2gve/ft9tH/PmIc7TLnf/P7F1h7Y17hmgBSv8zZyOiYMmeT1qWj2WY9BFuAKuI3/SwsLigjpmNlHWHywv4OzRdfaQJEU+Np/QhUPBRsSfPBhwimpfc3vfH19qn//LTtO+dcurdVFhXxsk/gO1jL7nBQRImMtCEPNkhd7Nn+X3Bhu9DHrtPrCV76+/vDkSKvm+Czt0/xNAZ8IfLgK/Ajp3vMuKfgqynpvu1c4zfAi9zsizEIQ7/4W/wvARr6YD6A2w699FhwEoiNjo4qc74/6DX2u7vWb4NsPZG9jhs+PfZtt0YGdMj8IR9yRpzuHvhg7rEDfDbwsX+7Nf5yfHw8PCixN6bxoXMCUvSBXqohc9mADOVDCAZKGaEtXVAGRgLjKCTdt9lrlAkejL2lpSW8a1MOB8aJUUKTyWBsOdiN2hlLEMaLe7ywv0fnxeXGuHsICBlDILOU9uTlBpW0u7s2unwIOpCDyUTPRN84sBLwcOteND50jSPAWEJHmT84J5wF84MhUzAiCkZNP4sWPOiR+zKojCM13hHgO7EOHDggx760Asq4SCfSoo4Fft1PO2gGMr/MGePop22tglOFX2oW5FZ0ncbLeGRGx/DnvpqvCOvuYW7gDT7RUezbSg1dAjFoE4ghdzk82AMyRx2Vg6u0nfWBQ2POkSeOS5KMPfe5z7Prr7/ezt+/347qWJJ1X+wv6oVgJKNjw507d5j2cuOTjByF0UZQxn+5E44xC8VR/HX3kKWpq6sx7GVSR5PgKZZCCAyA4z8J9yRjt99+p+Vraq21rcM4Prv0kvvZnt077PCRYzY2NhHgCRofsGPWrnvLA+1pD+ux9E8mUbCz1+QxIAAAEABJREFUTB+uRX6lm6VJEEUm7MDAtP3yq39o7/n8QfvpgXGbmF60wZFZ82TJnvyaH9n0HFm94lBk5Qord5Dqxr0YWOky/C43h2v+xHudSHIbQqeizBaycf/yuUP2/L+9SUHhog2PLdjfv+hie/wVnebu0i16CcMkrynbMG38LwXNjQ3W0d5a7LBIwQx7Gj51yo4PnDDsZYcCsanpmZD1bNbxpFAujzldLSgTin6vvvoJmvMv2eUP+oVtb5z4wLgu8S8JEfBpkquuop/AFimrOrdww/rAD7JW0EE5FNj8rl27QjeB2YIyjuFmi39YI6xjHhah7X56XtIo3T0EC/CGjrZDF92xfpl3fEd3d3cIgKBPoQ1+3OHFQkCIf0M/0E7ztdlr5vjIkSNhLfOOcU/P6vWXxgef7CWMQUfU6f7NXjPHxAPIhn2VG+9eDAihP6YkzXZ0DQ30DP/UyANe2kuLuxvZWGIGbGtgYCCszVK4Su+TUkAUiAIwuo0CovRYFmJkHIUwPt1fyTUbH0po0pNgbW1tJUMCDIZKYexWFjpGe8stt4RPhpANCkgr+IORIDOb9VaNns2SycbIkRujo8aJuBcXVykr7h5SxO6uDXJCRz2Lq0DcPQSy4ABfLCxQCg4CuswztCrVdUYbM4EqAQWBK+fokbB7kSbOARoU6KZr9IWBM09c0+e+towRb6yhDW50jZ3E9s3UzBF2CV/YayVj3Yu6Bh6+4b+ScWmYoaEh4+iETaGt7XTGNQ2z1jXzh13DN45pLZj12nBK8IyuwVMOlr6//4d3hIzZlIKnIwqEVstJtFOw5ubGkDEbGZ1QsJq3Cy883/jG98OCn1r55nxgRckTq9WxCl9RofDBeNdkUdkc9YRf/AyFed2xoz98KOBHP/qxsnK58MWmfFHsFZddEmx7cuS4ffgVF9jLf2NfCEk0Jca+7wGThQCGyxD86IJaVfglsJqaWbD/8/c/tX/89L22oCPKvvY6e9sLz1dAdIF98NWX2SMvF/3ZxZC9YhDjM/KMHE/G4Io2SqArwvBAAZ7i7sYY0w80dVvMomnQ7fdN2BNe8cPgqOcXzF70q3vtBU/aLcZN8qki6tM4frHv4wODWr9Z6+3ukj6yNK8qYxPjxtdYzM3NG18Tgp1MT89ai+YnC9OroIs3xxW4dXf32A03fN1e+rJXGHpn/TEH2MiiMlxFyMr+Mg4fgu8EDzZWyUj3YpACz9g18lYyLg0Dr/gu/Bg+Id233jV87ty501iPPCggw3rwa/WhK8bhQ9xlCGsBlbQlMhpo08z41WuL1vKFeWJ9giPuE+zLyE2hDz3QX4rF3cM+AQx78tzcXCnIhvfDw8N6YLo97I3obsMBywDYAzpiP0bm5eaKK3QEz+4uv9Mc7LWSwegL/bh7yNRVMqYUZmpqSg82MyHpgp2W9q917+5GwoLEBbHEVmRmLcjtnEbPAqGwSTPJp3sqv0Ihzc3NcjSLRoYN491oNBsHsAQG0N4Ifq1+dw9fBIchMJHgXAsu3cak33777doMJu1+97ufnGAu3V3xNZPG4mAScFCVDAQOeIyHwngMOBb0wPV688ACBQY5wAdddw9PzDgAcFCDmwKfwI6MjGhDrQ2GzpjNFhY/TwTwdvPNN4egMOJwL9KHHrThL9bYAnOM0bpX5swiXmp3D09+OBjkZUOgfaMSYeED+9gIfq1+7BpZWDQs2LVgStvYNMgmIm9vb29pd0X37h6ehJlr8DF/Gw1Ez9iWuwenwnxtNIZ+3jv64nXX2zXve68d0RMx/29kobBEVygFBReUjo422U6L3XXXPdba2mZ8dxbvOB3RESRfk2EKmwpKTQFr+qmvq7Pu7g4bld3xRYu0F4s6FbZwjX57e3vCf3wO3oIl4f+hfPiFefv3Vz/A2hqyIfAi3GMU8UO8JgCiLV1iILWkzqtf+UNrbcza/KLbX+t48BGXtiszNmdv/I+T9oy//JF94yfDdtGuBmtvOr3+NUzwCpaWiUiVRpFYgQ9oSR1UxSI4JaDUpwt+VUYnF+zRL/2BffyGYyEQfOB5bfbWF15oNblEcMKN7IwOSyH8sWlluXYq28WL+3SlC9/LdvjoMa23yXA03NbWaqMKjuvrarUuTvOeHkNgO6yj4y984XP2/g98QL6hJt0dfB52jb9k81zVWeYG2MnJSdGsCRt+GbB1m92Ldu3ukmci7BfrDlAndsIa0GXw9dRbKaxFHoCxcfadSnCw5glo0BVrsZIxpTCMYzw+BJ9U2p++d/egX8Ysyeja29vD6zP4PnwrNb6UdZMet9Y16589mRp5wbcWXLoNHgks2DMuvPBC2U0+3V3xNXzid9mTK/XXzDG2CM/b8dfsf+gZ2pUwzPxCG57RcSVjSmHQ1yWXXBL0RWxRia6BYV7cXV7PLLy4DtMwgsGoadu/bNYEGhgyZS2EkRFqYDGYteA204aBMpHgREjq0vG0sRg5ouQMmBciS2E2e+/uYfNjkaBLDHotHEw6fAGHwUQYDA8jwHiZA/qQg8I1+oywpXUci6NEh8BHPOACL+3wxdjW1laqbRdwE8jyxMr7ZWmEzAMyQpt26OMIoQ1v2Bow9G22uHs4CsBZEXiU0zXtbBzwwULZLJ214MED7ziMcg4GfZBBBJanJvhcC9dm2tAf8wpuZCo3lj74Ym62qt8LLrqfffvb37Hfed5zw0v9s7NzIbsDTTZFSqKIp7+/T44nZydPjeoJutPa29tsQJkYvheskArkCD0SzVl7e6tgWkO2bGxsXOgKCkwoglB0U1BpampU8NYdAkLkGB6bDe96ffa7g+HYj/e4BBaCo2IIIzTLv4Xlmoprgqr/uWPULtzTYhMzS/bbj+uz+wan7Y0fucve9NF77bCOaIH9rUd12j/+8cUBJ/diVXyZleI3/dCnKvRTx3uAuXZ3m19Yshe942Z73QfuUCbPrbEuZ+996aXW1ZoP4+BLYBrulkAEZq3409rSLBiFo0lSbNBf3jXjk5NDwyeN/l4dGc3NzyuYylpDfa0gzvydU/ZscHDI/vatf23f+ta3rLOz+0ygVAu2SsFXo/dU18olfpP15u7B1610bOOCtYGtYtdsntjAWujgC//WpNOTrdp1Gi/raaeyZfhO1ipypfvj9ZyyStCur6+XrW8tKIm4Yo2e8Un4EPDH9ljDEz4GnbAvdq9xPIneInylNWPAB00Cj3Lj+L+OeXDiHWrmphxcpe3urge45pDtJRmAHa01FruDL2ii77VgNtuGHrGZMR1jou+1xqNn9mTsClh3XwtsU23s18QWZGP5LwrXkhlbx+6YD+aF+UlgFEps/Bgp19UsbL4YH4TZIMENIxg5EwAjME97NQs4kYlJYJOKuIeVguUFPIIDFqT79pUfcVO7F42Pa3TLZHNNzaSjY2R2P5Ouu1s+nzd0hmGUFgyVxYrhuLucfRIK9xgeC5eXPE0/LHraqHF06B59MOnqruov8nCUyRk6GaGIHN1Dm8wLQS/8I1usWXTw536mLiKO9WrkBpe7G/YUjZ4ae0NW6LlvDX852u4eMozghw4LKsLy6UGOcgnEsMHYXq2a+UcmaKLfiJd77Bydst5i+1ZrdPvs5zxXR1w3GJmr48cHQhaDYMgUfVCzjoHr6elW35KNjIwaR5T8f4h8EvLkyVOmUEvl9C/23yv4mnzOjh07HuatCENgVizcd3V12xUXtNuTrtoVbJxjv9956012aGAmBGYENTGOibFLepaJB7l/wLnNduvBUQVki/aX19xp13xlOAR8mSSxZz223/77b68Mn9JMFBklmlf9BmapEyGgDg3Lf5B7+TJUpfd/98kD9sK3/8x2ddWYeWLv+uP72ZOv6rGMC5khWZFrxtFETcClrlW/2LC726mRMTt2fNDImKFbAtI5BVuNDfWahVVDwg1BC8eTD3rQ5SEQe9CVDzH3Iu0AsM4fdw8ZL2yM9YTPApx5jvesN+ac9mqWfD4f1hQ2TYm42SPwIfgy+Irt1apZL6xVZOQBPcpMzdqGJjDVohfxuBd1jQ9Bt/hnrpGTuee6R4E3ax36tFPgx72y+Yy0Suva2toQUKNXSuwnCOMDbQQS/f39FdtNHL9Rjd3wQI6sBF4RHl1zj2zsee7bky/ijbV7cU8GP3sw9OlDz9BlzbCHwR/t1SruHnwNr0GxLxw/fnwFNXNOYX6Zj9iRsEnDaGw4GzVOmIXs7uH8nkAF46KcDXoRp3vR6KHDOzw33XRTWPQYXLWVH2nGGp1iXDgUJoJJR9cstAhTrnZ3Pf3mgnNEb+BhLEZDYRKRiWCGa9roj3AEmyxivicFXQPDpLtX19At9YM+CXApBLwYIE4Wnph/9AHP8EJBLgrXFPpT6DZ1iU7BzULDqaBrcLufPXlhEJmhQ00wykv7yE9Q7H52aaNbdIaDYZ7RAXp0ry5d7Og97/lX++QnPxmCLoIsHBlk3D1kcxRGWX342otum5yatmwuH44xZ5VdOHps0KZnZlDX6SIWa2qKMIsLC8qYFYM9ANgYi2UpZI86W2vsjb93qfV0NtmCjm4+9a0j9pL/d4tNTi+sBGYcXzJ2VRENsWe5rNv1f3Ol/eWzzrWrLm61q86vtT/+5Rb74luusD98ym4FOollM1pvKsDb8g/XfBiAgGm5SRuUhWIlP8DcfHDCnvnG/7VcUlCv2xOv7LYXP2WP6Ce6N1tShLgo/pEN3GJPbRYPLVfwMpoB4zoSJIM3Jx3yf43W1NYZXzdCIJbPZwFZVcB7Yuik/FudfelLX7I3vumvNQ+5VTCV3rBemXfmmQdYNm3WVy63NXyV0nX3kPnOKzhjo8R3cQ1tdzRWKabNwbl7OAIlAMJ/kO0nSGBtu1eXrrtbNpsN2TZkQ88cR0ILPcM5fLS1tRl9FOSvqakx5oX+ahT3oq5zmlP2J149IVjiVRT8WTVolMOBLMhLQMK+jK7jPlFuTDXakYu9krUyMDBg6Bs+4Kca+MvhYN4I+qGNng8dOmTQbGho0LpfbV8JR3flEFWznU2SCWDSMTCe5lFMNWmshQunQtTPIuAsnHs27rVgq93Gkx4yskFjdBjAZmi4e1i4TBwBF7pj8ZJtIhtG4ZrFSx9GzQLG8HDk0CUQQ9ebobtVWGRljglKyIpxhp6WGcPEEOGRglwsiFjTxjxthT66RsfQxdZ+XnOMbnmyZi4oBODoYSsybGYMdozM6AzbQM/IvxkclcK6u/X377Brr/2sveXNb9BD1bCN6ciRAMPkTwgigsyCa25u0kZSFzI7DfUN4ROCfBLzuI4y55TZCTQZoAt310bYoOPOdhsfHzM2fzUXgzxFOXwycnFpUU0Fu/z8NnvFsy62bK5WG1PBXnPN7fbOTx8swhLWLOMUcPgV6lAnumioydjFexrtDb+z3177nPPskZe2W0NtRmMFonECMYruQnBWk3fLJGbaNy39I5ZMMdVKE/cjk/M6nvyZfeKGozY9u2g7uvOh+nMAABAASURBVOrtVb99rjXXZ4VfoaqAmCt3N9dISkHpvaA79blayc6pK/zOzMyGjBj/O0FnR5s16ohuYnLKapRRrK1jU/YAF/+gd74fjk+/8n1ifI0FviD2b7Vm/bCO8C2sSex6q7g2Mw5dYcv4CfYJ/Altm8GxFVj0iMxsmnxoiUBhfJxj9a1gW3sMAS3+GLnqdQRKwWfj/2hn045zRx8FPeDP18a4vVbmlL0RH8x3baL3n4eu4XpSDxzubvhr+JgpfWgD6CyUOT3gQI99E71iX2eBzJoosS/0jL8+cOCAwUcpYMIGzxNBtY0vEmKCwU2N8bG483oCwthQBiXCVrsma8FmyX8AjpzQxfhYfKSjqatNE3woHvwsJhYbE4+83KMLjAK4Sot78amKRQv/OA0cJYVrJhj86BZ9Ihe6TpLEoEkf7SyCSmluFg7cLCroRj4JgFnkvKMBTxEn+gAG3VCQKV3TB+8Rfr0aXSJblJNxyOvu4cMaZytIYbPiScfdjU9PYlvwgLNFD/C1Ht/b6UOn4EdOnDz65BpZ0UVa19uhUzoWmR9w2RX2uc99zq5+4hNscGDQZhVAmAIMU2ChCES/BYOfjo52q6mtsdGxCevt7bbmpkYbPDFsJ0+OWvFHkRCBlG4ST6yluTnADAhn/JoMddn8fCF8HcXM3CIU7HFXdNtTH7nHTk4s2p2HJ+xP//kW++ZNp5Q9KwQ2Alb9UazDcNP0mLmJkorabY0fYCl0LUqW2bmC8Jmlgy/6shmTbFxZCL7e9ol77R8+ea+NTi5YR3ONvel3L7D7n9MUACAVcZ6+dmX1TLiXzAJjFn6WAARId3w4ol7HkehsdnZeGbaM1dfVWZJ40K1AdJ1ouNvs7JyC2FP2mlf9hX3py1+yc849L7QDs9WCDU0ub5bYMusJ26Zg12ttIlullR6HzYI/2jX0sO1o19h8Gr6a19CENjSRGT/KQyV2fKDMxrkZ+uABL7Lg6/CR+Gyu6SMI27FjR3hpn0CBwjxQ3H0zpCqCZS/GJ588edI4ToMPZIYv5pe9i/moCNkmgcDPHogu0AnyQxf6tCPzJlFWBI7MY2NjWr8ZPQQ2hbpWR7fwgL0z/xUh2gIQcmFjUU7me+/evcbpBgExvEW0CQzRyQCOmqpl+EwogjIBTDjG7n7auFjobMI1SsXCMEFMZGq7NUc4GBwZIhYWkx1xuvtK1glZ2cBi33ZrjAlZwIPMyMh1LBgf7dwDh4643kxx9+CQwQ0+invxHSo2TPDjyCz1AywLAAOELnOd6t7WJYbMAgY3tuR+eo7d3QiEmQM+Zs4xZpTZ3ZWByBrj4A1biAUZuC61GUv9YMTMXZSNOtUdcIMDeswzdbp/q9fgQRZsDLngPY3L3cOxC/MCf8xJun8716wR1hQ6o7iv1jX6Yg5Yc9WcY3QNXXSMTnEoL3v5K+xjH/t36+vrVcZsyOaV/SKuQD50RMEOCcxmFLRNTE5bZ2e7ZRRY8G3/I6PjCjAEvRyI6CrMWXeXYDJuHB2RSZpXgDQ/v2SqjIzZ/ELBunWM+YpnXWRPeuhOGxpdsC/8YND+9J9utZvuHtOxamEl+AJ1klg4+swJJ+qiQEtsKHjhylZq00+UASQxIAOPuoTbQkD18a8fsxe982Y7OjStYGzR/uzX9tkTr+yympxLJkFDRFUiIu4u+m5uFgKx+YUl++z3ToQj1wURQ0+JYAQuCFMmsjesb/TZ0FBn2JG6Qx9/gOeF/hNDw3bVVVfZZz/3WXv8E662XC5P95YLeFkn+DBsOu0zQZokSVirtFfbrrHXGWVI8npQX8uuczpWY58AhgI/1SjIiizomHWDjGm86GHPnj3GumPNp/squQYffIOntNAHTV4v4aGaa2DRAfKyeQNDEFEtH8Ick/kjyMR39fX1BfuKsrgXfRe8ohfmJfZtt0bXyIL9RNnSOGM7umY/week+7dzzZ4HXugy12lc6BifBn3oVkvX0GA9oUfwM7fueAF6LOidE5Xdu3cbiaMBHaHSk4Q/WmwdHR1GJgnmySrRvtXCRMIIiwtDc/eyqFAQisJYoL0dhUzqyY6IE+USZKKEcoTdXUcr9SGDxDh4Lge7UTu8gwPeCSZYUOXGuHsICIGLE1YOdsN2AUQc6Bp53dfXNXQ1TEdE47Ydo0dWDJj5Ayc1eNcq6KO/v994NwJnEI+mgGVB4ISwExwBuDBgagptjAeWgq6RmQXGGOaa9nKFfnRDgMI4xpeDXa+dcSMjI8ba6Orq0jFbV9g4y41BH/BOP3S3o2ucGfaFrtCNe/k5dvewcUKfNYie4GGrBRzMNbKAM41nz5699r73XWPvfve7pQuXTY0paFlSUGLLpRhmME9kc6enZwWXMT4pOKMgbWBwKHzfTxEnsCqB/xrr7u60gsRcUACWUTBF5mpxsRC+PmJGARpB2u6eenv5b11oO7obFZjN2ie/ecxe+/47bWxq3sg6Kd6xlaCKGxFarowAjz7uKeoykaYy3jsTJ+GavkR8mMoP7xyz57/1JrvryISONhP71Yf22h8+ebe1hq/kKAASShBe8NiMNBHwwA/vuv3hO262628ctvd/6bBxGgv+WJJMzqanZ6xOmcV8PqdxbpEn3Qhtwfgqkn6tpX//94/Z/33dX1ljY5MyZbN0b7nMKBii4D9Yi+5eFhc2wHwiGzZJXRZ4gw7sGvtijYIT+y43hD7WMb6AMdhkOdiN2uGZNQn9tew6Pd7dpeNGPUx0hocENk7Gp2FKr93d4BOZWK+xQAs5GM96aGxsDBuz+9r6BgeZNOC3q2t8NQkX9tpzzjkn8FfKd7yHR3hmrtmT8Z2xb7M1vEOb+UIWcK6HgzlGT8wPNsn49eDX6wMHBVmwbfe19QwObJD5gE90jW3QvpWCvpCZ+UMW9FkODzCcsMDjAWVjkzQgyuru7g5ZDbIZGF+6f6NrnD+MwAAEwLfRmNiPI0AhKIIFF9srqRmDMChi7969ISXpXl75aZzwCK/ubCjj4Wko3b/RNRNOwZA2mvQ0LvdiQMg4DGCzASGGw2JhQuEfOdL4y127+0pAiL7Q9WaMnsCCOYY+dKFfjlZpO7LyxAmvBM7oLcLQhv5KnRg2AR3amWcWKXiAda9sjt09BN6MYTxyR7qV1OiIpxjocrTA4q1kHDDAMg59Ie9mdQ1t5EYH6AiclRRgcQburk1+2pi3SsZFGOwRXcE7a9N9bV27u11yyaX26U9/xp797GcrYDgVjooLhSUFEApHFG0UVASmddlouXzeZnTU1lBfZ+1trcZXZnCUOb+waAUzc/2bmJi0+BMCMUVPSyoLCsgIyrimfU6BGXgfe3m3vfQ3L9Qmk7dJHfO94UN32r989j5lswqSm2K6jhhP14yl0CIWqUKBjusqHFEmZuOTi/aHb7/ZPv+9gZCl29PbYC//9X22s7PG+CnyLVl1o8NIyV2QFLoXUmSn3Ht82l71gcPW11Frve019uO7xsWTdKQxo1NmI9MFW1xYsNqavLmLqLlF3gRivCe2sLhkb33rX9t73/s+Yx25e7BrbIy5wv8CW2nBJrEv1jDrC79dyVj3YsBRX19vrCVoVzIuwqAP1sKSImJwYKuxb6MaWHgFB34THBuNif2MmZ2dDQFstOvYt1GNjngQI5DioYxsz1pjmAv4Y71SkI9CO7wSELW2tlqluoYGtMGJnpEZOWivpDA/vJJEzfEkeCoZBww8w6+7hzUN/7RXWphjeEZ+fG+l49ANuoM+8sJ7pWOBY44nJibkD3KGvOCjvZKCXTAGmqyNzega/UDX3UMQD/+V0HQvwrOmk7UGwBSpNCaDwIyNfy242AbTKI4aRWJAsW8ztbsHB8PkoQwmdKPxbJSkk9koWSws2I3GrNXPptOoJxaUCm1kWQsutjFhKB9ZMbit0sVY0Jm7K8MwHhxcpLFWvajHbHRNDb+VTnopLncPmRTmmkVDKYVJ36MPYCjIyzh3T4NUdI28OCSyseiP+YsbibuHYytwQwO9ULAHxpHa384cg4PF5u4hSGFDWo9p5pgPvcAfTzHwtR58uT53D0EwcuAswFsONrajZ+hCE9uM7ZutsQ9wICvriXlcDwc0gYvj0Nl68LGPdfCCF/yefeYzn7En/dLVCsxGwsMN9BSXhCCFa/C2tDRbJpuzickJa21tMXg7cWLYjh8/EV5oHx+f1PWg8Q37St7bvLJkBGAFhWxJUjCyTQsK0PQb+mZ1DJjLJvZrj95pT/yFnTY9Z3bPsYnwaczv3zaqwKewTD9ye2atKbKsMnH0KE6g0jizv/74vfY3/3GXLSgY6mypsZfqePLKC1pWgiVkC8DxT8HEpYo63IvrQ5f29v88WNwgarO2u6feOppzNjPvNjRRsLp8wdobXDg12DxiEs9mM8okjoyM2u///u+HoPeqhz7c3E/DAJzJZMJa5pq5Q59clyv4OOCYD9YZ48vBrtfu7sFfY58zyrJhO+vBQw847B+bxGbWgy/X5+5Bl/AOTXCWg43tEQ77g7b7ah1GuI1qZO1XhhI4PlWNHrlGh+CFJ3xWLKx59E0fvmurMrMO8V0U9if8CHTLFWjiW3lPDN/V3t5+ht2UG1vaDs/IBU32HuaxFCZ9H+HQFfzCe7q/0mvmij3OvRgQLmrvW28s/ewp0GMc49eDL9fHePiGf+TdyL7QR4Rj3tFXOdzrtbu7JVbmx93DkR5nzSiYjAYLqRQc44BhJgwB3Ldm6Gm8GHfEh6AspnQ/1xgaWTEMDR63qgRwxeLuwcGweFholNgXa5wdk84koPytTnrEF2t0hxGBF5lZULGPmnb4YQ7QDQvdffu6jsaHzpEL/NBLF9qYZ3QMbcak+7dyDQ6eOCm8L0Q2FhnB5V50uOiENmgCR8obnVPoc9+a/MjBgkPH2C41dGOBJvzwFEzGuKWlJXZtq0ZmbIuaucSWShFi6/TBI3MMbCnMZu/dfcOAEB1A193DUyX2sFk6wDNPf/bSl9m/ve9flWlvsxEd8+IoCUrohwZyj46O2pIiqtHRMTtn356VjEGDsi78J9nMwT1HJu3me8fsprtHFSwlltXZISELuMiULShIMi/YggK24vtlS7aru87++Nf226Mu7zPeG/vEN46FwOz2w5NGIGepH/DE20LBQnAn8bVxmX3h+yfspf9yq912aFwgiT33CTvtcZd3WGNtRtGWfsVIHE8tUUIAZSmThF4ihLPK5E3OLNrA4AnhYmzBMtl84IdALJ8Nzav+zC/M26mREbvqqofYxz72MXvWs569EnStAkzdYDPY15IiSvSMDlPd4q+gAG8mBMrAAZ/u3+o1Ngo+xkOX+eU6XfAhrDVoYtfuKUWlATdx7e7BX+MLwA2N0uGL2sTxXe7bs+s0XncPX3TKvsPeyPukyIRfouCv8C/oH3kJxLh3377M6Br87m746/n5+TRr4XpwcDB8sTIfDuAdNXgIHdv4417UH3Iwx8hdio55Z+/K6AH2vO+uAAAQAElEQVQBPVCXwmzlHv6RGVnBj17TeLB32uEJusCn+7d6nc1mQ6YLOcCPfKW4oIl9Yf/w6L69OU5KCZTewwwTy1Hg0NCQkY0CJjKCITJJ7ttjBJylBdoIicLJ0rG4MEICMWD37NkTgkauq1mi0bPQmQgMASPAELlm0pHbvboyu3twMOgTBwM96EZdww997tWli+4wYuTiGh2j86hv2uhjPriuZkGPPHGCn08tEmgjM3pnAZBNIyCin0LQGmtsg0WzVX7QJ4U5RcfQJYAgGIMmdo9etoq/3Dh4Zh7RMfNMja6Zb/ei4zsbusaucRzU0EJuZI7X9MFbOb4rbQf/vQcOhqPM5z//+YZ8zCv+A9uCLriWFMXU1tbYkaPHbUd/r+3c2WednW12YmjYanS0SUDT0jZu//6VQ/bfP5m0wZFZBRWMLBh9CzrCpCg2MnBRuJ+fL9i5/Y323F/aZzu6Gm1sasE++OXD4RhzXkEcwRxjpGqQhcI1gdX/3DFmL3v3bfal/zlhYi98qeuzH9dv3a15RVLh15Y0IhZdht8kLkkhjtc0wSfZPfC3tTbb7IJrfKLjyTmrzTG0EGSCdrjTUS9BandXt/3zP/+z/dXr32j9O3bSVVFx9xB8M5fYNIWBBCvYGvbOmnOHO3qqV1gr0F1aDgipF5cDImwCm/952DV+I9o19KFbDbtOa8q9qGdOZgjM8FfYNrSQFVh8CL4q3tNWjeJepA1u5CMgQNfskfhQeCArxlxUg14aB7Lgd6mRl7UMbeTnmr5q6xr67h4eSJANO452zTX+i3Zou58duwY3doWcyMs18qMH5qFadp0gbCUFgv1K1cLYbbfdZmQ1uKa9kvFbhXF3w4GgcAIx6O7evVtP31tPwVbKC7KhbCacTZp7+HCv/qSneWKS0S01TztMPnxAPw23metKYN09OHNkZAMliwEfOPFKxm8HhkALJ8JCw75wqPCBDpAbG4AXCrqgMIYCHDBboQ9+cONM+GQuOHiqPBvODNzpgl7ZxMjEsdCheTacWZom19CAFromAOUeHbhv3655cfjLX/6yveY1r9ER26ftX/7l3eF4CSfG5sV7Y02Njdbd1Wnn7tutI/p5m+e7gVTm5xZsaOiUXXLxBbZPWTN4bWvOWD7nduOtw/axrx6zJQVhBFQLOqZcUsRE4dOY1PPqm1fANau+WWWlanIZu/rBvcqYnW9mWbvjvnF79fvusI8u42FMDITGFbS94cN32ae+eUxHnou2r7feXvBLu+yi3Y0aa6YknC3qakklaCn80Y1+UVvEo9sQYFGnC3M9N79o+/tydtd9YwZtd1dmMIXIREf8v+xlf2bv/8AH7dJL76+Wrf26e9jA3HUsqgfp9HraGsbKRrl78CHYE/4D38n6xMYqw7B1KGhg19CENmsLvbuv1vHWKRRHRjr4IAoZsHPPPdeoOSacV9aKYAy44oiz89e9OMdgv/POO214eFgPNTutqamJprNa0C2yT01NBbromXl2r66uS4XAX0OHPZE9eUnBP3zQXgpbzXv3oq6xazKiyM3egx6qSSepFBmCs2nAEN8vBTOVvF9WKf714PgmYc7r2bAJxlhwRMbrjalGH5NOFEwQwCcE0QG0cW7VwF8OB3TQNXQ4MmPS4QN+yo2pRjv00CuFo2CcCvLydF0N/OvhwIlh5GSlzj//fCNIwbkRNDDO3cP7ZSxG5oNFGAu2yDW2udmFCV0WNjXvtYEHmXnyhO7ZKuga2ZhTjmKRgXv4OFs0I15oMMdsXmQgsTfu4SnCbKX++te/bi984QvtrW/9mzB8z+5dtn//OQq6Zq2pscEW5udsQRmTk6dO6SigwYaGT9nePbvs4ovPD5v4+MSEPfRhD7U77rrXjh0fCMHKR74wYrt6ssb3cy16TXiva16Bl2KxcMS4oOtQ1EBNNgo5lsL9kuCXrLkha8954h579BV9ylCZ/eSeUfuTd91iP7xjVMFTwd7+qQP26n+73eYWFi2TJPZ/fnm3XX1lVzjyRJACf1TiVhPu9YcgTGapntO/ahbOeO8K7syGJk0nma7jwml79i/usYLupueW9LdQTLnZ6Z9Pf/oz9uSnPE2yV+yaTw9OXS1po2I9ubuyjp3m7uG/qVqU/lNgZ+USO8Zn4D9Yq6wn7PysEEshjXYNTWhDE16whxTYli/xLawZ8OMnqCn4HWiwli6++OLgp8hUsaa2TKyCgcwxJ1Y8VJ1zzjkhGIMmuq9g+LZA0Ct7FHrgGxrQPfaGHsxsW7jXG4z9Qpdglz2Zmnva1xu33T7kwo7RLXsj8w5d7reLOz1+w1UPI0wyymYzxCBBgPGRqiVQIDBjQmivZgE3nxBhs2KzJAonE4IRUKOQs0EXQ4c2CxraTLp7MUKGB3SBTtBNNeUFH3iZeCYcXbt72KyQGaOjD/6qSRdc6BF9oldo4XziNf1RH1xXsyAT+qRG1wSf0CUby/tIBONk66LM7kV9YIvoCF4pjKXQxhy5x+1zbW7R9bCeKHmSxqHwdOvuIZsDbuaeuYh018aytVZ0DW7kxJmja0qcb/rQx9awlx+FLNgPsiNjtGt4QGc4WXgrj2Htnp/85Cf2ute9zl72spdZU1NjeKGfeRgbH7cjR46FL3zt7OwIn6rM57LhnbFD9x025GfO+CZ/ZH/sYx5tQycGrbWlWUHcXJiLew7zjowCF5HubV5UQLekontFQ5mMKeAqFAMgNRHd6MQv9BOYKVEWgraZ2aXQdtGeZnvx08+zS89tN8Vr9v7rD9uTXvU/dueRSZucLdjjHthlz9LxZD6XhP4l0YwlWhNkYpG5BDixoiBLwPoNcPozv+g2PFkImbWW2oLx30j90ZN365hy0c7pzRv/80Bh+RVe5kNDwy/zEi628Qf7YaMAVy6XC5iYX+6xa+Y5TTMAVOEPtsNaxq6YT2yagi1E2zsbdg1OZEYmZMSu3D1kCJGfPnjbqojIgP6Qg4K/oUDL3UMAxn5IG7TxJ+yN+C0CJuZiq7TLjeOkiH2Xhzl8JXKid3hiDL4cvXBdzQJOcLu7Hqoag+zoB73gR/Av2Fc1aYKLuY24Iy3amRdkhiZ8YWe0V7Mwf+CGFrTdi3POfLt7+AQqeqkGzWQ9JBgxjDDROE4Un4bH+PhyOYyPozXeEamGQlAuxsZCIvKHdpou1xggykER8FgNunHSmXho4lSglS7IzERQQxcdpfu3eh0nHbzgd5dXTyFz93B0i1GgF3iE3xTIli7T+kNm9FqKCJrwBCx0q6lr5GZBraVrFjjvCaITnjjJmkXesEX6GQtv2AI1MlDTjt1G+HRNEEagBwwZubXgwI3c2CI8VkvX6A9eoL0WXdrQBRsn81wtXUc5wI1c8JAu6JM+dw+fQGWu0/1rXX/nO9+xD3/4w+ETgN/61rfs/PPPVUy0pIBrtzJfO21xYcEWdQSHLMcHTtiddx+wnp7ukK3Zu2d3CMigM6ljj3vuOWC33HKL3XrbHYbM/Afk/X19AfaS8/K2u6/OTowv2vD4nGUzCsSIipaZKigcIihaUpTFdXyHi6CMVUQd3+VaUEbtUZd12R88bb9NK9bL6Tj0YZe228t/Y5/1dtTYknCCOhbdLodNugKZqkS1fnUlcfU3HmUydtHcxqbNJufM2urMGvICEHBfe531djXYn/7TbXbs5Kz9xiO6gxxKlJlYEhAUVW3jF1+EfbGG41ym0bkXfQj90R7S/Vu9XlTWDVtlPOuQ9cp1umBz8BRhq7GewIEc4AQ3NNI0ucauWWtcoxtsketKiruHhwLG41NiQUbwQr9Jx4P4HO7TOLknUOJBj6CsWnsjew6v7uAnSFLAU5quu688wOO3kHlJ2dI0zFaukRVc4ET+tXTNvNPnXgxSNqPrcjxBF5oE+vjkiD8Nj65pZ56wQ2wi3b/Va/gnEcF45hj5uE4X1hJ0ocncbFfXSRp5vMbAI3IYYfJj31o1jPJ+CIxxtMiGhyLXgl2vDQVgvET/bMRsluvBu3t4CmIy4kRshS40mHRkRsGlRk5/aYlwUVfUpTCV3DOOSYdvdA3e9caha+QFDiPFCa8HX64PeukFhrGXg6Xd3asWEEbjZVFjM+7asSBSprS0tBj2gKx8DQXjbfkH24R3dMK8UdAjhWvws2ABR17sy92NBwnG0F6uMC6Ox76wz3Kw67WzSOEZ/tk4mLv14OlDJvTDOArzRftmCmOgCe/QhLb7+rpGn8iMrIzDPktpfvvb37ZPfOIT9pKXvMQ++IH3hwCKIOjAgfuKR4sKwk6NjFpXV4ftP2+f1dbV2cLCfPj+J77e4qc/uzVcHz123G6+5TYbGxsPONi8mKOMIq57Dxyyew8cDEd3//X1KTsxYnbo6KjdfrRgr33fLfbJG47a9285aTfeesoODUzZd28etlsPgUfBmiKjJQVnmUTXitTQw4KinhlFP7PzSzY1s2i8X3bJvhbracvbRbsbjIANOGrGcl1MvVkI0oIOFDMJZWjWZWhCnc6VGvi6jRFlxXhZv7mmYPTxp1YZt3P7a+2a6w7Zsx/Xay/79XOtoT4TjkRrMsJfcB2XmsJKszvuuANsmyqLqYCIucNHrIcg0bEstgAc+mau14Mv14eOsE3ogw8bKwdLu7uHYCHa9dzcnHRZoGvTBbrwDk3wbYQAOHhcUnCCXcP7emPQDfD4iHSBFvLiW7BX8K6HBxz4LuBKHyrXG1faxxzxCsfY2Jjt3r07vK9WClN6jy3gR9BTJTKXjucePaFr9hpkAae701W2oCP0A8+MQ19lgdfpYPzk5KSWkBv4sNt1wIOvYK7ciwHh/Pz8euBl+7AR6DIeushTFlgd8AVddIO86EvNW/pN0qNghMljocAIk5nu3+iaMRgfgpDhQqiNxtDPpHN8hMGS+iXjRnulxd3Dpy1ZRCgE/isdy6SnAyI2pErHup8OCKGJ0aPDSsYjc+SV4GGzuoZPjABjR8/IUQldYDAYaEMTI3JftcAAKVvQMXQxUnAgd1ngkg54RNfuxXQ3uEpAyt66u3EUwAv3BOw4J2RngLuvPMnCGwVbRK/UOEPes0BPPT094SPrjKu0oGv0xJyxPjYzx6wF9I2+cGjuleuahQ5d9IRtob9KeUY3jHH38DUW4Kp0LHDYBoX5hX9kZ31ee+219tKXvtSuuebfrKe7S0F63u538QXW19cTXtTnaHJqatqmJqfs7nsOhk9Q3n33vYbs4J2antGmnLOp6engaN3drnjg/a2lpdmYo7q6WhtQNm1Hf1/ACd/ov6W5KcDcfmQhON7RuXr72v+O2tduGrP/vjWxz37nmP3Xd0ftle/+qf3r5+61N3/oNvvuz04q0DJTfKhSCEX7sQIsgoDiveI1W1LwRg1/zA7BpXGhBuR2hUrUutXYYuBEt1hXQGEhmBqZMuO+rcEsnylem35ciPMKMJ/9+D572a/tsQv3tlhtjSvr5uZmoQCf0xju3vnOv7f44RLb4GdJYcSzSgAAEABJREFUwjA3zDX6xc43GLKqG7tiHOM3Y9cggS72hV1TaKu0MKfQhT44NmPXwLKOGcs6B1eldN1dtpeXzdaEBwJkiPMacYAP3sCN74ilTg8VwGCL+CHWBveVlpaWFiOQYj2xN0LbKvhhjsmu8SDa39+vNdEX7L+CoQEEeZABfaE3/FHoqOAPsPjriMMdi61g4DIIeqQwx5RSXS+DnVEhM7wy1/jwzdo19ojM2PWUsu/UZxBZowH+WAfwynxT3CuXGT3BLzV6Y67XILNmE7pG5oReGMFAYB5hYIT2rRYyW7yAT6aMjRNia+GCLozznhhK53hyO7RZLEyEu4dzXSZ0Lbq0lU76ZhcYOGJx97DpIQMTutFERF0jKyXi2Wzt7mGjw3mgY2gjVzk86AN9YzDoiboc7EbtLHBwxDkEd7kxLAhsC71gsNhYOdiN2qFLwN7d3W1kY9nE4xh3Dw4XncIbNXrB0PnaFgrz7F75Iou4qZlfcCIHixbZaV+rIDPzgY4Z4741muDGrsHBNbKsN8f0QRf6jGEs47ZS3D3YNfg+97nP2dOf/nR7xzvebonaC4WlsKkNDA6FDNddOo6sqcmH/wgb2tMzM+buerKtD++VNTTUh40kk0kUWLdbPpezxsaGUI4cPaYM2oIxV/lc3i44/zw7cWLI+PoHPpVZX1+ngDsb3iubnpkOY/mIf3NzozXU19vh+w7r+C8j/Ar0RWd4Kmcjkwv2mW8P2uCpWfFhCrpMGSkTTCG8V7aojJlipaAWN0KucKnQy0Jx3RK2qQpBF3VpUWLKxqfN5hfNCMTq826JFX+KY4t4+ZsIYUZ/+O7ZjCcm1RRLEVw4lmxyZsGedPXj7C1vfqPxvY+mn9tvv81++tOf6ur0b0GMY4P4kXw+H2z+dO/mrtw9BChsnOADL/jLYWGds5axK+zLXYKVA96gPZPJBP+VttlyQ7Ap1hx1Q0ODQb8c7Ebt7h7osp7BiUzuHvSIL6VAgxoZ4ROcZMTwX1xvpSTKTLI3cpo0ODgY/hs2bL4cLmwcO4AXEh2MLwe7UTuywju6Zg+gLjcGHQODHXAky9hysBu1wzP8gwPfdaa8pzFAD1/DnKB3bPJ07+avGE8BHwX85bBg99g1fDLv8F0OdqN2cERdgxN9lhtDHzDMB3pKMEYUhdGBhLrc4M20g4eInhezie6J8iEecTAxBw4cCIETHxlubm6OXduuUQhKhUYUNiJlUnA8TDwwTFjs226NzEGpWnjoFN2mccIPhs5kA+e+dWeWxuvuYePEOSMvxpfuR++0Q585Rj/p/u1c19TUaFNtDJspOsWwIj50jaHTjq4psW+7NbLipJCNgB59R5zMA3PM8SROlE8FY1/oHPlZ7MBE+M3W2Az0kQudpscjP+3UyLsdOmm8XLMJIQM6ZY7RL+0UrpGZEvmjfbvlxhtvtKc85Sn2z//0Luvt6Tb0zbtizY2NweZ279qpQGne+N6woaHh8B1iI6NjgWxtbY0ND58M17Ozc3bhBedZqzJdU8qg8d8l7d7Zb7t29BnfzJ/JJMYx586dvdpsM8bRIf+vY2tbi+0S3MzMbHjnjMwbX4nR19tr0JnQkUaP+Nq3b7dlkkRBjtuSIiV0pWVhP7tnVO2mdgKnYjCmxJIyXYXQZvpZVICj+DIEXm6uFg/XITLTXfwVmCV0F8wmZ83GZ8waa8yaVBKAANB4d4AU2IV7Oor3yXK7egwe6FZsZt+/bcTe9PHj9itPe6YtLczZ1Y9/uL3iz19un//sZ+xbN1xv7/iHv7Wbb74ZRCFwnVGwm1Ewgx27F3GHzm38cS/6EPBiv9hYGh3zDt1q27W7h0AIm8VfYr/YcqTNNbxQgMHfxL7t1onsBR0iM7jAzZqNBT+J3PgMMlzu1dE1tknCgkwbeyPHkNCPBT3z9THQ3r9/f1hnsW+7NTLiQ5jjKWWPmM+IE13TxhwAg4+Lfdut0TF6hAaBZpouuJlffDg00T9zQ/t2C3iQBbnBX+qv0THt8AUcc7NdmnE89op9MZ8UaMQ+5GcOaAcG/ugLARmKqiYjII4FQmQmIEoqnskYGBgITwekcHt0hBRhq1m7Fx0MdKPgcdIxDpTvXp0FVso3usSocDBMNkZAzeSjaxZ66Zhq3CNXxA896DPhFPhBF9WgsxYOcDPXLGjoITNzHXlaa8x229xd2ZYO4+XW0dFR40iNgJcADdkJxOJHlJGfOaegIwoLhgW7FT4YB053N2SGHnJjY+A9W3MMr+BH15EeusbGcWbMg3t17PpJT3qSvfjFLw7y8eL9zOysHqCm7J57D9mgMlhJ4gYpAq+6+lrjuHJ3d8a6Ohqto73dujs7QsYMneR0bHfPvQfNkyRks/bt3RUCqkOHjxrXrTrS6VNgdfjIcQVoEyF44yj0Xo25+54D1tHZbq2tLcZ/On7w0OHwSU6yZw3Kns2JryNHB5T1qLFpBSvovkfHqczx6MScDU/MWi7rJnbN3PRTEA9uOqnU9Zm/acdJ0BSLKYqam1oyjidrsmYt9WYZpbzcfQVJvEx0kSRuBHUF/eEePC4GFM+Zuu34yVl7+6eP2KGF/fZ7v/d861DwaYKtqcnZLz72Kvv85z8XPqH65F+92j7ykY+ED1vgyJlj1tUK0SpegLdeWUfsG5vCrtmgsTHsDhurIrkVVO5u2DS+E7qRJte0IfMKcJUukBW8ra2tst3OEBgiN3xEPRM0Qb9KJFehgQ57I7TwWfjLQ4cO2dDQkJ13nh5exNeqAVW6cXfDDzKf+C7mljWK76SN+Xf3KlFbjQb7IevGvEbayA0U65U54braxd1D4gC80ENmeMDO0AVzQV+1i3tR1+BnT0bP0ER22qDtflrXCY3VZmItfExyt46Z+NJPPg7Mu0BnS/lp+u4uR12rp/g5Ha2MrSz6NMzZuHYvOhgWOMdqyIoxng1apTihmcvltGmdCnLjdEphzsY9dJlnjI7FjbEh99mglcbp7kZgj2PjKxiQHScLjLsb9+gAftIFB8A98+J+elEwrtKCswY/8rKRbwdXpTSBcy/aF06FhV5tujitEycGFXBkwhe1dnV2Wp0yXvv2FjNRk8pymbnxYj5HjtA/qEBpdHzMBk6M2cTEpIKjWduxo1/B1X6twTrjk5V8n9gFF+y3rq7uEJDV1dbZox/zWPud5z/fLr7fJXblg65UtnXRHvKQq+z88y8Q/WxYs7lsznoUZE0rU9bS0mQnT42Er9Ho6uq0kZExOdt6m1HfBTruxKehkzFl6r53y0n750/faR/7yn1i1y0xQh5TpomwSKGSqiUiM02/LpUBLBB3FTNkwNKovrlFs6mRJdt997jtXJy3LIjoVwkZNtWAgovsnm6Fo2AEZS49FYMxM02bTU4v2ke/NmAf+NaiPeU3nmu/cPmltrgwb3CWySSy16yds2+XLS7qGHcp0dHtuBF0Rluzn8NPJpNRpjKr4HhcfCyGOfg5kNV8ZwItfMiMgmvsKkmWlW3V+QEfNoKvShd8BvSgSzvX1aG4PhaybxQ+0LGo7C6+bP0R1elFD/hFMnSsd65pqw729bFAC385MjIS5vvnpWt8NXPPl7uiawLQ9TmtTq+7BzknJib0UDspf1gr35CcgTzBcRGxndFTxQaiQY4nl/SEeeWVV9oFF1ygo4xhI1OGUqpIahUqJhzayMeRFef38IBSqFcBV/EGutCEDpPf1dUlJ5sLE0FkXkVSZ6BCn8ypu2vT6wovsKMDNu7qy3yaPDJDB2eGrjkq5OmahX426YKbRU32de/evfawhz3MCPaxN/iBL7jE0bDocQQ4WwIxCte0MU9sQsBWWqDNHAOPM6+trVVQMBNKpEtftQu40TObFo4c2rRVe44JIrDXO++61yanJm1EAQ5z2tzSbHv27JSDySvASORYMgo+CHIW7IXPaCmK6zrSU1A2MDBoP7v5Nm3uGbtP2bBeZcFu/OGP7Mf/e1MI1rq62pUJ+oK96U1vsVtvudmOHz9i7e2t9oEPfsi+9OWvhOzZTh1rzsxM200/vVl4sqLptv+8c+zQfUeNDFq3ArUpBYgt4uv2O+5Wv4nfKeWaCtbekthjrmywW48smuJE8SbGJBjvkOlK9xbgESAxNy2b5eLGz5L+jE5aeHG/rj1jR+/XbDUT87bz3nHLzy5ZDL5EzJx/bvwVOsIzU617L17PK/D737vH7M2fPGEP+cXftN94xi8bNiQog242l7VM4iFozGay9oyn/pJdd91X7DGP+yV729/9nfSchGwlc2Bn8Qcfgi0lCoRYx6yPaG/Y2dkiDW7oIh9ZFAr6oY16u3TdPWTBkCeu/VjHtc8egf/AV+BH4WW7dNcbj/+44447gl1fccUVWhM7DN/FUWY1ZC5HG9xTOrLEh5AFpNCGzNTlxm23nTlmb2RO0T17I3bGPnG2dY0vI/iEXreSQ9BHB/ADX9uVrdx49IleWVec2FDghTb60uMSsgQwiEIYkO7c7jUK5sXrUR0ncazExgFO6PF+Gfd84uTEiRNyXEWnRf92C8pFyRg7mySbbsTJxovMGCKTAWzsq0aNDqHLAsehICt44z306C+dCGC2U8DLBCMX8vEkEPFxj9zQpT+2V6OGLrqGNnqmRLzQRAc4cxYgsLGvGjXzhzMDLyn+iBPZ+YAIdHkXA/5iH/MAX/BJjeMFPtZkIdy1q8YBa9TQQx50iW4ZD5i7h0/7gpd+7J/2ahYWMnJh15SIGx64R1b64TH2baUmi824887dZzt37rCTJ0esu6vbhlWzXhcXFm1hccl2qe+cfXt0BFIPuHmmJ9S8bN/d3RneC2tVoDQwcEIZrk7jy2LRD3IsLiwoeJ0NWba+3m47PjioY7nZ0FZXVwxup6YIcOdsYHAoHCsNqq5T4Iuc4EiSTMgCk8E7NTJqfb09ygyPWn9fr7W1toqXjHlSa4t6GPyPL9+luqBiRiCl+CgEQtQUYBSrGcEVsvGe2MikWVOdhXfF6ANuqK/OjuxptNaBaes5NGEJHxBw2Qy/1KLqrhujCF3B7ejwrP3pu++2qdaH2gtf8Nvydwr1CkvmCtYIxDjSTTSOQCxfU2t5ZQ77d+ywvTradcmoLssoa8UmwtxiX2fDh7CmFpWlYX1AD7rubnV1dYE+/dW2a+RhPrFb6GAf0KWwLmmjn/UGLO2bLaxr8CAXOow16wZ5aWM/ci/OGbKztuljb6y2rpGFvRG/SYKipaUliIS8vDdGwIBvg3boqNIf9IcusR90gE4iamhzTx/zDGzsq0bNekUe5gJ9R5zcs0+gY/RBHftW1Vu8AR+BGDXJAuiByt2VWW8Mds3eCH+0V6ugP2waXaJr/HPEjZ5pQ9cUYOnDB4TsDcbHRMFY7ARgKwXBcdpkLfi+J8paeFh4bJwwxsYJY2vBbaYtLiCUziQnespbazzKQSnIi9LWgtlMGzoDF5MKXeivNR6jR9csSIyPcWvBVdrGeOaNScfIkWmtsbeXXuAAABAASURBVOgBY3T3cAzBHK0Ft5k2HDMLLDqvcmOZX+YaWHgtB1dpOzrGXgj0eU+Mp/i1xvIkgnPjK1V44sQ2gHP3kG2Ab/RC7e7aHFcXW+MH/rEX9IwNrQES8CAzfcxxpMv9Vgu6xr7gFdpr4XEvbpzomrWEntaC26gNfp/5G78WwPjKikP3HTaOG3P5rAKJgoop5V5nOLl77j0QAqLp6akAvzB3NNS8Y3bkyDHbtWtnCH76+/vswMH7rL6uXmNrrUeZstGxceO4c4cyYByBdrR36P5owFeroKRbmS++v+zgofuss6M9ZIc6O9vtsDJtjK1vqLe6+rqQDTtw8JCca4MR8NWrjePTE0PD4nXRFhcmLZ91e8Gv7LNZnT0uKIBaVGSlGE39Zpp1FdXSn6Sz+SWzk5OmMWYdjep1girTHxV+9ey4qLbjO+vtZE+d7VLWq2VoRv2F5f/vUjXRm2DHpxbsjf9+j333+C576Z/8vnV1ttmiAh5TMJZJEstls5YoAmRembdsrsaaWlqtp6/fGls77Qm/dLXdcMMNlv7J5XJBh8zv9PS04QPS/Zu9Zjx2TcFu8VFr4YBHfIy7h7lg3Fpwm2nDrqeUqclKD+XsGnz0AQMsY2irpMAzY5ErXVi7+EBkJTtEvRY+5gR/jp4p25UZmpwM8cXUu3bt0jooPsCU0maO8W1zc3PG/1OJzymF2ew99oIPRlbmca3x+EP60A/+hjFrwW2mDZnxFeiOPYg5WWs8fDFH6Jl5Bn4tuErbGB9xQZe5XGssdsUc04fM8Mv1dgo2iq6hyX7v7megc3c9yDaErC100XUIyIB09/B0z2SwibA4EYi+zRQQ33777UbEz2aIsBuNhyYZjpGREeNjvsFhbTSopB9eUQCKQPnlJj09zN2NicD4MZit0mWxYEAoHkNO0yh3DRxyoy+Mphzceu1MIDKjY3CtBxv7kBWZGYvM6C32VVpjsNClRtfQ32gsCz3CMnaruj506JARXGEv5QL9Ul7Ixvb09Oh4617jQQHa2An8I38s3FO4h19siBp8wDNX6A8HT9tGBb0wL4zFRsC70ZjSfsZgW9TYV+SnFC59715cy+4ejsmRN92/0TWfTq2vc9u3o8bqGxoMW0kyifR3UAFFu+3Zs8uQaXJyKrxkz/tcR48OBLQLS5lQZwSf0xFcQYFHS3OzjSh7xftkx44fN+6zmYxN6kgTh8WAtrZWOzE0pAxXrx0+ctSamptCVubosQGjj42pq7PDJjSmrb3NxhTMkXlrbmoMGbUOtfE1Ga2tLeYKdHDuierRiSX7+g9n7LzerM0q0nL3ECDy3ypBlwBsOXYKmbPhCbcFBWydCsQyCRBmEiFcKA5TjWN1i2MWajJ27/5mm6vL2O7bRiw/s7gCc831h+2d103ac5//+3bZpRcaOhN5ywpxTW3eEtUZNWRzecvm8lbf2Gg9/X3W0tFl2doGq62vt4suutB+8pP/ldzj9ulPf1q4i7/ubugOP4L/QD/Fns39nZ+fD8FVbjnIq2R0JpMxNs44thCVUcngZRjWWbRr1gg4l7vKVonmE1jqOLYcsHtRP/DJemUchXvGuLuOxtuDHNxvVBiLvvFdW9E1OhrR/saDJAEgH2jbiCb9wLKPxodK9Eb7ZgpjxsaKn3zGB7tjw+tjQMfsE/DN2EUeItYfckYvY5kn7BO6+Xz+DJjSBncPQQpzNjExER7OSmEqucc2mSvw4DcrGcMaABZfTQwE/5WMS8OgaxIFtCGz+8a6xvbRNWMS/qSLu+tJs9HYTJgIBEv3l7uGEV7YB/6iiy4KUV852LXa3d3YYMmYsekO6viiUoUw4RSEYtGshX+9NhSC8uCdSayULgsTeAyNBbsejXJ9kWcmsVKjR9fMjbuHd8Tgvxz+cu3oCZkxPHRXDq60nUUCPHwjd2n/RvfwylhkRQZk2WgM8wEsKXyCq71792405Ix+7JkgDplvueUWHcGdDBsRDx7MI3PPhslAYOGTBUqhDwfFYqUGZjMFXVPQG/QqGYvMwOIc2ETgo5JxaRjkwC7RNXjAme4vd80D1excYt94X6/N6wl9545+O6Wjyh39BEvHbGBgMHyLfnt7a/AT7h6yPg3KWI1PEpCYcVzYqQDqiIIrAiy+CDaTSYx3Ru6+514dQZ6wVgVhc3PzojEfgr32tjYjG7Z79y47duy4Hs7uVeBT0FydsiVltA4ow8YnOrHZjo42Oy4+7rlXQWJXpy0pakK+Q4cOGy/zt7W1hE8oNtUn9tDLau0Xr+w2cEzPLZnYCAX4oAP5zJFpZX3mzDobzWqyZomrR4EGY0L6TH8SybniMNUvlgRkgnWbbsjagQtbrW1o1nbfOWKu9NutR82e/VtPM+zHyIIlbjX5XAjIEuHLK2DNZPNWU1tvnd091t7dbzX1zZbXPbZ26tSYnTo1omPcKbv66qvtTW96UyiW+nH3EFRkFCSxNpdEN9Vd9hI44N09bICJgp2ywGU68tpgsU3sek52UgbsjGY2aeAZuxW7hlfGoldsYWUelymBs0EPEsBQ4nU2mw122iY7ww+4+/KIyiroMg48+H10WMlI1jFrijk6//zzw5qpZFwaZoeOrznGJKAjOCuVOQ0br4FBP6x9+EYvsa/SmjlmLPPFvIGzkrHMDfYV9V/JmDSMu4dkCW34/uibuV+vMCfspXGu1oMt1wfPFHTH3JWDS7ejF+RFbpJR2Ei6v5Jr5icpB4jxgNjdwxFXOTgYOXjwoJGCJcWKsZeDraTd3Y33zTACvnuHT0OUG4eymCyeElFgObhK28FDsICDwfjKjYuTjo7gk8kvB1tJO+PRNUaHPOAvNw5HEBfYVia9FC+Ov6amRhmHsfAEX9of71mQ8IZzo8T2iusSwLjQ0TOlpHvlFrqk7GngXYutyoxOsRcWDM6NRcsXbiIT800fNJgL5pUCLOMIIpgfnrZoB26zxd3DxoncLHSCpHI4oItOmBdoloOrtB2a4MJuKOXGsZZvvfVWe+UrX2mzcwv29x8+ZXPKoCwsLtjI6KiZZCA4m52dsx4dJ44o68U7XQQNZKoatQlmszrvMwtfi3HffUeMNYWsBFJ82StOq76uVrY2HwKZ9rbWkBHrVlBFgMU7YEM6auS40t1DQFZTkw/vmdF29OhxIzN3TJkzZGG+FsTj9LSODBX0iLTVCj/9p8Qf9wROS/rDMaUwSrYllQJd5paz4QmzpppC+H8ngTO1LgYx3MRC4IGAz/TDKMVpiq888C+06jdbUqN+7fiOOjt8Xqv1HpywBxMkKrOgOEwPqFkLDlcIqWt0JJvN1SkQ6wrHkw3NbQrGGqy5pUWwNfa5z19vz3vO79rHPvpRq6vJhSzg5Q+42Mr9YJesZXwI9lUOjnb6sTHgt7qewBMLvhc8+CbmOraX1tCENjaNXZT2b/Yeu8YXxfWLDuCFAg1qSo38G3wB297ebtjMZmml4RnPPoE8+A/WTbo/XjMXfJ0F72NeeOGFKwFG7N9snVMWk4AOX0Rghv2Xw4E/Y60hMzooB1dpO/qkgBN9lxuHnvGtUUfl4CptZ47ZY8GL7ZTTNe3YHzpHP9hCpTTWgnP3kJhCDuRhrteCow19oBfWE7ZG21ZL2YAsImShYXwQReDYTs3xD1kLzsL7+/tpqlphwV5yySXh2AIaKDwiX9JTIErCQJksd49dVakxYOhDA7nTSFmAc3oarMakp/FyzWQiD4sJ46MtFtrQP5MOf7G9GjVGB130inzUES8Gjh4ijHt1dY086BrZ0GukywLkHUSeBnFC8Bf7NluDC/0R5KBXCnaNzfJiLQ8U4HR3YyFHeHij0AaPOCRq7M59a3pw95CRwJ5ZxGldQ5c26OFIrYo/7h7WEjaGHpjXNHp0cv3119tzn/vcoIMmHQW+86NjISAhuGlT4HTy5Cnjna8wTxK/tbVVKAqCcctqsxgYPGFf/Na02sxyykZwUavN0F1hEMGJopcJHTm2tLaGF/TBRenp6QrvgTXU1wX88ML8oKNWHUESpKGTU6KfFx10ds45+6ynt1e6rDcCuamp6fD1EIxJy9bWkjXitOm5wunASYwtKHqaXsgqkJq39vqCmeTRXyuI15VrwcjVaLw6zQQLDqB0o19oSayAV6BqMYbaohXsyN5Gu0XB2K6f3Gzt4hu0WUVmNfkay+RqrFHHuH07d1hjW5fl6hqtSYFYc1Ozzeks9fixo3bj975vf/PWN9ukjmYbG+qMnzvuPmivetWruCxb2MCwHeaodMNmU0G39ToKxQ7KItlCB/6hqanJmBtooJuIJrZllMWDN3ePXVWpWaORdpQfOsgJbWyJoz/WbVUILiNBh/gl5J2amlpuLVYc++NbOPHh5KfYWp2/yMMxJjR5gErbO9f4a2RFJ9WhWMTi7iGoxAfir6FV7DGtgUJI3KDvs7U3Mp9r6Ro90I68zD88VaugR+TBntkbqSNu5EfX7AvQju3bqZNKB0MUw4cpJoPsFU8bZC1YjJXi2Swck4/xcYRJpmRkZCQcAaCks0kX3NBg0SEvE06N4uFps3JsBh5dU6KuqVmE0HavrjNL84Ux42Bw5shKiQsM+mnYal6ja2Sjhib/3RZBEkeT23VmLCBkINihpAMzgm0+5k4GDOeJjWFf7kXHg8wUdw9HHYyHRxYp7VxvVQ+MZz2ha/jAvuCTtu3g3Ygfdw+ZOuAmJibCsS30cXZvefObaba9e3YFeRU/2bXv3BPacHqNjQ3h2t0VeLhxdEm2LJ/P2fDyN/LffNdcgJlfWAg1QRpyXXFhrXFsWVAEc0zHkQMDA3bOvt2W07Ed2SKyXnxHmVDbH/1mh9111z1hfJsCskPKtLW2Nlu7jikbmxqsubnJmKshBYAEfu3tbXb55ZcZOu3u6Va2dzyMBRdFzFpGnm5Gx5Uz8wU7NrJgE1OLlk/mAxxycuH6Q4nBlWkg4VfAUVAPNxQFXK4SLlWbfhxYNSwtI+N+PJuzgSvvb/MKbnfddo/lhaNGwRA23d7dZ/mGZmtobDICW89kdTx5yo4evNeGBo5bs3SNveH053Ssy7p8y1v+2txd1Db+zes4kYJdMXfU6IdAxb0yHBtTORMip4AZGgR/0MXGlhTV0pZs4Vj0TAqrW/DP2C7rhvdEuYYeugOyo6NDQXsDl2etQJs9Ad81NDRkvLoDXU56zhpRIWb/JfPGWsJ/sU8UZLzsW2dD1yIZft09BGboGZrIzVzjw5n/AHQW/rh7yFqxN0aa0OeeOTgLJFdQspaQDzmhPaoTA2zs/+ftPAAkuapz/Z/unpzj7sxsVkQJCSSCkUgGhAGBbIKMeRgbsMEYg3lksAFhguEZMBgDBpzIJgiMySAwCoCIAoQCSpvD7Mzu5NAT+p3v9tZubW/nqdFId6r6hhP+c+65p+6t6QXr450SuPEwVT0VjM1iSQDn2IfP1Y+uv6dZ3hAEsglPyCj1U6ttJIEFPc3WL4gVk8jMQvCSzvCYAAAQAElEQVTFwc08/PtEK9ZvPeqYaGYWSLMghJv74BeLxr59+4STDw4OJsax0H58RkeuMCF4sSgy6dj1ZZKTuGF79I8KE5DCWDML9jEzSKy5IAN010yoBgJmJnYt5D+/+7u/q4XFxZAg8ReSHAHicn/9jgPex8TngwdHQ6JmZjpwMP8Sf8p3ffDRJj9WDDp4UjLQk9YjHtiiR1/S6pTlOEnX/vCA+Hng2Q16419s1Mfeslk7d+31o8sVXfWYrPNtoNmftKWPXHMk3Hd0tItkbGR4o9hp62hvD7tgNHb5DhN/ndnV1elP5jPatWt3kG3i6IS2btmsiy66QH39fZpe7NVXvj+r919zlz77vT2aXVhVe4MnpY3MKaeUU+DpOYP4glf/5ClWzgt38mNJv9LHaziWJN8CF64p5Wnw2Snl/zfv73354K2One/C+Y7g0QfcX1uWVnTmzv1qaOlQU2uburu61eg7iDO+a7hv104d2ufyTU9qdcmTWk9c77rrbi372SlHrx/60If00Ic+FLI1FXwc+3C9L/1rZSX/LiE+Ed3XJHiFzuhEksdizDUqJEYUFujItyuQSqQZbPfvd9t6Qjrsp0X3FW8zC/GShJ3YdeTIkUT0qYYIPoV9SfSr6Z9UH7CGd1T4nBTtSnTMLBx5o7eZT3Yl+5OqhhyKs2OBwdkRY7FkAWOikS3SXg2devqwMMKDicck27p1qz8hd+qOO+7w4DxZD8mqxmBkFmaAx9l58oI/ySilKiJ1diIxgQf8ouASYY1cdZKtOCzrR7HoHPHs8COIJl8wwJ+kpCKBOjtAm6dKsMa/4AvePI1Q6iQbhplZ2DkhQBLE0QfaBHD0xL/Qmzrw5h8uB2uOS+FNG/JRFy9RXeT7ZrVNTpI9bIw8+DaFwAZPaAfh1+EX/oN/QRoM4P+zn/1M1G3etEkbN2wIXzGxbdsWbd++VfvGTE2ewLQ0pRniyUsuHEtt7G/UVZf36/XPH9Gr/rhXf3pFjx51SYdGBht1+OiKfvDLBf3k1gUN9qZ18TnNevYTO/SeV23QFY9s0w0/m9Kf/O0etXu+1ted1rd/sKgzzzhN0c9pmzLhliTsrDNPD99llvGF7q6779WGwX6RmLFbl/HdtSN+HMhfW6LXls0jGh7aoCO+KN17z04dGT8a/qq2u7tbqYYWNXUO64d3N+ijX71HJFQ5pSS3GwmVX1w3hXqSs2BXN6nnYt5H/mPiP785lm7JrzmZJ6ShzonkvIb7qJ83KtPQpJ7eXg2MjGjlwgs1d9mlGvntXerbf9AT4KwO+gPI/j07NXP0iJYX55XzncVlT8jm/Aj2kCe9+AKFB2BoV1vm/AgNH8PGDY4dV/yX+qBbVYRq7wRPfIm5xZyi4NfUwb92iiePYB4zVyhxHtyDE3OY3Sn4UuDLPDuZSrKf7rrrrrC7ecYZZ4TkiPiFLDO+A72eWHMkjX7YtqurS6eddlrYDUQe6pPV8gQ1dGOdIF6DN7agwHM9sQZLMMXHwDjSG7+C9wkJk79jnYAHesIX/mbmu/FT4UEwKY4ekcqTYjuUFxPZnWJLmAkRjSCYYxCEBaioPokrARajww/lMT50zSy8C3PmmWfKzHT33XeHI0zakirogk7wJZhFdM0sHPewk0KSwmIdtSVxhR46Y3SCiZkFsmamONZJOz0ODV8wJvnkGhj7L/DHxvRBZ65endj/+Fb0nhh4m+V1RgYcH72xB9jUyxRa0AFXaFKwK/Vs+8OXezMTtuUYk+OGCd+Nxf/N8jLhk+hP4R55zMx3QdKhQBO8VOaHsUxss7wfm+VpM4Sx2J37pBdOghk0CabwYJGEz5e//GW98pWv9IRoh/YfOKDDY+MhwCwuZrVvH7tjGWWXU548LIVka2N/g4YGGrWYXdX1P5/Wd26a1U9vy6qnp0O/d9mwz8mUXvv8QV3kR5TvesWQ/tN3wv7Pk/p06GhKL3vnIb3xA2P6qSdqG/rSOnNroyamVvTBN1ws/loSeSi7D+R3V8b8GJT6Dj++4w8EBnzHq8OPKzu97Nm7TwcOHBK2Q6feHt9tamw4diyac3mzGvadtY1+hNnb260NA/1+DHq37rpnt45MZXX1f9yq7/38oLPLhe8d44V/8ql8MubJVk5a9ayNes+1XC/vGv3vbdSF4n3y1Sb+kx9LUr/gJ7b4w4ahIXX0DKjJd8U6OrrU7serUw+6RId8Byzz2c9p6bd3KOvJ08rKkpb9aDLruC+7EHPzC/rxTTfpnLPP0NDI1rDQ5vmU/808wc4tLZ6ANjXJzMIAMwu+TT0LOf1CQ0K/Vl1m5ik+zPwyy/OFfFSH7yMbfamvpZiZ8FnmJ1cK902uIws0n0nEwDyia2bhiIt+xC76RW1JXHlPjBOjbdu2hb8eJoZA18xCvAYHYjWF+qQKeqAPOsPD7ATWxGreW2P9IjED86T4EkOwMTSZd3Gs0R1ZqEM2ZEyKL3TwGwo8SL7NTuiMffFr2in0T6oQW9AHrMHW7ARfdAUH/JmYngTPVCkiKMY7WwBA5o3SxfqamQCIII+xmOzF+lVbh9EBAIdCWYAoNtbMwk4ZO2Y8EbOw4yjF+lZbB090QBcMbHYC/DgNAgyy4YT0XytfxpMQQbcwIYrzNbOQjGIL+CJvvL3We7CGDk4H33JYE/hwSCYavlErr8L+JDq7d+/W5mNfjgiWhX34DCbw5R6/gD/3tRYzCwsSkwi9eaIk8cKO0Ed/Cvf4PO18TQby8V4Ifo2fM97MhLzIBmYU6rELfSjUKfYDT3Djin8Vtse6hoUH/2PRhG+8rZ57aFCgiYxmeb8Gyze/+c1+XJgR/zwStBcXF7Tiiyt/OQkGJDMp3wV6+EPO1cMvGdb5Z3Trb194lt758nN09YvP0nP/YLOe/KgN6u1s0Ic+u1PP+/1OffX6Kb3nlUN66AWtuvGXi/rWD6d04PCC/uqZffrjp3TrjS8c1LOf1O3J2Kq6Olr09esP6F+vvr8e9aBBfeD1Q5pbXEWUgPGiH6Mi8/btW5T1naO77rpXk1NToW1hYdEXvkZfDPt08NCojhydkDxZ8iwk1DWHY1TTvr37fadszONFh7DB2Z7knH76aWpqbtY9Bxb19k/eqQ9+eZcm5kgEc75TBhEpyrW8JtxTC3QBvfAriOm/aPGL/7/sJLKejIUNRe/c2NalVt9p7uzuVirTII5UOZ484Lthvz33TK14Yjby61u06seWCyRkftS37ERampv0xMf/rn7881/r1a9+tVMu/z8xhEUBv8K/zE4S8PhgMwsxBN8FC3zgeGOdN/CFP3OHeVGKDHZs8UQRv8auzIVSfeP1yMpYdKOecWYmaEALPy2nM+M73AYsnMQQZIVOvYW//CfZgS876pFchfTMTjzAg9FasUZv5IcP+pTiiw140OShkm8/4DUQxqylID/+Qmxs8iTYrLh/IRN+gKysaVzXwhfM0Bme8DYrzhed8QH60R+/WAvfyFe4gjU+VIyemXn8bAhzCnzAqVi/autShR2XfcucXSeUIhED3MI+xT4DCH0xCIt8PU6/sLAQAibAM3HNrBirk+rgx84dE2Pv3r06dCj/bstJnSp8QGecB1rogC4VhoRm+iMrToPOGC80VPmL/uAMf5KBUkYvJEc/5OQKX8YX9qn0mac2SuTElfrTbmYh+cbpcTzsRX0thZch8S+cfMuWLcGZqxlPQEZnMMPxqxkT70NgACtsy5M0/KHHtdsXy56eHt/l6QkvWBNoKdhkcHBQ/LUvffAt6GBzMMD+UcEWFBIzMIU2V+rAmcUDn6a/WWW/NjNPNppCEsn4egIMfgFWyARvs5P5Pu95zztGf0EbNgz4ceWAtmzZrGYPuBz9kYwxrquzU3fvmdSqOlymRt1+z7RWPFuhsBt0w8+P6svf26PHPbRFv/rtgl72rH49/+qDeuSfj+vfvpzTL+/u0L4jHZ6oTetL3zO942Mr+thXZnT2jmZP3Pr1wc/cpQvP7tbPbj2qH/5yRp4PhoRq+7YtLtNgeI9seWklvMfW1taqFU9YNgwOaOuWEd/VO+THBjMhiZ2ampFcRdqIP7yjNjWdb2PHr893p/jajp07d2v37j0ea+Zl5j7d1qk79szqjf/xW3382gNa9nxw1fUjuUM/5MHu8p9j1aJt1Rt9uNfK8ZDvJMoTRclPUkMdvobfNDU2a252Tgf27NKh/Xs1Nz3hx5MLwj4TnnjtdMw7/Qhz029u1+rCfBjLP1l1aHxa//7v/xnmXKgs8gu5sPGqC9nW1ub8U0V6nVqFX+KfZua4zjvmrvSp3crWMP/xa+jgY2U7H2s0c7w9EWYeVPJr+jDPoG1mxygonIgwl2knLoABWHI93qnIDbSYl8wleFfqX0iCOM8mBfKwNqJ3YZ9in8Ea22Aj5EbWYv3K1TEOmZEf/uX6Rm3w5X024t1uf/glkYzaqr2iM7x5yEQHsxN2KEXDzIRdiK34CP5Zqm+p+ggrbAQddCnVN15PPzCijjWdOMB9tQV+yIvc0EGPasYy1/EH4iVrOj5WMK7iRzaWUlEvACCbprDrRJIDk6i92iuTBEVwOhZt6FYaGxkdR8Po9fAFOBZ4xt97770epKcqsQ1BCGdDRhZfjFlxUEEHs3yAwRhMGEpBl6IfwQajIy+BominCpVgzXicDidAjwpDhKOgM3ghcz1YgxN8sRd6YOtKfOlDIsZYttThXWlMYbuZeULQFAp8a8UanshsZmEBj4IM/sqkp3BPQb/4lcB2zjnnhKNJ3qU0M0ELfSjYgmtUaKMOHaALb7PKwYz+8YJ9mORmFt7zAsd4e7F7/ICgQnCBLzIV68cX5PL9X52dHd5svst0WBMTvpt14JBmZuc1OnpY99yzU6l0WuNHjugL37xVN98+qf/6xkH98rYpnz/SRz+/W21N80qnVrWhL6PB3ka95v2zmsn2KBPGHVUqd0QXnr7gdkt7ctEk/mjg0HhWX/n+lJ7/pr2+69alt/zLrb7LJn3iq9Mui8S/nbnXj0xJqIaGNoQxg56EMU8tlfJFeVljY0ecZqMmJ6eEHiRbKUtpxnebwKnBMyMSBpJN/gCAP0QAT8k8GVoRf03KuFXflaJd/vPT2yf06o/crrsOLniSlXMdc+Revmum/NX7RPth5nRWPI9ZXLbQ1pCWfDPRa70vndxmWd/1OnTwQEjGpo+Oa9kTrpXlJS1lF32HJ+tJ3IrmTNo92K9dm4e0ZedePaR3SC/+61fp6qvf7NxK/0/8yGaz4em8oaGhdMcyLfgo8wC8mE/4TJnuoQme9CWGELvMXIHQUv0vfDLyTWjhs9Fo2vB5CnrxGbvRZ3Z2NnSDL3GPsTMzM55cz4XYRp/QocQvMwt4ITtzBAxLdD1eDSbELtZGYhdxwax2nZGZuALW6AHd40xK3IA1+oEFeJnVxtfMfM41+4PWlsCh2rURbOHLIPTFBtzXUswsYI3eYM1crDQeTMCGvmCFnSqNZHwwvQAAEABJREFUKWw3s+MJIbkF9Ar7FPsMT/oibz1YQxM/BS/uSQixNfflCtjgX8zFFB0nJib8iXF3eCGRnSYaqF9LQSmcCIdi0gB0Ib3I6LShRD1Gj9M0s/DOAGf60OYPEeAd7xPdAzwGAPh6jB7Ria4YAgcigES0o7b4FZ44OkEQ3oyLt9d6b2a+KDWFd0ygXUpfAhV84ZcE1siJvdABrMslhASB0dFRYRd4m9UWVOAVL/AFa+wG1ky6eHt0T7BFLrDGF9E9auNqZoIWNoNWVPB/+pqZzEzc04/63t5e8bAyPj4uAjS6g638h3b6UodcXuXHZJ0hKEEbGmZGdc0FGcGaucIEjnjGCdGGzuCBvoyJtxfeP+Yxj/GkZjwkMEjV2toSkj52C2dmpt2vGsML/nzzPfJ3dXVqbGJJs4sZffCzu/Tit/5GN/92Tl+4dkL/50m92n94VZ+9dlmpdJMnSWN6yLkLGu6XFpcadPOdTZqY7RQYIMcKmYzfZJdWdeBoRp/52i4dGFsWcaO9vU3g2OI7KXzjPn/hyVdrTPtu1+rqihZ9J/2Q+1Nff5+QeePGDXJDackTHb4+A/27fFev13c9hzYOepP5Yr0UaPJXm4ODfdrgCdBRTz4zmbQmPKEbGxtXW2urwKG3t0/vv8Yf6uaWtejHjznfFvPNME/KcqHIf3JesqvSit+QiGVSEqalyH+4Li8tab/vik2OH1Z2fk65lWUt+7Er74kt+rlm1uVd9MQMeX2Idlx0ie730ldo49nnKHXddZ6l7ab6lJL1JAw7YxPwMkPqU7pVXWFmYQGDFjEE+sUG49fEF2yIf2Gj4/3qvIEW85OFK9IJP8d3zSzYDD600Yc2MxNyMseIacwH5OIa9VOFH/gSQ5iz0IB24RDmEw9fvA7DusjrC4wr7FfLZzMLCRI6Iy9yFxsP1shlll/T1soXHsxrNi2wLzG5lM7gShuxGjswdi0F2bEbV3SK/L2QJliACb5FMVu7X4MzBbrQL+TJZ3RFLvwMnZGT+nqLWX4+8SAObfDElwrpYeOdO3eGHWrWRh42U2RmCEIFIBQOWstn6AIGRkUoJhH0EI7PGIZJQWChPqliZuH4iV0NstR9+/b5k65HT2eADPBGLvRFRq9O7H8mODqZWVjcMAjEAR+jY+wkjA7NeEEP9CmFNXojF/LFx6313syOLaLtIUjGnZ4jPpJi/iAEW6D7WvnFx0MPnUhOSLzAmHb8KsKaSUE/6ust+Cu0uVLAcNCPMqFNYCPZRG8WA/gS8PBpM/OdmOXge9iHOuzDfT2ymFnYlcN30RF+ER148hkeLKxmlYMZL/M3edLT4qXVjwJJuE47bbsaGjOirqmxUZlMxnd/cmG3a8ITGI7+ItJtzRJy/NUzBzU5s6LPXbskxmwZzOq8c8/U3skdWk0PSNYcFiF0l/9s3jTix42bNTS0UX1+jHjbnfvDP2+0mM1pYWExJIjNTU3hXbH8HxakPKHKepI3JRdGC4uLLl9LSI7QlS+XvffeXSGpWPbdLmwFxiR2h30XjYSrzfXr7OgI//ZmQ6Yh4IjN9vou3EY/rqWtv79X27dvDUlqQ0NG41NZ5fwokKRsyTMvz8sC/+xyzhO1nDIOcUNKIRHTsZ/Qx++5rnryOD8zpZWlRT9mXdLiQtbxWvHEcUVZT9bALucdN2wc0WMe9xSddfYFamhyUIeHpYc/XPLESz/4gXy73ykq+BIy48/4ADqGhoR+QS+iCx/kgzQ+z2diGe3wpz6pAl8W7K6uLsELX45oE7fgTXubH8maWcCBPguemNPGYktMp3DPmEj2iE6pK/4NXXxmxnfaiCX0Zd1gsSSmcjyJn1GfVAFD+Db4ziZ8wRba8EcPPrNO0E59UgW+vDs7MjIi/iiBEtGOsETnpPWFR4Q1OqIzV+qxFfEbXcEEf6A+qYLO+A/04YvvQBtf4zNywJd26pMqZvnkGzwjX41o7/OchPWRdZEjZWSkLUUiRmbGh/UqGALnMjMPdmMeX6ZCgGZym3lUWyfGAMxuRq/vajC5KCgO+FzXiW0gy8KIITA+T1k4HXzBInRYp1/Qh4+ZiV0cHB2ckcVs/bA2M8EDzPk+nttvvz185vgb/uukbiBL8MC/wHpsbCwkQHxGltBhjb9WVlbCIkCQpGBLiplp48aNoY1vzGaS0c5EJ8BHhc9mFp72sQ++Qak38DAOnaGBfScnJ8POE/jTpip/SCR//5HNniAsac+evX5MeNTn53j4Ti+wXF5e0d59+x3PnHhfCj0om/qz6utu0Fk7WjQy2KAnPbxVH/rchNu7TYcd/5/8ekI/v/m3/lDUpR07tgW92eXiy2MpRycmNDM7p0ZfjPDV7u4u3fCLBfV0pvTXz+rw/tL0scURvBbmF512i+9+t2nOd5rY+Zr3xZjvHoOumYXEcXl5WSPDQ2puadHOXXs8n8mq2ZNNAq6ZCT7ssu33I9mMJ1zy7K7dEzWCNckbuh7yY9p0OqUV38H71LX79a7P3ePHkDkxcxaXpDkvfGBXzEk6LvKP3k4Hye8VfsJH31Zb8cQr60kmeC55sph1GbO+S5bzRK+puUUPftij9JCHPVqtbe1h3PFffiyr00+XLrxQq/fco+yNN2rVEzRsnPaj4OP91uEGzOED6YmJCZHk4G8Us6AZTYkUMwu+i04p15k5yxWfJilCFuwj/wFDFjbsjB96ldtpJewwICPttFGwOYU+lYqZCd3wRRZo/mUY5jcvxRNHKo1fSzv6wYNYwTox60ey6Is8a6FbaSyxgx0/kmBiNTEb7MEA/CuNr7fd7ATWJIDojC15uAWLeulWMw766Ac/+OIzYA0WZsn6dVwe8GQ+ge8+T8TYBGO3ctgfvOB9Ul+cN16xXvfwYcKQ/OFsTKxqJ8xaZIIHBeVJzHjxn0VsLTSrHcuTmhkLQXcIHHyuduxa+oEzAQUnx+BgjROuhWY1Y+HLxIYnT5UEWeSoZuxa+6AjdibAENyY7GulyXhwKyzQRy/44dfoSXDjM/oz0ZGHfkxGJiKYUPB9JieF4MBn+sCrlgIveJBwEFTwLfjVQoMj13v3Tum8HdKCJw3omXJ/ZYGY98/oRhBramoIi/LGvlRImrZtyuhNf9Gph56f0bZNjbr2pjkdnW31HaxJbdm8Uefc7ywx1667/kdamF/Qpk3DGvMjXuUWtOK7RuyisdCzs7XiiUlLetqTsLSWVlv04WtmdNHZjbryUS165MVNampMh52ydCrlC++C7zrPa25+PiQ+4L7sCU9/X68nbM2eUE6IZOfI+JGQfPEeGjtfJGIkWjkHZ25u3mk2il2yHdu3yZwux5joLqh6p8HBAU8SUprzDGxjb5Pv2ii86M+xJDtinle5HvJ0LseIkJR57hXuFf14fIfm4mJWWR+wuLTssi15HFgOPC+6+Hf0+Cc+VRuHNkUjTrkyfsHlW7rf/dRw7rlqvOUW6a67Tum3HhXMZeyPj+ID+BfyJM3LzBxfT/jdD/BpfBhe0fxABj4zn7kWymCWT8YbPLlnHpmZzKxmMeHNbhFJIMd6zZ7IL3jSXzOhOgaANYVFGj3uK77oDN68F0dsYsOChLAOFWoegj2xFzqjO/G0ZiJ1DIAXPgVfM1Mxn6qDbMUh4EruQbxndxI/BvvCgY5JSrOela8XIDBFGK4EegyPszPhcDwAKRQqic8ojNGhDy94kgwy2ebm5oTzcU2CVyENeKIzgQzeTDICGwsIT2DrjTW6wy/CmgUbLMC7UNYkPmNbMn8WeBJftsTRGb60oTMyJcGrkAZYQh9d0TniC/bYgPbCMbV8NjNPFlKhYD8KvJhYEe2Ib3d3d3hnjK1onsDkP/TF98AC/ydJ5kphHFfa6GdWeSEBR+xIYGEc+lLwM7CmjT7OuuL//JNRN948r7YW02mb0mGnL+MLWx7PBk+ijoS6melZpZTV6Vsy+rsX9+h5T2nV4aO+GzWYUnuz9I0bpz3RWFFuZcHHTOnOu+72I85UGHvPzt2e3KTFESR80LOjsz38FSWBkV3cpZW8qHOeLPX1b9LoZJu+9L15/fTWZV3x8JQe/7BW9bQv+HHfUuCz4glOT2+3Ovjm/qkpLfrOEbZe9WRvfPyoJ4M9nmAuKO3HrdQfOHBQnj3p3nt3auuWTWrvaBMJmq/cvls/Hfqn02lt3bpZjU2NGjs8LhardNp0eHLpeDKWcvOk01JjRiEh8xxLfnopaPPLTx8hmS+uEnZY9IRxMRxVZr1GOuOsc/Wkp/yhtmw7zfulQl2xX9h3wRMCbIuvWXe3dPHFkh/l6kc/kkZHiw1bcx3YEivMTux4w59CXIt8fi2MzMx1t0ACnKMCX3g0ezIEv4zbjwJP6s3yY8JA/0Ubfs88Yi5wj39hS4ovbt6r/P/YiL9u27lzpzg64l0x+EMTGswF/LQ8lfpaoQt9RhMX0Afe2By/xf60JV3Qec7XQDAl/oBZf3+/H9dv9wee2XCUiU2S5gs9eKIbPLEXOiMD/MACTOiXdIEufKGLbeGLzyBHhAVtSRfmE/+sFby3bNkS/g1fbAxv5jg+j+4R3xTGR8DISBCIGtdyhR7MmEwAzwSL02OyIBRXhEW4ePta7jE6IKMbvOER0eOeY0yyVP4MmIUzKZ0jo5uZwBT+EV+ufMb54Jek82FQsEZvMC3E2sxEPU4I1tgEedZasDE7HTgcwQyHg0dE18zCkRFYIB8BhjFR+1quYIgu0ANTgmecHlijc9QPjOLttdxDm4kLrvgTn9GT98hI8vkc0aMdHEh28C/8mjowYPcuKoxDbuqjK/JCN6JVeMVuYIhuTOp4u5kJGSn4AQVs4n0K7/k6jze88c3hu8IuvahJGct6MD6ohoZGMX829uUXwPNOb9Tr/6xLL3pGuzb2midY0v7RZbW3prVpQ4OWVnLie8uGBxqUspS3pzXryVWTJzf8BSSyLHsSNbfgOyF+3bfvoD+ZZsMxIztI0/MZPfyixpAEyX8s3e7HnT3h35v8yg1pfe+ny+ruWFZXu3Te6U2+aMwFfuCx7Meqy34M2Nfb43I3+EKvkAimHI+5uVlN+HEuu2QrK8vipX1e+p+anA67Mrff/ltt27rFk7xl7zelnGdU7J53dHbo2U9s9x0t08EjizLPuHJeXDS/J/WSMmkvKYXEjK/JYIeM9nDNSc5eTk5L2SW/rqq7e0CPffyTdc55D1Aq5YNV/GfF8QF7M/Ndv5aA5fGevlumzZulBz1IOuhJ5k9+IvmR4vH2NdzgK8FOjiW+hY/FyaWcN/VmFpJdMI+3V3Of9mwWuvg49CiMY44QD6lnDtCHvpQmT0CZM729vY5bSshJP2Shb2FhrtFGH2iXK/DkHVD4sEsEr3h/5GB+4mf0XUsMidNFB2wMXeg3NjbGm8O8oB654Eu/kzqs4QM2hje6gpVZfo5DEn7ENLDmAZsHS2Slba0FHYjX2BzdCu2DPNTjV6wVSfGFDvpCF/rwifcdkaoAABAASURBVOuCztSbmZLGmtMSvm4ETCnoHvE2y89vbI++2AVZPaTku9CAIzM5UIDGfEvtvyEOjYhmXJBCapHTm1lYBAhIhX2q/QzoGN3MBMiFRo/TgS9JGROahIKnpHh7LfdMVPQFO+ihd7nx4Ix8OCnGWAvW8IQGPOFtdmKCFcoAHvAFY5wPvAr7VPsZfXft2hW6b9u2LSRe4UORX2Z2PCFkHDIX6VZVVRxrdEHvUgPNLMgFLvgkyUy9WDNxIz7shPFECX+SKQo8IrtSTzv/lAqYk/QzFlkpBAWCIf2iAo3onrY4P+yF7NAobKMuXphryAFfxlSy8ROe8ARdc81/azL9GF/8TQ86t8WTjSUND2TU12V60190e+nS2dvSXp/nRNJxz94V3bVnSa3NKf38jpQ2+DFfVgPq7u4KmJP8DA8PebKz4kneIeHrcwtSKp0WNuTdL2wxtHGjty3rF3c1hp0q/IP3vFiEeXBqbGwIydulF3WouzOjoX4LvPgrSnTs7Gj3nGQy/HuWzGkSvHnfWQJn5DSZJ02ravSFna/QODw27r7Y4jyX1NPd7Ynd0XAUinz3+A7a8NCQx6F5T79SvvO2ot6OjCcB6G1e55mW/2/+MRSPnk2Z/IfjL/6vyvt5Hf+7AC2tbbro4ofq0Y97olrbOqktWsAkshc2RpeiHan05EgXXCD5MabuvFP61a/kWSgtNRdswHyEN5jhm2ZoV5wUmONfkU9yLd7zRC2+zBhoMx4fpS7izT07RLQjA/ozn5gTUaGdhxwe/OhHH+YL/aJCHW3QO8H91DtiAQslMZBEDF87tVe+xsxCYgwvMKLkW+r7zXjiNXIir1lprPEB+DKHkbUarEtJhX+zNoI9NMthhGy8ggHmxHiOcUvRrVSPXzOnucIXnUqNMbMQO+APRmCFj5TqX66ecdBAZ3yPUq4/fod8yBnJW65/uTbw4i9zwY/3ENGnVH/sAF/sgqweUk50pRInQXiEwnFPtFa+w3EgamYhIYJZ5VH5HhgKvgQHaABMvqXybxwVeXE6JifgVh6V7wEYJBQECiYpdPItlX9jdOTF8MgOb7PSEyxO0czCREdWeNaDNZPUrHaskRW9wQve6BGXrdw9+pLAspMAbt2+qJXrH28DY/hSh43xF+6rKcjIBAVrHBw/rWYcfczyWMMffdGB+moLOIE1/oy+LBLoERV2u3gngcWis7Mz+D5tTEh2y0jMGM8TZ6SzmYUnYWyB39CfEqeNbyAr/k0/5ki1MiMrY5hHYAaNUmN5MHnta1+vxz/xafrZbfPaMdLgu1FpPeuJHbr4nAY1ZDwL8cHYgOK32nNwWdOzOd2zN6us7wLx3WLwgN/MzGz4Y4C9e/mDgNVwPNja2iK+goKvsRge3uD5w7L4HrDW1mZ1eFI1NTUdEqGsHz+2tDSLJLbJd9jAxsz0z/81pf/77D7d8PMFzUyPIYIfD3eE5I7x/FNDR44cDYnWwsKiZmZn1e3JIceZ1Df48RfFzB/85v2Ytq1VU9PTXmbU2dEREkeSvNHRw54ALurGX8x4Mtao/q5GT+hcf0+uYOr5Vki4nExI1KhO+5Tn3TK/aNF3C1e9E4Vk7AlPfrp2nHYWQ4sW8ERn5n+TJ40UMygV7X5yZWurdMkl0siIwjHmsQekkzuV/oQvLnjyiq+0tLTIrEq+ThI5KcwNZEcPrz7pf9YT+kAbX4YPxczcZ7Khb4djj9/TB1tT8FvqmFdRIWli7vGgw2sR1EOLvtEY5rdZaR3wTV6rGPXjXpJ9/iAnCFHFLzMTfOBB7MJmVQw73oX+jENm6HA93ljmxszCOgEe4Iy9imFdigRzkpiH7tCoJYYgJ4kZfNlJJI6U4lNYj4z0p2Aj/KCwT6nP+A28kZXx+FipvsXq6T8zMyPGE0+hV6xfYZ2ZCTmRF5zhjR6F/Up9xsbkEOBFoo9vl+pbWI+s2CdV2MBnFKDRzPx4YDYEOepLlcjoAAGQTL5SfcvVw5eJSQEMFCvXH7DoA3iMoZiVnpDlaDHBcb6JiQnt3Lmzos4EMyaYmYUFGNnL0S/VxsQEa8bjRNAt1Zd6JhZ8wRxnw5DU11rM8hMdB2TCgiN4lqIDX4IZhWBGKdW3Uj3+gZ/gL/CGdrkxUb8IK67l+pdqI5iCNe1gWC3WyAfWyM1YbMU9OjDp8J14oY42sMU+yDvkOy/04SiA96YirCNa+C6yRYUxyEuiR51Z7X5tZkJOAgy6lrMxcrz85a9Q2s/iHvGgIV39okF98dpZPy5cDIkHCYanJSEZIQnh+PHQ+LIOH10JcwV9KOCzupr1J90m8W9Qgh20s560jY0fCe9nTU/Nqs+PGM3Mx674gtMcAuHmzSPauHEwJGvsM5GUmaFDg6Dxhg8c0YX369ITL2vVJWfPK7V80Hexsp5AZUMyQZ/2tjaXN+dxa86TurFwj1wHD42GBI17kr+cK9TqSSLyjnsih81I0LJLSxroNnU0t6utJS3+unTVzx7Rnb55AMJd+AU9blzMsIPYlPbNqlX5Ma6E/WgrVbAJcS7tu4bY38xKdS1f39cnPexhcpCk735X8hhWbsCq6w5fZIcv/Mv1L9VmZm7n5rDwEYOZp1FfaEa+Dx8KbVlPuNGb+UEBI/pSuGdMc3NzoIvvMof4jJz0pzAfmBc8AGFz6EG7XOH1ARZL7Eych265/qXakBH+tFcTQ4jTxDj0Zxz6MbbWYmbHE0LoMZfL0YAfNsYu4FevvtiFnUkeLMGQ+F8Jb2wMNuiKztionKyl2uCN3fFX6FXiC9b0oz92xlalaJerR178DP8D67hfFxuHXOBCog9O4FWsX6U6M1NKZX4QCEBRFMG4xrtjdBwDowMcxcziXeq6BxD4ciVJKQYIdYCP0ehrtna+ZiaevjZt2uTHLAfC10agY1wJjA1fsGCRxuni7fXeQwd6kV7widNCjmiCgXO9EyxOk/sIP65gjXNRHxX48ifoJKk4OQ6HX0Tt9V7NzBfilhB40Qs/glecHhgjE1hgYzCKt9d7j/xMOLDGr6Efp4Uc+DSFfqWwxj+RiXZsEhU+U097nC60tm7dGpIkdhnRLWqnL3IRRMwsfEkzuwH4BAXa2CjqX8vVzELCg0zoRMAsHA/W3/72tz1p6dE131vUF/83o1c+d0i33rWsr16/IF/DPblRuHLf1Z7SnkPLnnQoJEPyH+QDO97zyuWWteA7VS2+22XGYtLi9m713aZVzc7NCl8yS4nTNxK8keGNOnTosHKe/Cz4rs3AQH/Aia8xAYesJ3RLKw160iMGdNHZzfrXN23UDz++VTf955Ce+xRP0M5pDIkcGHZ1dQa/euDFvK+V8qPYtMxMs9OHPZlr0vaRZo0eHg+JHLinUnxFzBEh+6YNaS0tm7YPIesxfV1A/18hGfMwQ3KW/8ydK+7/cxfq/F5a1Y9uPRJ44mOhKvYLf8PvqMInwI37NRXXL7xf9shHSnffLf3wh5LvEsRpoh/YZj0pYpHGH+Lt9d6DYcuxHTb0go+ZBTzxK/SFL3ET/0ZnxtBGvKE94m3mAPsH2s3y9/4x/G9mwZbgRYEWcQFd4Ite8Fbsh9hCIkY9O/r0jzXXfYufoQc84RHXAaJ8pp64BjbEBOrXWiKdzcx3lOeCzxfSRCbwQEb0BcvCPrV+Bu/h4eEwb/lrQZIPMI3TwZbYmHpiFrLG2+u5N8vHLrBmLoEp2MZpwY969EbfpLBGZ+hBH73Qr5AvSSrHur29vSJviLfXc5+qZhAOT2FSoTgCAg4LCqAjtNnJk6caupX6EDAwLBMXB+NKARxkoA3+lejU2g5NEg/4k4hM+BMnToDuYIBzJGX0QtmYvNCHD5MZPXE0dIYnbUlMsEK+6MwiidPBC5yRgbNwbM0WLHYuHLfWz+gCXZwff4I/WMMb/WlD77XyKRxvdnJCCD/4gjW+hu3B2qyyX5tZWHzNTlwL+cU/gzOTF5xJzNATveELHkxudtPQHR+PrtwzD+kTp1ftPePwL7DGl7Ex/gV/bPz6179ek5PTnhiN6rqbF/WOf1/UM5+wUV0dGb3rY1PhiJJkbMWTpo39ac3M5tTRnvZdrqUgAthB9+49qzJPyGRST093+LZ/9CPxYZFIpzOhv5l50tUUFhawoNKrNDgwIP4R7g2elOGXM34ESoJGn1RKunN3lq6amVvV2z+2rOtu2aC9o3kZZufmXB6SwQXd/ItfysyCDJde9js685yL9JXrFrTrwKLe/coBveZPWzXUL33/o13q6Uipr8uJe1Z19pZOLfvRI9jkPAtzdQM/JyVXSZ6/ea1CoYJ+XMHl7v1zetdn71VvZ5OoNzOBCfrzGT8Da3wL3QLhJH8B0AMfKF10kXTzzdK997qgOcdkKcgB/viQGZokx9jMwk4ZeuEH2Aqd0ZXXG5hb0TzG3/D1CIuVlZVwZBxdwYn+kqoS0MzCKYWZacaTUPgiAy9Vs2CyI8acqopYDZ3MLOxagSc2hieyox+f0Rc8zJLFGhGxI3MZfMESvLhHf9qJGcxz7pMs0CWxRTdiV2Rb9IU/7bQlyRNaZvl4jd7oi+9EWONr8AQP+iZd4Ikd8St446fwZG1kneArnuiTBF+PQNWRIZgDNgKQHQM+C8t6GL1QIhwewI8cOaIJT44AJykACnnFP7Mo4nyAz5cF4gDwNkt+gsX5muUnOvwOHTrkT/KLYjHGBvF+63EP1tiYdwYIaOjPDsV68IrTZHHCn3B4dkXQ9b7AGj74NbJwREZQ5fN6+zV8OfblqROseerEp/Fzs/zihi3AAHko+ACFe/qa1eeH6AZtghpzis8EGV7C5yX6LZtHwiJ+975F/eXb9qmpsU1/cmW3/uafJ/Xb3cv6n+/P67s/XtDug8tqbfRA2ZwRch89Ou5HhZPKLqe0oS+txvSCJy8ppdKp4L+Z9InkzTxxyHlKs7q6El7SR6+NGwZkZkp5xtPS2iq+wJXvGMsuLgoZ8Y+jk9LRqVXx8+EvTOiJT3+9rnjS5drru3UPOq8lzBViE/K0tjZr08iQ75Y16frrbtRdd97tC3dr+NPz//7xaXr/Z6bFu3Af+cK8Ro8s6jEPaVXaGpVJpY4lZHIc/P9cvoC2i+aJlsR99DvllRPTS/rAl3frF3dP6xVXnaHhvlbxg1+DNYs0WGM3ZKNtXYsf++nSS7XiO1eL3/qW7MABtfp9KlV1yK9KPDMLtkHPqLAwEkNIhkgQ0Be+2AWfAwsSCPkPV+YcdSx4fMYXuefqXar+H5740cGDBz0PvVccaTK/zPLWqppQjR3NzP2qLSSVxGvkZo6ic42kaupu5nPPbQq++BaxE774WE2E6ujc1dUl3j2F7x133OFzNuU74C11UKptCHEAGzOKPIQ1ks/3BdbMYzMT+rJWsEkBb2RJqqSqJYTiGJzJw0LC5GOy4XzV0qinH3zhSQY+4E/OPOkgB5O7Hnq1jCEooCN8Tz/9dGEE3gGivhY6tfYlKKHMw+IdAAAQAElEQVQjV148ZcIhx32BNUGUgLZlyxZRwJ1giR1q1aOW/tgTHQnm4I2uBO/15gvGYA0f/Jqgjhzwr0X+WvvCb3FxMexanHnmmYI3W988cNAGPYIMwZWkLCoEXIIAhTrkNattwUE37EqAYdHCn2+44QaNjh4OL8rzRalmKX/4mRTfEfbBz8/pxW8f18GxFf2975r917cW1dvTo6XlnO+epbWwuCJotHpidt7pDUKafYdT6u9Oa2pqSivLK1r0Y0j+wlHeSlBdWsrqwP4D4v0t+Y+ZycyEzmamzo52DXsyRZzp6OzwNvkOTEY/umVevmEmfsYnTaft2K5f33IbH4/vnKEfJZczHTlyVHz1BH5F3aZNI56Q9emGG36iqVnzZCKlr/ywVU+/vFvXXDuj/q4m5XfEPAvTyT/U5Nvy9S6m5hdX9fWbDusT39mv51y+RU9+2IiWVlOaXjRdddVVgif+xRwmduHTlMjGeUrJ/8avmbfLbqemyy8PSaZuvFFukESYmZnbo8GT3ebjBYzxKeyLHfEt6nigRWd8BLkKBaAvY8zMk11Q1vFrYd9yn3m14q677grH/cwpsIfvfYE1OpqZiNfow2f4l5N3rW3ohX7MZbAmNhC7lpbyu8VrpV9uPLaELzv9Z511VlgbWR+pLzdurW34DzpCZ3BwkIs/BM6K+vBhnX5hy9HRUT89OCT03bx5c+CbNNapSvJjdBIiHIwFgMIYFgoWBSY9AWc9AMG4bImaWXjChq9Z/mmEe9oAivskC7qgL3rzVI6uLAy8/8OEYzeDyU+/JPlCK5pgBLI41kw2sEau9eALlmzBsnCQiEU6Y+P1DDDogk7YEV5RgoH+yEAbeuOH4JNUgR5Y47vwokAb/cEa29NGP+qTLPg1euFT6Ay+8CfpBw92zJAt4kl7c3NzeApHNgrjKNwzlgUt6l/qCm2CKFjjW9EYaGezizrjjNN1lC0oJ5BOp/wJ2I8rOzvD7pdPO/HCPTtaBMKp6amQPI0MZDxZYiFdVaaxXeZjTVlPdNIan1jRai7niduyskvLamxo8KfoZk/elkKSxCLS0tKsbHZZZhaKDw9XM//sH3bu2iOS1B3bt+jiB9xfS+rXzLycZk7d7Tk94nev0Pj4EadtOnt7Q0gS0A+Mm5sbBcb8xeXw0AaxA8d3j911191hwcfWFz3gQg1uGNQ135lWdimn23ZNO38p7bteLoJLIJk8QfDdPFcl3PFpxY80b7ptQu+9Zqe2D7XphU/e4cevjVpaSXtCltGv7pnRFVdc4bouB7shh5mFIy74Yt+kg7kLF/TCdynwoVCvTZsU/iLz5pulm26SPEEO9XX8QpcW35nB9/BBYiSl2X005TtwPZ4E8lBFXdQOG3wPH+SeQl/kgw6F8cz/tO+kUminX6WCrnd5Isb1jDPOEHzN8lhDj7lGWyU6tbYTG7AjcYL5hPzQ4Mpn4hY604/6JAv+TWJCjARjMwu+ju5gjM7MgyR5Qgva8IU2fCM7kZhhw507d4q1MWmdoQeW4A1fMDaz8DAAX+op9EPOpAr02KQgJsOHEyN0piBHHI8keJZNyDA6CzUTA+bFGOJ4TE6csgCQYt2rqkNJ+GJ0jg2ZVIUDqcP5CGrwZkxhn1o/Az60MDzgo1shDQyBUcxMJDD0Z1xhv1o/owc6oxe8zVgGTlAxywcYZEI+JnsSfAlUOBu24ywc+ie45u8imeDJRE8Ka3iCHzyZYHluJ35Hfgfm8MUfTrTWf4dfE1TiwSxOzcw8cWgJkx2+yJkE1uAGX/RgPqFXnC/37KJs3749BDXsgqzUU+gPTuBFwU+gE11pAzP6xguyYztszVxF73g7x/FXX/1m3Xbb7SLpGhraGHZ2JiemPMlo8KPDg57MDPpu04QG+vs9mcp6+6oefH6TWppTQq9V3zrKeMK1e6xLTS2dvjikNT654k+Rc74LuOCJUkbsdOG78GZRH/UduZamJo0eHqVKZhZK+OC/+Db9B3gSdv7554p/hml0dExd3V2efKXDX3e+6k969SdXtGn3Pb/UJec16oe/XBDzCNqbRoa15Ike+Az09+nue3Zqz959rk9jkPf003doZHij7rj9Tt1+2x3B1mB68UMeqsm5VU3OLMtV8qTTZXJZSMZWPSnjHbrdowv6yNd2yzf+9PJnnKGtQx1a9GPaxeV8Mja/1Khf7l4RWDe5fj78pP/N8v5lZuH9OfzhpA51fkB35hPztbm5+VQqyPLwh0sXXihdf720e7fckKf2K1GDb6ET/hYvYIxvdnryzsKMD3NPfVSiz8jIfEJG8IYONCl8poAZ7WZWQpJ8NXODf+6IVyuIXSSB+ZYTv5ELGZA9mnsnWuu/gzf0kBX6ZifLapaP17QTQ5h/zMP6OeZHrroDsk5Ai/UPvfItJ37DExyZ7/Cm74nW+u6ggW+hB/rCo5ASPHmoNDORmNG3sE89n6ED1sQteBSjQT0+Qz/0Ltan1jpi1a5jXyWDXvhqIQ1wAA9kpD84Ffap5XOqWOfI6FyZSAS4Yv2iOjMTQtEPQHDWqK2WK8pgdBTD2VC20ngCD5M5GgeNSmOKtRMocHToFQO+cAy4YCT48nIj4wv7VPMZjOHLFZ0JIOXGmVl44qYfWNfLFxtxNMlu37Zt21QsmMXlMLPwdI/jYx8csF6s4Y3OTDD8xuzkYBbnyz1+hU2YaOgMVtTXWhgHX65gXSyYxWnSjnzRRK934QSnCDPoVfJrMwtHmOxU8hdi2AmZkc3MPLlpCIs9mMQLtPkMrmZGd+Ef8EYHfDtUFvwa9a14qpoaG7XsO1n8U0O8v9XV1aWDhw6L97By3qHHk6HRw4fF11ecvrlBT39sh3YfWFJ3V3OQaSmbVUMmo6XsUkjCmJc9Pd3q8iNH3l9CliWnT8k0ZETit2fvfm32Y0QnH3Z3uPJ+GVdw+8lPfq49e/a5f/brlltv17wfjw5t6NTNty/ot7v92HNsOfyTTj+4OevJU0roif4NjY2eUK2GZPLoxKTXZzz3WHVew15GfINoQUcnJpROpwKWy8tL2uHHn/wzUb+5d0Lf/+VhHTqyIH7sWJScnlvRp7+7Xz/ynbHn/t52XXxWn5Y8EcuyK5ZrUHalQQurLfql7469733vY2jZgl8zn5gPJCnoW3ZAiUZ8g4XXzEJsMMvbvkR3+Zan9NjHSr6bpWuvlbA/GWeJAWbmQ5oCbeSNCvY1szCKXVP8hTra8UP8kXnGlcI976OyM2pmnrRnQkyhL4Vx+Cg2NLNAt9gvcGIe8480c2JB/DIr3R8aYA0P4hZYgRn1tRbGcQzPOPQxK8835Rije9p3/eC7lhjCeGIgfMEIGUoVs3zSjz0Yh97gVqp/uXp8k7iLbaBXri9tnZ6YYxN2lti0qFdnxmFnMERnMIR+qUJ71A95sVWpvuXqmY+si8iPHj2+41uuP234LnEdebERdbUW7JOKD6IC4xHAUYzAFm+vdI/TMw4gcFqulcZE7QRrlMHgTJyovpqrmYWEEEAwBLSqGUcfZIQvuuNIGJ/6agsBZmRkRDylUaBXzVj4gfPc3FzYYkf2asZFfSKsoYPNuEZt5a70Y0uZLX6C6I4dO07alSg3ljazfNDH+cGtFucDG/wCGWrF2iwfYPANMAM76CBTpUI/xhCU8M9a/RpdGYdfoTN6VOIZtcMTn8S++HZUX80VvtiHgHDnnXeG3ZRoHH6KHgQCMIkXFgD4wZt+9OEajS28vvWtb/WkpNmTi2Xf9VnxdZqwQAqW0+DggCcuUzL/j3fAVlZW9dTHdOqtf7VBP/rVnG66ZU4POCsTEh74mJknQiu+gDeKL4ENC4c5Ry+0Q6+7q1M5f9LPZNLaum2LzCwU7yVsRZtXBd583jwyFBKohoaMxsbG9amv7NaL3jaqy/50t75+45x+9OvlMJ6+0KDfoUOjynpi2OW80ql0SMJG+JcDnO+Bg4c0MzOrZd/imp2d82SvTyS/t99+hw77rl0m06CNGzfoyt9/ssZmM/rtnln94DdH9YH/3qUrfmfIy4gfS5onYGllVzN+bRC7Ykupdh04KuU6T/MTwk2IUlXBVhR8OutJbaRHpcH4IYslY7B/xpPhSmNOaucY83GPk59TSz/+sbS4eFIzHxp81xPaFOwXFepZMPHNLk/c6RsVM3N/aHCfajmecOGT3d3d7hM94WX7oaGhEPeggdzNvqOHP5fzU+jj07fddltI5niXx8yorqqYWZAHHcAa7KrFmn4zMzMiBhC7kLkqpsc60R8MGA8d6B1rqnhBTsYgNzhVHBDrAJ7whT+xC7xjzWVv6Uu8ZizxD1plB8QazUwky1u3bg27ZYcOHRL+GutS8hZs0Be/hi++VrJzkYa0J7/ozHh0hl6RbqdUId/Y2Fj4g5Dh4WFRTulUpgJ8It+AL/TKdD+paXl5WYwh8oYGhAcEjM7kC5V1/mJiIRiOVClZQGgSBFgxxqz6CcaYeAEQDEgdjgRt7osVjMQizcRkDDIX61dNHQ6A4/FiNk9tExMTYWEpNRasAZ8FGscp1a+aeuTGZuhRCWuCwa233hqC5dlnn31s4a2Gy6l9mKSRvfAb8Dy1V76GNvqgN2NqnWB5KvnfZvnkG73BEB/LtxT/TTu8wZpSvFd1tc2+aOAr0MR30KvUyLUEs0KaLNYsPtiX40Umb9QHn0cufIDC3EUuxuCP+Bd9ov7FrvgOC+uwH1WSyIz4UR7/pJFDrf379qu7u1NHjk6EpOf+ZzbpuVf2qLcro10HVnTR2Y1+zYYdMXBJpzMa6lv1ZCjr/VNemM/m88ETFU+GWFChddB33pCFVq6FGzR8TqdSfpTYpNt/e7fnCovBbxnf4InZ8mpaG/sbw67XsidWZvkkgL/KJMlq9uO5vr4esWO3sroivvB11+49fkq3N+zM8fTb1trqidgmD8C7lPVkhERw77592uZJYl9fr/73e9d5ErygT/mu2I23HNVfP+10nzMZLa2ktLSc8UQso/mVRmXVplRTj35+17QOLHTqda97HSrVVMzyyUKDJ0DYA/8pR4C5BN7YnlKub8W2s85S+JoMkrJf/lIOakh4In/iytzhil8RR7jnaNIssuCpXMzyNqEv84bC/OdKwefwUeYyupSL1+BBbGUun3POOSHZO5VjdTVmFnb7iGHEELAsNxJ7wJe5hP7l+lZqw1bMUWiiM3O11Bh0Zm3EJ8DLrDTWpWhE9axRYL98bOEvx5c21k/szBhwiujUeoUvx8kk7fx1IjqXogFf5jdxDozwuVJ9q6kHa3DDduAN/VLj4Elsxca8h5jy2FOqb6V6xsIX/MCxHF98Hh/ELmCdioweETGr3+iFgjIRKShb6PQIGdVjLJyucHy9n6GFchgfHvCK08LoGAnZMHy8bS33OB/G5Hr77beHp/o4PUBngtGOfPG2tdyb2fEnP/QqxBqjE8xIFM8999zQdy384mPBGgzBGt7xNu6jehydCUJdVH6XPgAAEABJREFUEiXCEP44dKGNI78mgDI5zJL1a3RhsqFfXB/koB4bYGPkjLev5Z5jZf56jCNGjjKxa0SPoGlmnvjkxCLHYoldwJ0CDmanYvDDH/7Qd4tmdOTIkVBGfDcK7LDl7j37tXnziA4cOORr9Io29KX06udu8CRLgc9pmxp1/unNLoL5LlO/OMpczC7q6HRaZ25J+5hlb+P/nEh2aCdIgRE8uFK4X/WkiXt6x8uWzZt8VyIbfJZ/4xLmZinfZenV1FyDInwbPElzqTwxnPedr2Xf1ZvwJC7rMo17cpEOT+dmJuIcuG3dukVT09PhM3V7PfHcsWNbOLak/bbb7tDc7KzrsKLtXv+Qhz9a//nt/bpz/7yWVjKa8+PJ+dVmWUOXmru36dyH/6He9Pfv1xve8Aat5cfMgq5ggQ2QJU4PrKjH3sSveNua7v2IV5ddppTHh+Yf/ECtR4+qrSW/wwUfCrLgR/hhgyeO1fIzs2AnEi/GM3e4QgP7cQ99Fk3itWI/4MDxEe/ysLD39fXFWtd2C4bMUTMLcwD94hSjeE1iQAyJt63l3ixvY/QnVrAexemhM7GaucLaCEbx9rXcgzW6ELfAu5AW9dgAXLBTYXu9n6F1v/vdzx9w5kTiUwxr/BpMiFdmp8aqenmjL3qDNTaN0yFOkyhiAzYpkDPevpZ7eIIjeBbDmjrwRr6IbwoBMTrOuRbmpcaa5Xc0CHoRIAjBDgMLRl6QUqPXVs8kp8ALnuhKQoSugLA26qVHQxvnY1Jxhs4EI2nACcE6yQkWl8LMwjEAWKMn+u7zJ35eDieYEUjj/ZO6N7PwxMpEYlLh3CwcyIB9wSMpXoV0wBL62BeMaQf3KJiZJTexoR0VMMaWLDL4NfoywZh8TEKCeNQ36euwb6dz5EPSzzE5dkYGAgC7DvBmbsULtuEz8sbl+eIXv3jso6m5pTnsIEmmickp8ZNKpcNiuuSJ1kffOKy+LnlyIy0smq58dJe+99MldbRl1JieV8qxzvqR29JyWjsPLGl+bh4SfiI2Geh1dLT5wjerIT8OzPvIqtPJelkIL92vrubEXAmDYr92bN8W/qiAF/GpHhnZGOh0dXWGhKmluVmPeECDsn5EKZehu7vLL74740d4+N+MH08qJ7EDCFarvlO3c+duMT7r8ra2tmjLls1O2nT33ffqzjvvFlguLS/prLPO0NTktK77/o26Y9eE/uPrd+vOA777l+lQumVQZz/0D/T4q16kHaf7LpNTSOp/YhQ2w4/xK3DBt7hSn1rDE3wxGc0s6NzW06O2K68M31nW8qUvqdXxgSdjSIbAk/uki5mFXSviNfMYu+DTLJb8oQBH90nzjOiRBDA3iCEzfiyJfxBDmNNdBcex0Zgkrmk/WoM+18nJSZ9Xq8LWrFfd3d1aL6yRnRhBLABj9GZecI/f41/0WY/CgyIPlXxFBu9egzG642PE8aT9OtIBumANH/TExqyLyMHpA3JFfZO+gie4whe/pnCPffH3OL8UHeMV63VPgMEJcHQcoFCQ9eJrZuGJE0fH8PBlAqwXvzhdztBJgngiwABMgHj7et2DNQ74m9/8RiQHJGPrxauQLoGNhYMdF+4L29frM75lZuF7YnB0ynrxitMFZ3iNj4+LiXZf6cwiwhMdPsX7ZZHNkQ2ZmNf4OvJEhcAQ3dOfvn/8x3/MJRS+8qKjo13Mzy2+M9bc3CSO+kgKvvr+rWpuSoWkq7FBOjJjms826MjEki45N6OWxiVlfJdqfn4hvM+5dWODpj0RGh09LN4ZA5v5+UUN+3Eo73DJf3bu2q2c74w1NjRqxOvlWZPnTd6ikFCpyM+BAwfFX1syn8GAuZxKp3XBWc2hN388EC2qk55ULi5mw07Z0YnJ8A+eb9w4qLGx8SBH+MfPV1ZCYrZz5y4tLC6IgG1m2jQyrDPPPCMskNgWvPCxiy9+gH5w6xFtu/9jdeWfvkZnnXtR4Ltev7DjqieQxE1koCTNCxzxlXhp82PMhuc8R7k9e9TnO2bEEbP1ebiJ62NmQh4eNjhW5sQh3p7IfREiZhYeKmkaGxsL92DP5/Uu2BTfgi+JEXN0vXlCn7lDTCABZH3i3mz9bQxvdvHxN16hieYy9etd8C1i0S233OK77H3i/e/15gl9YjL4gjN4c292KtYpnkYIuAxar0JAIRmCPi/Bk6kiFAs3detZ4IHB2TngCQ9egELg5X69CkYHW4AnA48SMxKV9eIJXXYecHIwv//97x8WR/RnkaJ9PQs8WMx52kBfMAaD9eQJbXjCh0DGRGfS4W/3lV8T2PgDicivwRu51rOgL7ZmPpGYMZ/YTYjrjFwsKuBSrLAIXHDBBfr+97/vyceZIRnhWJBAyV8/9vvx0P79B/TV92/zHZNUUGdqzrT3cFobelY1MrCqLUNptbc2anklFxZS5LCU6c7dK+rvlnp7u7WaW/VdtlSgTxJEcBryxGhwoF9TUzPauWuPJ3tNOuTJW2Div/Adv5z0v8kCjY0bBn3BbPZkacF3hNt9l2xZn/vWjF727D412pgf2Q6GcRuHBj0Z7JKZedLVEf5IYGpqWj3d3aHd/PeBg6M6fNjHDA5qfOxISNQ2ezK6vLLsu2X3iO846+vrVWtbq047bbt+/vObtcuPcv/7m9f56PX9nxiCL2E74hcLN/GMRTsJzvgHPgB9SmtrqyiNfnwJj9a2NnVfeqmMF/+/+U3pW99Kgm1JGsQsdi1IxM4//3xt3bpV1BFXSg5KqAGcwRYcmMtgQwxZ8YQ9IRZFyUAfPtgWvqwX6MvcLjogoUrm19TUlPAx4jWFe+IKbQmxKUqGeA1veGJnfJs/1MAGRQckVElsZJOCOE3c6+jo8J32GY8j8wlxKE0GfZlTxGt2P5GlGNYphMIADMA5SpOsryVyLp6wWCihYmZhe5pgQDuOQH2SBYeGNgGGEtFGBnTG+LRH9UldwRAsWXTgY0bYV/j+I572CHY8/WGQpHhCh8DFe2Lw5rgUp6PezHzxagmBFgcAF+qTLBGWBDNsGtEGawIMExDeUX1S1whr+MSxJpiiPzaAL/6dFM+IDnTxW/jAL6oHA2yMHWiP6pO6Yj9og2uEtZmJiY5/jY6Ohr/4jfiZmQj29GUeIF+8QIfA2Jw6pD9/aqce/oBG8fI7mPG9XY97aLt6OkmmTPtG02ptzmnLoCdY+fxMT39slw6NL2hjX0YdLSRlGWHvzq5OtbekPNkZzyc1vb0aGOjzJ9IhkVDJUiFJ452zrX5cuLyyqg2DA0FsXuiPChVm+TmU88Sus7Mj0EOXxYV5n1dNvqgsaWwyrTO2NIZ/zumgJ1mMm59b8PZMSOKOHJkQVOb8GHXUE7BV5wcNgmRvb49kOXV3d4W+u3fvCV+1Qcxi97Orq0vjvqtG4ib/wa9+efMvfedtMejqVYn+j0wkB/hVS0vLcdp8xnZU0J4DJD7UWJAfvaBFgUdUiCPMpz5PxvHjQNqPhHX55dLFF0uf/rT029+G6iR/8WrF7t27tWXLFnEcb4a1FJJ8ZJybmwuLZ5I8oQXWzCceXJgLZnm+zBnsDsbMdfomWSK68IcPNoG+mYWHaPiTqNFOfZIlitfETPwgos09GIA1cziqT+q64sktOoE1c8ssjzWfWbPAmd3+pNdGsCbhQy/+IAT/RiezPNb4ObzXA2t4gjdYwwe+FHSOsKYPdZQUv+jIAARiolO31oJBocVkYrKb5cGP08UJEcrM/El5SvCPt9dzDw0mGA4d0S6kY2YhQSEgIyOyFvap9TNGJ8HD6cAS/oU0zPIOEJ2h8zRY2Keez9FLr1v9iZKdKbPiWCMXQR18CLz18IqPibDGf8phHU10nD5JrJm4TGx0issV3VOPXCQx8MZGUVu9V+SHFnTRqxgd+EZy0TcprAlmBBNomxW3MVvwJFh8rQlHbZF8ZubJSWPwe+Yk8nONyp/8+Rv1kS9M6Vd3LkVD9Ll/2KCnPbZdf/DyQ/rk16a0dWhVzY2S51LiBzy7O9KeqK3qnB0NnriteJKV8YVzVnzX2IEjDTIX84IzGrUwP+F1S8r58Rs7Zl4djjQX/Ujx4KFRH5f2vtTmDy5znnyFO086wC/n15wzZc4ST9LplOYXFvxho1ndXW3hC2hf+e4x5XIWdlX4C0u+pgPfNDNPStNqaW1RKpVSu+92cW1tawn/RFNuNafRQ4fFUSr/zJNZynfRusTxJ/Fh2ncSsPvExIQ2bRrW9u3b/IGyNbzjA30CKr6oNf6gI/wg0+a7U2k/iuW+sBBbwIGEH7kK20t9NjvhA4yPCryiMfgOn83ytojqw9WTaj3jGXJHkj7+ccmTpFC/hl/MDxZhHii2bdsW/KCQnJkFv0Ve+jOfC/vU+hmfghZX5hP+UIwGWDNX5ufn3a9ninWpqQ4bQwufgS4LczEC2J5EjTbWFcZxv5YSxWt4shaYnWpjM3PfbguJMOtEElgjO7TAGp3MTuWLXoO+S83rNXzvIoX+1Ndb4EuSDy3W3FK8wRo8WLvxCa718ozGgRu0WCOIV2an6myWxxp7YGNiSCoiYGbhpU4GExRwmqitlitEEYSFo+TELiBIXwDBAPAuaD75Y4lPgA9frtAC5BJdj1czCZGRvjgMAe54Yw03yMwEgxYB2uxU8OPk4Ds8PKzNmzcLhzl06FC8uep7ZCaY8TS7fft2X3QyFccSYAhAOAxOAF4VBxV0wE5gjeNCC/wKupzy0cz8eKkjyIjcjD2lU4UKZMUvI6xx9gpDZGZh4cQ22KmWBSxOG79GbuyLf5mVtzFjwYWgy1jwQn7qaylgDV+uBBR8p9J4cCGwsYCR9INZNIbxBADawCQqfMkxCc/RqdXQtSFjOjjepL7ujD71ti5deGZaV71ytz799Un5iaSXvP4rnswM9WfU2ZbWtqEG363Khgcr/qmiBz7gAj3govvr1ntWtH3YND5+VG6QsOiOjY/7Q9i0kGcpmxV/8ZhDAP81Pn5EHJ3yb2qiN7hRdvnRJoleqydUbW3tgY78p629y3OERl3+sC697vm9zsLCgrLVd95S6UzgwWI04EeP0OPdNnMlJo5OOt+Z/Jtrbk9kwWb93u/oxKTmfBHGT6f8mHNoaIMncm2a8x22Xbt2ux83OGeJMWDJB/wLPtzXWuY8uWFOQos5Wmm8WT5e44/4dKXYRYyFdmRv7inUo2N3d7cf63YFfcryJkn0xEnPfKZ0yy3S175WtnupRuRlRx/e+B4+WapvVA/WzD2uU54kY8uordorfgTWYMbcBL9KY83ME/+WkBQyj7FTpTHF2tGZmIuu2MHMinU7qQ5foC88GYv8J3Wo4gM4gRdjidfgV2kY84C+XOELjUpjirUzJ5Adu+FrxfrE65CNdZFYxx/E8dJ9vL3a+9HR0fAv6fAeNzuu6FFpLHbBJ7ATcoNXpTGF7eAE1tgNndGnsE/hZ2SDL/xShY0QwAEQDudjMSnsU+wzxOhvll94YU+4/gwAABAASURBVFKsX6k6MwtBlYSQCUMp1bewHvBYdFAKo5tVdvQ4DcYAnpn5k/ZsvKnsPY6GziyAYGZWG1+MtsW36AmMHGPGdzTKMSaYsANC8CeYgVm5/sXaGANfcKMU61NYh43pi95gjY8U9qn0GZ2Z6Mhey0RnktAfnvVgjV8jM/yxGfwryUo7Cwb9uUdu6HBfbTGz8KADb3wa/KodS3+wxjerWTjidM3yiwj+xfzAX+JzmfmJ3+ID4HmxH0fdfPPNeslLXuLJRkYbNg7rZf9vn978L1PaO5rSuaebPvm2AZ25NaPn/O1e/dc3J3w3SvKTPz35kZ366vXT+sXt8xoabNWF9z8//KPhd955T6C1bftW3bFrWeeelvZkbUVL2aUwdmRkWN1+HLjsRxkTngBN+iLr+ZiQs7m5yZ/UW8I9frdnz76wOzXmR4eLC4viJXzkpg2/4NrdkfHdsWW94QUd4oiS/G51dUUjwxvV1ZbT857gCaGDZGbOt1P8wUI6nQpJCPzMLPDjHzxPe+KRYjetvS3Yb84TMZI0vq9sZWVZD37wg12+thCznGRIAMGSgMz8RB7qKxX8es6TMWxBMasthiAj47hCp9Cv0SOa68gXFcYgK23sijEvKsl6UnvGH/4e9CDpssuk739f+ulPT2ou9WHFbc1DKO+J8RBJImhWm87Ea+Yi2OHb1WKNXeiP7uBgVplvXA8wZi5yZdFFl3h7qXv6EUPMLDyUMr5U32L1ZhYeKpEZ+dGjWL/COnChP/MJucGtsE+lz/gF8wyso3lWaQztyEh//Au8zWrDmnE8VMKbh0roQbdSIb6ySYF/ML7euInMYFctX7DGxlG8Zt5VkrWwHVlThZXRZ5yGRQRGlZwP4BGc/hgwolHPFb44HoBAF0coRQeegIbxGGNWm9HjdM0sBFVoYVToxtvj9wQ9wDfLT7B6wI/TY7Lw4j8TBufDqPH26J6JvWfPnvDvHBLMCKRm9escYQ1f9CnFF/60EfBJiMDIrH6+0IMONsO+4I2fUV9YCrFG5sI+tXzGP8GbxQgbg2mx8chDO8EMvwajYv2qrTOzsIBDp1q/Zg6sFWt8MzoO4qlx//79x0U2y/s8diDw8fUCz372s8VfBV9//Q26+eZf6s3v/Lg++4ML9H//YU5370t5UpXSB17Xp23DGb3obfv181vnPWnzp9F9Oa1Yj7IrTbrzrvwXubLrxRfNdnV2StakyenVcOwzMTnpCVlOBw8e8gRqxXe6UmH3YW52Tou+W9bf3yfe8+rxZG3Vd+DkP80tTVpeWlJ7e4v2Hzgo+rCLhv+kUmlxHRls1s59S/qzK9v0sb/rCEkbY9LefvVf9LvM0ttessGTwmW94v80OFW5HPKdr1ZxdIqvpTNp9fR0B3oNDZmQ2HE0mjLzvrmwMLY0t+j5z3++8CVKCKSpVNiZ457CfCE+BSZFfq14YsJ8SnviB/4pH1+kW9VVyIGv4LfQZWA0x7AtBT5Rn4aGBhE/6EPfuktHh/SIR0h+3KTPf1669daSpA4ePCjiF7sW/PHNWnWO5gc4U0oxxq7T09PuZ2n3n/aQgJfqW0092LHgQ5cYAebFxlFPO/2SiCHgBR1sjT7EpmJ8qSOmUrA3NjarP16bWfB7fAialbAmvoERsiIz8tRTzCzEBV7FQV92VMGyGC2w4KGT1zpIxPCNYv2qrWNeIj9Yo08pvtBjrjPnwAe8zerHOgXBUsXMwhMgCxgBD6bxvhiGumiim9UvSJwu9xgSBc1MhQkh4AMSoNGHvoxJokALUClMJvSO6BZOMAJv1LbWq5mFr6hgu5a/xOQpkqAd0R31LVjeFSOQUdA9alvrFafDxugOrnG+OCKTgbb1wJqJw+TFj/CnSBewjmRhYtAnakviiu2wMb4Eb/hFdJGDOtqRzyw5vwZr9IEX/lWINTqja9JYw3fYj8k5Cti5c6fyRwFIISEDCyVY8MXBHIEjI7sX/BXUP7zr3fr7935e7/qvNr3mvbM6MJbReaen9IzHteqNHxzVkg3pnLPP1KQf7U1MTHnSNSu+7R667Dat+DYa/jM5nfNkaCUkLk1NjR5bGpRdWg5/ft7W0qyW1mbN+MLJkWVPd5dm5xf8ISnjQpr6+/o1MTkVvtMM35/0+9amZf981BfaVKDZ35PW4lJOTY2mxz24Rdf8Q68nb4e0oWtcKU+03vFvY77bt6SezrTOGJ7SJee1hiQLueUHl85IfLM/8cbMlF3M+oLQEvDBD9CBRPHPX/ACcQyyyvtwXuK+Aw360R8fw4+YQ9RT6EsdY4mb6EJ9EsXMhO+QLEAXOeCBH1P4DB/sSr1Zcn4t3+nX7/++XACFxMx3O+FFAU92LYgx2/y4E1yoT6KgE7qhN3OHxTGiC9bUgTX+TJ+oLYlrU1NTOMqM4kWcJjYmeUE2+pklhzVzGSzRixjCNeK95A8t1IExNgafqG2tVzPz+dAaHkTANb42Mtepw9eJXfjfWvlF49GBd6O3bt2qsbExf5A7GDX5A92qDhw4EArtJPv0P95hjTdgjT6RfoVYo3PUJwm+qWrkNbPgeDgWjjbpT7gIAuhJGz0uj5n5/G4I27w4GjwpgLIeEyzOG3AxhJmJhAS+6M4EI9iaJTfB4nwxLsEex4r+8ojMH1lwOCZavH+S9wQs+DDR0JlAiiOuN9boDF/8CZzhTTDDt/A5s/XBGhtjS3hgW3hTInloTxLfOC3siH6RX6NzhDU4xPsmdW9mYZcu8iPe0cC3eIeRBwF8Dv9GLuwRL3wx5+7de/1Yclp/+fbDet5blvSuj8/7TtVg2HXwjCgc9z3y4kZPkNK65Zbbwk7Tgh8vLi9nfQdqQcODKY8jnni1tIRA2tbWqs6ONu/vYchNTJK17MnbwsKCDo2OhZ0MM284lixtGBzwdX+zuru7PJFa9aSwwdkyP2f8c05bNqQ9wcuJEWB22UVN+p9/7NVNv57Tq/5xUjfdsqKPXjOtlrYBPfy5e7SYXdYfXt6qL7+7QY2ZHEPCX02CATFm1c9PuZKkzfqxYjqd0mMe8xi98IUvDLqy+ESFfoFA7FcqlQoLGIkBiyQ+RsIAfeZarGsit/gttmO+klT39PQEumYWkkoSNRLytO/KhYakf0H3jDOkJz1JuvlmrX7rW7rbd8zAhl2Ltra2pDkep4dO0DczfyCYCTEbPwIP5ppZ5BXHhyRyg42xJzEEGzOPufIZ3rQnwqgIEXjAG5+CLwWs4QseRYYkUoWf4WP4NfGSggzwJZ6arQ/W8GUzosN3ZXmoJMnftWuXx4NujwtbQq6QiIIFRMxMYI1/ZX0HH/uiM93AIUmsUxCttphZCHwAU+2YJPqZWQjgOIBZPrhUQzepPmZ2fHEwWx9nU5EfFuuomokW3d8XVzPzhTItfszuO50jG3OlwP++KPAyu+/0jHTCrlHQRoaofj2vZr7744EF3ixW+Fk8qDC/CawEoKgQeEgotm3bquamRs3OzGvDhn4t8G9Aei6ze/ceT/ZaNTG1oj++okMDA/2etCyHRGDP3gNhF+zQ+Ioft0+5X6X8uKxHTQ2NMkvJ/D954YV93tFCFhKdffv2a+++AyIZyuVWQ+zJeZJE4pbNLulnt63o7C0KgdjM1N2xounZnMxM0c9Dzm/Stz4w4Hyn1djU7A937WpobPRm77/xQfrMN+f0iOce0PxiLrwXtmHjsO9+DXu7fMyUejz54xiVB4QXvOCFes973hNiEYs9BTmRKQwo8cssL09kZ7P85xLda64GL+zFghjZK7qnnrIeCWBJQZubtXvbNo152X7nneret0+pkp2TazCz4CNmFnygkl2S46zAF35mliTZirTM8jrjW2Z53mb5a8XBCXSIdCaWmK0/XzMTusKXZFT+w71f7pP/V1ZWwvyHGfdckyxVzRMUJhgTlKKJzsTHCGSLXJMUKk6LxWJmZiZkqGTG8G30gArfrC8q8b5J3qMTTxzozmKE3mTJYAAW1CfJL6KFkTmaZGuW98R4KZvdCQL/7t27tZ46QxtcCd7oDNY4P/hjh0jGpK/oDF8wxcbwZrLx1EVJml9ED37YEt3QNSpgjTzIFfVN+spiDm98Gd9CbxKh9cYa/+XpEl78QQj+NTIyEo4B2CmL9DSzkOhgB+Sj0JbzxGhq2udjc1NIthobGrR7z161d7Sruy2nP3rSWTpweFnnbp1VU3o67IgtZ2dDEraw1Cz+/cvJyWmlLCXzHaRUysI157tgvFhPgjc3N+9PvV3iy2PxyQMHDml09HD4frTdvkuX8eNHM9NqLq39E51qb28LC2JPV0odrSnEDOX6XyzqQc8+qFf67tjf/HmP5ufnQpJ49MjR0B/dzMyTylyIL3x7Nztg//u//xtek/iW7/D8z1e+pne+85369re/E3bG8In5+fkwD3O5XOBT6hd953xnjXZ8i8QIe2P7JPyauUlMwjbQp3BPgSftvCeGb1EieSrJzdh6C3Frpx+JDwwMaPDMM5V6ylMkj9f67/+W7rmnXrIVxzFnmTtm5g8Gbe4T7eG9J2wF1uulM3SJFcvLy8f5Ygf8FtuzjlQUvs4O6AYPfACexE1sHslTJ9mKw8AaHvDCr+CNzyEPWFckUGcH+PJqBSd0W/34ctOmTaKwTvPuNXG8TtJlh2Fj9AJrYgY6gzUPQvgccpUlUEPjiehVYlDkWJHRzSz0NLMQxDAEwmIMBA+NCfwieKAsNCPlI7IsJvCljT70jdrWeoUmwKMTwDcSTI4RxQDwpY4+YHOsKZELf2VJ0sVRA+/74PAQ5kod27UEPJwySZ1xKCYYvMAafLmnRMlZhEuSfCOa8I9whScFnakDc2RLGmsWRWyIX7NQmp3waz4z8eBJP+REpiQKuuKz6Ecgi2PNPfiDMX3omwRPaBCs8JuJiYnwdSv4E/UUbIy/IQ/+R8CjnoKcYIQt+MxL+ls2j2hhfsGTpHFfaxv1jKc/LXwdxBWP3KAHntOt884Y1raRlDZtaFBbkz9RqiG8HM9R44Fx08X3S+vw2FhI0qAPxrw3JpnvpPVq08iQOjzJWlpeEe87meUXWeTIeULY7kdfnZ0dfgy6GBbdaNGbml5ST2dK/Pzgl4v6hy+crn//2Jd0vwufpPd9ctL7Z8P7LyR/6HPTTT8JMeyMM073+rTwM3bAOF4jCTvDj9+IAU984hODHMQ4cIz4wadYoZ2+2A8+2DXqh774F3VRn6it2quZnZQsYzf4UJgvOU8UOZrEl+AHXTMLuoIhfCn0oy2JwusNJGL4Eu+JMX+O03UcdcUV8oxY+u535UAfb1rrDTpgN+YMOBCbI5roTh1X+jCfo7YkrmBIDMGeFLN8DIE2+lOHb9MPOalPouBXxAd8CP2weUQX/KmjD7KBS9S21it+DU1o42vwimiCMXVcwZp5ErWt9Qrf0dFR7fOdVl6roMAHusjAushDJQ+UFOqTKuiBPvADV64RbXhTBx7YAzmjtnqvqVLmOtyuAAAQAElEQVQDYYIgZvlgGDd6fIyZ+VNwSwjMGItEJt5e6z1KQYfJQ0CJT7A4LTMLAQZAAA2nZ2y8T633TB54w5MJVWo8EwHnY5KBEViV6ltNPRk+7/OAMbti6FRsHMGUhZOnTxZXErhi/aqtQ370ZdKiD3qXGksbAQa7MIaxpfpWU4+9oANN9DI7Eczi48EaPMzMF/25sCsTb6/1Hl9h8oA1dLkWo8HEwwfgj5xJ+TX84QuexfhSByb0oS84rQVr5gQv8PMXbgQu3k8sprOZhV0FdszQlXczwAl5KNddl/+nghYWFvkY7IDfNPnx5cLCgidcR3X572zwXSvpykcP68DhVv3ug9o90VHom07ndNSTwZ6eXt25r0FPurRZ+/YfDN9NRjK2uJj1JKxV7a2tSqXSvl8m8c34y8tLYefBc7VAh5jQ1taq/v5ep50WP7OzcxoeaNH4xLI29qWDDPsO5/TqV/xVeIfrMb/7CC2tNtFV/GUmySTzFruCb3dPtxZcL2xy9tlner4wq7e85S36vd/7veBzC64fc7waO4Adc6SpqSnEp8C0yK90On08mUQOsCzS7ZQq/BG/bPOkNCp8ZnFAPuYxyRj9ThnsFfClD/3hi6xeXff/+ChJPPKTiMG7KDG+JuPccyW+KoOvyPBdSM+Qi3atthL5sSP6g7dZ8RiCrmAFXcYwJ7ivt6AzMTuiC6bFaKVSqeB/2AK+a8UaudEXX0Qf+BfjSx0xhII/4uP4BvX1FMYyByhgDV2z8lgjKzrjF/XwjMZMTEyIRB+fZVeslM7MXZIy+hG7+FqViEY9V+QHa67EnFJ8zSzMY+wBPpR6+EVjUtFNdEUAgKzG6NEYrjglQplZeKkSp6W+2hIZHefB4Bi+mrFmeUAwCGDggNWMi/dBVhYfJhA6MIHi7cXuzSwEXBwArJAb7Ir1LVXHOJyHicqxJLsBpfrG68GHhdPMgrMSHOLt1dwjL3aGVrlgFqcFPtiF/oytB2t0BWswBmtoxnmUumdCwJvx0UQp1bdYPYGBcVzhC71i/Qrr4nJG4wv7lPsc+TW+CdboYFY8mMXpmFl40EHOerFm1wL/gufmzZvDQ1OcR6n7wcHB40cBHJ/jp694xSs0PDykgf4+P6Lcp8HB/nA/fmRC3/SjvSseMaTO9kw4Clxazukl/+cs/fDXS3rGY5vV07Gq5WWFpIc40dzcoa/cMO91y+LLVwl48p9tgzMa9Z2zHOmY7/LgGzMzs56gme/GjUmrS07f6Swu6sj4Ucen1UfJA2KT9h+e19/882j4ItvFrCllOb3p796pz33+v/WlL3/NN2fmxQ/Hndi0sbHBE7qMzjnnfvrpT34m5i47eHv37pOZaePGDbr11lv1rGf9keJfFQKNYoUYgo3z+jW7zKli3U6qM7NgE+wDxswn/OWkTsc+gEVzc3NY4Ik5UaGOLlzZ9WRu8rlSAQNowG9mZibYotKYeDt4sWNBoj80NCR4x9tL3re3S3xNxgUXKHx/2e23l+xaqgGsiXnEfHwHbEr1jerN8liDEzgzp9A9aq/mSuwgBqA7O6dgWM045jAxh76Mhw731RbkxLeQG5uhg1nlGAIu9Ic/+hI7q+UZ9WMMMqMrtMwq82UsfoicyMxagw7UV1sYEx1DsjZi50pjzUzYhbURfjwoIHulcfF2xoEVcjMv0SPeXurezMLcBCd4glupvqXq4ZmKGhEEECgASYnaarkySXA+nA7BcN5K45lg9CWYMRZHqjSmsJ2xOAxjoQXNwj6Fn5GNvqurq2F3ANkL+1T6bGa+IDSHwBpNGrAsNw6+/KkuwWyTn4PzF1Hl+hdrQ8/e3l7x1IDNWDQwaLG+8TocBZ2ZpGvBmrFmFnYTqsGaBQe+6M7kgn9crmruzcwX4ZZQIqwrjcMWUV/8A782qy6oxGkjL+Mj/NAj3l7sPurLJGUsNivWr1wdY8GasSxC4FiuP23oy1MldmHHFbypr6Uwn1ho8U0WXnDk2ID3x8zME6OcVlb9SLGrSxMTk3rG5ZtCIrO4JC0uraqlyfSiq87Sr+5c0YPPb9Ul52bCDhdxge8nG+gfUF9vjzYMDii3uiqOIG/ftaxtQ56kzc1rzgvymll4ud7MNL/ox59L08rOHdaRoxP5nTPvBEYjI8OamG3Sl7+/oM9/Z0ZPfmSzTuv/rf71X/9F//OVb3gvBfk47pQnfL09PWppbtIdd9whPpOMYeN5P4rt96QTOc1Mh/2o5K1vfavrOOH9Tv0fPwBvWvAtZOG+lmJm4eGOscxh/CYab2YhtuA/+AGFexYLMws6dXd3i8/RmGqvZhb4QnNpaSkkrehTbjx+wM48/kUSRqIPbuXGFG3z2KVHP1qeCUtf+Yq0e3fRbvFKfD+KISy84BVvr+aeeQRW2Iq4Gce61Hh0jvqCVbWLdCE91hdsB8+5uTlBt7BP4Wf6ojMYI7eZFXap+BmckJuOJN/4NvflCn3oSx/iBzS4r6WANfqCF/qiS6Xx+B+nP7w2gW9xGlRpTGG7manX/YvTpImJiXDUiT6F/Qo/M/ewM/KCNfIX9qn0GZwirLEbPltpDH3oa2ZKyX8AigocBmL1COJkjv9vZiFJQSmCFaWY8wESRscIGB2nO06kzhto4ATQRCd4FJJCFoBHLvpigMI+tX5mAYMWV5yPAFdIA75speJwBBSSMfoX9qvls5n5bsWgWDhZMCnoXkgjMjpt2BjHKexT6+fIX8AYnbkW0kBncMbH4EsgLOxT62f8E6y5YmNoF6NBPe2RT5jVHszidM0sLHyRXzOB4+3RPTjg13zGr5PAGh3wGfwK2tgR+vGCjffu3Su+x45ghk/E2+u5R1eSfnDMZBq0betm8Y+Ejx4eF2g2+pHlhWe1afNQm7KejDVlTM2N3uL/Dw+26FEP3qr+rlWxY/XPrxvW6OGxcGw44Ukc/mB+rNPWvBh2z5b9WNFPDkPygy4dHe0hidu0aUSPuOyhetQjHqZUQ7uOTssDbk/Y4SKBSq0c0dTkqP7kihZd+egOvfT/HdXFzzqkhcWcMikXyhXP+JFZb0+3+JLXeWeCHHxHWjqd0ebNm8Q85AEJf6XvYZez1xPGFU8Wf/SjH+mZz3xm2I12UuF/+mF/7EH8wD6hYQ2/kIH5gV9D28zCUzc4UfB57IF8sOno6PBEtrOq3Tj6lypmFvya+RzFxWJ92XFl18HMxK4F8hTrV3Wd28S3KKXHP146cCD/flns+8siOmCNXGANDuAdtdV7BeNIfnwb2sVoYQfa4Qn2xfrUUmcG1i1hfUQnYlSx8fg/D2BmFjYL8I1i/Wqpw77gB090KhZDwJo28KAvY2rhUawvWEPLzHzuT4c5Xawfr1YQvwZ9h573xCI/L9a3mjrGj4yMiFc1WHOJi+hXOBas0dksP9+Swhr/AkfWxmJ8wZ82+tAXrFMEdzqzcCQhSFxZDAEjghUKw5h2+OGMODuGwtmpT6qYWXjygzc84IXy0McZAQGZaDfzlYOGhApOAF34oTOLM6TBGafgMwsceFOfVAHDzX4sRZDGqQme0AbrpBMi6MYLiwgFPmANT9rBHr1xNDChLsmCDfEfsMamYAt9rvA1Sy6YQTcqkV9zhQ8+RRt6IwefkQu9qU+ysChAG6zBF9roz64FdieY8WSY9Fx++tOf7ot2c3jvK+uZV4cnS+yW8YDxzCds9aRAam1JeZJkMsvvoK2u5vTISwa0tNKjh57fos9+a1IPf2BzoDPtx2QzfhyZTqVkkjb2rvqu2Jx2H8zpsosaRaJGoBwa2hiC+D337gp/IXnR/c/3ud3oNFqcp49cmdXUnPl9q+YWVvSBzx4VP+NTDfrajcuaXmjW4EC/Ol1evgCW983MzOXMaNhpr3rCReE9tsbGJm3cOOibNitOL+U8mjU2Ni4SM/D9yEc+Er6INpvle9UWw4v1zDszlwOmCRVo8i4WVzMLizfzB3/Hx/ABdsX4nBDLQAafwbeIYcSuKF5zZQeeOmIXuw9hQFK/SMwe/GDpwgulH/5Q4n1FzridPj4OX7BAb69K9P/Gxsaw00rMYO7iCzDA90iIwIRYzVynPqkCPWwKvRmfC2DMPfzRF/4dnnAnbWMzc79uCYVYDb7wpRBTwACcm/143CxZv0YXdGL+oCOYwxecebUCW3DciK2pT6rgz9u2bQvzlWNQ+EEb/ugL9vg9/KlPqpidwBo+YM38pYA1BZzB2yyPdQpBkgagUKHIqXE2slQAQXkc0iwvSOGYJD6b5TNeeJGgTPj2JWCgM0ZKgkcxGmbmi0ZTeLpFV758ky1YnK2/v7/YkMTqMC6JGU7GF+eNjY0dP/JIjEkRQgQYcMWX0JmFmjomINciQxKrwqkpOD364vgEUQJAYkyKEII+fPAp/BofA3+K2fr7NbiyI8qxG/cEHXy9iKhrrvrwhz/sR1oLHtQyYTeJOc3RXsbm/Uiy248oU8qkFUrar+kU+ufEceRzrtyqm36T82PLZrW3mB7/0EafGy06cvSoDvmR4OJqu/iWffnP4MCAH3Mua2Z6yo/D58QR44ovzod9R+6OO+/2w0ap148bCaa8oN/dvuwJS4fSvhPGX3XuH11yKvLkbj4kesjJe2rzCwvhPamBgT7fVerwpGtVLAzK5ULShc36ert16OCo4NXnu2MkbxBra2vlou9973vhe8jMzHk2h6QtNCT0K+XJKfOnra0t7Ir0+rFLtMuJTxOzqMPXE2JZlAx8iM0kBeyIUTg6GhoaKto/sUrXV5dfLp11lla++U3N3nabsB9zDGwS41OEEJhSSBTYqSF+ErvAokj3xKqYr+gXrY0kZ2CPLIkxKUIIPPEz8J2YmBDxi3vqaCsyJLEq5ho6wpc/ZiNuszbyEJIYkyKEsCc7u6xP/PNwrFHIQinSPbEqMwtJP/jCE725B4NCrFNMdBaUxLiXIISDM8EBBSckGOKEJbonVg0PdCTQAUAkR2IMShBiwWBi4+gcTeJs6HxfYA1v9GWBJgvn6RYMSoiaWDVY89RFosLEhieyJMagBCEwxa5mFo5uo88luidaDV/sir4Eb4IL/BNlUoQY2JKMgTlf08CcYn4V6ZpY1YbBATnEvks0oY72Vh06dFhD/Y3612t268ZfjOvWu6d0dGrJkzLzhVSesJj4SXty9qI/PFMf9N2rr14/q537l/TCp7aFpGzAH1Cmpqa1e7RdGzduUNqzutaODert6w+J011336NNfqS4sLioCT/mJLFqbWvxXbMZnT68qH1jaTU0NuiKhzfpQ587qvvtaBVffdHVkVZ2aSm8f4Y/mpnLk9LMzFyok/8EzFZWPMHjryzntf/AIWHDNk/A2E1Drh07tjqvadcnrQ7fZbv22mtDYpekX5vZ8YemNk/GiFMUFoq0Z7fc8yBnZsLXXPR1/R//JTE4ePCg4Esihr742royduLwmXEMlh/1KLW5/TLf/rY8W/CW9f0fncE25UkxSS+68nl9gpzrjQAAEABJREFUueapx2MI9iaGIk++df1+gzU6NvtuWIfvxnFP3fpxzFMGW9ZGkl82D/B5MMi3ru9vdERXdnrBGTmQZ325KhzTErPRlXmNHMWwThGAAGa9gjnKskjBHGEIjjgAwRBASBjWw/mgCW14ww8Q4MnTCLLAG9lqN0T5EfAFT7Zg4UVGDn/uGUnbemId0YcfWOPwg34mz4vZ7B6tl85gDabYOI41jocN1oMveDKRWTwIpOhsln8aoY369cIaHwJrrkxwEmB0Z/FEX/TGF5AjyQKOBBEKCyXvWuDX8IUnMtEnSZ4RLb4AdnZ2Xk2eAB0aHffNpZz+8+oW/f6jF7WYPaTrf3qX/u6DP9UL3vQjve4ff6V//cJO/fTWCd1x74xu+MWYlpbTAqdf3D6v79w0o9c/v1NpHQ27VWPj4xodPSyCFjalHw8xbZ4c3XnnXWFcmy/UM9PTmvDE7HlPadKuQzmxc5PJTWr7pkYdHFvRi/+wX298QbeWlnJ6wmVdamxIaYMnknNz8yEh6+ps9+Qqpe6uLpd50RNMk2QuQy4kRV1dnSEpczcKCeO+fQdcpqyGhzdqfPxISIh4ysWv8Pm12NjMAi/mC7pFBVs2+lEatPGt7u5u35lsCLtm8p/19Gt04lgHG/AHIchCaWho8F3HuaC/i5D4/+hK/MD+zOOm1laJv8Rkx+w3v5FuvFEq8n5ZEoJE84a1EBuQFHGFNlgzx7lPukB3bm7OfW/Vk/2O4z7OesE8Rq6keUIPrLEz9LEt/LAv9+AP7/WIIfBlg4ITo87OTrErBl/sbWa+Iz4bEhdkTLqANTtj0GVOEV9YG7lnrWZOIx/tSRZoRn4NvvAFb+7Bmjb6RDxDQobzMQGTdD6YYHQcjoCDEBFTrpHTYxAcgABHfRIFWugCbYzNYh2nG4ECGBRkjbfXew/AO3fu9KOd+aIvvRJkkQfnQOeknB75wZqCLQuxhi+JIVeCLTapV8fCcUzqCGt4F7Zjewo8kQ9ZC/vU8znCkCuTClvH6fAZrPEFeCeJNT6DrdG3EGuzfEJolg8w8I/LtZZ7ggZb/CzQ7LrG/drMPIFoDSWSL0msL7vs0pCwYO/l5UVlF+f0lEc1K7uc0nB/Wo95cKOuenyf/vaFW/Shvx3QP7ysRc+5Ykltjfv1zRvu0Ac+s9OTp/6Q3Az5TtgLn9apb944rYde0KyztjU57YawI3b48JjvvI1qz569oXR54ObY7n5nn6mFhXk1Z2a1sXtW//blRTU292p26rDe/pJeff5bM9o20qonPCyt1mapIeOlodnr2nX7HXcG2DmuZOdrdTWnmdkZ3ymb9kWwMSRoLS3N6uxo05gnhti2v69XzU3NvkCsqrenW7t27VFba2tIoL72ta/5uCaXudFlWghJSq1Ym1mgxZyM4lFLS0ugu7q6Gq78FSNJQhD+2C/643f4VZIxBHo8tLFgEivYJTrGMlyI18wnMxPznXkXGhL4Bd7ogm4sVCeR9B0rXXaZdN550ne+I/3613KjnNSl3g/ojC6MR7diWFOPzzOnsAt911rwFehBF32xf5wm8xq+1M3M1P6VJIwrVuAL1uhMfMTf4v3MLMQPZMIeyBdvX8s9+pKIoduZZ54Zjvzj9JAHvsgH76Swhg7xH7odvguIj8X5ggEPHtieo3nkjLfXew/W5FTowhqBbmZ2nJxZHmvkoQ/yMSZFDzMLL/kx0WlY68IZOTrMcCyzE4LAL16iiR6NWctEZyzOhhEAH9pxXvF7MxP6MhkYA/94ey33jOVrLNiBwrhs85cbD094Y3ycBUOU61+ujUmD/JFDl+vLUwnHW9iXM3TGlutfrg2s408clbDGD5AR5wOvcrTLtYEVmOGnYIizl+tPO5MOrNGb8eX6l2sDL7CGJhOsXF90RWdwQl58slz/cm3Ifvfdd4cu/HNH0A4fivwyy/s1gQ9ZCQpFulVVhczwBre/+IsXqaW5SWbmT/TyRKdVP/71ip77piN660eO6Ds/mtGhsWlPuKa184A0PpXxpCijM7Y2a7/vXPV4UpPyo8vNm4bDTsvNdyx53xU98uI2T4ikP76iXX0d80GudDoVEpK0H9fJpEc/MKtf3Pwr35GT7tkzqyNzvfndouVx/dNr+nT46JJ2Hcjq8b/TokU/5vrCtfN698u79KNfzevhD71Qz3n6w4QP8E8wzflOmZmJ71PDDxcWFnXg4CGtLK+EBKujvV093d066MexJGcbBvtFEkcs41008Oz2dgRNpVKBLnKCE7amvlIxM9c5fbxAx8x8V28p7OKRgOJjKvFjZmFBwwfnfIdlYWHBscmV6F2+Ghuz28piBF/+IKTcCHwPvwY75j/jy/Uv1wYNfBT9oQmOJfv7jqb+4A+kzZulL31JOny4ZNdKDciMvbAlfLFtuTH4DjGb2EXcqTeGMI7x6Ix9oVuOL3IhH3JiZ+Qu179cWxzratZG+phZOK6Hfzna5dqImfwxG4k+//JFNHeKjTGz4wkh+oIVmBXrW6mOcfCGDvOEUm4M+nKMOTEx4Q9fu8JcLNe/XBtxgLkR+bWZB7ESA/B5bMwV/0rF+5nlAWHS4TQAEm+vdB8JAhgoiECVxkTtOCiCwbPWAAM/gMcA0MCRI7qVrsiIrJHsXCuNidrhy19fsStGMONPbKO2aq5RQgHWtTo9ckZGR34MWg1P+vD0y1MKSSR/mQct6qsp6Iy8YA3fWrBGRuxDYJny4weu1fCkD3zhCW8CWaUJxpiomFlIvpGV8WANvai90hV8wNrMwtGCWekJVkiLQI68LACUWviiL/Yh0SeR7unpKSRf8jNzGPvAj4leK9ZgxDhkx0/5Nx4/+7nPh4D5j685VwM9jRoaaNafXrlNv//Y071+WDfc3KK/+/C8XvGuw3r+1aP62w9O6zXvm9BNv86GwD7mR378k0ktjSv6w8d36p0vG9LXrpvSg87L6FEPbFRbS0p/95eDesojO9XbaerwHSt2zD77jSkN+rEjf+2YyaQ1Pzumx168oK/907A6WlPh3bSGjOllz+rU3XsWtWVjRg+7qFnLSzP66Kev039+7sawaw1Y+MDFD7hQe/bu56NO37HNE8ycenq6deTopKZnZkUS2NzUpE0jw+GvSuW5DraQ/+B3T3va0/zuxP/4NTjhJ9i4GqyxC/24LnkSCX3mBvRPUC5/Z2YhMcXW+DWLbvkRJ7diX3Zcib3sinE9uUfpT02OD/ISd9EZPUr3PrkFvZEXvaGB/Cf3KPOJZJjE7NAh6VOfkm/Xlel8chMysr4gM7pis5N7lP4UrRPIiuzYunTvU1uwDePwFealWfUxBDkpyF3r2oic2Bms4Yv8p0pXvIa+jIEGvLFb8Z6n1tJ33Heb2XXlaLCWtdEs79dgDmbIfiqH0jVgTbwGa/yrdM9TW3gNhNMH3p/kQQU9Tu1VvIa+yAtebH7Av3jPU2vZoUPWkxKyqBuEMARXGMAoait2xdHrNXohPQISQRNAmTyF7YWf6YOMOCylsL3azwQYdIZepQCDvvThrxhZrNi1QOZqecX74XTwBWN0xpjx9sJ7eKMvAZxxGLKwT7WfeSLgHSSOMUmQoF1qLG1gg53ReS1YgxUOC4ZMdGiX4ks9mKCzmfki3SGz6oMZ46MSYc3narDGJuiL3mBNgGJsrcUsnxCyCKAHAaaczvAlGLBrQXAgoNXKM+oP1swpAnm1WINNHCtoYYNLL73UjxH36NX/eK9+duusfnH7tF7697/RC67+lfq6GzwJ6tEfPXFYW0Z61NGzXQ959At15TNfo/tfcF7Y8ers7PBdqCY1ZpZ8Rweq0mufP6CnPKJXr/rHI7rfjnT4549+fde83veqAf3vhwf0889s1auf168nPHRRz3zMkv7rbe16zyv6PSHM6JXvOaQr/3qPfrtrUVc9rtv9YkEf+vyMJ3Xt8lxOr/sz3r3KhJ2o8AcDvuMG9j/+6c8D821bt+jue3eFe3bM0qmUOtrbwrtis77zxBfftrW2OF1zGimXOaenPvWpKvZjZq5bY9gxY26CdykbUw+eFPoxn7p8B6jeuUycxj/xG2zHtZiMUR0LFjvk+CKxi7FRWy1XMwsJIbETvtAtNx69mUv4ITrXHUOcbzjC/KM/kq69VuEb/xcXy7EOf4jBXAZjFj4zK9u/VGM0L7AdOlfCmn7gDDbgDP9StMvVm53AGj2gV65/hHXkX3Vj7UyIW4zHbtCDtlcX/Z829GVtBGdOjIp2rKKSeAtmYIzOXMsNoz2yCesL86Jc/1JtjCPmojfHrLwqgl6l+tMGNqxn6EzMLdW3Un2qXAecBwYEGECGcWF/DERba2tr2EYvbK/nM04PoBgkAriQDo5OEkEfjGZW3wQrpIseUYBBt8J2JgLONuFbm+wyYbTCPsc/13ADT/RgwcD5CrHmM/LQtqZgViATNiYogyfOh2MVdAnBDBvjqPiDWTJYR3qgEz5WyJcJRhuYgA22LuxTz2fo4F8sDtAH2zgdPoM1WCAjPhFvr/fezIQejMevwZz7qMAXeVgs6Yddora1XM3Md7BaQ7IAfbCGV5wmWGNjZAIbbE07/cAJLBhLn5tvvlkPecglevObXqu3veVv1Ns/rL98+069/eOL6jv3VfqnD/+PPvnJT+qqq67S6173N+G4cXCgX22e3ORWVzXYm1HKZfKNJ62s5NTRntbH3rJJz3p8rz7+lUn9zfM79PGvTuoBf3i3Pv31Se09uKT/+d9pffJrk7r6Q+O67Z5l/d6l3XriZd1qbLCQMP3plZ269Z5FNTcq0M6kTU99dKPSqVXUCH8wgG7oE83Znbt2Cz3R/dbbf6vpmRmNDA/5ccWyTj9tW3iXbW5+wT8vBR6Me+lLXxrolftFP4IyeIF1YV/iGzzp09PTI/wROcws8CnsX+1n6OE38MRe6BofC8/R0VGx68rxEV+YGW+v9x598Bn44dfwKaRF3MR30DXJGKKnPEW6+GLpmmuke++VZ80nscbmyMQVvuB8Uoc6P0RYswgXwxosaCOOwBefqJPVScPMLCTBYMz6h14ndfAPxEt0Bmvil1et+X+zPF/WKfwaHoVE8TvWEGQ766yzwkNYYZ96PsOz1fML8CyFNTLRjv9jm3r4FI6BFmu8mYmdZOJgYR9wAGvsmwTWZROyiDnMcComFA6Gs+EIfLcWYCG4mUXdE7sy0aGN0jgffCncM8EJAvRJjOExQtCENoYFbByMwhEfuxYslGxtHuue6AWseRoB68j50B85mGDYwSx5rFkYCNLwZMcMfNEZObhiB5K3RJV1Ymb5iQ7m6AhfbMzkouDkYOJdE/+fSU5BZyYbfCOssT1YJ87UCWJH/IsARiCJ+BLM0P/ss89O7OHG2R3/36w41ugP1uiL3tEA7M58px3bRAWZ3/Xu9+pxj78ylGuu+aK+/e1v6xOf+ITOP//8MJyx6IIvU7Fz1x7t3LVXbe3tuuh+bfLNKD8qlObmTQdZNVYAABAASURBVI0ZqSGTU19PRl/5py36+W05ffX66dD+1o8c1gVntuqqy3t0/hmt+tltc56kTei//BhzetZ8nPnxZ582DS7pY/8zq5c+qwN2YoY0NZnvpnV50rciMwvJl/wHnViY8Tlk9CrnlU/cdu/ZF+6Rd2VlVaf5kSZfubF58xbdcMMNdK2qQBs84QN+xEsz83whF+QYHBz0Y9IeRf4N7vgF46piUKYT84VCnMSu+Be2Y1HhdQW+DscMhMoQqaMJ+YkTzCF8BL7ojRzc05aEfqeI1tYmPfOZCk71mc/ItzgDzsjAvIYv69Qp4xKowH74OHGS+YyeXMEbnrQnwOYUEvgLMQT90BO+zDn4mploWw+szSwkhAiEXbEvfFkzSPZZQ+BNe5LFzMJcAWv0xcfQGazBHpwpSfKMaHV3d4udPvTbtWtXiA/oTf6DDOibFNYp1fCDYzPpeEmPoMY2u5nVQKG+rjg2SnOMw8uB3FNXH7XqRwEyOpOIsSvAe2I7duzweV8TbNUzPNYz4sukgzeLBjoT3I91WbcLf5DAdu3tt98uEgScHDnWjeExwplMRmBNgEFneML7WPO6XczyEx1s4RthjQ3WjekxwgQXClgz0QlmzKljzet2AWv8iTnMuxLIUIg1AY9EguAXFQIfdWBUrXAf/pcP6bTTtoekiOC1d+8+Pe6hrfrt7owWsx7cW3O+o6VQoLnq22bPuLxTTb7zxWfKYE+LnvWEDXrLX27RtR8+R595x+l69hX9+tDnDmlyZkV/ckWHclrRxMyqtg2lGRIKu3C/d2mTJ0AKu4MsHI985MPDXzfSAR979KMu9WSNTxJ/PfkHfiTJn+M3NjaJI32+m+zCCy/U5z73uXynGn/jVyT96A6OJETEEeqiAv7EsyR9DlqRL/34xz92HU08SGL7GlWouTu6oNOhQ26fycmQHDQ0NNRMp+YBW7eGxCy7Z4/m3V6tfkQNxjXTqXGAmYXYxTC+85Er8wsbcL+eBf3iWBND7wsbY094ETN/85vfaNu2beL1ivXUFdpmFhJCEqK9e/eG5Ag5aFvPgi1ZF9Hxtttu8x330eDXjY2NibJN1UKNgExGSsDCIGTIBJpaaNTTl4UDXtFTJZkpctRDq5Yx8Lj11lvDk+wDHvCAcHTHglQLjXr7gjWL4vDwsC8oaaEzC0q99KodR0KEjueee2746g6SMrCvdny9/fAjdOTJnt1HnuxZwOqlV8u4ONYEM/RFnlpo1NOXl155srzf/e4XsIYvPlcPrVrGEMwirHmHEKzBABq0Md/wAfCn0MbnemR79h8/R9NT0zr7rDPCP2E00NuoDb4Tdt5pK54YmQ6OZ8LVUqYDh5f00ncc0KV/cm/45v8oSVxekZaWPeValUjYjkwt67lvuFuPuDi/yH/+O2P62Jdn9KJntKNCKL65pX/69ExI7D78N73hpf4O35374Q9vEvPIzISvf/d7N/huShiiL37xi3rJS16iL3zhC7ruuuuOXz/60Y/mO9Txm0AOP5IwnrLNTNSxkFLwd3xOCf/gv3fccUeIGw9+8IN1X8drfIYjUXYX8LVakvh6oQBneGUuuECtV1wh+8Y3FN4xy+XqJVn1OOYumI+MjIQx6M/n8GEdfzF3KcxjkkDkuC+whg8PkpysnHfeeSI+UNZR1UAaTNkF5AMJEnMJrPm83oW4CNasjWBNbsDnJPlWlZDBFBDYgicbRwAyQ4QiqGEc6pIuLA5MsIgX9DEAT35c4cskpD7pwntiLJjnnHNOeP8G+lEAhS96U5d0gS70WYziWKMzC+J6OX2ENYEbu5qZL5QZsWsDxjwV4AdJ6ws9fAu90ZEdBbP8UxB4gwVt9Eu6MMFIOOJ+jf48caHrek106IIn9uWvJ9ELfwZ3rugM5tQnWaJghq3BmkTAzIJ/kxiwA80LrMgXL+C0liA/enjMjyt3a2Z2Vp2tUmuLxF9FHjma1Vs/uk+P/vN9+ruPTHrdoj74+h6dNpLRox57pdhNkv+0NKc8iTEv0p6Di3rJ39+rL767W698Tpf4+ZfPT+sTX5tTW7PxUZ/91px2XHFEH/h8SsOPPehJX6jW8opndn4LtugDHvgb77d1d3fqlltu8dZk/ocufNgtIjHBx/BnvsiWJIW5DCezvMzcJ1HQiV1P4hfvv7BQQxc58C/8mkJd0gV9JyYmwrtD8DIzt1lK+Bo+h19z1Tr8sE5gU3gxh3xLVLrySukhD5E+/WnpnnvWgauOJyLoC8YwYb3C3uBMfKEu6YL/gCe8WCugj88hBz5AG1fqkyxgjG+xWcCDJLzNLBwnoj98aUuSZ0SLtY9CfCZeUR/pT/16YY0++Be8sCt80ZvEDH9m04K6JEqqHBHARxCABoRifQGGNgI4DlisT611OBJ8AeL4BCsgwmKC89EHJ2BMQZe6PnJOzJMlCyU7NYVEmOzwZeEmkcAghX3q+RxhDV3om50aqMGaAtYskvXwKTYG/NCjFNYsILzXBF/eoStGo546/IWJhJOjVyENMwvbwmCOP4BRYZ96Pkc+wwRjYhXSMLOQpNCGzkklhGDMC/tcwZMFupA3fs18wr7wLmyv9zPBKsIavSM6yIJ+2AKc6cOxC3jDHznoE/Wv9fqtb34z7PAuLS2HL1HdeWBJj3nBLv3ffzigmYV5feQN3brp4z36fy9tUrqhXXPZDh0YX9V73vOe8BedTX4k0NmW9mTNdPMds3r3x/fqy//Yo+amBjU3tquhIeO7i9t1aHxFG/ry4exNH5rSN7/6eX3hcx/Te9/9Nr33kxNCB5KupqZGNTY0hCM8dFldXdHY+BFNT8+KZIm6tRQzC8PNLNBj7mDnqJCEU9hZAG9iCIlMGLTGX9iORJ+TBJIxs7wscbLI0dTUJOY8i3q8bS33+Ese4+7j2MbpwZO4Bk/kTCpe49fz8/MhTsT9+jjv6P2ybFb62MekgwePN63lhjkDhsQtMC1Gi3pszTxC72J9aq0DN/iaWdA57ceyhTQa3L/BmrkLPoXt9X7mHUSOKDn6Zse3kA6ywJd6/AFZuV9rIV4zT8CamFxIzywfr8EabJLCmnkJPfiVWhtZu9j55us9wIe+ayn5CFZAIRKECVZKkPgQs/yOBhMC4NaycDK5mLAYFgPE+RS7Z6KzgDGGscX6VFOH3GxB8lR+1llnhSe7cuMIphgDXTEamJXrX6qNcTgv12qwjvgmgTWYUcAPeqVkpN4sv8CQpPK9ayza1NdTmDBghu0IWmanLhxxugQYsAGjtQQYAgR8zfLBDCzjfArvzfJ+TT9shNyFfar9zGRl0hLM0MWstM5m+QBD8EFfAmu1fAr7ITO+TbCCntkJvvguc4YFgz7oCD9w4h6sCulV+xka+Nb/fv/7Gh4e0uZNI75Qp/SHj2vRDf/eHxKxSy9qV2d7hzLpFlmqUZsHV9WQXpClm8IRI7wWfSFta0npX75wSLfdc0SfeGuX77A1e5LXot/7y3vVkFnVzp27NDaxqr96x4RyPqizPaO9e/errbXVE+s2jR5d9Vo/7vRzzFUvZ599RvjML06z8Cti3bOe9azwrfvU11rMzPUzP/7MiWSLdzHBm4KPU4hn6dgCyj0xJFpwwKxWvvRnPIkYOrBrgb9SX6rQTnyFP3ZnXKm+lerxF/wTeszTSv3xQ3DA5/C9Sv1LtZMQITv0KGZWqqvcMNLZZ0tuX8/yFb7x3/1KdfzgK8wLHpzQGSzLkaEdG9OHcdiK+3oK+oJZR0eHqsUabLAReMV41nTLrjm7QBwRUszKYO2UkY0YB094e1Vd/4M1OptZeEcPLMsRoj2yCfGL8eX6l2pjHiI38kMPfUr1pZ55xFE1r3LxwM33RlJfTzkpIUMQDM4Ew+gsmLUQRTDGMcGZcLUAwsLBGHgSxMzKGz0ul5mJMSQV0KjF6dGVs3B053iSiRanXe7ezIS86AwdFqBy/Qvb4kZH9sL2cp9xPiY6GDPRuZbrH2/D0XB0AiMLhVn1WOOcvMDJgkOSAe847XL3yEh//ARHR4dy/QvbwIgAA86UwvZyn9EX38ZWtdgYmuhMgDEz4V/oQX01ZXx8PPxxBC+DMmFr0dks79fIS4DBbtXwpA8yorNZ8WCGvzNPmXdgSV90AyMStQhreFKgWU2BLjSgi2/Bg38Gad/+A9q4YUB84WpDQ4tW1aSVVdPO/bP6yDVHfNdsr/7g/+7Tn119QK997etDYoN/mpk+es2oBroW9dI/alFTQ6smZ9Led7fe++pBnb6pQc3NTUG0b/8oqzd8YEZ/+pQW/dlfvEx/+rwX6y9e/PLQ1uQ7Y+NHjmh2bk6/+vWtgT4NjY0NXEIZGhryRC8d/k09MAiVVfzCpuDNfGR3iliE7hT8lYINi5Eyy8cQxmIHsCvWr1gdPHfu3CmOCdkRw7fNrFjXonXMQ/iiK/bHdkU7Fqkk3uEv6BjZqUi3olXghaz4GDTgX7RjkUr8iRjS4LtA0IBWkW7Fq0iGL7lEetCDJN+51XXXFe9Xoha+zAX4gl2JbkWr0ZVx2Ayda8GaucSYyK/Mqrcx+DCOKzaudW0kEWvyHVUeJMG8qHIlKvELfB+/xl9KdDulGmzQF73BrNTcOWXgsQr6E68ZD51j1VVdkBN58Wtkr2rQsU7w5RUfxrG5w/p+rKnihTmAf6WinjgaBAAfYcyqN3pEI7pCAyeAJsoBcNRWeI0mmJmJ4IDjFPap9jOTBBr0xxDQ5r5YQSYSChY6QCRBKNavmjozE5ihNxjiCOXGYXQmB4ajmNWHtZmFL6PEaaEJ1uX4EgwwOhOLMWvBmgBDYgZNjnixdTne6Asu8MVO5fqWa0NmsGayY2NoluuPXPDGHxlnVh/W8AA36IA1dqauVKGddy3wCY6/watU30r1THQCDLqjM5iXGoNfw5vAy1xA5mJ96QcdCn3BkaBAfdTfzMIDB/wjmlFbsSs0wAbboDd9Lr/8cjX4sSI8+IvF1pZVffCzR/WkF+/TM1+9X5/82pQuvahZ//HmAf27lzt3L+vf//0/Al9sB+9Lzk3rBU9rdTptumf/ip75mn36j7/bqNM2N2iwL63Fxay3NWh1NadPf3NZ7/nEtJazc/rNbbeH7xBDnq7OrvCUHdcP+bLZJS76+Mc/HuYwvomN6UdytLqa310LnQp+YQ/6oSvHnZ2dneHBED+jMLexu1llnzOzMJb++Gu2wg4OR0f8tTtP5vBG7gLxqvpolrcxvoLt0LncQHwE+ZCTMWaVdStFD5nBGoyhybVUX3AmdoELMQTsS/WtWO920pOeJPEVLV/6ksKuWZlBYMK8gy82NatPZ7M81vgGsZpShm04ZgcXcALrtejc4AksNMARmlxL8cbGJGLoTexC3lJ9K9UjM+OZx/DFfuXGgAmFMczbcn0rtTEeOuiBb5frT3xCPnDCJ83qtzHj2amGLzlGJb/Gt7AH/pUCfAQBOAzGtZzg1baZmXBeghXBHOHiYxEAQeBzZSlcAAAQAElEQVSPIAARb1/LPbQABdrwhlecHi+98jUD7Frwwi0OH2+v9x468DXL76TAP06LBBGskQ+dk8Qax4uwLnQ+9Icvk4FFIym+0Onu7g4v/pPYskDE9eWeyYUNwIUJYlafo0MrXuCNv5pZeB8GbOPt6IrO2GQ9sMa38V/4xPlicyYhyQRPlZGM8T713uM34AhtMMWucVrMMfBGNnzBrDTWZhaO5c0s7AqBE5ianTqGNviaWdg9Kgww6Iw89IO32Qka+NvAwGDYkUp5/WJ2VQ+5f5P++fV9+vAb+/XiP+zQ5o0Z9XSldOMvFpVdyoXECH9CP/4Jpd97WEb7xjv1/Z8t6R3/Nqb/eudGdbalxE9rS8YfShrCqRTyz81nlUt1StbgR4fd6u3pljN3ullNT8+ExE0FP8QAdpji1WCNv6Ib8wlZonb48Bl9eZeGOQA+zEH0p5Cw0C8aU+0Vmvgr/fGvQr8mKcG/eLVi69atRfVhbK3FzEK8Rm744mNxGtic+QQe+HQ9usXpRfdm5vZrDA/jzCX8VwU/kV+DC9ianfCvgq7Vf4RGT490xRVyp86/+D8xcdJ45AELMEFnswT4Ogeww1+Yo9AnGfDq4/9HWHNFZ3zieOMabszyWMMbTJmzheSI4ST727Zt8/nT4/MqGZ1JyCIM8SN0i/MGa3wbTJAPjOLt9d5DB5/BhvAt9GvmMfXQR74kseYUiVMRvv4FXOEFn6iAP7EFfYk3ZqYUEx5BqNA6/KBgRB/nY0LjDEw8AhgGMEvG6HHxzSw8ZRNU4QVP+POPNBNAcTiMFB+T1D1YAjLYAjpXjM41gQlWUkywhi/Oj65M9Eh36sGi5OA1NOD0HNXwpI7j8X4Zjo8M2Bfe9FkDi5JDwRpMwRasmejwZQD1YMF90gV98GuzfEKIX/OOGMGMSciCabY+fk2AoWBbcMbO+Bf+XC3WZhYSMewDLeYi49FLJX7Akn7wYz6BNTLQnXr8j/vCgj80+C5ZZ1tOf/bUDp22yROwzpRyvvnkm1qi8AeQb/1IfkF87WtfG3a2oHNoPKuJmUZ964Zxfe/H03r5n2xUxo+e5rOmpWVTR4tEoDNLaWRkSNhhYmLSaa5qYWFRfNM+f11JMobclOiIE/pPf/rT9ZWvfCVgwed4MbOQLIDLwsKCWDTM8jYlhmBj8EZ3SktLix+fNoe/TjbL94vTq+UentBGXvwavIld6Ld9+/YQ22qhV21fbIhf4wfMI/jBH/2pJ4aYrU23YrKYWcAOf4z44dvIEGFhljxfN3z+/bKnPlXatUv67neFXzOfzCwkimBSTOa11kEXTPFfkpEohkVYN/iu1lp5FBuPbSN/BV/8mu/35P0nYjjviTHXi41dS52ZhQcIdMa22Bms0R2ZeHgDk7XwKDUW+qwHXLEtfOGPHMgD1mbJ+xc48ioE6yOvF/B+GTzhTbygmJ3gm2ICmJ2oKKXQWusRjInFky8OwMQGnLXSrTQeA8ObRGFiYkI4G7wrjVtru1k+mDPZ0Bld0X+tdKsZj74UHJ2AjtHhX83YtfQB1+h703A+gjn4r4VmNWPN8lgzyQgsZvnP1Yxdax8mMoGUY1twZtcV7NdKt9J47AneTGwCDPe1Yo2cjCM4s/gTsLgSE0rRMrOQDODX+Bf9oGNWOoa84Q1vcHVMHe0p0e2qV43qSX+d1TPfkPGjy0PeJt3wiwUt5xrCLg2vEFBJgN6xfate+e5DGptY1muf16WRgZzGpkxjR1OemJm2DWckmR9bLmr37r3i55GPfGRI0khiCH74ITZqaWmmOSRqZqa3ve1tevWrXy0zC/WlfoF1iydbXOlDMhZhBXa0gSO+YFaeFuOrLWYWEkK+joSnbHbySALNkuNRShZ0QV9iF/iho9n688WfwBLbkexzT10pOROrb2xUzo8w504/Xctf/7rab745JA+J0S9DiHWBMuHrE/MKnzJbf6yxL3x5tYI1mUQfvE8WNflPZhbmOXOSeE28IYYkz+lUivg1hT9UYL2At9n6Yw0fXi8AZ07nwJ5SKGGKL6YElMKGJD8DPJk4NNniJ9AiGJOOuvUqAE4ixsKxY8cOf4IeCYEaWQgy68UXujzlsFgSyAiiODqf0Zv29SoR1gSxCGtwpqwXT+gSSNCPBZCnARZVZOFdBJJC+qxXAVOSEpIJtolxfmxM/XrxhC425qmSYMJ30rBQU8dCAh70Wa8C1uDKX/RR4EcdPl8LT2THR3lKpJBoUFgUCNaFQQNM8SX8GX3xM/QtN5+e/OQnh/ejDo6b/u1LMzoy06bnP/fZetofPEU9/dv09JePit2xdColdq4j+YkT99y7S7fvXNTLnt2r7FLKNzRy+sWt05qdW9DRafPdqAYhU2tri3p7u8XPBz7wAX35y/8TvjrjEY94BFVCj/b2DvGZr9T4yU9+osc97nGhrdwvxoEt+pIQ8bQLLtRxBTv8jX7l6NTTxs4iXzOzceNGgQsyYGPsXg+9ascwb5k/LFzEEPwBm+Pb1dKopx+YRvrhW5RIFtrqoVntGOIWf/DRvGmTGp/wBNlpp+n4v49ZLZE6+qEfsYt5CNb4E/OJUge5qocQJ1j7Sbh53wnfBmP4cq2aUB0d8SP4RPGauQMG6+3X0MeviVlgDX/kwPZ1qFH1EPCEL5gTP1gbwZ3chNgVJ5RiojPx2NFg0sUb13qPIChMsEZ5Ahg0zfIZMnyZgOsBCO+J7d27N3wXENuwOLyZhad7ZEGmpPVFN+gCPkZvb2/3BSRNdbjCF0zWw/kwNlhiYPiALYzNLLyTA/ZRO/VJFuyHnQkmLORmFhZAnJ5EmL80ZHFBdyX4A9Zgaea7Lx0dgSfksTUYcI8twIb7pAoTm/lCos+7RyxY0CawgMF6Yk0ww44szhQzCzs88IR3ZItasMZXoYW/UtCHKxiSbNDOwsF8iXTkis5gjc25R7ZSWL/97W/Xhg1D+sgX5sKR0IMueYAe+pBLwldiTM2uKrvSqNe9/m/0Mb4rCmJe3vKWt/hvaXxSml9YVUtzTk96ybhe8o5RPeHFe/WmDx3RQI+pvb0t2H5mZk73v//9w9EXX13zBF9Y3//+9+sXv/iF+OeDvu47H+9617t02WWXBbr8KlXMLDy8oScPVCS9YIKufKaY+bHp0lLoV4pOPfX4NIsldiA+YxvogDU2wRb4Nf5PfVIFn8G38G/4RDEEDNAb/lF7UjyhA198J4oh6GuW92v8D1lox//on2RBV7DEx7EvuvqEkjumwov/U1PSZz8r31ZNkm2YA/DFhvAFWxggB1gzn2knnlOfVAFrXqsgHnOawdqIzmYWdmPBHpyxRVI8Izrogk7oio7oSht+BgbIBl+u1CdVoAdfrvCBH7TRG9/iSjvyUZ9kYb6gE/qCrVner3nIIglm95tcJYqbKTMTE5/tNBYYFhqcdK1CYVQKE4piZqeQxDAAgmEQHOc8pVONFZEO0OVdHkAoJGFmIWjj9PBlshf2qfUzQRJa6ADvyOiFdMACp6A/hsJJCvvU8pnxLMLowIJMMTsVazBGLvoT8JOwMTRw5Ig2jl0oO3U4Hwsa71iRnCFDYb9aPuO8Edb4bjGszfIBBp2ZaPjiWvkynqMjAho6sRNYTO7Ir2kDH3yC+7WUQqzBvJAeWGN/fAzfwi8K+5T6bGbhiIbAQQE3/JQrdKEJ1uhWjAb19EFOfBGs4v0uueQSfepTn9LVb36zzjvvfD31Gc/RHzz9j3X7HXfp0kc8QR//+CfEX2SanfBd/igCfTKZtA6MLenqD41rcaVLn/7ER/TpT35U+yc26Ja75rW8tBySIjPTlVdeGeY28z7SAx2QDT3iMhW7NzvBnx06HirAAVrIQoE2sYM69K4V62J8qQM7jjPAjxf2wZv6wgJ/eNMf3oVYF/av9Jnx8KRAF/pmJ3CIxqMrWMbnX9RW75W5yVyOaBezkZkJ3Jnn6MuYevlF44i/zE10QSf4R23Hr36M6Rm+5D4l31ENX5NR5q9uj4+rcEMsYm6CNX5pVhprbEO8Rt4KZCs2cxLGjit+zasV8C4cBP6RXOCTBNZgjI3hxVwqhrVZPl7je/ghdkZ3xtRbGA9faKETc7YYLfwKH6CN/sjL/VoKcxP80Afa4FpID3nIu2hn3rM2pqJOCEXGRtbMgsM31kdttVwxIEpBDxCKLRyF9DAQE46FCyXqAQQnRymuJGKlglmcN7IBBvyRGf7x9mruMToOxARDBwxgduoEi9Mys7BoMCFwFsbH26u9x+iMRw+wPtXop1KCJ5OCCc7YerBmLHgxFlrgdyqnk2vAhiBgZsJObNme3KO6T9gXvMCZUmmUWR5rnJ+x2KnSmGLtvHPAwwo441+VeJtZeOLEv/AreINXMdrl6hgD1vgZWDOvyvWnLfIHMwvfm4afUF9NwYfwEfTkHn7EBRITAjmllO5mFnagwRqciQVxnozjmPB973tf2LH66U9/Gl6of9Ob3hSO5KK+jMM34U3Sy/W9n5pUJm168IMeqKGhjRrauEF9fb1+BDqldCYdviJgcGBAV111lXjiRHbkQBd8DzugE7TMis9Ps/yuGP05+kZXxlCoo0DT7MR4fB/a8MNOzI1Ij2qvjCHm8rTMHIl2LcqNh18kD1iBd7n+pdrAGrnRA3pmJ3QrNQZMwQS/hje+WapvqXp0JtYzFr+Gf6m+UT194MtnZK7FrxlDgR8yoze00MWsgs4kZuyq8uWy114r33LlL0kgV1PBRsiND4I1NixHwCw/n8AHeYkhyF9uTLE2xpGIpdNpkejjr8X6xevoG/XDTtg63l7NPbKCNfEarJk7lcaBCdhgF+RG70pjirUzDqyJOegB3WL9ojozC/Ea3tgJuZE/aq/2il/Dl7HYDRwrjSVXYSecvqnCzoAWvfjOwklWXdin2GcMhiAsIIDP5CnWr1QdgAEeYzEgpVTfeD38CMDISbbJ4gGteJ9K98iK0dAB54NmpTG0R0ZnPHLXyhcDwJfx8K02wMSNHo1HnmqLWT5JwenBmYIDVRpPHxwVvXFcxlcaU9jOUQ8JDTQIElwL+xT7TD/8i2AG1mBXrF+pOvozDhtBp1qswQY5zUy89MrkKcWjWL1ZHmvmFbQo4Fisb7yOPmBNf+RmfLy90r2ZhQCDf+Av0KrFrwlKvMPDfOrq6hL37HJS+vr6/PhxQ9hZZ85S4vKBMXVmFr5xn3lVSV7akZMgbGbhmB2bXX311ZqdndN3f7Ksa2+a0xe/9N96x/97r975D+/Tddf/QG3tXZ6MrSqbXdLXv/GN8Kf6yMwDJU+cZhZeF0A+cCRI4rvMOR37McsvyPgWuqEjuNGfgi74OnodG3LKhbH0xa/wr2qxRkb8C548DKPzKcTLVKAHsiIbMaRarOlHf0iDCXS4r7aY5f0abPAt/LSasZFfgxN4gWs14+J9IlviL2ANzXh7qXt8Gv+CJz4AZqX6Fq0fHJQe+1jJ54Pc17RzZ9FuhZVgHQr/FwAAEABJREFUjZzww1b1YI286I381WINxrynxMMkvsU8LpSt3GezEzEEWti5rF/HiIE1OoM1djbLz7FYl7K3zAN0phN+Cn/uK5UIa/rh19DhvtqCjeCLX4N1tsL3AUZ0wQV8kBMbY6uorZqrmYUYmyrW2Sz/T8uwcOLsGBVmxfrSHgkO8ChiVhv4cboAAh2AxKAYNt4evyeYkTTiaCRjtTp6nBb3yA6Y8Czn9FEgYAxGXytfxkMHujgfV2gXFrDGDjgJGNVq9EJ6YAwdFhPo4kyFfaLPYII94InDYqeordYrY9kF4NiPI0ASaiZSMTpgAV/asA1YcV9vQVd0ZgJBF/rFaCEP7yASzNi16O7uLtat6roIa+QHa2xYajBYM6fqDWZxumYnFk58Grr4UbxPdI/9wcTMhD8iK3JH84JklF2jqLCLhB1JYki0uTImogfW+ApYw5tr1Ba/Ig/tYE5/xkXt5513nq6//vqQaB08ktJqzjzx+o6+8c1r1dbWGhI+sHze854X3iPjlQVokeDgZ8QudmO5h26kS1tb2/GkzywfDNEhqkcOCjaI6xTJVexqlseacdiQUqwfdeDM11ggE4k+clFfb4EONgNDYkg5rOFNP3RlPtfLk3HgCh0w4mgNutQXK9gF3wdT9GVssX7V1JnlsWYuQxPa+FGxsciEzvCjPz5drF/VdTt2SL/7u9LoqMI/wzQ9XXQoNkA25hV8sVHRjlVWIjd0uKIPdIsNBQceSHhFhB1mkjHsU6xvNXVmFo6MsRs4E0NKjUMmZANr/BFZS/WtVG9mVT9URlhja/wxCb9mHiMj+qAX98VKhAn44NfF+lRblyrX0cz8WKBPLJwsTLwIGF/ACDgIi/I4iln9iVihHDgvwJqZPyHPhu8Xivrg5Dt37hRORjCLgIva13I1yzsftNENHSN6ODq8WQD+P3F302rLVeYBfP1PKwS6MbfVoEEh6UlMMhKC4NiZCo51aA/MN+n0pxAc+AEumkkyEAcSCJoMLuQVLoEI0hCctBqSKHH/at/nnDp1a+9de9eqa8i6VbVenpf/81/PWruq9j785Xe19Tg+9thju0Xm33ef9j9tgkwfuY7soFsf/ib9sDZpYI3Ukvk4xgiuLrlZpNnUo8DP3Vgb6lo4Sy5b+LsF1kmGR2tiCFcJhj66Yf3RRx81G0UbjieffHJY6LX1KHhFLz34NcbapFeX3Nwh6qGTDAmSXpjzF67qFb6rYwse6KN+XJI8dKfJBk3BR2P4JgnjKH3twX/aFDrHvNZcdZKZom5ayPPNyMcfv7OLxb+1L3/5P9udO48P74799Kf/3e7evdtefPHFYc7gjI0BzrJH7uKXR4K4zA72KnKMTaQY8wM+ijY6tSfnzzO+k+Eonnwsn8RY7lLvCy82t9XW48huMcRrWI9luoYP2/RLzvdtLG98DmsYwhj2MK92PqurPONYbWuPSYacST9M6SqZbOAvm2AintW2+ugxpj/B5Fu8r73W2h/+cP3iv7kNawXO8E76Yc0PPC3/zN/yx5MiNyno9Rjs0Jyq/uccxY1e+qdYswHWbOqNdZLrV3xgKlfBmO2OVcdnRX2PkuR6Q1j+OZZsXMNr3OMzfKrt0uPVkoEC4A6UT8MWTgsWQyQcCbiHIYfskECRQFLzSdftfZ+Cn3rqqWYhPzRubX2BnOw3hAiIcCaXkvSbYGNbkwyfRuinj15YJ/vEA/Nx/57nJi9iIRq9SiUzceipaywLnjbWdPl2mc2/SWZyaUu2wxq3+AZr7/BIZrDHd/rHdvY6T3JrQwhnMa5kxp5euqZyzFU+q6eTbglO7M/xFw/lBYW9jnBLsts0XQ0luYmb/uTrK7YKzNmzJMZe8H/55Zfba7vF75VXXm0vvfS/7X9eeqm5M+YRZdv9J1nCEI9Kvo2Ju2Xuctqo2ZjJJfy1WdNmI6HgftnI3p3IVf/DhExC5CwfaOlnizsXyQ0++vQqyT6HwFZ8FbF2zZ4evh2yFX50wJheRUysE/A4NG5tPe7RQRdfFbFnj7JW/sHxfrzVz6d84xutvfpq++zevfbX3R0zWJtnnbB+SH2SYZNi7uA6flkbzQEbsd4b/bEBsOYbXeKryCFs2RLrwhSP5A56Fdc4txXWfJcv+AZr3JJL+I9z8NCnR7k6RwhAbMrsSt1BQPhzxl/alz7A2/17rKBcKuvccUmaSS7JJ/uXfs+VcUn/ZJ+sBT3JsMC1R/gfvcojVDm8k+SulMlt8w33R6HfBtTjb4sIfptkj0IvHZIIP3HcuaP6rUtyw681eiWjcZEc5YlkL/+QH3xOjvc5NFb9Cy+80PymmPNpgSHu0mHeiqs6d8PEF7+02xxWopVsXbN9Km/tNX3yJdlsgPdamUvG05Ok8VX/5HK8jT+nJBm++Qr35F+jt/w/x+5L+/7jiSfaX7/3veEu2X/sHrF/8f/2P3h8qbyl48TWZsza6AbFlhuxsU1JWnITY9wW63Gfrc6TvV7zO9mfb6VrLDe58TnZn4/be5wv2pAB2s5QsROV1PzRUURwR0HC6WHMnAwLs3ctJEt3USyWyf6ulYV0bkyPOsG2CXREcmT3CQAGNqIw6aFnKoNceNLhU0h9cucre0zA6Zhe1xYuOiyw9CrO1dHfS89UDozp4Dud3nlw58LdBO+XbeUzn+jwvoW7Fu6KwZw9PoFtpZf/dPPZBga/+K1enU2E8y0K3+jgm7lEr00JXiticK5eHDE/q9jcKORqszCSidM4Zh7JI458/eSTT643Dfr1Knw1l3yilUf4LL5ibQFxR4HP7EvSS+21HBz68MMPhz8D5ccg3cmjn02wuO7Y+UQM+QVr+sQY3q4r9p1VXovjFx14jV8KrNWJ9XXHzidiLc5Jhg92fGaDGLAJJp1VDuJwquIJ6y9+5zutuWP2xz+29tvftvbxx0O/3v/Q65f98csNCnfFrFH0bI21OMKaLvFVxlir36LwueJJp7yJ13KpGGjfQi+ZOARXOQ636FevDh7Oe5STGzKTGPgSK8KNlVo4LWIe9fgEaFKM29ecA9ivvANCMiuykSn4AKFPgBzV9ygmLt30CraFpeQmuX4RWCAQodp6HGFNroUM1sl+kUgyPMZUJ9GyjZ09dJIBP3rJhKtYq1ecwwHp9NFXfY9iAsGaT3zjd8mFuy+VIL+F0y3ialt75KcF2kv7khk9Fg1ykwyPE20W2Kbor61HgZ/5RCasSy/ZJrs6fWANH/U9Cll8wTHxHGNtQ6KOLfSK9Tk6kwy/YSZm4kiWuCn8wSHytCnOq7DDfMZptsGl2tYeC0d4k+UaBrjEV48sPR73Tpc80ks3/HyQwDHvSLrrS7+SZHjnCebs6p1D4CiGcMVhOpUkQ+6CPwz06+Uv+XyGa5LhCyHwVa+IP718ZZs4qO9RyBI7/uCaOVRy2YCLjvqwsdrWHmGHr+QW75N9vt5Nhta++93Wvv3t1n7zm/37ZZ99tlbl9XgY3r9/f7h++umnh/echovdP/yHNV/1M+931V3+J4tMcZzDWh2s8Zr+LkofCLFG4C1e8+9B9XDAc/VigQdiMzR0+IevfDZfy78SC2v80odt8Km2S49XhwYiugmmXWI1qZxPi3oLmj4WTrv2NYDQ666bROm9Ee9aTHXWtYkgGIIAkDV6yTTBgE/uNOjaq/BZcOjTn83VNnM8WYW8SKwjuYLvfFqSfVJFenoRYdrnnGsEghv8+IvUc+OTmw2hviYH3+f6Lq1juwlEJ1InD5LZRIA2/NLX+2XsnXQ569L4SmbuuNI/JyDJsHCadL2w5gO/xZjcOb3q2CQebFXWYG2smNFNrvlCx1yxMWIbXpj7jnP95uqSDAsDu8moT69kuttp8+N4586dod9YBr6zy7zi79r5xGdyzCty2cAfmySbcHf2PaK2YYIJjrkLXxsz+skY27jkHF7er5UHn9g9wvJlgUPj2AQnY8SGzkN9l9TzlY+wJDeZn0/Jntf69eA1u9kvd1oDDvE6uckh8odyCcaFhbF0ijPOKdU2PeKVdhjxmc3TPudckyNfw/AY1s3PY/zgB61985utvfJKa+6anaNo0pe/xVFro7k06TJcJrl+vww+a7EmlBzFfFLUzRVYwwTGMMLvuX5L6+RLMSPXPLX2zY2tWOinvxjN9Vtax2685ge95uuhsfCQR/SXa3HzUN9T9VfTDgzhkOAfm2DTcQhvgQOMO1tIMO1z7Jpez8Ftxtx1c/ftWP9qSzJ88gNI2X0uIIKHPGQiUzKfzLSPi+TDb0EQDD6M20+d628crOkl79QY7Uinv3M+I43zpQU+RfTafCanfU72WCMnvfxeqrP6wdrCkew/SeNLtR066uNxjy9yWEgtrOw/1H+uXn8LJd0et4/vuM71rzoJANZihSOXYG0uiDOslZJ97Jhk2BAWr9l/rP9cG6zZXD7Aca7ftA4PzX0JmN34Mu1z6Jou/DCGrzYl7hBZPBRyXUti+uFyyWKf+WQsfsG82pYcjTOX4E037ObG+dCo4JGcY4NmA8n2t956a/hhWb4vjTW9cPaBgU7fniRrTve0Tn9YsJlOsqZ9jl2zUYzwA7YwPda/2vQrXhtPTrUtObIT1mwWM2XJuGTPa3EX4zU5BMZ8WKoXJ9hJJ7z5sGRs9cFHcYYVrPlQbUePX/taaz/8YWt/+lNrv/pVa3/+89Hu00Z21hdC3HG12Z/2ubm+OTOfajMBa/ngpnXZGV7xGV/IInPJSLzWHz8UPiwZV31gzWZYk7MU6+KEcewmp2QuObITN8wJ8xJnloyDCy7Cid2XYn29IWMIojIEaRmzxJBpH4nNI0aJzgIooNM+02sO2PkDXTJznPY5dV2AOAqEgJwaI1j8lViAaSE6NWbanmTYEAocWTCE5bTf+Fq7fvrDWhm3Lz0XfGPZD0P+nBqLKDYlcJJUktMbsanMIr0jvUuxrr70Xhpj7/9Y2G3c3Y2A5dS+8TVMvCfmN3ls9I/dcR2Pm55LMDgCa3Ejd9pneg1rXBQnY2E+7XPq2hhj6RO3pVjrS/+lWLNLIsRrPiyZx2KB1xKwsQrfycBTflSxwbawiKU6ftKp4IaxsJYcyVV/rPBVX5yUu5JlvBZLd8oU/PQI2wbt3r17zeafP8f08xUXjbXRh/cxO+fakgybbziRA+tjOsnQzl8FtnxWf27Ba2P5yRdyT8mANX7BWuxO9Z9rF2Njkww/a4Tfc/3GdfrgoqN1hv5x+5LzJEO+pp8sfp/yWTuewIfNMFui66E+3i/7/vdb23Gr/e53bcn7ZbjoBgde+kB6ic/GsBtufD4nhxhjLLwe8udERZKB1/CiF29ODBm+CILTsMZrc+LUmLl2OtlNjtjxY67fuM68Y6ecZWyyLIeMZchjxtJnjizBGi70GjNsyMqQClxyviFjo5y7w2UBtLOX2ChTPy6Al8wAZiNmko3bLzlHHElRMpfc5vSaYHTTK+jKJbrGYyoQMBQIII/b6xzW2i+V1WAAAAicSURBVNkpcFV/6THJ9ftl/DmUYOBQQYczOy/VWeP4YOHk0zGsa1Loa6LU+EuPJqlb9uS5K8HnqSwx5q9kZhPmXYsePlu86Ocvv6Z6XcNajHEAF3vohRtZp7DGa3bhFjvZs6bgNb1JWvk0J6/sKk4kt3NIkuF3zNgkbop5xy8fhNRLhG30nzrt/CFf07RIeNphLjaXYk0+OXykA2e8MP3ee+/N+k2vO2zen8UtG0zj1pRkf9eYDNzFH+fTwlZ2wg2O0/Zzr5MMmxR447Xcaf5M5cCYXdp65RA+4AHeyl9kT/Wq0yY+eG3MtM+513iK1/hNtnhOZdBbWLOxB9btC19ozW+Xfetbrd2929rvf9/a3/8+VT38FuXbb789HN3gEJuHOp1ZATf48YnP/JuKUAdn8YCP+Tftc+41jMnCH7ydw5pMduEXO2Gd3M4h+pxbyIEdXpM/N948Yxff2XlpDhnL5gNZcIQ138ftzumDNbvEBdZXDNVgMJLq2KtwzK5eorVwekxAl4BIZr4IoN0n5V46S47kbBIBxIJNrzbJBvhsAoK6ngWGkpUgI1cFwtE1O7TDpqfeZJ/M6eefIJNPH0IIPH8RRX3PgvCITw+86SSfDWwRC7rV9Szkekzu7oZ3gGBOvhi/8847uw+gH7dnnnlm2Aio71UqwZhA/Cu9/IYBrM0nuPTSWXLI5Ld5Sxed2mCtTnzFIlmfzMitgld8wmN6HLWZyzBwLsZLeA0/dsJPcW4+GquQVSXJsFkwhr/0aeM3rvEbHmSoX1PIFEty+Wie8vndd98d/v6quGqXx/DNT1h4v3GNzrmxsKCXb+worB1hnez/kgpM5sZfWpfscwi59PCVLLiwAy5izD71vUqyj7E4inHla3rNZXlTLsfrXjpLDl/ILj10asMzGLjGA3Vdy1e/2tqPf7x/v+zXv97/6v9OAczdxLA2Pvfcc83j/V111//lEEVMcZqPFMBAnTaYqOtZzFG85qM4l17X7gTSpR3/nPcq5JFLnpiKrXP6ccs8084+9T0LzsITrsVr8p3TrQ3v1SlXBmxhCOFVENrtfAC8+eabzXsadQu2+mxxTPYT3aQTcI+4kn0ymyb+3voBDVtJjF7El8yOY73eCn7BW/L22JjfJhdb1ks/LoF/sLZg8VlvtjhuVZI0dzPwyyPyN954o3k8KZltsdEf+1ET3QTnr8lucm2NdenFMZtRcU5uFtOxjb3P8RefJBN3hyQWyUzcz9HFB2PIU5zjbpLh942msrTRi9d8luBs5mAw7bv2mg5+WTT46csIchduvf7668MG30afzWt1HRuPS3xmxxhrm+Nj49a2kW/eWig93YABTrNlrexj45MMj7jE2pe68Fp//HLcqiT7pwzyF1/pFn8Y4OZWege5X/96az/6Ufv8/v32/7/4Rftwt/n3dMm7YkP7Rv+Yf/w1h/gL66pLspHWvVg6zVv50k8O4Rmst55P5OMSffylH6/Ns71l2/wLV3rxWu6Cd9mS3Mb6yq54GzNuS6XHrt+jJi9UWzQlvtu9+l9JpDZDJtadO3eGP6/yKPTyxM7bYm3zSadJrn7rQqeNIBLwW5KBw9Z66bB4mHBizAZ1j0KvBYsuf/tQvBHf9da6C2sxtpA9Sp9tSiQ2iRXuOLa1vzA1l+lxh0hyw3PX5xYJSmLClyr4KoHNyeKfOcRfY53P9etVxzc6JG53xGxIfEnBaxbqe+k5JoeeJA2/2FPYHxvTo01M6bJQwhrXesg9JUOMzSFY080GnDs1rkd7YU0v/+HdQ+4pGX/529/a21/6UnvsJz9p//XBB63tNv1zjzFPyTm3/fPPP2/WBpsS5VHnkCTDHUAxflRYV772IUuesVaci9sl/XEYvngNa/NJ3VTWVZJm8doKEEq9x2NX+OyzzzZkd5vfo0qPMe1U9Zka1uPaBOM4AOyCLZiSuQmPiD10zMmAJUwF3KaojvSrl3Tmxq2tg6PFg34bIosdv/mvnt9rdRwaj2yw5i/S0e1cDNylOzRubT293rWw2XaXzIL+/PPPN/rff//9XV57+P2MtTqNhzW/JG5YizG/bSxgLcnot0URRzrga0PGZ/MK1vDYQieZeMvn0sdnegsLyU6/c4o4wQxP4VeFX9psBujBLfLNX3X6G8dfMThH59K+/HLn05dCvCNGpzlsU+bnM+QvfZbKO6cfn2ANA/OXz+INC/VicY68pX3JxS1HsaVfTPhO75a8FksLpBhX/J3j+9b5mm94TR+szelk/97kVjGWp71aAdMhZ/n7mL6NuVsn289/3toHH7S22zQtjd3SfvyBszklxuaR4ly9slTWuf3MYViLb/GZ3qrHu3NlLunP51p7K7ZiXbw235bIuaQPnHGYnzim8B3flbHMKxOOgYDoTXrviXmM5K6YhHZL8dVVqwXUI0xJYNy+5hy4wOcb0MeykgzvpEhydFrExu1rzgUd2RxhKnmP5dVEp5Pucdvac0FXBNrkGstL9o9pEcHjRLEet685l1RgbYJNsSZXPSLCpedEN4G920PmkMz8TTkKHxSLiMdKPghIej19ptNc4Rf/HqgcDhZM9WLP5556yRI/OukYFI7+kVwU3JIARk2rT8UY5nid3L7NjlfsMe9w8BxlSYbfJWO3OYm/dNhgk2nOkOdu3ByvxTnJ8Emfffo+KKsOYudOGDvkLnMa1/lIsC8seazkN+1s2tT1KPTAOtnP2fK/ZOMVXOQQHKz6Hke8wW0xmGJdvGYP+3Cxh04yYArv4oC6cal6ffg9bltzzgcyYQ7T5Dav+QoLOvVbo2s8ll7rok29mxTufo7bd3ctWvvZz1r7ylda++UvW/v001vNay5wWJxhOpevzUGxF2MbxTW6xmNhLHc5mt/jNud0ioG8ZZOin/oexTwRQ3rtCcYyk/08o4/PPXMIX/BGjoL3WK9zWKsXj8L6nwAAAP//9tHZKgAAAAZJREFUAwBERZBrf2TZ5QAAAABJRU5ErkJggg=="/>
          <p:cNvSpPr>
            <a:spLocks noChangeAspect="1" noChangeArrowheads="1"/>
          </p:cNvSpPr>
          <p:nvPr/>
        </p:nvSpPr>
        <p:spPr bwMode="auto">
          <a:xfrm>
            <a:off x="155575" y="-1052058"/>
            <a:ext cx="1440996" cy="144099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AutoShape 14" descr="data:image/png;base64,iVBORw0KGgoAAAANSUhEUgAAAmQAAAF4CAYAAAD67eXBAAAQAElEQVR4AcT9CZwk2VUf+p+T1dXV+94909Pr7CNpJM1IQmAwICGQkLCxkA2WsMGA+fvv/RlsA38bL4/33sc2Nrb528YGAw8QYDCYRSxmESAsViEEaJ+9Z6anZ3qb3rfqWt79RnZ0R2dnZmVWRfar6lsRcZez/M655564EZndWez5mZ2dXTx//vzilStXFpfzMzc3V42/fPnyWMPn5+cXL168uHjp0qWxxtWdFxYWqvFooFXXL3VcWFhYPH78+OLTTz+9SPel+ve2LywsVFidO3du8erVq73NQ6/1P3v27LL4IgzrCxcuVPxdj1oWFhYWyQvrhYWFUYdd70fuF154YfG5554bW2c8yTyOja4zLif8kux0L5cj/2Nbfu048qBGR/yMx79RveQpfeF05MiRxeXovLBww68XFka31cLCwqI5SObl8KUYXY1nb9ejFhizkeOoY5r9jD106FA1L5v1S53Tk2/Re6m+/doXFpaPNTvDigz9aA+rW1jo2ore/GxY3962pxafWnxf+X1y8cneppGu8YPZuLaiJ32Xi7Xx+IrXCwuj+zWljDF2YWG8ccbie+LEicVnnnlm7LXGfGCjcbHCVzGPYIaO61ELGxnHx0Yd0+xHZ3gZv7AwOmbGHT16dPH5559fJEOT5qjn/APvccfDGNYwG5VXs5/xMFsu1uRu0hv1nLzWRrgtLIyO9cJCN/Z04trPwsJCFEePYoRYv359rF69+lrLeIepqalqfKfTiWKIKAIOJVAUjaJ8FGeJmZmZWLNmzdD+gxozM9auXVvJjRaag/qqx7cYPEoiVo27++67Y3p6WtNYJTMrnjCjKwxhOYyI9uIsUZw0Nm7cuCy+6MOazs5HwVo/uJCRvLDOTNVjlVWrVsVdd90Vu3btihdffDFefvnlJcfDhoxkXrduXfCPJQf16cAvyV4mXOVfsOzT7XoVf6YvrI1bjo0RI7fxmRn8Bl31gwq5yqSMY8eOxe7du6uyHJ0zs/JPc4Me9B7Es67Xp8aazMvhixas2Qo9vM0Z9YMKnfVz3LBhw7L92tgDBw4EzEsyG+bKIJ7qyVXPeT4NK/Xjlswu1nyEHubKUjRqvzYnlot1Zlaxz3j06EKnYbzPxJl4X/k9H+fjz5bfe+PeYd0HtsGYjdmMz5gnAzuXBnKRDzbGjYd1IXDtH580no/Bmo9daxp40IeM7GNs5vixC9/t27fH3r174+TJk1EWzyXXKJjgCyO+if9AIYc01D6iC3roOh9UYA3nklQEffn2oL7D6ulsPLlHxfr06dNx6NChan2CFT8ZxmNQG/8gNx3wptOgvurFVfNdP1jDTP24ha7mEzqjYk0+PgYrco/LU3/yWhuty88++2zlY2TQNqjgiTeZ7ZBdT4gQAd6ggePUI04xAGPGmXvHCz7A0hd4HKe3z7jXHActwKCNRy8NTs7ZHO+9994qgeztM+51ZjeYM6SApfQawjWe2sjYBtaZeT0hHAXrGp/M8YNZLyZ0NVkzs5q8Zbevt0uV4LM/2ejM1rd0GrMis4s1f4Unh+4lAWs4CwT6Kb19lnNNfkk0nvyrn1+fOnUqyh14CCj79+8PvrgcXs0x5gb8MrsJYb9gDmMy0R3vNvhmZrUYwI8d6Y1+UzbXsGYL/fhFs32551u3bo09e/YEvxq0cJKHzhZ28QZOy+VXj4MbrM0VtPvFEFhbONi/TazFBLrAGp6wreVyvBSX4nfK70fiI/H28vuaeI3qFRc2gx+/Ykt69RKFNbnMAX0zVx5DYAxrvGCNv/NmUacNFvqyT7N9Oedo8K0dO3ZUSZkEpJcOfmxAb3zZprfPcq7ZF37owpMv9dIRt/jXpLBGG669fNle7FJ/zz33VDeDzldSzEn6wo++9O6lB+u6DdYw6u2znOvar/FEH58mHdew5l/6il+ZK/dra8TBgwcrVmWHsdo8qC4af+DPDqrozCc7BGF0FZkrFwTxumRmteNFSYbm3CY6BySIc8HMpKzHtHWkHCfAiyEclZdeeinKI8qwUO7cubMtdtfp0AWWMMW3DuYcAtbk0p7ZLtYE4PAKrPHmbIzuHNb4kkvftkpmhoXTjgYd7WiwM97k4OzsQK62eNZ06onuyJ9qrPF0bVLjndk+1nwa7VpHMtFbou+8rUQfrWZhP5OdrvyJT/diLbA0x7RxnpnVjQus8cUfXzZ3jSc8MtvF2nxyx3nnnXdWu7F2NejMr9mYDJOKIbCmE150NIeU2ubmE73bwLdJg85oO5q7sF6Ihfhk+f1gfDDuL79vjjfHdPltjlvpeWY3Xps3dFTgiz/9nZNLDFspr97xeMKabfGFs0J/PobvJLBGs144JSJ8imxiCJ1rudS1WTKzutERF8UNOsKX/mQwz8xzPtAmX7ToZM7gSUc8+bgdHYkpPLZs2aJrq4VO7JiZ1a43nnSusRZTlcx2Y0hmF2u0a3+iGP6wzszq5nkSWNuNlfi7SZeYmUv8mo87Zwf2II/SUTEJQRCvS2ZWwRwfAdUjH3xNhrrPJI6Z3QDDEB6tPf744xXw+/btqx6HTIJnTVPQ4nycXgLI6emsvu4ziWPt9IwMaw4o0N0OrN1tWjhN7Mcee6zCGO9J6NmkCVPYmmAeE5rkkwpmTb6ZXb9Wx7ck+xJTCaq6SRY+rdg98siYfWGd2W4w69WhxloQhTXMYc/vevu2eS12uImSJH3605+OEydOVDGF3m3y6aWVmdUuAWxhbcEig+vMyWJd83l6/un4mQs/Ezmf8dbyuzPav5Fs6g1rscsRzhYP17cDazzofebMmepxj2tYN+WbxLkERCIiQTGXb5dfmzewFbOsE+K1+QSDSejZpAlX+B4+fDiefPLJapPC6xWZk/drOtJVDJGguM6cLN/MbryusebX1glrZROXts/NI0+SYGttlIuwr/jdy6ujkfP1Ntx6vbIaAVzZtm1bFeA4/u3gKwO2a8PgDzzwQKWEJKk6meAfTsbgjFHvxLlWP0G2wdngjJfEwISDgYRwknzRZk+8bXUrR44cCQuYtkkWmJrceHivjRz8S726SRX0JUP0vP/++6vHa+S4XVjTkV9bTPC9XX6NL7++4447Kmjd4fO76mKCf/DB9xWveEX1GNi85ucTZFmRdicLX1hv2rSpesVDXdU4wT+n43T8ev56nF5zOr5s3ZfFgSsHKt78Lib4w5aw5k/u8C1YbH67/BpvC6W1gn1vB9YwZePNmzeHmyo3sx6TT1pnWIuZYpbYJV6Tgzwx4R83GN6hFj/uu+++6rHa7cAapvxJUiKG0JXNYTFJldGHNf42D/CHtetJ8kXbXKKjd9XFELHLxhSZtNelY8LJkGXngKkb2jpyNAmBOwEBTUDldLJzbQzTK1QbvAFgQqFvgnE6vMmQ2d0ynYQh6MLoDG07WqGPbJje6rWra7vAE9b0FNAc8aQzPAS3SdgYTTibzPhydEHcHSc8nnrqqeoDI23rizYsYcqfYJzZ3X52TSZ6t80XPTg/8cQT1ft7JllmVi+x40smvOGib5sFTbzZusaandk4M6ugOgm/pgP/UehYY+2cvekLazbRt83Cr+iMj90EsURAddcpIRa/4NEmT7RgTS9HfO0OKrCmp7ZJYO09sQ/Fh+J/ld/Pjs+Ozyy/mVk94oIBf4c1GdsucKQXPvSEtRhGf35tUYFH23zRxBee+K5ataraYXeujf21tc2XHemk0JGuYqbdWDfSdjQkLm3zRa/2axjjrU7cNKfMM3Ymn/o2C129WoGHTQpJaNOvJ4k1nvyIvnUMcY4/+8OkTV1rWuYLvfg1fDPz+utU8CDXJLDms/iizZfFanHbhgWZPMbEv5azwwEsnEBhJKDUjSs51pPIBCcIIJr0Mm8AgiehCN3ss5xzAPhkmyBti1AG3kuHLGRifGCRtbfPcq5rekBHP/PmLVgTTz3nw5esy+HTOwYdGMKasdHv7cP5BRr9TIg2sEYDLc7Mf/Do5WuXzvtUHkFIkDlhb5/lXMPaHQZdYdpLIzOrTwip1w82zlda6CvB5K8PPvhg9Qi8STOzu3Ca9AIqfeHU7LOcczTQgzV9LRy9dPg1O5CRndv0axjyH/Qzb/br2t/5N778sVe25VyT3zxxpDM+TTquvZ9h4RTYPF7Tt9lnOeewZl94syO9e+mIm9rYl85t8PWe2OE4HD9Xfh+IB+JLy+/aWHsTazrDAtawaQtrdGp66ONzE+NyQV8+Rl96l6oV/4M1n4Y33+qHtToy8Wt928Ca4HSgM53opq5Z2NjCKdaY83g325d7DmvziR7iNf69tGBhjsMa/9725VzjKwabJ9b8fmsjnWus+T/7LIdX75gaazr1w7oZx2FD1l4ay7lGBz1jYW3eOK9LZl5/9QHW5GxDZ7blL/wanny45lkfbYaJXzbD2MUa1akbgcRIHNTLjQSr28Y5UoYQhKmdath4ABGYU+JNqGH9B7Xh606G7LYETSS0B/VXzznIyPHIi4b6cQujk50RGJ1zDaMh2NGZrpzFuGH9B7WRF9YCFT3oM6iveniQr8aa3OqXUwQJOqOF91I06uTYwskBl6szmWGGHzvD0vmgIsDQGdbsvBK+tpkl+xJMOzSDeKrPzCpZy8zqBVZ4qb9WxjoYC2v2HQVrc1nh03yDn4zF8FpnWMHaEYb851pT3wO/59fkFdyM69txiUrykp290OsXzJoktNuldEPgEYyxzfZxzsU9WPMbvDNz4PDMrF6/wJes5iLZBw4Y0vByvBw/WX4vxIX4ivK7JYa/VN3EmrwrxZre9IVlDPkx3/iCI77m45DuQ5v4Jhp48tehnUujPvryLViXqmX9IzO/zszqpo0uwwhZOM15u7EWTv49rP+gNr5BdnrDkC6D+qo339jEOPKKYerHLcZ7qdzaKAmzs7wUDVjza/LyjaX6D2qvsdZO58zB80kf64l+MMKb7OrHLeZDPSfRM5+H0aixzuzGa3IP6z+sjX+QHX5LxWu+5512j6utL9cTMgwIxWAe8Vl4vBszjmC1IJQnSOZw8PGsC8EAx+lMUoDWbUsdAe8OxljPwi1cS42p2zOzWjhNjnGdnrMI/pzHxEGjpjvKUX86kx8d9EYZp49JAidYmzzqRi3sjC/b0nkcrOsxmVkFM7RG5WsREdjsmgkOnHZUnfXTH9ZkN3FH5asfnzBBYC2Yo6d+qaKfYGah92k/k2epMc12cpIXxng7NtuHncPaTQYZ0BgH68zunZ8x/IS/DOPVbCMjf1Tw5afN9qXOYc0n4ayQf6kxdTs5yYuGOVXXj3IUc8x/Ps2/xKNRxulDZ1hnju/XMCYrW+PNbmiOUq7ElfjV8vt4PF7SsK+IB8vvKOPqPnCiN98aF2tzqcba3KhpjnIUr+ks5tIZfqOM0wc+xogH/At+6kcp+hoj7qGB1ijj9OGH9OVjaLCX+lGL3QwLpydJ9cvoo4zFF0/xy7xQRhlX96ErefkzGuNgbQ6LXexlbsC8qj4JgQAAEABJREFUprvUMTOrtTEzq+9eZOulxtTtZOSTfIzsdKjbRjnCSEEDdjAcZZx++sPJeHNjlHF1Hz5B3poGPeq2pY580ZOg2keX6t9sx7faRGpW1ucIyqItnN6TkZxRtG7vPRJEMFNvknY6N+V5qkcuAgwaDMkYS/E1OU6fPh2czUugIzPq6UhnOy4MYKI79nS56ZJ8Jjd5Gf6mxjEv6GvRw3cpp4e1fiYYxyH3mOyudzdJ0DBpl8KaHejLUY0ZZ2JfZ3jtxFiJGVr8C5bXmvoetOMNZ6VvpxEqM7sBBtYm7FJYw8WnRWHspX1yj8Cmbxc8LXpoLoU139MHPnySnfoSHaHSRGcvXemMtvNBBdb6kXXcYNakmZnVO08wYzu6NNt7z9miGcwyR7+Z66Vl0XRTaSfWJ1+H6dz0a1jDq5feqNfmJBp0ofMwvvMxH39Yfn2565viTfFZ5TeW+ZPZ9Wuyiw0W7mGkxBDxWn++kbl8rPk1GnyGb8NzEG9t5OMLxsBrUN+l6s1JNGCN5jCs8ZWskpFP8+2l6A9qh5lYYK2R9C+lM/n4AnnF+czlY01u8Y8e4gO9BskJY2ujOSXW8stBfZeqpzOs+Q1dRsGafGRVlqI/qD0zq8eJmd1dq6X8GtZ8gV+RdxDdUeprrNmX7wzDWhtc4ON9PPxH4dGvz9DMiVAPPfRQlSXbgSJYkwhBAAAoBme4ZvtKzvGW7AgcQGnSwlewlfl7+dLORbN9JecWP8akE8fHq0kP6GSiq36Zy59gTbomLAzxgyk+zfa6nlz4rsToTbrO6yDFqUxkdc3C7rAQUNil2baScwm/l0rZ0qPM3olOV1jTlc6Z7WCd2V3AYIp+L9b41i/z8n+TbCV61mMzuwEGhvDEp26rjxIi/i6Q6VfXr/TIr9GsbUn3Jk3BTPCWQMG62baS85peZlZf8NprY3LwOzaAs/4r4VePNZ/EBXNK7OJjeNXtjnDGm1+LNeraKJIUNM0lPJp8F2MxTpTf98Z74+Hy++Xx5TFdftvga57QFz8xxLFJ1zV/Z2v9YNRsX8k5n6E3vvRu0sIXDnweLm36NZ54SwDwwKvJ2xwjk3iNd2Y7MQQ9iQ6eviajV2d+zrccydeWX2dm9WQChuizZVNf/HxzgqdbXkHyNUTN9pWcw9paAWu2HIS1WAPrlfBqjoU1DPFjSzo225v1/No8aLYv9zyzG6/pA+teG+MLC4W++i2XVz1uaEJWdxLIOZ+dKDsaABHYCQmoNoNZzdNRwBCkOYJAImhbsD71qU9VX0bqTkUffdsueNZOb9IBv5aB0SfFt3Y+E612evwZfZJYZ3YnOr1qPTmgczJxuLYxrunZjfWOmTvO+lEA3+JnsG4rmNX86iO90Be0a6ztqAhmdlg8vq/7tnnMzOomB01JEL8mg3O6Cnra2i6ZWe1amc/0Zd/ar2FtrrUVzHplhzX/reMGvnyaHHzLfOsd08Y1XcUJmPr+MvHD3IK1+U2mNvj0oyEuKnyZ3lfjavzX8ns8jsfXlN+ZmIlJ/FgY6EVXvGENZ4W/TwprsQP9zBvJN7+2iOLJzpntJES9uKGNB1705s/O9SPTpPzaTpkP9/iaDB8kw5dfi9lkYgsytF0ys0rM8BOjxRCvVkgOvfMmGWubJ3qZWcUu84pviSFkaGLND/Rtu8ASprDly7Vfu+bv2tvmiR590HeENX1rv4aD2KJfG2WkhAyjzAzZtuecH/vYx0JyRkhtky6AwOtP/uRPqm/Zr7+H6Hbx5ewSBeBPyui9uggugoi7HfzbNHovr+a1hIDTm9ycHu7kaPaZxDm+kn7Hj370oxULGFQnE/6zZs2a6v+z+8M//MMq2EjGJsyyIl8nKV4WFtz6J0RV11b/ZHaDqiSBf/Gt2+HXmVklhOyKL7/ia60qN4CYuWvh9BjHY2iL9ICurVZnZqzfuD5+cfUvxq+c/pX4+oWvj1eU31aZDCDGr80nWGd2bT6ga6vV/JpdfZqvjiFieKtM+hDDg10t0HZE2Zwsfbq2XuWGUnJmjZKcmFOtM+lD0Lylp5hpnbCjr65P11arMrNKCNnXK01ubm4H1pllPq1fX30PoZtnPOnfqnIDiJlLeMkFxGu+NqDrsqtHTshko6dPn66+ePS1r31tcL5PfOIT1ct+y+Y+4sB65+R1r3td9Z/C1ncgIw5fdjd3WjJik0syyuFdy5CXTXSEgei7g+cAHrtwAnxl5SMMX1EXwcRC7VOEHimacPBeEdERBrvTwptfPfLII9X/gWnhhPkIw5fdBd9PfvKT1QR/wxveUH1q7nZgbT6Z1LD2tQ1btmypvkMM3stWZsSBdIa1gMK/+JvrEYcvuxs+/NrCiS//FlPsWC2b6IgD6Wf+SMpe+cpXVv/XqIVkxOHL7ub/nfzx+PF4Z+ed8SVbviRgz7/Yf9lERxgIa9hasGAtOYP9pOcT0WAtdnqXr/ZrSZK2SRY8YevGxu42XV3fDqxh60bj0UcfDTqLXbcjbnpi5YYOXztjYsrtwFrcwssaYW3kb7cjdokVsHYzJwkWS1yrn6Rv8SF+jQ++bExfOLTJtzMKMcALJIQQRI2Rhb/qVa+qvgyTUxBU/bhlWH+ZKNp2LBi97itB4vwmG7nq+raOnIuR6WrRysyKNJ6uTfxJOT2d0BdU8MeY0+HLKbQLNOrbLHDkcO5sJYA1bdeCuTZ96vq2jnSBtQlmNy6zizX9vV/mLsj7XG3xq+nwV+8WCWZ2XOmpjRywdg5rmDtvs7CvycyPa6wzu3d+7jTxvR1Y1zpZtOlvATHX6/q2jjDkPzBnVxij7SimONfu2HapdaKf+Yt+ZoadfnZ2U2k3WH2b5Vgci+8vv3bD3hPviU75Rd9cwpdcbQdz9BVY8h/YwlidGAJ7NtAuxqlvs9CH78KaH9e0XcMeX/zr+raOdQzhx7DN7MYQa5SYAmulLX5NOvSV6MO2xpquYpd57jG59uaYNs7tevqaBE8VJL5oZma1w49/LZf6Ngtd0IY1u9a0YS2WiWuTwLqOIfwW1vXa6Oha+yRiF/1qnehr/qrL7MZr/K1fbK1+pWVoQibpoKSFg5H7MSMgp7CwSZ4A1q/fOHX4cmQZv/c/BJPe8epMPpPARG+DL6PW4DIy2r18XQs28MC3LUOgA2sBBH18egun125ScHry9vYZ91owowdd0c7sBrMmHVhrU2cythFUyY4vWoOwzszwUXN3+JIy72mQYaXFO2K+T+jgwYMh0c+8VWcBh39ZZEzIlfI0nq7wM4lN7sxb+cIaX0e+2JZfwxqtYVgLqAoZ+SOZV1r4qUJf/tuPXo2HeU/Ofn3GrauxNk/xzrwV6zXlUbXdMkf/l5+5MC6f3v6+Zf8H4wfjhfL7NfE1sbX8Rp8fMZWPtYl17av0pVMftlHjwb782jzs12+cOljzVbT5buatWPNnMQTGbOw4Do9+ffkz/NDi13j09svsLpzwOH/+fPVqQm+f5VzzaYVO9O6lkZnVe84SMxsLPrTU22c5124e6vfEfKCtn87q2AF9+MDJ+UoKP0ErMwNt60UvvcwbWLOxdaq3z3KurYuw5teDYoi5ZE7px6+Xw6d3DPnpYT1GO/NWvxa7+B48yNlLY9zrvgmZCUYQjgaEzFsFaTLiALJ0d52ydrsazfZRz/G11cvwHi1QdqmxgCBjDR7HWWpMv3bBjDE5GwP069Oso7PJSEaGEBSa7aOe0xnWHIoemcOxzszqv3wQYDieRWxUXs1+Jimc8acHHJvt/c5NBn3pivdysTaW3PTlY/14NetgY5cU1hZOwb/ZPuq5cYKZx6LojaIzX1D4hkVsVF7NfnBiY0f+NQpfuprodjr4V5PeOOdNrOG41Fh+XcsIL/6x1Jh+7eSmMz8dFMya4zKzelzMJ4xbLta1X/PRWo8mn97zzC5fscs7T3ZN0ejtt9T1XMzFb5Xf343fja8sv4/Go2VPrG94vU6KH5CRrdl4OXwRE/vMZfNzHKzZBl9zEZ1xC3nx5dd8NXN47ELffGdjMvNNY9WPW4zlI+IRvZcaz6/x1Y9/Ldev8TQedm5eMofrjK8PLVkfvb/o3TYyjFvgZW3E1ybFKDqb7/AhM7zG5Vn3r30ELb5a1w860llf7fzDXHQ+bqljCJxH9Wt9xWsyGz8uT/35NRs7pwd9nA8rcCGjuYT3sL6D2syFmyIG4AjiOKogTeICjIVOkLFbJqA32wedE8SOhW1Y3yfm+X/mcEdv0srM63d+AFGa7cPOOToAOThAM0fniy6djTPBYceY6pcq+nFW/ZaDNScRYMhNfvzRGqXoLwHFV4AcZUzdJ7OLNaeXpCh121JHEwRGgoqJkzke1oK+hRN2ErNRddZPImbSCGb4LyVrsx3W5HUkPz2a7cPOa6zZSoAc1rdfG1nx5tNs1q/P9brGiSCMNzsZnzke1rCCt1iAjjnaID/wFNYw0oF/wcz5qCUzq5eFzSvzw/wcZSz5+CK98R3Xr8kp7hwsu6ZuKu1qjMJXn0/EJ+IXy+8j8Uh8QfmdjukY54euYgi/gh1dRhnPNjDSV8ylg/NRC76wqmMIeqOO5RPkNX5cv87MZd9Usi+M+LWSOZ5fk9VcpCsdRsVazIG1eUHncbHmj3zLXJT002FUrK2lng5YG8fVOTOrGx3jzI9xYwg5yaxkjo81rPjJOAlhHUMys4oF42KtPxs7ykHYehSs+QI5xRzj+coo4+o+mV2szWW+xVfrtqWO7IJ3R0eCMBYCBOE86pdTMrP6JBXnQdd3hWE2iJY7BncOXmz2LeiCxKC+S9VndnnXAYY+g8YwEmfLzOq5O+MN6rtUfWZeTwjxtHgOGgOT2lic1QQf1HeUenhxAAGDPo6DxpFNH5NLyRxvgjXpwgtfvkIfTtxsb56TSTAjK50dm+3jnOPrRVKJvwR+qUcBgp9tfv5I3szl62yCmh+ZWX2YhV6DZOfz5hScBcPM5fOlMxr4sx87DuLLDvoYQ1bHQX1HqWdfOtT6DBrDr+krmOJrDg7qO0q9eSHJgDH/Qn/QOHjgLXmFU+byseabfIsOFkIvxg/i+1K8FP+t/G6IDeH/nXQc1Hep+syskhR8Ya0MGgMLmLC1+cQvBvUdpZ7O5gbb8R2YDxpHLrz5BLwzV4Y1ffkKmvgP4lvHa35B55X4dWY3XtOB3yiD+MIaJpIK/girQX1HqYfz3XffXT06tTYO09kmhVc1JHJerVgJb3jRF3704TuD5KWrPvi1gbU5qcBZ0jGIL6z5AVvju1K/pqubShijO4ivems2+cgp5mUu368zuzkF/Kx7+OPRr7ADrMlqLnRMMIKYXAyWuXxBmgwzs/q0iefchLJwNic6nhZLAHBQk7I5vs/5yFWAqJTrdIIhGLgeXBsdEPoAom5b6TEzq7sRunA82DZpWjjUw5neme1hjSd9TCbYNvnSnw3oytFNzmb7Ss5rrOHKsfBq0lMHa3z1bbat5NxklcB7FMCPehkAL4YAABAASURBVBdOyZrvBdJHst+WzplZfZAF1uzLnk096EpnurJzW3zxQBOOaOLRnE/wJ4s6ssHHmDYKfvxVoDKf+HGTLhz4nBiiZLbj13jgCUc86aeuLgIdHOBioSNn3baSY2ZW3xAuiYenT3njX9O8EBfip8rv0Tgaf778HogDddOKj5ndGGKu9sO6Xjhg0ibWmd0khe+IIfg0lamx5lf6tIU1HrX9xA72dFSv8Ou6ju/rq76NQgd+w8dgbe426fJpOOgD62bbSs7x9dqE2CROSbya9LyPLabVN54wb7av5JxfsV+Nq2NNzzkcXMNaX+dtFDrXPsuefKxJt4k1ezTbVnqOHt5s2RtD2Jw81k92JudK+dXj4SeJhyu+jnWbc3wd2UNfbR0nbQuCcF3Qt2h6HMDxvFAt62d4iRhh6r5tHzky3QQT/BiE4RnHBMtsb+Foyi5o4OuIrwUL+LCgb5tGb/LNzOoumwNyALriT3+OQZ5m/zbPOTTd8MIX1gocyJM5GazR9hiTLh5LetQkmAko3t0gl7a2S2ZWO8ESFRizsaMFHG++1zbPmh7asJYksLMCc7LAI3MyWPMffPkvXWudycPO6msZ2zyia74qdOVX+MOaPOZVm/xqWplZfb0PP5LwP/HME/GbC78Zv1N+3xZvi9eW39Wxuu7e6pFOdKM7XWus+fMksc7MKobgA2t+hT+s+TUfaFXRa8QybySEFkl8FT5OX/Jc69r6gU54WBzFaXqfP3++euphrWCD1pkWguaNpMyH1zwl8u61XTP8fFAO79Kt9X+ZGfDkX+YSnBXncNDWOtNrBGGNr0tYs6+juEXfzMnELpiKj2IIfzaf8CUHecjlfBKFnfHGk28pzvGFdeYNnTuZNy4mIUxNU4BR7NS4AyIgkOr2SR0zM/ARUCQLgHcdt+EHL5O8vhu4nXzxgjO9nd8GdSOz60sCqoLn7eCd2U2OMrP6nidOLrDgP+lCv8wMEwzerifNE/3MrL47DU9+bW7dLt5Nv87M63Yn1yQL/TKzetxjXtXXk+SJtoB65o4z8bG7PhabX9gcjxx/JNaXX22TLnSkax1DMnPSLCv6+GZmiB/4u64aJvwns6uf+MGvsbsdvDMz+HWUHzrjWV+Xqon+k4zgZWeMnTO7GEyUaSGe2Y0heMKaDJmT552ZFdb8SkKGL7zjNvzghQ2dHfHNnLzO+CjiteI881a+HYBYTIBDwEkUjuYOwPNc3yRsZ0w27lGAzHwSPNGkuGyYbnaI3OFZuGSoJrw+kyj40Qu2EgO8HeGsTIJnTRNP+klK6KsIMO4GyFX3a/tYY83R2JnOFjJ8J4k13fiWnTF+5Y6z3o21IztJnenFv9x1+c4nOuPH9o5tY1zTq7F2jSe84U4WMqlfqiynnU5042Pu7vB2Y8WnzWfty6E7yhg88bZ44cuvLSLq4DEKjeX08Z7Yz8XPVUPfOfPOeO3e11Y7J/Uuf9UwgT+wpBsda6ztIMBamQDL6yTRxxvWeCvk4F/m2/WOLZ/UPCyafJqdxWt8tbXM7jo5WIuZFmm68i26w4BfX+/Y8gm+Xtb3IRJPkXwFiw8dmcNet2iZ3U3k4Ck2Z3ZfLYJ1ZlbvxsLhps4tXvAfWNMRT6XGmt+1yOoWUujjLWbhy9bkYGdy3TKgpQo8+LAYjS//yszqdSp2aLLpmOScnlCCXrNxpeeUtwWbmdUXMeKFZmYGB6wfBVg42wyqHJ0+gMBTcoKvQlfJEQOQrxcQfVZSGN0k5mQMzwjoObrGn2xtOz096IMP/QQ1fDOzWkA4Xy2b+rZKjSPfwVcSVtOmK776mPxt29jL+oKZF14lYvjhzd58a/v27SFZ87hJfVuFHiYYevRrYo23BA3W7MwX9WujoMXGfAffJtbO4V/3gXkbPGsatT61X2d27+74mzkGe7Lxg3pMG0d+DWt86FdjjTacFXiYc3RX30aZjdn41fJ7PI7HW8vvA/FAdMpvZlbfw+TdWHy9G4t3GzxrGujxHVgrmTdjDQNY41+PaeMoXsIa/SbWmd3HmOzMD8jXBr+aBl+lD/748uW6jV+pq+ecvnXbSo/8hb/SR2xWMrtYw4C+5nMt20r5NcfDWWxiXx8icdSOr/8lxXuvfMs7ZuTU1kaBH33MK4lBE2u6iiv46aNvGzxrGrXvmLNKXU9nNjbH4XK7/Zos/IB8tUxtHGscHeFaY52Z1SNjOvNrc73GuoNx7fQAYQid1C+3GO8OEi2By8uJ/WgR0Jd+2l1wR+B7gPr1G6cOqJcuXaqSEEDTqd94E8CEEwQAArR+/Uat4+D05VzoOvYbC2vt+OmPf79+o9YxZE0HXZj2G5uZ1z9wQN82nJ4T18EM78xuMGvyz8zKFhwST/3p3uwz7jl9+ReMfQKJnfvRUC/YsY33yujdr9+odTXW6NFnENZ8TnDnY3jSe1Qeg/rxa7TohHa/fplZTXTtbKP/SrHmn4IkrAUQx368YaE9M6v/AkoM6Ndv1DpyszM66KLfb2yNtXb60rtfv3HqfJ+Y98Q+Kz4rXl1+Z2LmluGZ3ffL3Ay4MfBuLP+4peMYFbCmsxhB56WwRlp//uh8uQXG6DjiC8t+tGBtnmvXf6VYszG/Vviskjk4hpBNXzGkn3zj1MGav8CYTnTrN75uZ9s2biphJnbRwY6+ONKPr9jhJtPa6KbT1zf06zdOHZ7wE0OUfmMzs4rXbKGvMezUr++odeLfKDFEQsjG+PEvmI/Ko18/49FBD878tl8/tqcvW+tP3n79xqnjW7BDl179xmZ2sWYLfgHvTrMjgTknZyUYhZrto5x7MVFWL1DZBRNclhrHCBI3TmhHDe+lxvS21zIDlQ6OvX16rzO7SQq+AARKb5+lrgUx8gqK+MJwqTHa8dS/Hs9p1I9a9GfA2ugMn3lrMOulBxd8M7sLJ9x6+yx1zWHpzJHZznGpMZldrDknmcm+1JjednzdNRovEbP929un95ps7jgFPztlFk626u037BrWeCpwZrth/eu2GmvXAtK4fI1jHwsBWrB2VD+s0LmWk8xwG9a/Xxudyew4LJg1x2ZmlRDyLzzNqeXEEDIr6MA6c2m/Fmfgk5nVowDzqinbKOePxWPxy+X3YByMN5XfjbExlvox391Uuum0cHoEtdSY3naymk+OdEazt0+/a3OJnfkIrNmqX79Bdfqbh+IevhaGzPGwJvdy/ZrM7IY3nx0kZ12fmdUHaeCDL9nrtlGPMDaWX/IX/Jcam5lVkmIe8Gu+Cbvr40Y4wdeTIJsO1kY7YCMMq26i65tKayPeo4xr9iEzneEG61FjiL58jJ3QaNIc5RzG+OoLO/ydDyuZXaz5NfvSd1ys9Sez8bUOw3jWbeTT3zW52cz5OMVcEjfhhtYofq0Pfflip5dZZlafstEBcaW3T79rGbyAxMk9LhJI+/UbVJeZ1ZfAHTx4sAqo3i8TaAb1r+uBVoOHN1DrtlGPHNRYR4vfKAGG0TkLfGA1ajBrypR5A+vagZrtg85NDjozILkZdFDfQfVw4jDww9vkGdS3rq/70h1fNOq2UY8wxteRDqPYmGySfO+J7d69OyRYo/Kr+8GoXjjRcuNAj7p90LHGmq50RmdQ3371mVklKcbyq1GxprOJTcbeRwv9+PSrgzHf1IbWKFjjx68VMgssxo9TMrNaSMwJQdEcGWV8E2s+krl0ctBLl7zkrmnBsbdP7/WROBK/VH59ncUXxRfF3vLb22epazhbOM3JUXdjYV3jQ194ZY6nM3/E21i+NS7W5MU7czy+8IC1sfwKb/qoH1bEEL6oLzvhP6x/vzZjjKW7GGJe9evXrMOPjPwCXuOuT2hldv1aLECL7dQvVSTpngDZ7fJfwS2Ht9cvrI3WJ/ELjkvx1Qc++sELbs7HKWKIscaw2zhY80X+wU+MH6ewbT0W1uw2yng89Yex8Znj+XVmN17zETzRGiWGmAM11pLP5WBtTGeQkgAhlCNGhOvXl8ASMQLZYrV49Os3ah1+XspG69ixY+GLY/uNNcEsGuQCvIDUr984dQAhP6fjfBy633hGh4mJiTeZ+/Ubtc54To+/CQfLfmPJg6+25Rrd2Lpk5vXkG5YCDFzr9vqoTju9+QRnr9uWe6yxoxMf6uf0+HocZIvfDgSfgNFyeRpHfnTgbbfNp37V9xZy8QH1bWINOzjDk37oN4s6bbAm43KCWZNeZl5PCOk0CGtjzCXttW0yq2CmaVmFX9fzg98O8mvzTTvd6bxSG2dmlRCyNaxh2U+BK3ElPlB+n4gnShr2RfG68us9sVjmT2aGl9HtxrpB5bcDeV+5Uj3abRNr2MGc3w7Cmg/AOjOrL8RuE2u+M0hfttXOx8i5Ur9mIjT4F13RHhRDyKTdGsEnYGT8cgvM6CBZgSX+/WjhaVdLP8m6Mf36jVpHbk+d+JjdNjeo/XRWhzes4QOnUXkM6ocG+c1V8QmPfn1hrV2cg3XmymII7PDFi1/j77y3sAFbZGb1HYLG9fYZ5xrW5KcHfWDZbzwctJOLnPr36zdqXWepjgIGRvpR2IR27ihT9xjIjphdi8yVgY9uXTi9uwmTyMuPPqlZtwmyZOEkQMtsjy8eeNKZEfBSp9AZ38x2ghmazUJnCSE+nM9Ru2DG6Jy9rQmGbl0yu06MP/04tzZ8YaCOo+Gd2R7WmXk9IYSzgifeeNoldW2BYxP1bRU481uYSswc0TbB6mDGB/iY+raKQAFH86rmU9MmAzvj2bZfZ3axZkc44w1bvNkb3q7pzA/Ut1Xoii76+NR+XWONv3aytcUTHUEV1o744qN+IRbij8vvL8QvhP/u6PPj82Oq/EZLP/jZybUj66bSY6qaNN3NbX0k+vyhbmvjCGt0LRD4OKJbY20+w1o/9W2VzG4MoQ++NdZszq/5mzk8Cb9GU+HXeOFJL7qze2ZXNpirb6vAkH/VfGCMNowlTG727GrZGVPfVsHTKz50FrvwqWnTHw7mkvbM9uO1+ISHWFVjTecaa/Lxg1qmNo548lvzB98aa0e+pV67fm3wq2nQA13X9Kv92jUM8K6xVrfS0hmVAEUZmBDu/GT+di0EnbYdvSmThZNT4+H/LxTgnAs6wGr2Xdb5gEGZWd1lm3R2rSSenJ2zwWLAsFaqBS5OgJ/JxhEYHe/M9iZYr7AWYrhycnf4ij7qYO58EiUzr78bAmeJGN7s7hutJ8ETTTp5l0PibyfWTi+8Yc3XMyeLNXsKaHTFlzzqJunXaONBRwsn3nUwUweXSRXzBq5iiBssfs3X1U2KJ7rmsPm0sLgQT198On52/mdjW/l9V7wrtpTfmNAPvnZj6SdeuoG1cJlP2ibEtiKLJ53rGGLhUKdUHSb0p44hfMpc5l+ZWe1a8O8Jsa2+C49f8+86Xls8Yc3vJskXpnhLFCRi1ihxxbtik9TZO7T8C1+PyT0axY8scJiUzmjjwYdrrK0Z/G3SWItReNDZ0xN+LYYok9IXXTzpR0+AF1aXAAAQAElEQVSxWql9Heb6tFFGTsgwA4KXords2RISsczJLVj41QUIAOHgAkwd2Or2SR0tlu5+AM4YrgWaSfFr0sVHoXfmjS/DbPaZxDms6WyycX4y0HsSvJo08ZAUmeB2W23Lk6XZZ1LndHRzoZjkFhHyTIpfTRcPvOEMb7jfDp3xtVhlZvU4kwx413JN8oiXRPA7//2/j5/6qZ+K28X3TJyJD6z+QBxfczzeduVtsf3C9oDDJHVFGw8LmNcwLGJ8XBzVNukCW/7Et/Bic8dJFzZW+LX45RwOk+aLB50tlHjT3fWk+aIv+ZSI2UAQR9T1K23X0VnSaT12o0OO26Fzja21EdZsrLStXz96eNPbmqz9dvHFB7Z8mo+5uSIHGdoqnVEICSC2Ri2WvrjOYgkMxhBcCTkKnXH7UFYChr9gxvHcEXjU5KVsdwSMMy7dUfoLXnQDPF0FNTIwgjv7SfFFF1+Ymtwyf/wFdXcD6keRf9w+sIazSV3f8TmabPiq12dcuqP0F0TsutLXVrwjrOmKN0xGoTNuHxOspg9jfD0e5dfkYedxaY7SH47whDf7KrA20cnD5/UZhda4fWq/5s/mE750V0+eSWGNrrvK//E//kd8+ds/I7ad/Mn41C99W7z18x6N3/md35lYYnY5LscflN8Px4fDf3f0mZ3PrHZj6c2+5vO4GI7aH21zuY4h4qaF0+4g/4L5qLTG6cev6ebIp+nK1plZvbemfhx6o/bls3yI/5q/+Drya/LAQ59R6Y3TD208+DWeNW8Ym1OT4ktftuTfYoddK/OJ7OQRw5y3XfDDWxyp9bXTj7e12o3lpHSuMWVXflVjzQZkIlvb+qLHb80neuFb88dP/aSxph98xWuY12sjPMjXRhmakAHAHZ3MXyJkh6rJlPMDBhCcXv9m+0rOKQnkOpg1aUlOLNz4Hzp0KAR6Rmr2We45HSSe6AlmeNW0MrMK5oxBX5NBv7p9JUd0apq10Zv04IAvXEx0cjbbV3LO0dDk4HhISGp6zsmDP/nYum5b6RF+ghmaHk/iU9PMzOr9Ms5vkusLo7p9JUcTuKYpmJhYTXp2gPkXTPgXfJrtKzlHi1/zXfrCt6bH18wnR7zhUret9Mhf8KV7r1+jXePAxhbU5WGN0s0FHbb79V//9fiq93xZ/OaPfnP8y6/ZG5/x4Jb4s3/qjvg/37Mp/unfeWf8jf/v18fHP/7x6r/quZnC8q7mYz4+XX5/Pn4+DpTft8RbbiIEd1irhIt55byNAmsxBC1YmzvOFecWTsUn7yRnMNK20oIOv2E/vmXuNGnWPscH9eMLzfaVnNc0zSUxJPPG0xP+DGuY4zsJvyY7Hng5VzKzeu2ETPjCBUbaVlro62mR9dHa6FOQTZp1LOVX5lSbWNc06cXOmTewhr3EEA5iK95NuVZyzq/NFRjCmj1repldrOmNJ6zrtpUeYYcmzPHFo0kTDurhIq7r32xf7jk96YE3nmJkkxaM4Y8fXNrw674JGUE8tvHeg4zfJ0SagvSem/iEFXgV43v7jHpdG11/wYzSzvsVst1zzz3V/20nuAGvX79R6sgMeDTwZYBB4zJvvNRvonOUQX1HqTeeQeFoQmXemGDN8Zldp9eHnG1hTXcOPQxrCwm+nI7O7NSUbZxzE8djZ58Skvh4RDlovEnP6S0m+OI/qO8o9bBmZ5MY3cz+WOPrE012YwVe8q6EN7zYmIz8ayms2cMYC7sJb9xyCtsKUvRGk96D6NBZnzawxhfPJ554Iv63v/s34zv/yV+Kb37bpfiqL9xzE/tOwf/b/sp98SUHPh5f+aWfHf/qX/3LsGNq/E0dGxduED/wgQ/Er/3ar4VFp9EUi+X3aByNny6/q2N1/IXyuyt2NbvcdG6e0xnW/MLxpg5jXJCZj9KbjdEeNNx8qhdOcVa8NX5Q/6Xq8cTbHFWG9Rer9eEX4shK+JoTtV/DkQ8N4k1nfcx/sq7Er41lLzEQzWFYm2v6OJKVzINkXKoeVmxlF8pjaPFrkM6ZWSWE8CZrG1iLB2SkzyC+2q2NZNPfHOEf6pdTYM1e7IbvqFgbs9L5xL6wszbCcZj82sU3/Y0b1nepNj5CfhjTme8MGoOnPvAxp+A1qO9S9TclZJyNIgIEQTyexGwpItozs3pxU3+KEA49baMUfY3jtJSzKIwyTh93Jx4FWOAtnOM6AWc1URlUoEKzX+mtqwOMerKPawhy2t0zXgCHufOlSmZWO3X4kxtmS41ptpOT4xgHazZrtg86z8xq1wpGxqLBboP699brayvdy/NeepXoZ2Zvt77XJgRZYUZnx74dB1SaYIJTZjeZHhVrGNu9817IobIbi/cAFn2r6SxA8DHyDwtmvQTYxRg4K2j19hl0rS8b8ctRglmTDmzw5Scwc2y2L3UOa/Pw//+d/z6+9AtfF2/b8yfx/3vPvTcNK2YIpa7ctWV1/Je/93Csfva98abPfm28//3vD/LX7Y52I373d383HnnkkfiCL/iCeMc73hGPPvpouBnzUvMzx56J9y28Lx4vvxKxe+Iew0YqNUZwVuA30sDSSV+ywtrcEEdK9Uj/PMa89957g3/QQ/wdaeC1TrDmk5ldv84cbT5lZhWv2dp4/K+RHOnAJ5br1/CBE13hBr+RmJZO+hpTY+2mqlSP9M9cFmdhZjwdRhp4rRN9H3/88UCHzcSka01DD5ld2xgHa/yHDuhpJCd5xTzyj7o2sq2k0U2lDxtYH8fhDWs2ojd7mSM9og28pCvbyAPoTIeBnfs0kNM4uopFdOnT7ZYq/fQ3zniY3dJpSAU5jcO/pjOk+01N/FrMZiu4we+mDkMuyCm+XU/ICCCTtoXO2Rh+yPiBTZld59NBMEfX+aBC6HqCMSDDD+o7rN7kcEdgV8OC7y4buMPGkK2ZEGWOFsx6aVpkyc0InJdOvX2a1+TSTxB0J2N8s33Uc07PTpyQEzDqUmPxtOBwHjIv1b9fe2ZWCSG5OS+9l9KZLzz22GNhovAvsvejvVQdhzdRTHQYLsUX1rBha1jhvxSPfu2C0X333Rf4Wvz5bL9+dR254II3rJW6bZxjZlYLJ71hTY+lxuujL4xhlbl8v4YZf4E1LIfx1m7eSZo+9zNfE5tf/OH4/n/wmrhz60w1rCnG4mKpKqX8Kyc3/v2pV26N7/rre+I3f/BvxKseuic+8YlPBL/xNRJemficz/mcEKMyMzqdDAn+wXv3x0Nfcn88+lceiV/8e78Yn1t+Yxk/mVl9NxdbsxsclyKjD6zFn5Vg7QaFjt6NtXguNZe1k5E/4rtcvzaOjfkreugO01k/fs0fxA9lWP9BbZlZxRC44SsuDepb18NaHOHXZK7rxz2yL7nNYbrQaRgNGNukMA8efPDBaj4O6z+oja7khjGfMV8G9Y2I6kMneMLa2igGDOs/qA3fu+++u/qOPHpY85bSucYaT/6VubwYAmvj6UCXpfjChI3xhxXZB+k1rN44fNFBD91h/cnFF8gIa3IP6z+ozVpMbmsjv2brQX3V40s+uRd5OwT1CMAW7MGDB6tPT+q40mKiSzY4M8Ew7qWpjTCUIExv+3KuGYLzOfqajH686cxBGIuMwFsOr+aYzG6AsfCiLcD06uxaEGB0AUHfJo3lnsMaPTz76YsurG21w4XDqVtpQYvzCZD49nM+GLur5OwPPfRQteCtlK/xJoxgwX/Qhq36urhWzxaw0b9uW8nRTpnH5IKaHY1BOpOLX/HrzOUFs6ac5gis6YV2P778um7Tl32aNJZ7zl/gx8b8qJcOmWAtcXrHF78lfuzffFW89x8+EK86uCEkXFXyVQbVx3La/VdgKf+65z1/3/7GXfFD33Ag/sZ7Pi8efviVIUYd2L+nPAJaUyX1e/fsLgvMpog7IqY+J+KNd66Ny79xJb7nP3xPiGUeM7M9mdygOfo6FUfFd4M56tvDuuzcdRMzetV49vaBPzwcYW0O9PYZ9xoNMVjiSWY+xqZNOmQSP+DNLm3FEHPJPEEXbvg0+Tpne3iIN/xa3UoLndHKzEAbnr00YVAnMOJ1G36dmcWX1la7XewoLvfjKzlWzHlPYnr7LOca1myHJ1v2w1rchAf7wmc5fHrHmMMPPPBA9QEaiZn1orcPrPkd/rDOzN4uy7qmA73p1I8vDGChmE9kXRajnkF4osev0canp0t1k80HxGt2yVy5zuI1nfkzneHay5c87ABr/sXWHe94EEIS0zugjWtMTHSTHChoEq45wUxw9W0WRuB8gJZ9UpoxyAAIMrVl9KbcmVndQTEIQ+CrvQ5mtdHVtVkyuwGGXrA22ekLaxPMuccjbQSzXrnroGqisSte+FoULSzsYAegd9xKr+kiaPAfWHN+NGHu2mQ0KTJXPsHQrUtmBn3sxnqMSU/6KrAmB7n4QD2mrSNd+TYd+TasFTbn29ro3Ra/mg5d0M68eeHkZx6FfNM//AfxD772TfFvvnIm/tJb7ipJTdxUwk9tBkfXsjXH3lLay79q/L/4+gfjp//56+LBvevKgn2+LKJryqPMy3Hyyqm48PDFmJqeitnfWIznPn211F+pKNkp99K877B7+FWvCjubbgZeVc4dX/GKV1T2c64vX6kG9vypsebXTazFD3qLm5PAempqKup4LD7jx8bkICueePeIu+LLzG7sErPpix++/BpfDPg1+Zy3WWBtrsK1jiF482v6axM72+SJVh276ERHcxdf89gNPT+SJOvbZsnsxmtrEH3NXfRh7caZHLBW13YxLyQAdpfFL7zoXGONL7na5iuGoI0urOnq3NoIAzwn4dd4WBfNG3z5tTp6u3bOv8jnvM3CZ8VNfg1fOOMrJ7HT72mRm/yaZ2clW7A1kaWOmd2JbtIJ3pwdAABaauxK2y2aPgUjMfjkJz8ZZJiU0Zuymuicz8LpfRrO5zrTUtPs2e55ZhdrAabGGl+O0S6nW6kJ5LC1m/Gxj30sPIIx8W/t2W4NXelootm14vSuMyeLNUxNKB9K+KM/+qPqURq+t8Ov8YC3r36Bt2Am6LSL7K3U+LUAA2u7S9/3fd8bb3zN3fHFu38//vFX3nt9gN0wpdoiq2vrBKw+qu81ketr7ca73LZxOr737786/rc/uyMWrpyP+XsX4vLuy3H5N6/EmlMzqERO74oHH7gvDuzfF1NTnWrnY8P6dRX7O+/YWW6S1sWO7dsCbp1OJ+4+sD/279tbkr6Mv/pX/2oM+4GzYgGDNRq3A2u+JD5brDy6rf2a/MPkXWlbZlY72ZkZHqFKzthc7Fwp7WHjM7N6jCmGePTNt+Hueti4Ntr4tTXJ2vSHf/iHFckHym5SdTLBP5lZ/R/O+Luxg7UbZz42QbaV33u/zHu8doq9hnG7sF69enWlsyRUvM7sYpBptsfEfswbc8rRmoz/7fBrCsGWTSXAn/rUp8J7fZJ9bc3S4QDNikmdC+AyRAkSxz937lxrH3EfJrNEiI6SMh9S4HgyU8FtrdQF1QAAEABJREFU2LgVtlXP//HF3yMIWbHAulK6o4x3xwFrfGusJ60vudhY0svpX/3qV1dfRyIh1TbJQjfYmmgcnRzuqifJs6ZtUrv7ed3rXldVCW74VxcT/MOvzCF3V3br6H87sKYSvh7/vf51r40dL31f/Ni3PhpbStIUY8TTazlXyJgkXtfLQqm61njtEHWc/oJHd8TP/19viL/9yv2RH48qfmzetDHu2n1H9VL8c8+/EM89fzj27d0THmlKIOA0vXo6Ll68FCdOnqx22NauWRPPPPtcuTmbqubpT/zET4Qbh9/8zd+srqPnx9yls4VS8g1rc6ynW+uXtV+bw3b1JEcWMPWtM+shyKcVN1VrCl50vh18+bCkyEK5ZcuWKobcDqzZ2I4Y/m94wxtCLDG3e2CZyOXFixdDvPLBND7L124H1nSGdb1TLHaTYyJKNojSDV8Yi9d4Ko0uEztlU3hbGyXB5CDPxBheI2wuWRvoay7LDeB/rfn6oeNOjwMYcL22xRNMKQ18kywzq7tX58Ax0Vtkd50UkNGm16ZNm0rwna6+ldxdj0xVljqpiW5BxtudHXwzb9z5wYJM1wVt8QTWtrthTWekOV2NNTura7tY9DxaobPHQu4GyGABc6Qze7TNFz0TGV+LFruqg7tzWEzKxrB2F1/f7WVmWKztaNiZdLcLF/K0XejFx+A7VR5vwZi98dNGtrZ5osdv6WwOfec3vT1+5p88FPt3rdXULdcyqAJF9/raX9edzs3ZmitJ2PzCYlydX7ipqNOmDxKli0O3lMqv+Lzd8TPf9vrqMebpM2fjzNnzMXt1NrZs3lh2yPaUXZ1jcfHSpbhw4WIc3L+3WuwsdFeuzMa2rZtj167tcf+9d8dTTz/bpVn+rl58Id70pjeFRalcXv939uzZ6p2bGmt4w1qHM2fO9E3gtK20iI0WDn5tPuFrN8NC4p1Mdlgpj37jJST0ghfe+jg3p+q5pq7tIj7A2hHW4pbiPLP7mLxtnjU9j48UN+xubtTTnd5wNtfUtV1qrCW8YjT69bkFm/3VLV3G6wFjWOMPX/FDHBO7rRESB23jUR2tNx/Cwxyiq1F0F69rmdS1XcRGtsQH78ysdsudTxJreogp5vMrX/nKKg8xl/EVp801sumndDKz2j5kFI1tLWCMDnj0MDe5MGwWyYqJbkElcLNtJeeMDmSTSjDrpYUncDyCsGPW277ca04MQ4Bzsl46mRk1Fvo1DdHbd5zrGmv0TDD8e8fDAR6cvk2sPbYSzLyn492EXr78is4Wc7x725d7XWNtgvXDGt8aC34Im+Xyao6DNdvxa3fw+DTbnduNlZxJUiVn6too7Gau0KsOZk26gqo2C4hgTtZm+3LPYS2YffVXf3V8ziP7479/88H4K2/bU5FbqLOla8mYyroq0lWUpCXKbtaNDpKthfJndm4hrlxdiMuzC3Hh8nxVnNcJWulSEbhGpjq3o+Zky/pV8V+/8dXx4//oVbFpzUKcOXMuVs/MVHzWl0eVx46diG3btsTzL7wY585eiP377ooH7r83Dj17uATFmXj51Kl48MH7Yvu2rcjFgd3T1fFtb3tbdRRDYMh3+VhV2fhjsYY1m4g1jaYVnV69erXaFWLL9evX30JLHJX0O3qMyTa3dFpGBV+p5ye9ev06M68/TtRvdnZ2GVz6D+HTNdZw7e1FV7GLTczl3vblXpvHn/70p6sPstkh7aUjjprjjnTubV/udY31wsJC9MMaXfqa42QUO9WttOALZ/46yK89wXLD5SsYvOZjzEr5Gs+v6WIdwltds/A39ZIUWMOm2b6Sc7ELPbbMvCmaVGRrrPkWOavKFv54POnR6Cte8YrKzr0kzXH259fsor3jj2IiaGQAE8RR/XIKg2NQKzqMRmZW7yuYdAy2kokOTMYUQPEexlcb5zt48GD4FI3HAeqWU2DFmI4wNIGH0dGuH3mNG9Z3qbYm1mw4rH9mNyHUD9acf1j/YW2c3J265+BeQM681dGb4wUXiRN9LWLNtnHOTaxadhiayMPGa8cX1nyDjYb1H9ZWTxx86TOsr8lm4fRI0aOQlehMdriN6teCHvnMYzIPk3NYW431v/t3/y5e+4oD8Z5XPVWSoIdjqlNsfSO/uoVEae3W9fSRYC2UbE3CdbkkYWcuzsXX/euPxnf+9DPxo79xMr7zfzwd//q/H4q/9h0fi7n5xbBTJqnrEos6FwuuVpdt5VHpf//W18Y/+6p747nnDsfhkoDt3LUr/tr/5+vj89/05upR5NW5uZJMbCjJ2kLceeeuePyJJyM7nXj88adKYna6Iv/aB2aqozhwtuyKwdoNY1U55A+s9TMPV7Jw8kt8O0UuC5PjELZVzHRT6T0rn9Qa1nepNn7CP80TcXhY/8xuDCFfPQ+H9R/WNluSOjrDr1/y2RybmeVx89pKb2NWgjVdJWLoe1wnHjofVMRrNjHOPBzUb6l6NrYuooOeGDFsDIzFGjbB1/hh/Ye1wRoN/rrU2piZ1fu/3jET4yUVw2gPa5ufny83S2fKnM2+SUnvWPMONuQ1p1aic+3XEjEY9vJqXsOa/2dmwInczfZxzr1nCrd9+/ZVOGZej4h9yfD9NddeC7iekNU9OYkOAjlA6vpRjkA0WRgdjczhgjRpAozzZWYAcqHcPTTbh50zGr6ZWe1AAXdY/2abySapYAw7Gj4O32xf6pysJhgnX2pi99LifMbBWultH3YtIHGcOphljo41nWHN6dCA3zBezTZyCmbG3H///dW7Fs32YeeZWe3Gwom9+Muw/s02/AQzepuwsGu2L3WuPxujQYel+jfbycnOJg2/brYtdW4+efHfXDJJx9nRYB+LHh5kzxzdxuaAMfQm+zh88eMX5oO75Y0v/FD86Le8KnZtWa1p2aXaFSuJ1rmL8/Fd73suvu2HHosrZZfsgx89FQd3ZbzlDbviSz93b3l8GfFP/u/HQ//FxRs63zi7WYROSRC/8HU74tf+9Rvjb37pvurb+3/lV34lfu3974/Dh5+PzZs2xmOPPx7PPvd82X06Vx5Z7ihJ5VSYBzWlx5+9XF1v27pl7BiSmcEvxDC48Zea7ihHY8QQ9mrKtNTYzAyL5v79+4ueh6sby6XGNNvxxFsMEbMzByHcHNU9p6sYwq/4V7d2tL/82vzPzGVhvWnTpuq1F3MD/9G4RuBrNx9vN0vkH3Wsfua/eG0uw07dqEV/OMFZGXWcfnwCX7GPvcRC9aMU+NBXPIBb5ug2Fjvg5KbSk6SLFy+OwrLqQ0b64o8vf6kaRvwDazihMW68rrE2J9EZkWXVjZyw5it406NqGOEPvl6F2rZtW4ib7DbCsKoL++Dbqa56/mRmuaNcV92REGqpACN5YnQCAB/xHpIjX1qsAUk5vJcaqA9HFcyAuVT/Qe14euzGgBKOpXQmn4lpHMfJzEGkh9Zndu/8LNwmG12GDeDgsIYxnTOXxxcPPDkBnktNNg566NCh6m6Hs5mkmcvjXfsJGejMf5wPKuSDNZyVzOXxzcxq4aQ3vugO4qmezrAmL5wyl893+/bt1dcvHDt2bMmFUxAgn50x88mcIM9yCj8hO4zp4jiMDr/2oZe3v/2L45//jS+IH/umu+M1924siXd3VBOC6jy79cP+6rewWBbE8ueJwxfi67/jo3H01KU4fmYu3v3mu2LjulUV/U6JRpvLo8iT567G17xtb5fk4mL1yLMcbjpG4VvVlV6FdNW2airjL3zu7vgvf/fB2Dp9Ol586Whs3LCx6pFZiJeOi0WGEydejpMvn4rt27eFHTP2fflsxtbN0/GXv+qrS//l/UOnnpPsx47DKFlo+DX7rMSvxT0vC+/YsSPsxrLfML78inzGkZePDOs/rM2iLQbSZakYAg/xWgxbqV/DWkJljqKJ9jA57Xz6QAScPBnJLA40bMCAtsxuDDEnzSdYDuhaVdNVvxrrzOXzXVN2UfgKrM3TisGAP/BgY/OdjfEf0HXJanw9BWFfN2lLrY3k05df8I/M5enML8kuXrMxLIcJq53O+sMpc3l8MzPQWLduXZifdBnGlw96705fO64rwbozjBFAasU4Fca9/QHAKQFnkvS2L+c6M6uEECAM0W/hrI2uD4fJXB74Tfkys9oSt/PjUYBPknHoZh+60hnoHC5z5XzRh12NIfq9WJtgsOB0+gkIxq20ZGb13yHBEP1+E92WdR3MvFTML1bK13hOz79McM5MR/V1oSu/g7V+me1iTQ8698OaDfCHNdvUMq3kiN/u3btLIrA9+JbkrEmP/vwaFnyLTTLb0RnWdOG//QIMDCzk3/Ed3xHv/IKH4x+9Yzb+zjsPxJrVJUSURKYpZ30uIaqfI1Zi9oha1dWdy9Gm93/82efj5Nmr8YYHtsZf/sI9ca7slh0/PRv/7iefj2/93sfjW777Y/EPvvzuuGf3uuj0Eig06n+LC/VZeZRZ5JsridbVsvt2+ep8fOjTp+P8pbk4sGt1nDt/Pk6dPlsF2E2bN8a69esiM0uJuHp1NiRndP/4k5djfu5qfOQjH7lBeJln5iZ/rW3ZS4a/8y82YefM7O2yrGuLn91Y88UCcfXq1Zvo8C/+7sgX9LupwzIvMrO6eeev9BoUr+FBX3Iuk9Utw9BCE0+69XYQP+xMb968OQ4cOFDtgkYLP2KCpBIpfHvXCRjDQn3bWFvz+Bj6fIkMzXKx7GTBmg/yscyGfzU7jnEudkn4vWvnKZI1oXc4f4NFbZPMlfPFA9ZsbJ7S2VF9XWCs3hHWZK3bVnJEB4b0Qb8Xazb2nt0LL7xQ3WxvLzfdmSvTuUTbpUVmfIoCwmJhBIMrgCJw5soEQbO31IA4mlgWSKAAh0wcU1vvuJVecwALp7spW9wcEPj41kZvK5j1yoouJ6idGz8TTKGvoJc5OazxpyesHW1VewYvmGnrlXel15lZJYR2COgoIaQz3o78jj1WyqffeD7Ef+kqkODHp8nBBpPw68yuvgcPHqz0hq85VcsggOI9Cb/OzOqTRfTCk650hvXP/uzPxhtf/+q4++JPxr/8qwdjy4bpCrKS61TH+k/v9fV6DaVMTV2rKS5aJWzlsjqWtsI+Xj57OR7cvzHshP34B16Mn/jgydi+Y3ssRCfe8Zk74/v//sPxea/eFqtXdaLTySpxKiRu/ZdR5YILJRGbm1+I2fLo8yNPnIm/9m8/Fh97+kxcml2Ih/Zvqj5hCUs2FTBPnDgZd96xK4w7depMwH16elWcOjsfO7dMVY87b2U2fk1m96aSX/MtcWuhZKSwzsyYlF9nZvUY8P777w8vZotfYhf92Zu/87HxNVp6BJzp5UjP+fn5kvRerd7J4XPiV2Yx3NKkxuqRmdVcQh/WkjN4S8ToDgt2GIvoiJ2np6erXXf88MbP3BLHzGNYZ7avs5hYY40vrGsZrBGwyJwMX1/PYU3w7uKJEycCb/amO53ZP1r+yezGLvStjXwZP1jTWz2sWy+90kYAABAASURBVGZbkYM1+i7oSV8f1nJTXb8yoI/2lZbOqAQys7rLxNidPVA4+STA75WJ0wNEUiawOJ9EctCPr61aQdsXnXIAgaW3X9vXmd0AQ28Oj69AejuwhisdPfrwjoZEjJ3b1rGXHt0EEZPL7qSgYoJlth9Umrwzs0pSaqwtmrDOnDxfd9he/GTjJ554IuhvfjXlm8Q5HniZw/7fyc/73M+JP/7pb67+q6KDd66tMp3r6i9GNymqK8p1XPupq65dVv3KGty9bPSrKgqcEqz/9HdfFRvXduL/+OEn4/njV2K27OL86Qem44e/5eH4h19xT/X4cvV0hsePZUg1NJwo3avwbtlCScS89D87txhHTl6Jv/efPhm/8PsvxaUrC3HX9nXxV9++L7ZuWFVsuzru2LWj7OCsidOnTlc7JMeOn4j77r07Hn74VeVR52JJGuZK8teJx5+bDY/lP/MzP7Pi9N3f/d3VcSV/+LV4ZeEQN80tvrYSmqOMxdfCaVfDpzHNZfM4swHkKISW0Yd+/Ms8prf5RJ5lkBprCB7ihk9+27lw02NnLHOyOmd247V5JQnOzOJvayNzsnyBU8dr3xgAa7jDQdskC1+Cr7VJ7MJTvJ4kT7Qzs0q+JUXmU2b3OnOyWGfm9fzH7nNmVh8YMp/J1VbpjEpoodzdycQ5wK5du6q7AtmiBXRUGsvth687Du8tWcSccz7OsFyao4yzYOHtu2l80Sl+Jrr6UcYvt0+NNSeHNaOTY9JYc3L6SRC8Jyag4wlvui9Xn1HGuatlU8Eb3mRx7TjK+OX2QZ8fwxpfWOM7aRvDEx/H/fv3h7t477n0exSwXN0GjWNPjyff/e53x3f/738x/vmfXx1f/Bk7I8S0a4lUtasVN34WSwLkqsQhh6rc0ufa2Kqx5w/Syub10/F/fM0D8avf/sZ4/7d/Rrz/X70+vvEvHOx+YKAQl7R1yrH8C6Uig24pi2VPrE7GJGInz5ZHnf/jmfi3P/lUXCmPKtfNrI6//mcPxLq1U/Hrf3QyOms2l92wO+J42RWbm5uvvpvM7tgdJUHzftkzTz8TmzZuKLFsXXnkcHfZtdoQmzdtig996EMlkZuJv/7X/3o88shr441vfGP4kEAly5h/+LW5u3nz5nA3bXhtd+eTKvzaDSx/fvjhh4uO66v3yyRJk+KJLn+mr/mzq6wTdby2o6F9kkUy5PGRmxzvA4ujsHacJN+5ubnqg2jWRjFEYlJjMEm+sKafo91fPmZuK5PkizZ7KvjC2rndfnbXPqlSYy3xNp9gDQP1k+KJrvlkt9la4T0xeuNLb+1tlSUTMsbmXIxsseR0mLsbcOfnnJAEdt5mqYOZbFzmn5nVnaxrBgGIPtHyD13ojCwd6ZqZweElKRIWiYt++rRVYE0nTo2vO020Ye46iwzaJxFgbMG6s+TkdJSgKHDHH99JYG0iwRovOsKazuzLzhJCu6KwUd9WQY9O+OML68ysPr3Fz2Fct7fFs6ZjEtOJfhbMzC5fuPMxvuVrRer+bR3pCut/8S/+RXzFOz4j3vOaF6sEZueWmQjZUkl6ovw4SLaUcll2kcpf7eVQ1V07L5c3/vWrK61FtfK3+29qKmP1dCdmVneqY7kMyZfWLH+qpA9z5+WIl1Iuq12xekfM48if/uBL8c9+4LF4/PlzhUYn3vk5u+OzX7UtPn54Pv7XpyOeOjEd7/utwzE9Mx177rozNm/aWBK1tXH6zJkSQ6aqT1tK8LZu3RLbt22Lp546VHbKrpZdyrXVf7HkZf9t1XeULYb/Sucrv/IrIzPjda97XXzVV31VvP/97yfWwFJjzZ/5F//OLPqvXl3tnoinfGAggWU28Fs2FkM2leTS3EXKuffLyMO/yKe+zUIfhV+bv2jTu44h5JpEDJF4enyGrx19cwpvMqjD05wz59W3VdATI2AuZkyXx5eZWcUQNq/b214nyA9nOtFPUpKZxa87xX/XVfzJxQei5R802ZGudGZfPmYn1o2lm0qlZbYBY3z5Lb544uHIv2AsD9FPfVsFPWsjne66667qporO5hE5YN8m1p1hggsamFFYyRQ2b4zIzGobj/MxFCfhhDd6LO8M6MCnONqU76WkDiCZWd2d4N/bZ9xr4NMXf3w5XS8NDuD9MomLuzHJWW+f5VybXPAzweqA0kuHPOwgSSFnG1gLZh5P4msLuh9vOsODPfDl/L2yjXtN9poWO9KtlwZ+5OL0sOGPvX2Wcw1rBW36Zt7s12iqhzVfwJu86ldS+Cid6Upn+jXpZWYVUN3hZ2YcOnSoev+m2Wc55+yF7wc/+MH4U294ODYe/Yn4Z++5M+7evbabbJXkJxazSjgys8vC0aljt6b7V53+3avuX3XlrLdrqerSd6JPGeewqpMxVTpnOUb9o6E+r4+lTtJkV2xufrHsgi3GHz15Nv7+f/lU/PYnToZNuz/1qu3xha/bGYdOLMZ/+62L8dFn5yKyE+vXrY2d27fF6ZdPlR2yU7H/wL7qO8emOp04dux4HCzX/m/LIy8erT6Nueeu3bFh/frwvHa+PA3gazD72Ec/XhK0rZGxGNsLvXPnzsaP/uiPxjve8Y74wi/8wlv+H0wxROyaL89uzRlzpxC96R+7176Hh/l8U4dlXvBTcqMtGeklg++WLVtC/Dp27Fi4ASNvb79xr8lPZ/OUX4vNvTT4PDwys/rkGnx6+4x7bW56j8fc9GoJ+r006AwP/GEtOevts5xrWNcxhN6ZxVl7CKnH27zXl5w9Xca+bGK9bt26oF8vET7HDvjReblYN+migRZ/QRuPZrtzGO/du7f6YJzdpDbWRjrAjt3w5deZN2OdmSFes79++pNnpcVjYDHYzYyvxqJfL02+Ti64nDt3Lhx7+4xz3enXuTY6ZpTsZ/TmuMzuc1ygAENQaLaPek4ZRmd8fPsB0KSVmVVCCBBjTBI0mn1GPSe3YgLRY6lx+lg4Oaag4B2Npcb0azdZGZKu9BgVa3KSlwP2o7tUnWBmixlu7pw53VJjyCgIkJmdlos1O/EROsAx8+YJ1isHjGHDHwV+svf2GeWaX5O71mNUrMlYyzwKn94+MMbXEX706e3TvM7s7sYKbvja0TC22WeU82Ywg/U3fdM3xZbpM/Hzv3c0PnHoXPhU4nzJaiQ8JVcqydNilMtC+oY90FiUjpSErTSUs27boou6lAuferSbVUSva68f1Zd85vr19ZMyru95qVwsA+bnF+Lq3GL1Tf4nyuPJf/6Dj8eP/8bhuDTrBfw18cWfsSvWzayK7/mlY/HLHzoa5y/Pl5H+kTFjaqoTW7dsLonZlnj6qafj4N0HqrJz5/Y4c+ZspS9c+dNiUcAnME++7D2zTrXrtmHD+pK83BGXLl2JqVVTcerU6SpJ3rFjW/Uey2OPfSp+5Ed/JL7v+76vosVW/JqN+Uws8TM1NVUl4Lqt1K+NlwDgjS6agwr/v6vc7XukeOTIkfD4elDfYfXmP76ZWS3CS/k1WrWM5iK80FA/TlksDmVOWPDtythVzmTzwVTIZk3plISczOw+uPfgFvHWePaFNXqDe0eVMEki6E1f44f1H9TGR/GlOz3oM6hvXY+neS9e421s3Tbq0RjrDHvRl96ZOXB4ZtcX2IWMEjNyDxwwpAFW5K71yBzMF5nMrHaf+bd4ay6qH7fgacc1M6v3xGC4FA24sAuc4LVU/37tsO40G0wOimhAnGLN9qXOBQJGYwh0CLfUGO34UQKAxlNO/aglM6sAyfHRQAvNUcaTUULE6Bb9pSZYk2ZmhjtOO0ucxx2nY7PPoHNY40tOn5aB2aC+/erJCSvHcbBGy1dYuEM+cOBAbN1a7v6LHupHKZldrDkpXeE9yjh9YE1WWBtPdvWjFv7IRnVwguEoY/XHF9bGj4s1v67HCS7ojcIXP75Ib7bin5nDg0qTLjntxFo87cayWbN92DnbCCwwwxvWm9ZNl8d2M/HC8cvxn993KP7dTz4Tp89djRuJWUO2suiFJKxOmsp1+VcStsWoqsqf8q86Vx/lx3XZXCrJSVyvV6eU5ijZXLetrsBOiZt/JIlzdsRKMnbxynz8x585FN/x35+OU+dmSwI2He944654xYEN8TufPBU/8MvPxfmLV2L9hg3lceTZOHP2XCG2eK2UQ/lH9+3l8eOVixfj6acPVZ8KW79hXRwtO2V7ys7Y3j13VQna2TKWnU+fPhsSMDtm585fiCw7eb4eQyK2ZfPmmLs6FzOrp+Oll45Viv7Gb/xGteuzujyOrLEubEf6l5nXbyr5FZuN6tfzZReOP2Z2F0H+MhLTa53EWUk/fNxUikfXmoYe+DU5+Ri8+NjQAT2NmVktnOaD+IFOT5eBl94TE7+8q+UreKZKUjuwc58GspLZnBQTRsVaUqN/Zhfrcfnqjy+s0WHrPuLdUlVjrb/xbHZLpyEV+MFZqW02pPtNTexiDL8WrzP7TNabRty4yOyujXaW+Ojzzz9fzbsbPQaf0dUYstMZdoN739piHhhnPKzZ7tZet9bwBQmkeSChtLbf2mtwTWZWeQi84Ma3B/e+uUVfYzqqGd3CoVJAGdfoaDQLQNBBFyACR7O9eV5PDEoYkzm60Zt0nDMAGiYd5dBW36+QidG1SYjGNbpxdcnMcLepuGsTMBi3bm8eYUI2zi7ppXezfdxzunI+45bC2gu97iwlYXeVO2R2Mm45BdYmKdzwHYa1CaYP3cm6Er6ZXadnZxjy2UHy4wdr/PVvw6/ZDD2+w4cG8SYXndkXTpnL92t4CRCw83hZwBjEl0z4so/+xtZ9OyWxeNsb74y//LaDsX7t6jh9/kr88x96LH7yN1+svjZivmRT1W7ZYhlBXiI71hmXa22lufrnXKkubv5TD5GZGVa19vZ1rZRGfJWrRYarcwvVpyV/4feOxbe99/H46NNnw5fFfvbD2+MND22J549djh/61Rfj8RcXY+OmrWX0YvUY0o7aQtniO3r8RFy4eCkWCi0+UDqURHAxZmZWx+47dkZmhkTLey9X52bj6tXZuHT5Spwvydf09FTs2rkjLpbxErb169eV9quxZcumQiNKIrGmev/s4qVLIclbt3ZtnDpxOP7w938jmljjOU7J7Pr1zMxM8B3xuJa9lw69Lpbk8urVq7G+PGYVA3r7jHNt4XFzZg5bOB0Hja9lI+dK/ZqPmpeOfJY+g/h6AuHxEYw9mcB7UN+l6jOz2HFtVegjjgwawwawNq9gbT4P6jtKPVvRWQyhM7qDxpFLH8mUknl9Jg0aMrAexuR3PH/+fOXTgzqTTYwR241xHNR3qXr2kjgr1kXr46Ax/Jq++OMLq0F9R6lnqybWbDlonPfE3PS6AVbIPajvUvXwwteRPsP8mq7soS+dOyYfhzPBEMlcvtGbgmZmCYAz1ZY8xxJgAF73qQVxbZEjkPM2CjDpghZAmk7PKPSlNwAYTb82CgzdEWzfvr36NnbPoJt04YC3fgJKZjuEJHDbAAAQAElEQVRY40EPNPGgMz3VKyaXzB/G9cKuvo1i0sARLXz7Yc3W+tBbvzaKwEJftsaX3k26/E09nisNZk26ztGjDx8S0NXVha74wrptv8az/kSTLXW+VPM1t1yb/HyfXeq2+sgnLl6ei+NnrsS737I/Hn1wR8wtZHz4sVPxzd/zqfjdT56Oq2VXar5kU/pKpqqxtZ9Knvq5bJ+6qqr6U1G48adPnT03/K7OLcSV2cX4g8fPxv/+3ifil/7gWLx4cjY+8xXb4j1v3hNPH7kY7/udo/EbHz8fM+s2VfFlVXmU6L872rJ5U1y+dDlOl0eRMzNr4vKVK3H0+Mkq0VooSRr61XZWUWrd2jWxs+yYXbxwody1L8Zde/fGTEnWlNnZq0WG2So542OXCk2fvLxadsXOlR20o0ePx+bCi99JIPF/8tO/H+/5S19VfafZDUWXd8Zvavux5+zs7E2E+JsyUxI3fpjZB9CbRox2QVdxy03lsWPHqvjVnMvk4Nf6kY+co1Feuhdf5dtsROdevm4i6exJhJvJpSmO1qPWxZFudGyOxFM9nJVm20rOM7PaSRG/xC2lSU8MqRdpMYR8zfaVnMMaTRjTDa+a3kK5gcFXm00KPl63rfSIr6QfjnZjz549e50ku8NazOZb+mS249eZWSXe6KLfizU5xFK2kOjjfV2wFZ7QGV94whq+NUl1ta+zh77aOplZ3WW1aXSE65KZVVImYQCIQjgLh0movu7b5jEzrz8KYAR8AaAIZgyQ2Y7Re+VG26MA9YLJmTNnqkcaMKZzm8EMj7qgzwE4FX1NLnclzk0Gd8J137aP7EhvWOMLZ3Ymi9I2v5qeoAFTuuNrYjuq5+iTwjqzO9FNJHrC2FGAI4/6Wsa2jxZN9uRXPv2DtwJ/WGf292v51OOHz8cP/M9n4yd+4/nYvH46/tzn7onXP7QjLlxeiB/9tcPxrd//WHy87Ej5WgmJ2UKVzBQNapqIlMvAQp2junIseVxIUq4XY/XtKborCyU5qr5hvySBV64uxokzV8tj1Kfjv/364ZIUzcWd29bGV79tb+zcujb+5x9djseOTsXhk3OFdWFWaKKhlNOywM3Ejh3bY+OG9fHyy6eqhGpVeZx19tz5OPHyyyXxmi87XHXvxeAvu3Zui80b18fjn34s7iqPLu+99+5q3MWyO7Zp04aY6nRisSxS58qOAlp2EFdNrwpl7do14YbrfNlV27Q+4uKFc/FlX/ZlRGml8F9z2WJ1oSSO7OvIn9U7tsKoh4jYKHZJfLxfZkcDX3KsL7tx5nnPkNYu0ea/EiM3kb4CRvEhBLsWrTHqIWSu0k31xbLz2BtD+Iq2tgu6tS1hjK+jxVrs4gNt86zpwRlvWNNZwR9fPlD3G/E4cjf0fQADP4nZ6dOnq7WRP7NBZnduj0xwxI6Z3TwEHxhLxKzN1ivyjPIO9YisbuqWmSU2ralyILxgTHe4ry27671Ydwh4E4UJXeCjEIrDcbbMyYDfq4IJZ6G8Wrb4yWAi9PZp+zozy5305nDXyekUerfNZxA9i7WAagJs27ZtULdW6+EKa3rC2rm6VpkMIMaumixcjvW180kW+uFFX4sWv54kv5o2nnwLP3au9a7bBx07Zcrt3rEh5mIm/tV/ezJ+/vdPx8G7NsXf+/IHSuKzLs5cmI3v+YWSsH3gSHmkORvzJamqEqySmERJhcLPYvlTlcWokrCSWHUTN5Wl7dq/MgVK++KtSVoZhO5cScRmry7E+Uvz8X3/8/n4hv/yyThzcbZKhN76hl3xpx/eFr/96avx8x+5Ei9fiLCztW/P7mo3y0v5s1e6u0e4KsRb59OVO7YFfE6dPlMlYls2b45jZbfszNnzsVD0KOyLhItFtij9OnHX7jtKQnUhnnrqmdhT6K8vjykzOzGzZk2cv3Ax5ufmY25+PrZu3VIFVwnflcJ7ampVSRxnY2Z1xpnzC4Vmu/8yM9gXVQG89jXXky4WbHHDAuK9Lf49aZ7oZ2b1OA1P8UMy5qht0oXPiF10zsyAd9yGH3zxsjZiV9vc+SRLZte/+JZyu/jSaefOncG/3NRIvjNT9cQLnPE7XRLBrVu3ljm9NTInzzszK39iY3OJzTNv5dvhfIK5xSQm9MPYF8pdHoPbpbEdKjCqc5wQ2zC5ZKN44Lm5BGZAqAPKpPjCEqaKLNhuBgf0nNrjAPJMgje+Z8tW8KFDh6r/PuWBBx4IeEtG6QyPSfBFE+3annBWOP/5srswaaz5sCL5NMnWlzt5+nJ+sk2q8Gv68Wt3WPjStcZhUnxhjS8/8h6UT8laQL3/o34Q304JALOxIS7Orw07ZZKbc1em43t/5VR88JMX4yvevC++9s/cG2tmpuNjh86GTzX+0h8cD0lTyUmuJWdR0q9ukYLwuSqsVH9u5txNfLp9tUia1M3NL1bvrHlh34v53/K9n4rnjl2ITmR85kM7q/9G6ed+7+X4jz/3YjxzdC6mOp0qmPEndLZu2Rx777rTaZyWdBGuuuryytJ/c3msuHPn9rK4z8Wzzx0OdYuLC3HkpWPlMeblkGTqvUigMlayt6ckZpcvXSpXixU/9l2zZiYiMzI71cv8fGrVqumYKzw3bdzY/XThFM3KsBb/sa34gZ+djM0ldtlBqutquVtkeZ0UH8aHT9ktO3DgQPAru1Xkud6x5RM8n3322YLtXPXpNr6NBd5kcj6JUmPN3taJLVu2VI+5yKNuEjxrmvAUL6anp6sbeDEET3Xkqvu1fZy79mW2/Ii+SmZWdtbWNr+aHn5wZU8+bXcKb09yXi472drrvm0fJfn8SyLo1R3rBTmsFbcD68ysbExvurFxL9Ydk91EJxThdGyrzJe7SkyBzNFWrVpVkc7MmJmZqbbxLKQMpE/V2MIf4KKJtoQIr5osxyeLPiY6Geu2No71ZIIpPvUi4lpgU8cpJE5t8KtpsB+6bGiBxqduE1gVeChtYo0WmgILnr1Yc3oYk8+xlqmNYxNrflzTzOx+Egr2bKxf3dbGkR7ustASwJt+zd/IUvsffPRro6BlPtEHrmxa03Xt/UXtEnI2qdsc/+BDvxenz12K9/2vZ2KmPHbzHVzwUeQkv/fYxfiuXzgev/fxl8tjwgPxioNb4vLViN//1Mvxjf/5E/GJZ89VSZSdLf2rFMRJlrTGhVIYqSqHKCa4UUqF+oWy2zY3vxBXyq6Y98H+zx9+Mn7yfx2Ji1cW4oF9m+Iv/5nXxqm1j8QrH/28mO1sLrtDq+P4yZfjfNmlMr6mWThGp5OxY/uW2FUeU/Kt8+XR4ULZ/Sqsrv9z87V16+Zyc7Ix2OPU6XOxtux6nSk7ZS++dDzscsEUvW6J2LxpY1Vmr1yuPqizf/++EqtWV98Hd6bc7KC5atVUSfRm49TpUwHnS1eySsz+9t/+29d5r+SEfelkLvGlzAJyIYi3OeaovTeYly4r+ofe+XIDBZOaD4KZGV7KtpB5RG5h68Vav+WWq+XJxQsvvBB29b0nhk9NS9zk2/NlLaGzY9220iM9xS108TF3a5rmBQxcw4SMztsqNdaZXd+pYwj65GB3Pks+dW0VdqMv/nDlYzVta6M6ul4oGyj61m1tHOmC95oyB5WaJn3ZHX9fxYR33dbGUaxGl40lgI7oZmbgDYMaaz6hrY3CV+kLT7jWfNF2zsba9Kmx7mg0wTWq5HyMpX65BZ1aQXQp3I9WZlZJGeEIRbh+/capawYzEyqzG8x6aZBJe+0kZO7tM8412WFnDPBh6ry34Mn5GMsn5vDv7TPONVu5cz1dtmDR9Rir3/g6wMCaw5P3Wr9lH2CNFprsPIiQycfxLV7KSp2eziYZnWDt2I+3Ca4dP/4F8379Rq1Dh770lojRu9/YzKzeyxRk6/79+o1Tx0/QgjMs+43lc9618XKqRdOO7EsvHolv+of/IN78BW+J48eOxZ677ojp6VUlWcqqoCOXulCSnk8//VK8/4/Pxg/+0rNxx9a18fV/5p64Y9v6WDXVif/wM89UO2aHT1yudszmyy6XJCkiI6oS1SPAKD/oaVPkSJI4X61xpSRiL56ajR/8lcPxb37iqbg0Oxeb1q6Or3zrfdHZ9up4YXZPtRu2vjwyfMubPyfe+pY/Xf3XRleuXI0XXnyp+uRkIX/TvzVrVlc6bd64odot8xI+O1XCFAFIt3btmur9spmZ1fHyqTNVcrZu7do4deZcnC6FX1Rjru39TXU6cceuHUWhuXj++cPV+2WbN22q+Hbj2mwslOQS3nzh8Wdn40d+5EfirW99a9VnuX/4tRiS2V2kO0WOfrT41fqyC0xuPuHYr9+odQvFSOYH/ubLIL+eKTfRbir5vps/so7Ko18/fD0xkIx5giDp69dPnRiiwL+tGAI7GNOZLfHpLbDQDmMYOfb2GeeaznBbCuvMrGII+fS/WpLWcfj09uXfYgj81hbfh2Vvn/pauzgDZ2OMrduWcyQ7HejCbzPNylsp8SsfWhLb+Rfet/YavYaunhqgZ5Oi3pnqpcD25HIkJ9v09hnnGl7iAvzgCM9+4zO7CSFbkJW+nbpjZpY7wZnqTg+AnI/z1O2jHhE11uQlTGYuORQQAMFvuYCQ2VjMTCDGdz6sZGaVEAKEzGgM69+vjczAZER8TeB+/Zp1mVk9u+YkFk1OMy5vfOuvsbC172ssmjwGncOFnNo56nICDF2NrWk5ojesZGYVYPiFQEhfjjtsTG8bneuxJq+FqbdPv2s8TQq+yVbj8tXfWLz5NFr9+PTWka/Gmn/BrbfPUtfG8GsYo5U52nzatWtnvO99PxMPPPhgvPe9Pxh7yuO4mZKQNPnRy9c9vHT0eHmMd6XcLa4puxRn44+eOBv/+sefjD987FS8/qFt8e4vOhCrV62Kcxevxrf90OPx07/1Upy7NB9zCxHzZccLHUnYtbysJDLlX6mQiM2VxM0jz7MX5uJ//v7x+Mbv+kQ8f+xiefyZ8ZbX7457HnxlPHZ2b1yYnapozZfkYKE8WkRzc3ns+GVf+sXx2Z/1aKxZM1N2qS7GkRePxeUrs3W+dV2d9evXxv69d1UJ3dmSZF29One9re68sSRtO3dsL7trU3H8xMnqiO6Rslt2/vzFkmQtdLuWxKzkW6Xd+2W74lzZGbt0+VIcPFhwWL266rdqaqocF2P7lk7ZUVsXX/IlX1K9nMyvbzAe7az26/myC8TG09PTIw2cKQkSfxT4+TU6Iw281gnG9Vg+LQ5eaxp60M/N35UrV8In1NAYOqCnEV/x45lnnomN5bEvWqPEzXoO6Gsumhs9pJe8hJH5ZOw4WNMZRnBW6LAks0YH/eFkrLUOvUbzwFO+QE6+IYY4Duw8oIFPwqteZzOXjiGZWa2NMDdWgjGA/MBqshp7M9YDu19vkJh7VO6mUkHneuMIJ/r7MMrRo0fDzemoa6N4zR/JS250RmB3UxdY8+0a65saB1zAmE8Y0+nXh+OZ7ByAA/Xr01tXC4I47ihRHAAAEABJREFUB3Ls7bPUNZ7GAgRvk2epMfrU4Blrsi41predrMaqryer82HFBBOQyGlywWxY/35tmRmeZXtxVVJ2uuxyoduvb12nnYyCmWB8zz33lB2P0QJ4TcPRROd8tQ5wVD+s6IM3+xjLgYf179eW2b3711bTcj6s0FkwgzWdl4u1sWzFXwQYdIfx1cavyVn7SObSwcy4ZuGTZMaTDqPwFQz0hTXfZK8mzUHn+n/o938vHn30kfjmb/7muOvOXSVh2HRTd/wlLB4Hnj59NmZKknH27Lk4d+586bsxtm3bUh1/4UOn4v9672Nx7OVL8de+9J746nfcE2tmVsWHHz8Vf/8/fyJ+7SPlsV/Z9bL7tVAyGHRLHhYlrSkJ12LMzS3GhSvz8SdPn4tv/C+fjA8/caqkOhnr1kzHA/u3xI//1rl43699NH79A78bv/YbvxO//bsfLjtSL8SJE6dK0nWl7MRdLUnafOzftzfe8+VfWo53haTvxMlTcfLlU1VbxRPTiJJAZfUYc++eOwLWdFsoCV5pirhmt85UJ7YX/XaVHTB2ff7wi2X+rKqSq5eOnaz4ollSypKcdV/8X1t22PaVZO/c2TMhRnmMeXVurjy2vBrbNnXi7vtfH4IpOxmLLvvFEj/68msxlm+ivcSQW5oz85YbnVs69amo/ZpvWgwys0+vwVWZGXbjPQKy8HkHCOaDR3RbxBtJHJ3dkK4tuzXdltH/dsrOIazZ1uI3KtZ4KvQVB0bn2O2Z2Y1dxoohMOy2DP+rn/7iJd6Z42GNOp6wqv2F76gfVuCCryO88B/Wv1+buGOstnH8Gs5kpS+5jR+nmE+SMno/99xzMcr7ZTA5c+ZMeDxpfTp48OA4LK/3xdN85M90QPd644ATvggffTdt2lTFgwFdB1azT9+EzAiAMIQJi5FAr7631II4AoEBe/uMew0QhTMxLCV7aagDlkULePr39hn3mux0pgvejv1owAImdf/M8SdYky5DSKwcBSu8m+31OQfRDpPlBrOaVn2EnQkDR8Gyrm8eYY2nAp+2sOYvdbAahDWdYQ0bvDNXhnVmN6hmZqDLlk1d63NBjB3IRU62rtuWc8zM6o6zxppecO2lpY5fK2wzDtYWxbd8wZvizW9+c8yWHR3vV6GPpqNiR+vUmbNx5KWjMb1qOq7Mzsap02eq3bEd27eWhGN1SZq6Gc706umYnlkX/+Gnn4tv+I8fi5Nn5+NvvPO+eM39O+LqfMQHP3Yyvul7Ph1PHL4QV0vyVTZ4ridil0ui9uyxS9XXaHzPzz9bHntmSdAi9mxfEx964ko8c3Km+m+JXvHg/fHKVz4Yjzz6mnjVw6+M6TXr4xOffjJ+9dc+WBKzl6vEan5hPnx9xalywzJftuWqx5KR8WLZ2VJf76iVJ5RUjMyM3XfujF27tseZkmiev3ChSq6qxmt/pjqd2LVze2zZsqnsbF2Kk6dOh8eYkriXjp6okq0ubrBQIuzYbdu6KU6eOBEPPbCv7HJvLklgJ171qlddoxohXvJTfm1O8Z/rjY0T7fxPEmbRylyZX0tS+CkW6PJf571FvSSGXPob19tnnOvMDI8xPSp/7trCiXYvjbmSwPo0sORNErdr167eLmNfw5oO5spSWJvL+reBdWZWT5L4Byxh2k94OrOFfnxCDOvXb9S6zKySbzGBvnwI7d7x6sRq8Zy++vf2Gfe6xg7WsOxnY3zFNTrXfj0un97+7MtfYGcTgl69fVyTy9qYmeHDbPirX27JzBIT11ZfnUVfWNKvl546tsCfjeHU22ec64EJWU2kTsw4HaBrQxAEOIQhyEoBqPnVR4GCMdDFl3PXbc7VacM7c2XBrKZbH4Fq4WQI+tFVG93rCUg2Mqpvq9BFosWpPUN3RBv2FlvBTPvOnTtVt1YyuwGGrelnotfEOSKsYWJy1/VtHeEs8eBLnLrGms7wxwfWJqTztooEC12+hA/boo0/WehNXz6mvq2S2Q2qfAeu+KONL3vDf1ysz507G//0n/7juO++e8sO03NhNwdeaCo1/QsXL1bvYpXspEokqsd2RZ5dJTHx/V36NQsbeOdqU3nUd2D/nvixD56N//QLJ8ru1qb4++95sDyuW1clWt/+40/Ft733iTh+ZrYkeAtx6tzV+N5feD7+2Q8+HrMlc5uenor9u9bGHz99KV44s6osZutL4jcTV2evlv6z1a4UG9ihg4EAfKrs3H3wd/4gPvjbH4o/+PAfx0//7C+VhGlN0W13eDSp/+zV2ZidnYvDL7xUvaAfUsmSlZV/VAw7f/pu3bI5TpZdNfyakWKxKMv/7ii7ZTMzq6vHmBcvXQpfk3Gi7NKdPXu+7MItFFqLpWe3ZHbijjt2xIXy+Pby5Sux0NlWPa4sHW76ZxFUxA/+VNsBpmfLI1DX/C+zKdFNJJZ1wa/FEX6Fd9OvXV++fLl6TDhTHncui8GAQfh6/8fRwkhnXel58uTJkKx5tWL//v3B97W1VcxTdqz1wxNtGJhjzmEivjlvq5inbChe4l1j7ehaPb76tcUTncxuDHFOP3o6p7e4pY59xVX1bZXMLl902ddcxRN9fo0v28LEUX1bxa7TgQMHyjw+GYcOHQrYok13a6UdNGujfurbKvRgQ74j5tATbXrTXx08FPUrLZ1RCTAwwRji3LlzIaiYBOpGpbGcfgBhYEDYjvS9JcBQl9luMGvKV/MVVOmKN2fHFxbNvm2f++qGPXv2hDvKj370o9UW7K5yR+l5eNu8mvQs4vRTV+tc48AhI7S0XzK7E10w51s11gJt28GsV3r2NZn49emyA4M/+6rr7dvmdY214E1feGdmCCgwH4WXYPSLP/+zZSdoV3zXf/rPcXD/3lh97f0jcwQNyQm/PXyk+1I83U6U5GS2JEPby47YlrJDVPfVXyHT+QsXqyTnvnsOxNbSp5Pdr564NBvxXT9/Mv7nH5yNh/ZvjHd+3r7qMebGdZ34Zz/wWPynn302/uZ3fjxefPli2S2Lqs9zx2bjUy9Nha+eiMiSEGwou2VzUT/2831iV67MhmThQuF74cL5mJ5eFXfffTCeL8nW+fMXqkQMLlmm/Jo1q+PuA3vjzjt2hR2yLLKdOXeh7Podj7myTVceNErNSpGiRfX+2cEDe6rE6uWXT5ckq2zvRfkBjkMpmzZtjDtKYtbpTJUE70hMr56JKLxeKLidv3CpPNJcqMajaNh0wXnf3t1xeTbjXe/6svjX/+bbK/mj8dPpdEryuSFgzr6ni3/Nlh1JNp60X+PJhyUGFqvz589Xd/zmVEPE1k/FD4mZ+fSJT3wiPv3pT1d8PQGYpM6ZWWFtXpnD5pRF2/rEVq0r2iAohlgLL5SdWHxrrNU1urV+Si94Wxv5l0J/dXyvdYbXCGZmtVOHB550hjW++F/r1vphamoqPMaU1D///PPx+OOPh2RMojbqe2LLFYpe5o5Yah7TObPrc8ul2W/cyAmZwQK1RYADZma5Oy3RWcOEiwWDwQUZhQzqJsy2Ii+Acjw6k4HzVw0T/oMX43M2/AXW26EzHnTmgIpzdRNWt1rs2DWzu1XM15RJ80UfH3a1gGVmkEP9pAtc2VlgVUbFmryPPfbpuPvggfiL7/7KasfI40byoqk4n59fKLs+J+JESULWr18Xp8uu09nyCG/rls2h/6oS4CQv+ioSjUtlB8XOkO8o23vtu74yMzIzOtfK5SuX41d//9n4rp87Ev/5F47Hu97+WfH2zz4Q85Hxix86Fp1Oxub1q8vuWSc+8PFLsWp6poztVEnUTEmmYF2Xubn5mCtJ1Fx5pOW9NsfT5RHq5bL7dOzoS2XMnoHvY2xYvzbuu2d/rC006UVvO1t29ZzHtZSMXlFk2759S+zbtzv0PV0e23b7xPWf7HRi545t3UTvzJk4duxkoT1TRkZ1Pldk7Y4pqBWi5V+sXbsm9u+7K779X/7L2L9/X3zgA78W80WX60TLiXlsMVm7dm3MlTb2K9UT/1fzkgCSG+YTZ1oY4OPG2Y4YnSWEt0NnOtI5M6OO17eDb1H5esL+/0YMETcku/9vxGs82ZjN4Q+L1kofQnhIeMVN7zA6nilztU/X1qvw5k98i97O1bXJaKSEDNMahM2bN5e71+nqTp5QZ8v2O8HaFKpJy50W3u50AMHhJWXuggS6Zt82zzkYQ0+XO2GZP54CG+efZHIES3eVeD/44IMBb3ecdHNHAAvnkyjwdJcHY2X9+vXVe0/q6D0JnmgKouzJn2AtuLB3LQ//06/tAmt4mtRsiy/+EuBJ+/XlkvjwoxpjeAts5KH3IF3Nhy98y5vjta99bUhE9pSkKTOr7jVOjmdK4vXs8y9U70AsLCxW72OtK8mD96pWr57u9peweBJXrmbLjpkX5TeWx5N3H9hXapr/dFqsdswOPXc4LpfdrA3FN97x1jfFO9725njxwpb44+P74uu+9NVx1/Y1UdjFb3/6clyJdeV8Mci4ceP6smNWdpnmF2OhJIo+TTlfjgsLC+V6vkrI5+fn4oknnqy+nuPeu/fF+nVrm0L0PSeZL4C9tyRm7Hau7KbNlcekXtY/Wx45SpqaiVlmlqTsrriz7Ib59v6zBSd4QVDBpFMSyjvv3FV2BjfHmUJDP/7oKOEjszHodulH9UGILZs3xJe9813xhs94fdndfqFKvsxjscN4x40bN1Zfu8GOXRo4tlvQPVvi8nxJdPm1eeXouq5vl2OXGlx8T5lHlnbEvFd28ODB8Kk5L1rjTbZu73b/iiHo1xg70hnO5tmk+KKLL2zxq9cL2qmHifNJFLopfGrNmjUhltBbDBHTJsETzdmyyyte0xVPcXPdunWVX08Sa3yfeOIJIoS1UUL20EMPRWZWn/Zlg6pxAn+sgbA2j2HtaF6xMbnaYtlZihCACUMAxm72FwA5IeMTjHM221dyboIJZhYpDtekVfPlEByjTUPQ4fTp09UzasmQO9smb/IonN6i2mxbyTm+x44dq56PczZBrElvy5YtlROyh/cx4NNsX8k5WuwHT3bOrJemqJy9rmMPto6WfgQrfNmPH/XD2kSn85UrV1ri2iVjcil0M8G6td2/Jhp5TDR27ta28xd+dBbEBLMmVX7N1/GHNXzq9rm5q/H93/9fq6B76Jmn42B5PKm/dr6jOJ8tidUzh56v7LZmzUxIItj3zjt2lpuoDXII3a4XPCRiLH5feTy5oQTWbiepzmKVKOnz3OEj1YvvmRmf81mvjy9/1zuq7wgzbqFkJZevLsb7Pnwljp2Zi8WpddXuuU8z7rnrjioRk3yx88LiQrmej+pcMlZKGR4vvvhSeQTxZOzZvSuMuy7gtZOuNE3JuufXmsuuXCfuKmP37rkzzpXHc3NlN2v26tV49rkX4ursXNFDz8VyVCKmVq2Ke+7eH96de/nkyzHb/JqM0rX0irXr1hSad1SPgV986Wgl87ZtW+OFI8fCo9WFknnCvVuiwlzCe+rkybj77hs4URsAABAASURBVLvj3e/+i9UNTW2nuPbD7jMzMyF2tR1D+DSf5b+98dq1+tmyoJpT5L4m0ooPdPnUpz4VkrD777+/wqImyp/VsbkFFe+6baVHOpgrjuJ1Zt5EEtbitTWM3jc1rvCCHuwHU/O5SU4sVa8d72bbSs/pIYaIW+Jjkx5fE0MyM+AC82b7Ss4XylzFFw+6TZUd9ppeZla+Dmu+QMa6baVHtpXQe4faC/t4N2m6lvi7GfDiv/7N9pWc1/EaznypSYv+fA4edG6D78CEjCAMShCLVlOQ3vN6onM8AaG3fZxrRpcQcSTKDhsLCM6nL1lXCgjZ6bClJD+cfRDvzAx86c0Q+A/qO0o9nna/bPG7s8y8Oag0aezatSu8X+bZuRf9m23jnsMabo6cGp6DaAgw7AFjAd9xUN9R6tEQrPCF46AxmVklIZyfrCud6Majw769E6xXhrpPHXh728e5hlczmA3Dmq6wNgf516c/9YlYv259fPM3fUs8cN/d1a5XzRtd544SsTNlx2fb9q3x0tHjcfHipdhezm9KcK65lv5nz5yPC6XPvSUx2blzWyFTpz3ltPzT52R53Pnsc0fC40Qv9n/Vu78sfHpTwjNXHr95D+z4iZfjR//7+0qScqk8QjwQW8ou+n33HKwWZd/v9eRTz8aTTx2q5OFrdsgWJDMlwF8ujyaffOrp2LFtcxzcv6dw7SZatST1sWoY4c+6sqt2/31lV6bsgJ0uj2h9P9m5CxfjhRdeLMlYTeAG1Q0b1pdHjXtischy7NiJIFdcw0hvidm2bVtid9kxWywyP/3Ms9fwz4A3f4ITqR0llzPlEerBA3vjwx/6vbBA/cAP/N9I3VTYn+9byPnFQuF/U4cxL8iBDn5i07Dh+vBtviXmDeu7VNvlstP7sY99rEqIfdo0swFez2DvxlpQL168WL0Xu9K4KYa4UTNXxKcedtcvM7N6vywzy+Pqs9XO5fXGZZzgWWMNy2EkrJ9KLeuwvku18RGxS4LLdzIHY60PXPgF3kvRXqqdvmyNL9qD+mdmufHbVPlDvY4P6jtKve8Tk8QfPHiw7Gz37tzfoGA+WRf1s0Nr3I3W8c9gTefMrj6Zw7E25+BjTo3P7caIWxIyk4TRBRcGvdF16TOJm8WVIhxh6RE395CYUEpChM7NrYOvBDWymujK4J79W+qFz+SiQ/9et9ZmZpWY1Zgx4q29BteY2F585eB2xTjV4N43WizYPlFiF823/S/HCYzBH27wu0F9+Jm+Ehk4s9fA3gMa8OQfaAhUA7rdUg0jsmZ2gyr/vKXTkAq24dewq+kM6X69KTOrOz/8yU3+640jnsCaXwtm+I84LI6+dCRe85qH49HXvS4s8M3Eiv7dElXydfT4idi5c3t5xHYuJBZbNm+KO3Ztj+myE9TL73JJgrzcbkdpX9lR6m2XVFwpjyWffPq58sh8Q/jOLn2yMx3v/bGfjh/80Z+KH752/LGf/PnwKUe7TR6FTk+vDgnJ1bKj91QZ31m9P+7a85qyIO6MmbUHw6cdFwqDubKD9ezzhyNzMe6794CHp9cLXistGzau79ItSdTVq7Px4P13x5EXj5Zdg3NR2F8jv3jtGLF166Y4cGBPnD5zpiza567XO5GUdTqdCl8Ynz93Ll586Vhs3rSxLDyr4kjZMVsofNjj5sRspuzC7Ytv/IZviM3FHh/+g99F7qaC7qZNm0rCe7XwPVtkuyHTTR0HXNSxB53NmzcP6HVrtf74zsz4wt1z1e7frb0G19DVwmdOPPzww2E+D+59c4sbzwMHDlRPA7ycfXPr0leXSxKIr1gtsVx6RLeHpI3OCyX5NSfp0G0Z7a9xYsjq1aurpCMzRxqYmcX/N0QdQ66WnduRBjY60VfsYWO2azQNPbWmsY14vZzkG9awknCMG6+t43Q1fqiQfRrx9eoO2SXxo8bNzAxro3Ef//jHy03gxT7UB1fxCQms/IWvsNng3je3wBpOxpP/5talr9jnekJGEAssQRid0y1N4tYenIUimVltyQsYt/a6uYajUYLBlZtbR79iBBMULTSXGkk2E4zMgFyq/6B2WMEMdjAc1K+uh7Ws/3R5NPrKV76y+hRW3TbOkbNwPoHC44JRdOYoJrdgxoHG4Vf3zcwqALMVrE26um3QkYywroNi5mjBrJee8WzFefHube93TV8ystGoE7uXDqz5tfHo0ae3T+91LeO4WM+Wx7Pvec+74777H4zpqU4c2Le3JC5dvPiOgpevhjj03POxZu2auHx5NiQcMzOr487yeHLt2hldbip2ubwDtW7t2pIo7K8WiJs6lAtz4ulnnosr5RHeXp8iLHQ7JRlhrkceeXV8+Ze/K971ri+NL/rCN8ebP/+z441veG2wiXHoz83PlV2mhZKwnIn7H/yi2LRxV2zdfiD2HXxDnD59JNau3x4XLpUkpjyi3FwSkbVF9hsJUhGgxX/kvtP3ke3cEY8/+WzBZVds27ql2tm6XJLSLqsbCVBmxt49u2N7eSx5/PjJuHjhcrdL46+kc/fuO6p3xk6dPlN23o6E5O9E2SU8em2HravPYkmuorLbzrL76KtFPv/zvyBe97pH4ujRF6P3Z2ZmplrkL5dkg9/EEj98gB/OlV1Kfs0/lxjStxlG5hP7oTeKX/v0t0dDdiPs2Gd2fbMvgwGV5BW76ptKvAd0vV5NRjGkxup6w5gn4rU5KUkZJV4jj28dQzLH1xcNsUMMcS5JYUPnwwpfEOfYaG2Zt8P6DmrLzOqmEm74WqcG9a3r6com5jbemcvT2XoM61qPmv6gI3+2NpoHNilG1bmXnnF2bOlh06K3vd81f1DqPKJfn1Hq6Au32meWGkNGWPPLKiEDFse0wFJkKQKjtBOIYABGu5/zaSOIyalv5vKM3pRHgEGL83M+PJrtzslSt5kg+qpfaeF88KMvTHvp4es5tztLjya9b5G5Mp0zs9x9bw4vN9LJo8xevq57g1nmyviimZkBa+ecDw/nvYWN2cHCwT697eNeZ3YDjIkjWA0KMCYXOwgogtG4fPr156voSX7x7teHPHQ2weCTORrWxn3Pd39XbN+xPX7rg78Z9xzcV3ZgqilaseE/TmD59KHnYtX0VJDHjpiF9I7ymM7OWGaWbko5lH/GeU9MooCmF+xL9U3/FsoOj52ul0+djf3l0eFUJ8uuyUKs37AhJBrz8wvVLg4ZfZ+X5Mt3gM3OXi2PgK6Gx5Dsv1B2HxYKLWmOTy3iferl5+LY0cdj/8HPiL37Xl/uWk+XXbNXx/kLV0Lyd+ZMc9fqJrFauZia6sS+fbtjruxMPFUeOT70wD2xds3aamePfHBpMhK7DuzfW7DtVB+GgHezPTNDUntXSczYAP4+pCDBPFwejfo+tS5dSZkSVWImwT154kQcOHB3fN3XfW3Mzt76XqT4wVfNZT4WfX74tcIP9e3TZewqvore7LX3y/oR4O8Wy127doX41SmJer9+49TBWmK2UPzmscceq14M7x0PS/OJf4khmTd8u7fvqNeZWd1Uwpte9O43ViyHtXWiLazpLC6ITej348v2fABPfTNXrjN7sbEjPGHey1udNvV0nmq8J6ZuOSUzA87yCzrRrR+d5557LqyP/GHLli3VnOnXb9S6zO7a6H3OF198sXpM3m8s29PZ+m1NyVw51nDjq/jRmQ87bxZ1+Kqrse7obDK2ZXTE65KZ1e4PY3BqDqiN0U0Cx1oQ9W0WCxWd8KAj5RUykEUbZ89cOfhNuTk7o5p0+Mp+tZt43hPbvn17taXKYOrbKpkZHgX4b5g4dv1+GZ0ZHQ4cJLNdfclPV7QFTHqqU5zDWxDgY+raLJlZJYQwbyaEJjzs2ZfvZbarc2Y3wLAzP8aPXjDGNzOr3Y5xbPz+9/9K8Yu741u/9Z/G7rLDtb56uR7VKDstFvVu8d7SqTNnQ8A6evREWdRnw1c17Cq7MHDojrjx93Tp67u6fEGqr7rIrLGQMikRx0+cKrtrx6pHk9658rhy1eo1ZYf7fDxTEpi1a9ZUwVFSRkffnD9f7YTNV7thkpGF8sBRm/es+BwumasqQc6WnbGzp1+MUyefK7tpa+L+h74gVs+sL3otxN69j8ax8rj10LPPl8Ruvuo/qT9r162Jgwf2VY8tXyiPL+85uD9OnT4bvmtsoSSRXb5dTJxv2bI5fNfYXNktJCP91dcF3tu3b4vdd95R7HC1YHg0Vk0VnQvGh559oegzV3REr1skfmvWrI79JTl8/6/+Snjnxf832pvwoWvO8B/+ND/fxUUs4W9tLhy1Lo6ZGWgr+NilUM+/JUvset9995VEteiooaWSmbFly5a4//77Q8xoPsZ0TQ54TCKGwNpakJnVI+PaFnjCXvyQSGRmS9p2yWRmtWuFPj74aVkoial4zfZ0Jp/6Nou1EW12ZeeatnN12sT0ur6tI13Qphsd6Yq2r0WxNlq7fM+YfurbKvihvX///iopO378eEWaP5MDP3mIY9XQ4h848i+4sjOeyA/CulMDpNOkCkUtXoQ7duxY5fiuJzHBmjpkZuABEMAzhEUa78x2J1iTr3NOjy9D/NEf/VG1u+BZOAy0T6rQl+Nt27YtfKksvNl40nzpg7cA4zuIjh49Wt0Vuc6cPNYSQsHUnRB/o7OJSK5JlcxuQoiPxzgmHJuPg/VLLx2JN7zhdfHn//yfj5np6fJIbXPfXbHj1x6J7Sy7YHZgTpw4WZLR9XHHrp0lyVkVfoo4JXFyFuFlfWN27dwe+8pjODJ2W/yVIETZqboUzx1+MeyYefl/tux2rVq1OuZLcvJ8eRSa2SmPHDdEp+yWGSWAdsti1ImX6yrIlDGOpaVK0q5cuVR8/mIZOx3rNuyIPXsfKfP+xZK2zUcW9pu37IlXvOrtceXKxcJ/Z+zY+UD1KPGFF14q40uHmMwPjNatXxvbt26OTz32ZNx5x67widUjLx6LU6fOhKSppMBR//Al2Pg/QU+VR5R28+q2KG6d5c+qVVPFDjtia0ngLly8WO2q7Sp2mb1ytdzxH6/0qek6ZmaZGzPhazK+7mu/Nh544P74vd/9retk65NmDOFf6vkXmZxPqqCPD5/xjuvp06dDImZOZeak2BZf6YSbSk8OLNB248QPJXNyfCk0XeYe/SS9YhfsXcNC+6QK+vjAWuySgLrGf1I80c3kg2urpFBCZJ2QeN4OrOkmAeJXH/nIR6qbgNuxNrKxnV06/vEf/3G5MTtTYs/G1m8w4NssmVnpuH79+ur/5IQ3rN34ZN7s1x07GAJpk8AkziUm7gK2lx0igMgQLaCT4NWkOT8/H3gBAG/6zpZt+WafSZxbqOxU2Y179atfHRJBvCfBq5cmnPF/5bX30wS324W1gGKyCazOR8G6V/5xr/mvZIjOu8rjFLriPS6d5fSnH7zvvPPOKrjhS56laHlP7O/8nb8VDz30ini5PMbaXRIDC3s9Do3FxYU4e+5cSZqOVF+9cOkw3k0EAAAQAElEQVTylThy5KXq/I6SmG1Yv67ufv1od+vY8ZOxft3aOLh/X6yZmbneFiUdUmZL4vXs80fiyuxc3FF248yRzCw+uiaOlK1982Xz5k0xVRIxqZEkoktksSQsykIslIqFa0kYslW/cvJS2bW7MHUp3vieh+PM1T+JIy/8SXkEezCmyoJ3197XFPYZiyUjW1iYi8yMXbtfEXv2vS5mr14pu4q7Y+36O+Opp5+N02XnqrBo9d9iUWSh7EA8V3Q/c+58SWSn4+rcQvjvkh68/54SnNfH86XtwoVLhe81jRzK1eqZ1WW37M6SdG0KjyjPn79Qam/+t65gvrckvxs3bogjR16MEy+fqnziTEnkTp06XWEXAT8lqgREstfJhXjr294e73znn4vTp05dJ0pe/mQBu7P419XyyPV2xZAXXnghJAgSMbtX4hjsrgs3oRNz11ph4dy3b194vcPN9ITYXScL6/Pnz1c+KXbNljWCztc7TPBE/KCzRNQ6cbv4wprOmzdvjq1bt1brJDkmqGpFmh9LtmHu+xRV3i6/hnWn0wlrsrj37LPPlhvHq0SYaKGzuQxr6yMbw7+Xaceuho4E7W1s4xpTiyUQ6rsuTudcG8EYpg1eTRpo0gsPvGTHU+V5+PqSperHEYHkvO0ikAlou3fvLo+BdlUZuCSU3vSdlNPTlV50pbNALph6FHCiLPrPP/9826pW9ARqNhbE8IWz4lwHAZXzO2+7wBKm7ApjfB0VWGhvmyd6Ndb40ZN/w50c5hLf44P69pbv+DffHnffc3f85E/8RNxRdrBWr54uXaz83bJYEjFY2r2am5svu7zTcazsiMF5Z+m/pezE4FsGXfuX1S6Mr6jQ5+4De8rO1vqy4Oe1dofFqs+LLx2PM2fPl8dsu0qytjrYZWbN2nj51Omym3O0ejdKTCjZg38lfyCT8VGNLzlNVb9YEpsoyYWWxXL0dRsnL5+OR/7Cq+LRdz4cG3ZsiFe/48G47y2b4qVTvxeXL52J6VVrIogkkSvj6bm4WPQrjy/37H1t7LrzobhU+u3ceV+R8XI8/czz5bHprYlPjPlD5oXC89ixk0H/zZs2Vnoi8/zzhwsGi+Edu05nKh584N6CW6ckI8fKI8f50qVoVwiUf5GZsWbNTHgfzdw6duxESWpnS58b/zKzSux27y7zfqoTx8rj2EtXZosNV8fhF46Wu/LzFX6wQ1OZKnHpzjt2xB9++A+qd7O+8Ru/IdxFW6TWlUfX7NEpi0h9zrcm5dd2LbwELW7YaRezlA0bNpTdzCthrt3Qtr2zheIP5uvc3FzZ+d1QxUw7CN7/UeemchI6LxYDmK+wpiOe7AFr57A2F9vT9AYl64+4OV1uVvBmY7YWu+CM943e7Z3BGl/HTZvKjVfxPzI4JwO+2trjeIPSkSNHwg7kgQMHwgZJjTX+ZJqEjXFnQ/RXr15d3SThi7/XBk6ePFluoI6UeXkj1hnTRuFf+GaKCxsrvxY72BvGvVh3CKZRJ42cvy1BTDBM0Qd4k26m4LYmTHbOZ0I021dyjpbCsdHPtArcoMjpLZxkIyPQbrQu/+zs2bNx6NChEMzc3eHTpAZrEz0zq7sRE7LZvtzzWg+2oxc+TVommTvsXWX3yLtlkrNm+0rO4Syg4QvvzBtYZ2a1EG3cuLG6C+FfbWFNV7ajK950bOrhWn1mlkX9XFlc55rNyz6vsXbk1/g3iWVmeRy1tir8uhlgfuu3/lc88shr49u//dtj3ZrVsXnThrLIG90NBLCRIEkaTpUdorVr15XE5HyR/0IJXlvijrIrNt3nayxOlR2Yc2XHZnf1icLtUcuEarcsloTu5ZKMHIutWzaXhGFDhcd02T07d/5i2RV6IaY6nSLzmsiyK1byK/8IVh1nr85WwYp8iyVZpPtiWcgWSin/qkd0+994V3zGl782Nu5cH36yE9FZ1YnNd22OR7/sFbH94SvxzLO/FRfOnwg7ZPoYu1joLS7MV/TXrd8a99z7p2PNus0xNbW63Mw8VBKaU+Ex5lxJTGPMny79xepR5OHyKHS6JL6bN22MTmeqJH6XSoK5UOn8ctmVkpDOXp0PxzUzq2Pfvrsq3NliEaGAZFeATqcTviZj754742rZbTxeJcvX2rPbRzzd7r9hunNXWAyOluRtaqpTAvJUScxeLHXlrhzdUgoEJT/LWLd2TezYviV+5IffG294w+vD+2WdwisaP1NTU8Gv1fP/uZLANJqXfcpX7UahZ3cKjyaxzCxYrb0er5t+3ew37jlsxRD08JQEZV4DsRCjr9cvvOht4RS/SnUr/9hFTLI2rSuJb+YNvhjAWL1zsd3cdL7Sgg7b0V1spGOTZs1XPCUfOZvtKzln5xrr3vUJXVjgqw/eZFS/0sJ2PplrJ857Yr28zRdY0B02MFopT+MXSqIvIUIX/V6s6WtttHPF/73WZFwbhR7WRusE/XppwgDW7MsusO7UnQzgfIBAiCJ127hHxAmCHqaZNzt6kx6ATETA4CsgNNvHOacYJ8ITb0YYND4zq+ACEAFBGdR3qXpjORsndleJ5rAx5KMzjOnMEMP6D2ozDu8a695g1jtOcmoykI/zedert8+o17AmO7uNgjXZ8CUrmUfl09uv6Z+DHL0ek5kBa/34Fd+Aed0+zhHWvX49bDzfY2PHJ594LN72trfGO97+JXH29MuxdcumknB0rg8va3KVHLx86kx45FfhdOVKSSTKI6+ySN9ZEi16XB9w7eRyeYR54uTLsX3rlvCN+PpIC5SyIVT1unjxUpXQrFu7Nnbs2B4LZfWfmloV8wsRhw+/EIslGdpUHrFNrZoq/cvI8q9kB+U8ys7RfJwvj/YKjCVxzKpogEUQuvR9rtDY9sqtsf+RvdGZ6sRizVjHa8X4nfduj/v+9J3x9JO/XchnSW/K4NKAVtmDKuPmYqEEz+xMxZat++PeBz4/rly9GJs33xkza3aGl+RffPFY9WnOa2QHHirRyp8rly+HRGyx6AxzySz/kYDNzc+XnZj1lU78d6Ykp8fLbtZcASY7q0oydjF2776zwvX48VNxuvokaJG0iF0znpqaKphurT5UcbokxWfPniu6RWTE9bJ6elXsLkkZ/hcuXCwJ5sm4q+ycny/nvjtuvvCrBkGk0M7MqD4pW3YO/9bf/FvxaEngP/Sh34veH/OOf80XPS5cuBCLRd+qz5h/jLdrcebMmThQdi127NgRnZ4ksEmSzvDSx/xfyU2leHnx4sVqjvL5TMg1ud04x/euu+4qeO8oNxDPVzsaN1rHO6Mz2Y0SG9B23q9kZiWfxZyu5O3Xb5Q6NmIrsROG5uuwcTBmY30kFWKY8+UUWOPNz2GN9iA62vRRxGpjB/Vdqv5ymYPWRnztdqI5bEzt1zAiL8yG9R/UZhwbk52N5TeD+qqHsxsRcj711FOBt/rlFDqzF12VzMF+DWtrI758q9NkmJlVkkI4ijBGs32p8xpExAmC2VJj6naAAa6eLIJz3bbUkaMCnxHIPmyC9dLSt54caJh0vX0GXZPx8OHD4fGCHbGdO3cODWZNOpldrPGGs9JsX+qcfRjQpEZjHKxh5DuEyG+ysNtS/Op29uGsmVkWtA3BbnXbUkcy8guTDo1x+LItfY2hL72X4le3Z2Z51LSmusOH23KwJi+/xpseNe1hx0uXLsY/+kffEp/5WX8qPvmJj5WFeGcJ7tPXh1hD6XW+LKheKo+yjM+VBfZYSQxWlcXejtiGDesi8+YJzd/tyszMTIdvz1+3fm3UP12aUe2AHTlyNC6XxM4L5rXMnVXTJek7FqdPn44N5fH9dLkuaUaVE5R8oCLDLy6UhAFWG0qytro8Uqkayh/0y6GkDxGPH3oqHnjbPXH3Z+yLqempqk6bk5IDxeL8YszPzsepF87En/zCJ+PZPz4cG8qjzMWSbOjXPXZ184lM14slQVyYvxpTnenYu/eR8hjzlXF17kps3bovplZtjkPPHS6yny0JCAo3F7LB0xymuwRXsjk9vbrqf/bchbhUFgj6zF3bcdNfgc/GouvFksAefuGF6ExNxfmCwdXS78D+u6rdq5fK417BVv8mZ48xPaLcsGF9wfZ4eax3+Voz3bplfcF63967yqPkDeVR7KE4X3Y0BWLJoce9C1UiWyxRlCj/qnm1Y/vWOH3qZHzxF39xfOVXvjuOHXvpGt3uIbMbQ8ypS5cuBdm6LaP9tVPuNQY7ULtLkjhVdB5tZMR08Qk6LZQk+kLx315MhtGZK7t658+fD5ijMQ5fmIm1G8uuu9glkRzGq9lGRrLyD3xXr17dbB56nplVDBEDLpYkEt5DB/Q0so1x5Gcvuvd0GXhJzg3lkTGs0aDHwM49DTXWMKazY0+XgZdkrOMde8FtYOeeBnwPHTpU5urpkOiTv6fLwMvMrGI1nOAsDg3s3Kehxtp4JdMc7NOxpyozY1N5hEteCZX3y6w3Pd0GXuoLJxjzT8eBnXsa9GWfTk99dZnZBcSk48AUrBoG/AG+fpoRRdz5cgqHR4NyjDGMBsfkoPgbY+yw/sPayMxpOD1jzJeFcVh/z8G9tF8/hx4nMWnSrZ3epGPMpZyeXLA2js7kbtIb9dx4snO+Y8eOVXecaA8aX2PNLiYp3xjUd6l6WKGBJl2W4mtC6rdmzZpqopJ9KR792o0zQcmO3j/+x/84/tyf+9L4uq//2vgzf/ZL4pd/+ZdvGkYuNjHO9+O8613vire86XNu6jPo4jv//b+Nhx58MH7oB38gdmzbHOvX3UiajLHo0utwSZoulZ0uvus9pvmSAOwoj7q2lF20VdWuld7dwjdPlZ0YSdaBfXuqR4+ZN4INmvqcOPFySEZ27txW+K6rdp5Wr54pjz/PxdGXjpaFZXVJMNaWRC9K7rToz/XjxUuX43xJRNaVnbn1JRnseIQZXR7sVXUu4vzJJz8e63atjbUb14RdscWyMCsLJbGYm52Lwx97MT78U38SH/6Zj8YLnzoaF09fik13boqZ9dOFWkbmVKFSqJXkjNzlLBZLFlekiSg6zS3MFpkiVs+sL8nJTEmkzpaE43zR+c44dfpi2TE7HP5bJmNvlP+Ht/MAkOyqzvR/36vUOYfJQVlCASFEkoSEBCInkaPBGHBcZ69tMjZ47d21DQZ7F3sdsAFjbILJOYPIQiiHyalzTlVdtf93q2umptU90zPT4+q69d6799xzzj03nP+d+6q6HLdPiTI2NTXGG4YQEkf6ShpzBKi9rUX9vT0xYpXPZUVEq+LK9Snv7UoWU6LHAJaitzHZ1s3ZeZ9zznYV+QmMgWHNz1u/qKziK/gTm23xNqZhlcHTsOYMhp199B2Cb2JamqL8jMEP/cQ3WhlfB90vtfZUbVGthtzuzg597Stf8Xb3w/WWt7zJsuerhUuf1G/0lhvzivHKHF0qWvEADWAm76ggN2aAhBUJT5IZQhA8kM1afTI/UfYYmTZ4q63XzMOTiFi1mD5inuQrzAAAEABJREFU7aKtOM4TrZv0L7rhK5j/tDcEemxV9qsWsN7SXnSnLchfldgFtBV70zdNBuXUd/Ypv0MIYixgb2xNW2jXaoxqtmYNQy7yV6M9WT5thQfykAvv1epAw1qJTwHksx3I+FyN/kT51MPWHLHhifoYPvQFdNgYfTmSf6oJW6E3+uPnT7aNiT0YC7QdDIG9TlVmjT6pnax0RLFaw2gog6ueDgXoIDodwzFg6stP9zyEYKdRiHdhNJTJtJxXbVAyQM9kgi3nCz+MSucjY3k5+oD8mdgsZhyX05zONYMHuXTuSrYmH1ujF7Y+k06v14/BzjYmd8kATBwR/Vqj4Rz7Ixs7094QTm8xq/HkGEI4upgDTLA1baSslhhv2BsdsQ3HWtmZHNmufepTn6yWhrJ+/mXP1Ctf+ly99e1vVJKT7rv3zghgkIutSa9//ev1nGc9TT/76U/05a99Wy984QtXFf+9W7+ra6+7Rm9729uUz6XqaG9TCMfsZf9vgFCOP7Y66m2wgp0ijnh8YkJsVfX2dnnhzT6E/+TElEHFZNwe6+9zJDZNjqOBLzwOHR4waGmy3NYoJ2vgMeOoEFGfih1ii6M4iUFKdPpwiKCiEp9pmnLUJpvNeJuwRYxHtI6JD9MyFkg+NXiSxg5N6sv/51u691u7ND+9oD0/2q8fffx2/eRTP9Po4XEDqopmx+Y0um9MAE1+PLbNoKxcLnnrccEqVGybxLzKWlych208jydEysrFeD07PaxScUpzcxPeShhTU1OHunvOsw1HdMhAplgsent33NuTRxSSJLYd/dF10pGYRd9cbdm0wSC0oCmDTX53bGGhqMS0jO0ozx/Qk6yY+MYkawHR7wlv2wKcRkbG1eHt4c3mNWlbDXu7eNFRQDfUtatv5Ha6z4mYzTjaBshePq7pky6D7p6ervgs25GBITUUClH3gaEhRwRLbndlKck2CgaXTWpuLOiv3/tePfrRj9JHPvJvWv5ivWae0IYptxu71NNwDRCjzdu8PQmoqS8/3fMQgu3VGNdr5C4sLBzHCn2Y38hl7WIdCWFpUB1HeWoX9B+7EkTMcJwAAfq6ngttnjYIxDb4MurUl5/uOfxoC22D/3K5XNfy6RPoT1dWfT3GF3LxtTOO1K1ma9ZU1mrGcAhnbusQgtelnOBHPyKbttfrNjw8LMAxdmZ7Gdr68tM9zzoaiw2Rh9zl86lma8qhg/50ZdXXw8aMLcYrPn9sbKy+OM5PxjWpZuvjCE7jIllLHRqIkRncTDgajhIMOJTF8CGceacv14VBjFwGIXKRT+K8vmx5vTO9DiFEQEiHMAAYgMglvE+bWcxaHdo8Uzkr1ceWtBkwgo0ZfMgn0enYO4T1tzV82eOnbxl8RAmZ7LS3Zuv1Wszq2x1CdTHH1rSXhaQ2wbABtmD81dc5k3O+AfuCFzxP73jTr+mZT3uKevo2aGZ8RId33aPGXND47JRu/f63tNfbcR/60If0pCc+Qbff9n0padBVVz/eYKBpRfHDQwN69ateqSfceKP2790TgVO9vQBM2HaEbzMODCpfyDvaUnS0Z1w5g6Denm47tcJDeM/OzseoT6O3Jbdu2aCC6y0ngmb//oPKpBn1OQKEHIBJxbblgfh5R71aW1rsMDNeRKhtZ8/BCVtPGOxRp7W1Wflc1rl+B5I/zGN+HmDkOm6E3+ZRcaEicM3mM5oandVtn7lTC44ebbpig7ZcuVmH7xrQyJ7qAta+pV2F5rza+lti3WpteLP8BAMOSUFLL5daiD9NK6dFFRqybluq9vY2y5zX5OSgBo7cZ+DZo0y2Q3v2HtCco1Edjirmc0bV5sQ4mjQoIbrU5QgTka2DBqvjPOflcuQBTllbiJQx1skmWbzlViJgq4GWI0cGDRrLsY1EEbds2mhw1iG2l4/ypPJSIgK2wcAZkD02NmGdp5ZKhGjxyudz6u/vU1tri8bGJzwWDDYbm+I5W9L0jS0QdUGnEILgNz42ol94zWv0pJufqDvu+Bmsjkv5fD6OU+YPcwo+jHtAyzYDsZM9J3Ycs1O4wJY4RMYSazRrJok1hDkMkAjhaEefAucTkzLPuKnkwezaIyS0Hbmsn+jEGnZiLqdeGkIQtqZdjB9sjTyOtJv1mvJT53zyGrQHudiadtLHjHn8FbZGNnY5OadTo6CPkZvzPENWrd0AMTgRpKjNGa7XMyGz4BuXWjtpM7bmGp3Olq1pD/OGtoABkEm7aT86NTnyuV62ThCylhRCEJ2MAoTwGHgM9PVS5EQ61AbYuLcdJhxJQA/yTlRnPcoYfHQyWxe7vR/e29srUgjrv6jU6xtCEAMvhGBn7DtmRwBocwhnVy46dHZ2isWNyACLG+1n8lN2NhO2ZlIBPJGNzJoN1lPuU5/6VL3nf7/dgKlLaSiqu6NZm7dsV3NLq0YO7dPgnvv03e98Ry988Uv0v/7snZqemdPOcx+uF7/k1br0siv1y7/6u6p/zcxM63/8yTu1fcdOfeHzn9fmjX3K10CNCXGkLJozjpYcslNX7MMgfjKBOdTrKEm7gUQStwZdYeld8tbl4NBoJN++bXN02ktFRw+lUkkHvOUJ7/7+3hjVKnvbLzEwYztseGjYjrlBeTt+OYyDLlSOYMdbi9PTswYyC2ppbfbcLigKk8QoIwFi+BFafqdLftGOWvKl6TxO2xo09MCQmnua1drXIotRuVRW7/ndOv+Gc3Thjeeoe2enQYU0fmhCMyMzrhpMVnHeouk5lhVCKoVEx78ok5qbm9Xb1yvWmra2VuuaNzgqKkmzSlyvp+cchdCgOW/9lmy3MYMbaDdt6BN2HRgc1mGD4GO8g+vRQom+anP7WdxpK8dqG+VXxQCwbCCbNfhrdnRtSgAzm04TjpAFs9jhvikYAB04dMRbiQuuc/ybbUwe6s95TBwyDToepXBHJGbSakC2cWO/mAOHHfGDBuA95ggq0Tn0saFsL3+6TjaTEePm3rvv0rXXXKtf//Vfs16HjrLlJIRgOzUYCE6KX9lnvWReYxfKz2bK2x7MXdZqwALzmvl8NmXCmzVy69atMerIT3eUPD/QhbKzmUKo2pr5TJSI/qL9Z9vWIQTRvpzBETsbc46EY4N1svUJTYYM5B44cED4ib6+PvEIzAkrrUMhNqWNIQThJ2DJ+ArBk5GLs5RC8M1Qe7t6enpEmwFm2J45u54ik7UyY6FicjHYACUowzV3AmvlcTp0yAORgoK5swMwcM7go+x0eK61DoMcINbR0RF/qRp53Plhi7XyOB06+COHwYetGXAzDk//V9gaOSxkLGws4NxVc3fNYnM6bVlrHfoU2Thf+pl6XK+n3De/+c266fqrNbdQ0qIdeCFfUMXbWblMSRVvo/3nZ7+q573oNfrXD3xQjYWcNm29QC9/5S/pkkuvUKlUtHM2gEAxJ8bCJz7xcWGj//m//kwbN/RG8OOio28A0Ly3b3imadIOHKc4MjIWgUNXV7t4aDuzwnNi43bEU95a27yJRa7jKL/aSdlbj8PDoxoYHDGPzih30Xk5O0K2Pw87EpTLZpzfqOA/6tmPc4hAaM7ABX0aCnm1NDdGIBBiqT+88JStOPIBKElI4oPoIQSDoEXxb5OQb0qdd+25qhh89ezsllyH/IrRCrbpPa9bDW0FzU8XNbJrVAszCyrO2u5L3yoM5ksdmS+8YjKPIC9Jztu/58caHzsoRcUqAli1t7cZZBQcWVxQCF6Qh/eos3uncoUWb/MtaKGU1bjBWG93lwBuRCOJijGfQghqaWrURkek6Cv6gvYhIISgxoYGt7PJW6IzmjF4pg1WR26Y1Sw7VRzBbFRLS7NvkobtDMZsyxABe6PvkM8/9xyxNXzYoBsg64rHvVsdody6ZZMW5he81TrkLdiSFNum+AKYdXa0q89RtRCCBodGzL8i+gIgP22d0IVU1UvK2xF3exx9+F//VRdeeLH+6q/e5bFV/ULBtLfp2J7EYfAD0e3t7W7btMex5UaJZ+cDu814rWINYa1ucbtZv+cMFig7O1KrXJGBbJ794ZffWVMAC0QzqhRn55O2Ym/GFA4bsML12V6vGde0F/mAIdZObEC7z6atmeeAIfzCpk2b4r+8wrL0M2Wcn61EW7EtNsbWjG+uz7ataRe2pl38WPKWLVt0+PBhAcDJW6/k1e/ErOhYDM2gJjQHEKMGBuGacgyCochfz4RMeCMTUALvELx4Lj3AioGgIX89E3y5w6Kz+f0b2hlCiFErzhnwDHzavp5y4Ud7aRNyuAOBP3rQfgYF5WfD1rSJdmPr2h0I8gEcLOYsbOOOUKLPeibaQptCCAYQTVVw4HP04C4TOzP+sM2Zyv3Xf/2Qtm/bpCOHD+jee+7UviNjyhSade+9u3TzM16mf/7AR+zYS5qZD3rSU16o6667ScWFoioGOyEE0S8f+48PadZRsZtuulEve+lL1dvdEX92os63RjUXDTx4fmh0bDxGWHCoY966amlpUl9vlwoGT6p74WSnDMJGRsfV1dkufsaCOVZHEk+nDOz27z+svMEk/8Oy7IgYQKxkYLR37z47+mIEFiHx1I4orGLH7qo+R39ACEC/3VG5TA0MItwkwQhh1luko9ahYmDV6sgNfOYMIlwcAVnZ7WIcAgx+9tk7VJwvafPlmxVZWAZ0CDxy96Du/tL9uvuL92nswDjkMnvNjs+ZtqxaRqW8qBBSjY7s095d39PcPFt7QS1t/Tq4/6cqLxZNa2oL8Ds+xxJCiHl8zMyOqbNru7cPt6ipuUdyGSD4wMHDKrsNbONmshkRLeNbkLMGBof4tqRBadkMQ4AXiapBbW5zPpeNkSXGHTxMJmtgfugtAfaIYB20DPq15KjcqOfGRkfktm3dpDFH8Y/fxqwaBrv3GCxu2tDv7clxTRh4x95BPMlScgZZ0HR1dliHaYO/kQgES472DA6PqOp4XKvK0s0NamluUk9Xu974xjeK3y/72Mc+GsHXjh07hKM2WzGWWFPgM22wtugbEfLXMzFXZwzGmLekEILSNI3zGvmUVfXXur7gSZtqsrAziZtZ0mE7ziNHjsTxu56CsWGtTazP9B38OXJNOXpxJH+9EmvhvLfosTd2rq3XtB+5HGt6rZfMGp+pqan4nBjgk5t22koZenDOnEEvdCR/vVLZazC2ZPwyjpEPb2RyjY1pM0fy1zPRHtpV80nwRi5gFFsTtFkv3+hVG/YrJzodI6AInb4SFYoxCFjsURrDrUR3KnkYnWeYmFSgfo7L6zPB6Qjy6QjqcH4mic7EuITaQcGtKzwnFkKICyTykYuNzkRmrS584IedSSGEWlE8hhBEP2BrFqD1tDV9HEKICycDLAqs+0AfgBlysQ/0dcWndYqtaS886UfG0XJG9DvtpaxGu5xmrdf/8A//EP9fZFffNo1NTmtgYECf+MR/6tnPe6Ve8IpfiWALx9vY1KKXvORV0dZxTLkbkjTVd779df3Vu96p4utnbfUAABAASURBVMK0vvDFL+qeu+7SRkfFlstnIRo18CIyk6YZES0ZGR0zkMiqr69bzY7SLK8zZ3AACCp4axGHjrNfiQYgUSwuatOm/hgxqij4mIp/9zNhQNDe1hblVOTXsY/oiCa9kJbshNvZ8nNkzBSS+7yW5g08R0ZHNWfAAnDJWZfZ2TnlslkRiZFfzO2yAWDZQAfQ1dzdpEJLQXd96W6XAlmcKPPV6P5xlQ0S2ze1qbmnScW5osHYrJo6G61zxhSy6CQm2cYH99+mNJnV4f23anjoAY0M7XI7LzfAnNexV8Vg7thVPLM+U1NDMXLHfwNobdsqtvnQe97RyR4DZp4jo+1EnUZGRkWziSiWvcjP2fbwCcFK+ITPrAEcdvJljLgt2DaMDa7pX1KaJuo0aFqwjEN2+Itu6/jEtGYMaHm+rNnbrPTXtEE29epTYrC8eeOGOBaGHAmb8niEpxC+RNjQUIjfxgQUo/OUt5ez7othg2XaQT9Qp6ZXCME3B12+WZjSy1/+cr3+F1/vrZX9S9yOHXCczCn0nnNfw+NY6emdMYenPL5SzxPmMu1bzon1kjJsPr1OgLC2hpQMVuGNfZbLZe0AOLQ4Usc204TB8nKaU73GZqzX2K/BkVVSCHWdZ4YhVG/gKYN2vdZrbI39TmZr+ng9bU0beE6MNgP0saebedy7phP9cKbrdY0xtsZ2yMWWjN9aWf2RfBJ00FOvvvx0zpfbmvbV8wkhqN2R523btgn7ELRAfj3NqZ4nK1VggNcmGAvLShOsvl4IIYIUDIIxUO50DFIbQMinw5nE9XJWOmfC0VEYj0EAj5XoTpSHrjwXx4QFePT395+IPJahG4sAtmGCoHMsOMUP6k1OTtpJJREQwe9ELEII3rZpsOPNCVuvMgBOxCKWLV/MsGMsWOUDvbq7u8Xihr7so2PzVchXzcbW6Eyi30irEi8VMBGwNXUZl9hsqWjNh3/5l39RT1eLmlvadMFFj9CDewf0Z3/+f7x9NGgQUnX6ra3tRhSVGCUrG1iEJGjWd/z/80/fqh/84FsR2CCfb+w1NTUclQ32Mblm7dwPHhoAq8SIxMCggYIjSn293epwRCpx31UrsXgHbx8tasQOtmyvumXLhhh5qZYf+1x0fZz2pJ12b0+3o7Q51yspm8tp0PwHBgZjhKTBDlyWjC4+RAa0YcqOHGDV7G01IimxwB9VDWTAU4qgY8qRN+Zvk6PP0IfgOW2ehkAGQZFrPMKzYhA07y3IWUe7FmYXND+F/ao0Zq2F2aLaN7WqbYO3EueLmpuYUyafUbaQFZE3ub3wqKhs8rLuv/vL6unuNMBpV69Ba1IZdP6CDh2+0+O80ef172NyyG1u7tbY6D7bO+9+dCTOqGZubsHrUYPYngwh2MZj5uV+sdyy00KxaPpUrd5+nJuf0+joWFxQQ7BVnIJ5wLupsSH2W7G4YBuNu/9LZFv9ipOtbV7Yvc1AeHJq0tGsISkkwub09TnnbFPG4I4fgAUAuYZqrxAUdWQshRB8gzBkHRYURbuMYwhBbY7YbXTkrWLwODg4HAF+a1ur2PqedJ/Bs2I9tPTiywQb+3v1/Vu/K7bt3vTGP3D7hpdKq4cQQlxDWMOmDY5Od72uX0PwEzjiqoTVP2s3ldiD9ate99VrHV9CHXRmDWn0eG1oaDieYIUr6LZv3277FbV7924hewWyk2YVPXamDD6xHWtSCHTW6tVYN5HN+op/ov7q1KuXYGv6irZja+SvTi2FEFSzNbaivWWPIZ3iC7ms9QO+gSUihA84GYvaeo08bAWPk9VZXk47GSO0GdthQ2y5nK7+mnL6hHafqa3RG/3hd7JxHUJQb2+v+vr6RCQWe1G3Xre1nNPmpJ4QJiiCw1tLp9fX5TyEEEEFHVLjQ/7JEoowuRg0GB7HcLI69eUhVBcYJiY8GIDwrKdZ7Zw7Jn6Zl05kwp5soC/nQ2ehMxONQYANl9OsdM0ghR5bt/juDT4r0a2Wh40ZLOjLoIXParT1+dgFW5PQ+1RtzaAHsLIVwh0BzxHQlnoZq50zwRgX6IzuIZx4MVvOh4nJuKSt2G6ttoZuZGREm7Zus6P6jt7xjj/Wpz75mch+wE4unviDH96s+BhCEPa979679P5/eq8dZ8HApeiIRU900CEEL3i4QgkgNu8tPR7Sx0miI893zTgy0tnRZqDRYV7HTTOVvU03MTEpHGq/AQhgRMte9NOYwdrBQ0d8F9YWHXPRwKChodFRmAXt338wbnsCtKxOrI3uNTCGrScM9AuOdOHUM0vbkyEEye+yQdWUdRwbn1AwiGizky8WS1G3ZkfxTOJzAJOOvso01s4f3XKNuQiwZsdntelhGx0BK2ls/7j2/HC/9v34gHhmLEkTg7UF8RwZeiUZ33R0NZlvyYCmoqDU2cFOcjaCmCkDDOQSIdzQ36nuzmbt23NrpNUqr2Ddm5t6VFyYjeBtYX5SmUxBAEvaz++80a7EUalcLisiU4CgnKNNtJ81g2ggfTE+MRXBrrCR0ESiHkAW8EYkCx3LdmzYoJbkVhBVxIaHDx/RuKMwhcam2L8dHZ3auX2bJuzEDx0BoFdBXX1zujrbtXnTBs05IgnoKrkfYnnwp1NIgnq8zc2XA5C9b98BJWkabxwOHRmIQO6YLq7jd6PB9OaN/frbv/07nX/e+frwh//VgHLRJcfezEPmUwhBzCfmFaVFg47vf//7nK6YkFVbZwE3dzlavCLhKpkhhAgIWfOQy1oEz1XIj8tmXE/ZlujOGnJc4RouWLe4qZxwHx12ZJO2rqFatB1y0ZP1mvVhLfVqNNBja+rDp2brWvlqR+ixET6N9Zr1ZTXalfJDCKrVgw/2g+dKtPV5jDOeoSYqBtjYsmWL51WmnqTufOVTfCptpn+RDc+VKY/PxZ9gI/SkPrY7nuLEV8xZxgb14QO/E9eolqJfbVxTH/2rJWv7ZDwTLQOY7d27VwQu0GEttekXbBQ9BZVQhIQBTtVJLxfIZGHQMuimfQd2IoOgCEajDkYIwSvQcoZrvA4hCB50IDxPNNloKxExBvpq25NrFKsQqgsMizt84YlNV6pPPgMUGibKetgaPjVbM6hWkksetmaQMHCwE3mnm9Cb0HWbowMAM/iuxov+r5UzLujr1WjXko9sFqYvf/nLetnLXqodO3fo1a9+9UOqYmv6gxRC0P/5P+/TRz/6cc3PTuv2O++J9EmSxiMfmzZv1aWXPtzbdDlNz0zonrtvc3RhTA35bARWIYTY1woS2ITnqSYNrA4fGVShIa8ZO9TRsXGPwUaxPdlgpwjfWjKWiTTDI2NqN1jb7K3HrIFBrbx2nJmZFf/yJ+MoGE6YcZxkMnbCWT3w4G7Nz82KLbXEIEMGA7V6HIvevgFklS2s044eEEJ+LWGTOW+rDQ+PGXwsRqAHH2yEE08tB5qYXIkjD/KHEASQ5NqsXSItODrW1NmkicFJTRw2EMqn2vqIzdr5mG3enpzX0K6RqF5jZ4PyzXn17OiK4CqEVHxZoFIxODEwDCGIb4kmaTZ+a5QIHTLQfXGRb2VWorz6j7B0wU9gtLVvUnNLt3acc41aWvvU1r5R+w8e0oK3Ggv5XJRJ1AhguuAtxiMG4bOOZsKi7I4EsHV0tCtNkvhsF2tHxXqhIzSk1ACIKGc+l9HY2JijcfORL3pWEzqGGOXLud/uv/8BR2HmHTWdM0CbNCjb6rRZyJ40oEAu9eBNQhYRUL6QMDI6pgmDw4qBH+2sJezR39/jm4K2qAOAnXkM8BwaHhXjpGKmfsMyJsBkW2uzfuEXXqPLL7tM3/vere7H44E2+rKGUH/GEWHm0qte8RL99m/9liN3A5EPH/Bm3cI+Zev2zW98Tb/2q7+ot7/1jXrKzTfqa1/72kN4U2+1lPFYQ3+O+AnWsNVoWUOQG0IQawj9sRrtyfIZ7zjNNq9dRDOOHDmyqt60GZvQbnwjtjoZ/xOVUx8+tJU5hx1XokcuY5U2NzgCSP+EwEhYifrkedgLuVCezNa0lyAFuvHvhFZao+Cz1kQfFwoFwZc20baV6iIPm2Br+vhUAdFynjVb42+RDf/lNLVr9EI2Ms/U1oxngjuM2V27dnkdmK2JeciROUcfU4CdEhpPB2F0MihYr0Qn0Dhk0Nj6jkBZ5JKH8WnEesmFFzxrMjjWeDMRuDMC/YP6+aZGrexMjyEEO+OmeCeBkTF2PU86nXxsjV3qy87kPISgmq0ZfKT6wUf7a4CotbVVTM4zkVdfl3Zwx0n/Mvjo61o5OjAR0If+YILUys7kCM8/+IM/0F/++Z/oBc+6QR/8l7/Vr/z66/Whf/0njQwPRUeJ7bE1dvnSl76ksdERGS9o7/7DGplYUE9PX1Sh7GgV/UHkqampWc945nP1vVu/qj//X3+sA/v3atOGXvdnatjjxdB2xu0yZmnvnr0HnK94B3rE0Y+8nf8Gbxe1tjRF3vUfRNF4yB9nwM9Y8A3H+nLOoWHLc9rbjJs2blCaJHYUFaWZnA45UjbgaAjRlHz8QkDUhGoxYevJySlhf76t1+TttqAg3jFJdtglAQZ5EJ2ITt7AgfO89S6YJ+2y8fyGtyv4gB1DbKWvfWQsRTpf0paKt1Qnj0yqa1uHmh39crYqBjlNXY0699oduvCm87Txkn5nVzQ9Nht/JDaEKscqcLCOLuXdYFDLN+SKpbIOu6379h8yoKsYfEwYPBq8QeREPavmM6m8WHKbp9TU3BWv+YBjgx3A7NycOgx8+7xljH1GDJaPDHhb0US0ocmRwGw2YwffrGlHC5M0Fc9s8XtqRDln5+dNKYUQaiZ0FC6nrs4OVSx3bGzsqF7oBDF8M45Gdnd3GbTNad++/dHuPPc1PjGtHdu3xLl64NBhzczOqFbPIkRijmzdvFHNTQ0GQ8PWa9Zsw1Lywe/m5iZt3NBvvZtMM2TQt6BcPqvDblsE4wZL6GHS+E7drv7eHkfgpnT99dfrNa95tfbv3x/Lah8hhBi1wvn/8z//sx7YvU+f/9yn9JhHX+2I8jvi3T7rdWK6mZlJ/efHP6xQntNv/rfX6aUveLp+/hW36D/+9e/1cz/3czWWaz6yXjd5S52xxpylr2qVOWe+s3YCKLIr3MDUaE/1SFu3b99uO7aItQvZNR7YD5m0udHboqRa2XocWZfynnOsIyTk1fjio2rrdYt3T0Kg/2ulZ3ZkfGFH5jFtw741jth/ryM7+EaCFEQTa2VnemStQG4IwWN6OkYc63lia+yAXdbb1owt+DKOWB/rbU2b6Xf0g45jvV5nct7e3i4A7fj4eJxvtLHGD7tjf/oBu9AvlHl+BZHBpCBjvVMIITosBKIAzhnDoBwGYFCut8waPzqBzkUWRq/9nhggbOPGjTWydT+yADKR6HjkIp8JFkKIk5/ydRdqhiFUbc2iha0ZfNiaI/rQByZb93cIIe6hs7jxLB7bmMhFB+xPP6+XUPj+8/v/UVdeskV/+s5kjMSrAAAQAElEQVS3q7OrW4MHdunwA3drx85t2ntor77+9S/agYwL4H311Y/UO//oLd4Sm1GS7YzOcXpqUuPjo6Iftm7bYUfUqGc9+wV6/HXX6x1/9Af66le+oM0b+zxuC1JInEJ0lvTngqMuRK84tre3CgcPEOrv6xFblCFo6cVJ8MJTFhGPOTt3HG1XZ/tS+bEDz4kBAABL8GE+Fh3JyRlUjBpEHLbzbmlu9DxtPOrAa7XRCVA16e0+ttXaWluirrXyoGDQgg7jGvP2ZN7gCzqiUDLAarLjhyl8qFPhw6lYWtTc/JzO3dKtlz31UvU6EpZJEyVJYvJKTJfcfJG3KnlerNqmCC4MxlzdIKxPuaac2LqcGphyxGzOmliiy12bE1VtFSCP/GJ96wTgKBmUJUlwpHI2LuD7vE3HT1qUXd+VYx0+igsDaiiMa3R4j2294NqRewTRm71llyZpjDbtO3DY4LassiNfc46OMUeoXzZ4ITU4mgmQmnF0MmegCjCjXwFSRfd5CMH6Jk4cg5oM5jra2zTjHYCRkVHBA71oA7YkNRlkdBuY8SWDcUdSG+zYp6ZmlPPW6SUXnmdANqeBwSGPySKqxGQx8djoqAhf8EDfQdPgpKWg2iuEYPDYqk1uI3KP+IaAb5R29/QYmA0YpM4v2bTWo4rjne3az37mMzrv3HP09re92bYZr7GMxxCC51SPNm/Zqcde91Tbf15f/sKn9IhHXBmja1/+0mf0kx9/Ty1NBU2MHtHMxKgYF7lcXk+4/hrt3Nqlpzz5ye6L47dHI/MTfIRQBYTYbM5AupZw0qwhDbbHCaqfURH8d+7cGcfZgw8+GI+s14x15uIZMT9BZfjT3pzHW81PsGYCElp940z+CaqfUVHeYJB2zzgiikzWyoMHD4ogxaZNmxRCOCP+q1Vm3mFTgAhtxjdh69Q3DdgihLMjF1sjFznIXVhYEEf0IP9s4R/swCM+pAMHDkSfhM1J2B+MAk0tJbniscWglnk2jhiEzmCiYYSzOdjq9Q/BDsmLLsZALgMOXeppztY5nRxCiB0fQrCTyJwtUcfxpX1MOBYzHMXyTj+OWOt3FUIQA49+5k4Le+OY1k+C9IY3vEGhOKHLLr1QGc2qv6dDW3ec762q5vhr+4P7H9Do5Lh+5Vd/1Q7iWqlc1OxCol/79T/Q4665QVc/6nFebBLl8w3RQe3bu9sOMqOvf/Vz+tCH/kl9PZ1iq89Efgenqva05fCR4fj7UDyfNOBtL4BWe1uriMCkaVIlXPqs2PHj0McnJtTf1ysezA4GGEvF8VCx956cnBaRIABAV1eHHemC8gZN88VF7d61W2mS2PE227kqpljRsIPjwkLJW2wT8Te0iIolpiW/luAPGGA7KzizrbXFwKGieQOMlpYmpY7kWAXzrUSOuG7GC1uv3e2Net1zr9L1V25WNk30vBsv1iW9Je3oLGtjm5RJpJ98/KdaNHDaefV287AAmCHIaXj3qO787D269ysPaPCB4cjfFCrNlU2LJM/LyqLPy2QvJethHui9lHHcAeBz8OCRo1EpCoeHB5XNpHrG02/Qnbd/yuBm1tkVtbY0R8Czd/9BR5DmI01Q0BZHn7Z4qziXzWjG4MvE1qEql/MW18uYHyC3tbVZ2WxGIwbFJL6ZCU1MHushBLW5/1tty+HhEc/zaduXNukoT9rS2tpicN8ktjGnHIlramrRfoPsro52sUYcPDwQxxW2j7zrProdjWPs4Dz4csdymsRjivFHZHbOoP/uu+/1eM4bTC9o34FDtkdxSZdjTFscYdu6ZZPe9a536/wLztcnPv4x27R4lOCyy67Uy17+Gm3ctFW/9Ku/p0yhWwvzjob9+q/qv/36b+vuO36qB++7WyFUlM3lFOxMk9T96V4+/7wd2tTfrm9+85tH+Z3KSQjBNs/GbR7Wr/9KP8GNend3t6PRhzw2Zk5F7TOiTZJEqW1IH9O/eYOlM2K4xsohBI/XsqO4+zxmcjqbQGy5Sox75sa0b2hoOzZYTnM2rpGF7Jqt/6vGFzK3LD2HBxah7Su1L9FXvyr96EfyjFypfF3ySqWSF6upuPi0t7f7Tr9ZNYTKAFwXISswAX3XQtEXXHCBeG4Aw9AZONgVqqxLFsZGNgsKqL+zs9N31E3xzgtASvm6CFqBCbau3XHU25q8symXfkQGRxa1Cy+8UNzV3n///bGvV1D1lLM++clP6rvf/prOv+hC5QptyqRZlbx11JRdjKCnvbNPn/vsF/RqO5OF6TFl8816xnNeoRe+6BVx4YH2xpueolf//C+pwdEKnO0mbw1OGDTlc6l5dMteRpJdtxcr+VV2RGZ8fFL7DxxRS3OD5hxdYeuRuxuAVowwmU6uU00SW14DgyN21i0CACBHy14LBkV79x1Uaue/edMG0W9pkirjLZldu/dqdmY6bo2lLjdGqatdEcCAaFrZ2618ISADOjIFi1oIwW5RIgIGaJyfX4gAM5vLxjy2BfP5bHTSkXCJOWNj3m3LZYJ+4ZbH6JYbLrB9EyfrlCZKk0QhkRpt657mihIDgWxDVo0djbr9M3eo9jIOFXwBYcE0bF1u8JZlcbaoPT84qG1brlMIwfLLrhIkO3Wt4ZUkSazX3NKrnec+3g6kKdbKZDIa9jb1P/zj+7R1204NHrkv5u/1dueMAVdTY4Po935vJXc4orXotWjIEa1pRwZo81LzYx2u6e/UzrHFwGzR27GU9xlQQzDgSNW4I13QBQWyYsq6z3p7upS1Lny5Y84RHowAXS2lBiz9/X3WO6c77rxLuUxWT7zxWj3rGTepvb3V25h5HfC29MzsrG0DYI2s4wdt7/OWI9uvgLIpR0PhGwuX9MhmM9ro7fW2thZHfyciUG92FI8IH/+GifF1rE61JiC+2fZ5yUteoqsfebV+dvttYl386lc+p/GJMRFJ5vpRj7lOr3j1r6m5rV/9vZ1613v+Tr/2O2/TqOdFWdbVfUOEdspb5nNzs3rsox+uW5777AgGq5LW9ln2jTNrCHp2dHSIFEKIvoOytXE5dSrkAQxYr1sdmWK7rr29XTxHNTzsmwkGwamzXVMNomG0mbWys7NTLS0tXmPmPFcfOg7WxHCNRAuOELE2My5Yq5FNX6MLxzWyOWWyim2JnWc8/2grcgveCZiamjrl8XKqwmkr7UMecunrmi6MgVPlt1Z6xi4+Bhn4xvPOOy/6o3vvvTf2dT2fRE97mtTbK33wg9Ldd3sd8QSrpziDczoWA3DE+Cx0sAshRGcNWMEgLGAoS9l6JAzAthlhWB487+vrO8oWHdCFzmEQrKdchNQmWNaLNO0jjxRCiECU/JpNyF+vRJvhS3sYaLSzxpsBSFiW9mJvaGplZ3qEV20xw671dxzc6TH4GIwMPmx+uvJo3xve8If6uZfdYqd7MDqPwYmiGgrNKi4uateD9+spz3yRDtup8QzSeZc8Tq//pd9UmmYigEFuCMEOp6S3v+2/Gyj1xwXAWdq2dZMydmiycwuh6mhp14wd+u49++LkKRTyOnhowE43tePrU4edqOKrSs8pOh721lHZjnznji1q8DYY+fUJGiJik3ZeWzZvUgjotKhcvmD+h6P+XY6K5PM5XJ2qH1UO6DRmJ0jd3t4ug/zGaoHQoWJHXjb4WBSRJBxkS3OTo2s46EnRL412vvDzmhj5VpZqFw1Sil6gn33jw/TqZ16h5oKUzabKGOhlDQgBBIgoLToiQh7gotVAZ64YtySL80vRlWCGThWD2B2P2qomg7W5sXnt+c5e7dhxjm1f1NjoXutZUcV0po7nIclowQCV6+WptbUtZmE32p/LJrrvnq+YftptahJjau/eXXrKU5+twYHDkVZuGG2fcjSq1VGuDQZUFTv7UUe6+G2wEILa3chnXHeRFkvFGJWEd60y56Ss53CzbcjPYmQyWbW7z+cMWo8MDIlf5Yc+hIRDTAX3Wb+3rhdsy6Gh4ThuYoEVgh8pMXjpsz7XPu6RLqqIZ92e/5yn6ak332CbZzVnAL177363r+jy49+NHk9sezc0MlaOWO95E7ix/qy9WwwkNzsCyPgZGh4VNweNjU0eW0eEPWp2rNGnSaJN3vac8Nbj1Y96tH7jN/+bwWFBH/znv9VnPvUf+vY3vqxF3/Rg5yfc+BRd8vDHa2qmqttrf/m/61Wv/W3t37dfALFScUGLjtoCZN/0h7+pt7/97VrLC7uwNs0ZyLYYkDBWa/UymUxcN7EpNNDWytbjyHoN30bfoNWv1wWDBG7iyQOY0f71kFfjQT/Ur9chLE0IE6BL3lEyyucd9XTWur1pB88P4h8Bnp0GgTXmyMT+2GTakav1tjV9SJsavP2MP6rJZU4gF3mUL3o9r5WtxxFbj4+PR1atBtwhHLM1/Ys+tBf9ItE6fdCeGl/ksp7UWLe1tYnxNTQ0pL1793qOLcaiJH5u3iy9/OWSB7/+8z8lRwxi/ml+oMiMETCDCUPT0SuxCiHYqTRZbMYiJ5YWmJUo15aH3LGxMd13330CiW7btm3ViujEoGARAKSsSrjGAjod4BFCsBNsFYNspaoAJTqHQcfgQ+eV6NaaR306nXZg6/pOr+cRQoh3X7QbPZFfX3465wxg2sCgJq3Gg744//zz48DjOQVstRrtavnf+ta33KddKjR3igjH8MiQDux5QLf+4Id60St/Q3/9tx9UmyfbxFxeb3rLn/q8PQIu7BNCcKQnYwee057d99jxZbRnz24BxAqFnEIIMSEbsEIUZf+Bw9GZEUUgyhBBkKMgXV2dJsMJHkvIwPnxw6oAsa6udtMc/440QyPiWR+capMdPf9Gp9HOkm3FvXbCrXZGLS1NrmjA4k/7cT5joo/ZIoV3l7c268sgQG/0JIJCH/d0d2nOi3nZUbRWO2kQ2BJXk6O74iLAw+wXn9Ov//aSR2tHf7PtlMQtymyaxHP7a5UMMBPbKG+QFkKQ/L7x6p16vgFcphx07mPPUcWAZ2TvmO7/2oO6+/P3afinI2pUQT3dnWpra41RLMbIxMShSBuUwCamvv4LNTQ4qAPeYls+NiYmqgupll75hlavFzlhz4WFaYOHhtiOj/3HB/X465+4RCWh5tYtG02bEdEwImbklbzY59OKrr1im9spPfUx5+jKizbGLSockZZe2BMZXALKCgbkPP8FqO22bcfHJ3T4yKBllywrxCTJR6m9tSW2m4ejB721DR/4xT7wScVhxE986osen4sRtHHdYLD1ypc+V1decYnSJHWEajL+dlrZ4BYd6lOTHdqO7Vs0Z3A4MDBsHpU4HGKv+sMifMPQFm8cFt3eg94ebfYYYBzs9RbuvAFjxUR+H2WbJom2OFL77//2EZUMUhsb895ivVdf/OKnDcw+Gu09723LtrYOPfeWlyzVC5r0lvuv/MabNekbhR/ddocyubyaWtvVu3GL3vve97h8col25cO8xyiAiLHRaFC0MpXcz4UIzKCdM3BD/9Von7FXZQAAEABJREFU15KPXVi7oGXdDCFw+pAEMAO4jIyMiJvKssf5Q4hOIQO9mcu0Abn14LOeTeL+aPV6xnqOnushF+f/4IMParP9/Yl8I21u8BhDLn68Xq/TOUd3AFGaptE3rsYDW2ATQCP9jK1Wo11LPvXhw7xua2uLa8FK9UIIcWxhc9qM/JXoTiWP/kU24xp7rlaXvmCrGFDG89fJcYTnnusV6qkSv0Hz8Y/LM/244rVc1Jw0HXqiCVbPi7sgDEaHYRA6sL58LecY/Z577hHOCOTJQF5LPfRkIDBgMOJa6iynQWcWFiYQbVlevtI1Mhl81DvdQU/dWqev1dYMOmzNggQwY9CupN+J8hiw2CuEcMIJtpwHD8729PTEhQ2bLS8/0TXh9cc99pHatuMCnX/xI7UY8t7iOaj//oZ3xmcgPvfFb+p3f/+Pdc211yveqRuIwC+TZgzE8naUFb3nXX+if/+3D2nTxr7osKSgEIJ4VZ1TRfwfSL6tBrgbcCRkwA61s6NNPKOTzWZMWnE69sYhHTo8oK1bNmjb1s1H+R2jkG82prRr1z61t7cJQMe2VDabU9lC77vvAQF2Ohx9UXSrS59LYop2jkPDI95iLTiQ3VXP9uj5pMP9RG1CCOpydI25MOltLYAE7Y/uGn5OnFfs5Cnvbm/S77/6Oj3l0du9hZZEAJZJa8fgyKLcnkSNhYxy2dRAIUSaoKBbb9+vW++b1bvf+0+67vwna/9thzR636i6WzsNRroMetPYGuZ0Y1OTwcOstjtKVlyYc743usolO/kyAnRg323Ok/hpikFvCxKREi/ry6E+7d19uwHDQsxKkkzk29PTqxtveqq3qz8R86lG/y046rZn74G4/cO8tLndTxvV2NyuL/1or77x491eLzLa0dei5z3hYvX38P8eZ1Rdf+Ai61iJCcZsGSZJ6gjkiNrb2mJ0C7sDgk2kYCcaQgKpQgi2Q6c6Olp1yFFbxjvymW+kpz/9yfp///Rhby9Ouj0As0WzqOj8c3fqF179InUbdIck6ODhIxpwtC0yrftIzL+vt1tbNm8Q42PAkdloxHCMKM2k2uRo2cYNfdZ5VPfc96Bamh1RLpY8d45EMIku6FWr1WRQtGPbFk16azbj+tt8/uMffU+f+4xta5mMrfkFInNSc0vrkq2kd/3NP+mv/ub9qmQbFLKNSj2+z7/wfA0MDNRYH3esrSGpnXRLS0u013EEq1xAm8vlbLdx2620CtXq2bSXNRP58Mo6Cro69bGSXu8icVMJoCG6BJ9jpWs7w78gGyd9Kus1emL3012vGXv8VhwBCNqwFm0Tj2X8GWCC+thrLfXqabBRrS4+h76uL1/tHB+OjbDV6fpGgizUp83wW01WfT5rBLbGN6I3+teXr+WcuvhG7AavtdTBLjt27BC6VleP+lpEyW68UXEr86Mfle68s7501XMWMRShUXRkCHUrw6q1ji+gLo0AaGCQ40tXvwKIIZu9cADW6pQrl2AQBgyTkwgbbVmZ8vhcJhh3O+h8OnLhRseRmGzwI+9kiclBe9Eb2SejX6mcRY1+WvDdMm1YiWZ5XsUrN4Mc+TV7Lac52TU2pp8Y7PQb8k9Wh/JPfOITuurqR+mB++7wluV+XXDRldq8/WJlHdpv7+hwtKGoBTsKtguhf/tbfy8CsXyhoH/6h/foDX/4G/LaL34fLIREIQQnHC6poikDmN179qvFkQTad/jIgBoctWA7p8F3i/CUghSTVCwt6sDBI+KZnfPO3a4QKNNxr5JpHnhwj3L5nLZt26yFYlFJmvi6oN2792rK2wI43tR5VAQCkHCs2IdnfxiL/X3dBkRZSGIK8RMdSjrsKM309Kx6Hb1j/tAOnh0qWCZ8qA95CNSqaMa0/FTEL77oWr3yaQ9TmgSl3oJEh6wdMAkdSsZKjYVU+VyiNCEFUfb3n/iR3vuRH+j7dx7QL/7ir+uHP/ye/u5v3y3s1N7aGp0kuockFWMsX2iIeblcVkQEg3kZeVi1KtCpOOKQpqk2btwogHA+l1NLc2Psz06DkoIjmPLrwoufqP6ND9O2HY9SPt/iHBkMlFRoaNTg4IC++IVP6TW/8KsxX+a+d/8BTXpbuKmp0XYvGVD3qK3V9dy4UW9dTns7c2hs1lGyYNumsd6jL+rWc66/UJmkYhA9aTVNHEvM0WO/bCCbz2fV6W2eord5aSdAnagbz38R6XQlj4VkqZZss0y0TWNjQQcPHjIIAni57zwWGr2F/MCeQ/r0576qWUe7GC9l2wO+Nz/x8XrhLU+POoeQaJfHJpG+o4yXTkIIIuLa563S/Y4w0uZYRHdz4iZg380Gbu1EKkdGI4DraG/ToLc0j/imo+KIXcXt81tm51pB7W0t4v9jApB59u1Zz75FjY7m5rI5Bf+ZSBPjYxxieuDBvfH4B7//Fr3tbe/UfXffresfd7WWz2/ksLbTTtYQxmyseAoficdQe3u7+7/sfpqwyd3INdTHuZNwfGt10svZEi3r6uoSAIc1eHn5SteAKWhzjG2Dz5VoTpaHvq2trfHmArBxMnrKsTFRPUDCxRdfLPwM+aeSsHWLdYYXbaD/1lIfO+NXqEu711KnniaEIOo2eO1lvGDD+vLVzkuel+hJPeqvRneifGzNGEF/0oloa2XYZWxsLK5bjOta/qkc0TlZtULG0YBbbpFXH+n//l95r2VVUsAEhkAROnBVwjUWoBgGmfKdP+BstWoHDhwQ++GgfrbFVqNbaz4LFxOdRYQ2rVavVp7NZuOWq87whc2YbAxcBhMTaCWWdDqDk3JsfTqL2XK+DD7sDd8TTXTKmGT0y+lM7OVyaS/9htzdu3fHxXU5DdeMK2wy7+2SQ4cOqrGlXZl8g+6640daKM4bNDUrk8nqrW/7M9+NH9Yb3vAb+vP//Y64/X3fvT/R7/3OL2pqclRs8aQpwz3A1ot41ckW7RiJovDjp9j/oKMZOCaiCkTGInHdBwvTwUMD8ackAGINBm11xfGU+rt27/c23ah2bt+GIOG0mx1ROGCnedCpq7PdQMBzLNYwSe1op8+4x7n328k22WkvFUU3iPYlbyESuRu2Q201yOh0VGzI54V8QY1NDdW2GZQwXqiLPmxfThmEPP36y/Q7r3yceltTA62g1GAsm6YGJqkSO7pFyy/kMjEqliaJ0iRRJnXKpLp//4ht32xAlNeFF12q97znf+kD//I+9ff1WmZlqQ+DcgbJBQMxWeNxO+252dlor1277ldL64ZI6w9rKJUNBhRfFfX391r/pgh0sT3/+SDrvs14LTp44HbLbdToyB737aQaGztirbnZGXV1desZz3qB3vd/3xXz4N1mu0wZ8ALusCPCRkbHtf/gYU7VVMgakF6mEILkd3NDVvlsqsZ84m3M7XratRdpznrPzMyq/oUtZQ70O9uA8GQd6PZW9oSjSoyf6ZlpswxOyVLVylFgNmt9BwYGvXCXrGZF5zoidtUjH6mPfPQz+to3bnV+USUD+Yrtks/ndMuzn6In3vC4OFbm54t6YNceg7ryEt9jh4Jpz925XUTA9nt8weNYqc8qUotvNrZs3ij0PWA7zLp9rXbygMlJ2wqZlWoDXSEo9bggapnLJHrHH/2hvv7VT6vZznnrth1qbm4xiN6i5a9Bb8tv7uvSH7/jf+pzX/iyWCtrNNOWgcwW82CuXX/99dq0aaO2bNmsJz7xid4ivb9GuqYjPNB/3tueEyd4zAYdxsfHIyBpcrR2TcxPQIRcAA4kAB7WEM6XJ2yJXPJZrxPPJc7PJDU2Nnoe5CMQpd2r8dqzZ49vAA6KZ3jbDV5Xo1trPm2mDQQNZmZmVq2GLVjT0bPZ0dhVCddQAEkIVWBWs+Wit+DJX55Yl7E1dOi5vPxUr0MIHuPNXmcafWM3GeflajwY19gEOxccAFiNbi35tRVjddr+fuk1r5FnlvSRjxxHhyL1E+y4wjO8CKFqEBZjDF0y8q2xrO3n93j7iz3YEEKtaF2OGJVFA8fIAKwxpbMZbFyzELBgcb5eiQnLYKoNagZZjTe6YGsGed4Or5a/Hkfk0l4mHQtbva1ruiBzPRazen1D8Bab7za3bt2qffv26YABdq2ctqMLNscmL3zBC/XA/Q/owQceNNAZVmtHd9yumpubiY6NfuLHXLN24GlaMUjL6N/+9YPaumVTdECyewyhNk4MHjyxeU6MXzlv9iI9ODgS7z57HGnq7enUUVJVXxU74Qk73FFHV87ZudX3KW2mqfGr0vAJMNq3/6D48de21hbNGUg2NjV7i8Xblg/uij/H0NLSBGlM9pPmHE8NAOY1Zv6trgcgWa6DFGJ0Y9DbqIVCXn29PZpyZI9FiuhHYDabIbrWmNKXRE0eftEWvekXrtdVF3aq+gp28qmyBlppmqhkIJYanDV4ezJx1CyYiPw0SWzLNNLdvWvQy8CCnveCV9jmZR0+RBRq2gBp3te2eS6rvBekJE3jIjbtGyr06HBESaGgLdseqfb2DQohkK3gP1UWxYt+Bgtksxlt9dbv5NRM5MnWKm2YGD+sPbu+r9b2TUqSVDMzo8rlql9qGB4e0hc//0k97prrYeUUImjZYmefz+U1NzcffwIiTRMxrvJpWc+94WKVK1UbNORSg87qeS6bxP/M0NeR00tuvljXPHyb+27CbVwwX0Wd0NNn8bqtrTUCHQB0l9vZ2dkuQNohb2OXFktuYeIUIi2frXZSRNXKS1vqRNpyttvTnv4UnXfhhfrAhz+hffsP2QGU3IZFyyvHrepXvOx5esSVD1PeURa+3Qjwi0zrPmxWNXhcnLNzm8fSnOI2Zl157bTLAB4duD7gqF2Tx2fGfbbXcvnJE/qi1r4QglgXeL7srjt+qre88Td16OD9etnLfyHeAMGjPrW1dehLX/uuWhyZBMy95MUvFjdcEwZMOGnSrEHpFz73cf3Gr71e7/vr/62/+JM36BUvfLJe+ILn6Hd/93fr2a3pfLX1mnmB70g8htva2jxukjXxWysRPImYjTkyAjBjbNXqTnnsz83NxUc6sr5xr+Wvx5H2tLa2RsCMP6KdNb7Dw8NiWxW/SAoh1IrW5djgiBX2rrWvxhQd6GOu8SUc1zMxBrE3/gjwU+PNWEUXQDfl623rEILnd0sUR/tYi+KFP2Z9Q4P9GdPr5RvXNkI9oLXFd0NPf7r0zW+q+G//pklPMDqHFML6drrbevSdeqHA0GTwkCyhYmQSXaGTyD8bKYQQETIdTEcAAukAANHZlEtbGPDIYUIju9bpdHwIZ9fWTHQmF4sMCX2YYCwCnJ+NBO9t27aJKCffaOLbsdz9IRf7I7Ont1c/+fFtOnL4oO699774UD7bPGmatfNaEN+cbHI0qbEhr/GxCW3dslE9BlbwDiHIbzs3OFU0YEAz4Dv5FjvH8bFJO9AxdXS0iUhKzoAAqmOpIp75AgTxzUb4wvNYefVsygBit6Niba0t5tPrLag5ZQ2cF4qLviXWw7cAABAASURBVPN/0ERlURZCiGCk4hwSF8WFokYc4co4EtHd3Wldg+R3LBevoClHt9ieBAzwoPz8/ELMA4glBlAsTPCqVD/c1orLp9XV3qQ3vPYJeu51O1XIZ2IkrNHHBgMvAEnJQkIIMSKWtfxMkig1P+yQz2bsjJ2yqQFLos19rbZ1UR/8l/9nJ/uAXvzSn1ehocFyZpXN5U2bN/iZ9VbWuCNii767bHAfbNbEZGK6NoUkoxBS67YogFi5suDGBSdfWg9/uswtiOcSJYn10dFXRfv3/NB8EjU2dRoczihJDeC2X6VMpllHBhxl23hJpO5ob3P5gvY5WjTjKBfrCAUAi0Jjq/7jq/fqGz/ZrdQrYOL2pj7Juf15gyPa3eC2N+azunBLm17+tCu0pb9dPMjPgoyt6YeavvBtt7xFbzeOeuwBytiOPOxt78GhIfdIxW1JrGsada+YrlyutnPR0TB44mgaDGaf8YynanBkQh/+90/6xmMsbo0vOiKahKDzztmuF7/gWersaDVPiX/DNOrID/LrE7SMkdrzZbVn8izR9aqfqYE4Ecm+3m6xtgHwGhoKkuUccQSv5BsW2qn4CkqSRE2Ozmze2K8Pf/Bf9O8feb/++++/Uantr7rX6OiwnvHMW/SSV/6SZksFHTlySK96xYt07bXXGtTO68tf/LS+8sXPqLgwp/LCpKYnhhXcB8z1N/zur2jw8G69+c1vruO4ttMQwtH1mvVyzCAJm7a2toqb+rVxOXUq7NLjwMA555wTv7QE+Jx2JBAH3eC5EQKj+NT5rqUG7cJPMH5YM+/2NnGj+4hndVP7zbXwOB0a2ozcXC4n/BO2Rgf6MJvNng7LNdfBN5KwMeCTI7Ymb81MToOQdjGW8I20mUT7aXMI69fHngpr165MB1x2mdKbb1bLpz+t5Pbb1175DClx1Bh/mx03Rjm2WJwh45NUR1YIIaJk7oD+q+QiC9l5O3VUZHHheLYT7UMWchlwTDTyzrZc+COnr68vLqBsRQOAySc9+clP1nNveYGjMoc15wVvvyNqDz6wy9s7C8p7u4a7wUVHHVpam7V5c7952Pm53/wWzhPeRIr27NnvKELB9RYNzIYMFAoiWkBkIYTjJ9ZCsaQjA0MiKsGDzistcjhUgFgIwXI3RL4sWFkDlH37DmjGQAqwx4SOetAYUkWij4m48WxZjyNzhegQXbikBoc5b1PhICcnpyNozHs8TDkq1trabL2y0cH6w5Xkg5n6bNoAxIhIr3veY/Qrz3+E2puySpJgMJbEqBhgCx0zBiAFgy30Sqx/mgTbDZqMj6myLss4akZ+mkiPu7y6/Xre+Rd6q+1C/esH/0G03yLd7pLG7QQXFuiPgs7dvkFTM2XNFZsM0iY1NrpfM1Mj7otFyO33UytcsQ2q1zHz6Ee1HXxio6PZPmnv2OJI0o2OAI074vYInX/hTWpu6ff5VQaETQqmMeP4MPyE7dRggL5gwNtrcN5qsAzBzOy8igY5uw+Oy81W6nYDxnKZVDnbJO+IWc4pn894GzOj1saMbnrEJr345ku91ZkRDp/xhN04Io9jLpfx9mmnFs27ZEDDNmbRgOvIwLBmHKUrO8+dJF4Vb0lyZMxCy1wvlooC1O08Z4ee9OQn6fa7HtA3vlnbxizZVhXRnic/8TpvZT5ZzY5ClRcr2rv0vBz86lOSJAJAdXS069DhI9Z7ClWPkVTkfs6I8d/qbUQA5+DgUIzqDPqmZXCY/qq4z0zoWtFWaaKuznYD+Jze9Rd/asDdpUbGrYLHWCrmyL333qUGb1k/5jGP18+/7rd08Mi4vEOsRzz8Mr37r96rybFBTY4OuD1F91ku1qFexQJuesJj9cA9t+n973+/Tue14PGXuN3Mk//KtYtx2ukIKTeVgKMpR8hOR/9TrYNcdhcAf6yBp1r/TOhZn7E1YGje28YVJsSZMFxjXeYK7QYgIZN+XmPVMyJDFr6RtZzxSpvPiOEKlZMV8h6ShSIsQigAIkx816EXvEDet5H+5V/kW7mH1FmvDAY3IdhzzjlHDDjuAEiAMyJI6yVnOR86nTZjeNpMJ4DEmfBMNmyyvM56XMMX/nQ8cllYOKIH+ei1HnJW4jEzMyMS9mWCcwSUnY6tV+K/Wh5txdaZTEbcebGocZfHXcju3bvt4Ba92Cd63eter//15+/Wc55zi+a97TE5MWbn0OktlMMOuBS1aeMG5bIZhVB1y8jDnoveOtqz50B0LKllHDHIKhu8ERGrRZgk6lRTuVwRz8K4gth6bG1trhbr2Au+PIfDD7Ru8bYo/bNoR8wzNkRGDnkrqLWlWTjQWKvq06JDrJj/pBfsGsiq8YdnsB6kkiNrA95GJbrR1Nik9vY2O9Rpg6SMeTaYyqxYAM23Yi9PKhpAEql71hMu1++/+hrt2NCkjAGV8YYdb+qUKIQQwUg2TcRWHcdCLjGHIKulbMZ0EYglol4IIR4TXxQMUnZubNX9990tIpVPf+bz1NXVHftmanIyRsm6Hb157g3n60mP6NN5GzOOUs2obFu3tvZreuqITVqOiT6pVKr6ZN1n8ovm+HDCd0BTE15w8ZPU3NId21Mpl5bqYAXbxVeNjk7wQ7cNjjrRz6kjOfyo66FDA5p3dCaXkZ51/UUqV4LbnNhObrfbns1kfJ06+egoQ9YALRfzE3W0ZPXcx5+rJz3mfE0Z7DEv5JfVcZss232BdBwUawUR3KbGBi+T7V4ih3XIETOirVbaY5rnwFynTCobP5cFuMW5EDFlLFx+xaXaed75+tRnv6Yf/Pj2CHrLppdfbQaXz3nmk3TVlZeKcYesPb4BKAH6XF57hxDEzcaObVt8bIhfAlkwQK2VcwwhiG/k8txkxnZiG7PksdzS3KKDBnKsCehDO2v0OUcSe30TkfE4KruAaBv9fP0TbtYtz3tpBJbzC/OQ6znPe5kuv+oJGh6d1OCRw3rj2/6Hfvqzu2x7rOVk+VNee6Y8J+izxz76Sv3JO98R6671Y8FAjDWE9Qrbs35xxGfV9F8rr1Ohwy7IDSFEIMv6xdpVdhQUvwVoORV+p0LL2shjHtu3bxe7SMim/dgRe5wKr1OhhTdtZpwjkyM+Cn+MrU+F16nQYlPkYnPkZR2NQz7XE96xo/xU+K2VFv70I4kxVRtbtBtb47/WyutkdMnJCFACI9cUCSFUqySuyjbmi14k8Y9qP/Up+Va4WrYOnyx2RMXa29vjP+jMZLyCLvFNLJuOII8OYhFbKjrjA50KT450Oo62xjSEIDqh0WFhbMIArJWtxxGe2Bv+yKnnSVvpA9rKIGCQ1JefyTkDijYzmZGBfWv8aD+2ZvAjd3HZgl+jO50jbUAudZFBGzknIbe/v18k7gAB5uRv3rxFNz7xybrJ6ZOf+qzuvvse9fZ2egurwX4uxASdfUR0kvsPHPaWzIQ6fFc/5G1Btvo6vT3Jb3mlqcewHTz0CnYMrkSUYGx8wuCuL0akEo+1WL70YRKNjk5o776D6u/r90LYogXfHRbs+IlM3X//g3Z8+fisWGIQA31NhPyaM+2Yt5maPIbQo6qDCyrVVLbDRf7I6JjBZVZEWahT9gLf0tykEEJsF3wrZkxatPOcMkC48qItesvrnqDHXtrruqkjYqmBRmJwkQo5xnixfkMu4/wQz1MDtqwBR6O3MBvy2fgs2WKp7LKKgqQ0kQFX8DHE4yuedrkKBnAzM1P6ypc/522oWVkl5fI53fTIrXr5zeepvy1rmUE3P+ZcvfD6Nl192QXun3Z1954vCf2DqMO5lKh/48M1PDIZn+GTX7TNhxXfIUlVrRwkJbZF2Uf6rhytES/8wdjq7+9RBGa2+aHDjsh47AIerL5+/hmXaVt/swBbU3PmYYUytkM2m1r3NIJXbJPaANklUFbIZhzpyej8TS16zbMu12Mu26pxj5V5bx/LL/oC3ZGRpqlBjvk7osmXE/hn4IAe/ssDP5NRrkXI3Hf0bdn9XnYfR1BmPUsG1wCzRgO6666/Rg/u2qfv//CnBl+LbnPF0mQzBPGvin7+lS/Uwy+/RMxfbhAAfuihulcIwWOySVu9lV8qFoUOROfqSNy/SQSPvT3dAlwRVcs50kuUb+/+gwayC0dlUy+EoILbB5CrGHSzXu7Zfa/e/Zd/oqydZTDRom+GSF3dPfqF1/+GejddIMbXV79+q97+znfpzrvu0/jYuPifoHyJgm/iJkmiJzz+0frTP/1Tczjxm35mDaEO8rF7rUYIQThPbmrxJ+u9Xk8ZQMJz+doVQvC60KZt3s2BZm/dD39qHV5sMfMzQKyNW7du9VjNHOVK+9EnhOCbhqkI4o8WnuHJoscltobNSrbGb50NW9PH+EaAIG3L5XKoEFMIgXEv9KEculiwTh8AesYO7aJ9ITCqq8wZc/hLrgCE2IfzM0nJapVpHIOJxiMU4SvSeuHR5ZdLj3+84r9g+va3JXfcirRryMQAALFSqSSiYji61aplMpnYERgCo5W9oK1Gu5Z8eDDBaC8Lymp1sAU0yMdG2Go12rXkU5+BXut0+K9UL4QgaJCNnqSV6Naax0BHLvQMaNrD+UqJiY5c+oU2r4et6WsmGLYO4dhAr5dP/7Owtba2ijvOe++9Rzc/6Sa95jWvU9b93+OtKHQLIdhB4ZhJFUckRjTgraK2tlbNOJp25MigmgyC+vu6DarzCvVCfD7trcXBoWF1tLeJZ2/QydnHvWe8Fbhn7wE7+YJwsPPzc0oz2Qhidu/ZJxxdR3urUs8JXGa9UwT0jhmIJdYTMJi1c4/MI2E88wI67cjccFxE2603DnPGkQO2ptI0qTpD01eAHmZesRNHb8DUb7/yOt1y/blq9fZkJgkGGokXalIqk8UUI2KZRC6Ozjfr8+wSCIF/6oK886y++G8HZctIg3mkidLEycesAcubf+HxyiYVA9FZle2IjeX0q89/uC7b2e4+Mb155Ny+Qj6njmYDtSsb9OIbe7WpO6MQQkyMvUpl0W1aVJrJaeOmy5XJ9evQoSOOqhVV/8pmjy3ApeK869gCABqnYEJfYRGF+OcMv6P9vA4BTia83RtCcK7U6/GSa2jS337idn3uuw+oqSGrnra8y4Jm561LEpQ4pU6ZNFEt5WynXDb14p8on8uoMZ/Rled165VPv0Ibu5s1ZlBRXCgphCBe9B3bj0maxpsBwPr09Kw6vX2YmG/ZQMzmdVvKtmF56VjxuZP1Zk1jrgHKAGc9BkkKafz5i6rtFGWFEJS1rS+5+Hw95xlPiu0rextzvyO0RAShVd0rk6YR5Pf39fjGYtxR1ynL9qCqo8nlbBNHv/hJlwkDTkAkYBJ9eW6NuV/ja/FKk0Qtzc3m26GBw4cV3Bvzs+MG4c3WLRc5Fx3BYr268MKH6bkveLUaHTElCv35L31Nf/1/3+97+TmPpwWFJKOCI3NXPvIqfehDH9KJXqxD8GQNyWQyq5KmbnONhjrYdVXiNRQgE1+BgwaI6xStAAAQAElEQVTwhVDt8+VVkdvT06Pe3l7tNSir3VQup1vrNU4f3wjfk/nGrAEx6zXjCF1r/bVWWfV01IUHaxh2zNUBono6ztENuRyxNXXIP92ErVkD8QOkEFa2dQjB63pB+EfoCWycrkzqMUbwjYnHNm3mSP7yFALzLyv8J23FTstpTuU6WU5MB2LIEEK8w8Owy2lWvPaE1GMfK23fLn3609JPf7oi2WqZTHIiIcPDw2axPd5hrEa7PJ9OYGIAbOgMBtBymhNdz/sOGuPT4Uyy1Yy/nAeLAJ1FPh2B7Thfa6LNTDLk0aFrtXUIId75IZ++Qv+1yqzR1eqhP5O3ln+iYwghDngmHLY+nUG/1glWr0cIQWma6K/+6l268uFXOip2lzZt6lfGTlJLL5wF/T4xMSWiYkmSimez+KHXxJMKB9TS0qgQjp/QPCc25MhZ1gs625MNjYUljscOC97i2bf/kNgS3Gy5ZYS5OOfowMGDh8V2Hc4LO1IU3Vv8AByW46+ul+xkuzrb1Wj+IVgHv0UyH/gPDY8Ip90atzkbNOmIF9GdfCGvEIL4q9jR0UYfHE2a05zH7c8980r9zsserQ0dDUoTRQCRNSCiPXI9+2bls6lT4vIQE3ar0qTK2oaJ6YIEuVMQD/YXchmlZsizVkniPPPMOJqWcV7W529+7XV6xZMv0POv36nfetlj1NqYVZokkR80FYUoE8CTz2bU35HVMx5V0M1X5gwWy1IAYBqImK7iGyns1tzcra3bH+2yDt/TmUbVV7G4oI2bL1ehoU0NTZ0RQFQM5soGZBVIXDnAx4lL0oDB9di4t1GzWfNaVEdbi9eUFiXWcX6+aJA+r3v2jAhdM5mMWptyMc0tlDU9t+i2hJhieZoodZszTlk7d/Jy2TTW5fm8pzx6m571+IsN0tIIcMoGW/SRFfXb7bCSefdjZ2eHo0xF60O7FV+Lpi0bMZejDcoGZItO5UhDGWtKyTenlO/cuT0+0xgrLn0wHtz8WKfR0bQbrnuMrrvmat8clDzWGrTHNxBTvpGAhrRUTTnbhS84NDU1Ojo5qmnfkNTKOAbbsqGhoD5HGQFjbJ0zRhmTg0MjGvKcQSfkR/qgaI9egFxrs977nj/XR//9/S4qq1BoVGq78Qzd3PysQgh69GMfr207LtAPfni77n9wj9sr5ZtaVGhpVcg0KtfQrEbrZgYPebPusN6yVjc0NER+DyFaIYN+bmpqijc8rH/ovwLZqlkLBpXUoy3wSTyWViWuK8CvbN++PTptABU86opPego42LNnj5DPdmhbW9ua2hxCiOs1NsJmpJMKW0ZQW6/hQTtCcEcvo1npMuvxhY2wMe2tjZOVaFfKo8345FqfrdXW9A3jAvnILToavBL/1fLQk3rMu1P1jdiHBAYhrSZjtXz6J6kVoghM6HQMSYNqZad03LhReupTJQ98feITcpjihNWRy790YMD19fVpo+tj1BNWWqGQDsMYgDPasRaQgtHpdOS1tLTERWMF1ifN4o6BAUvns1DQphNVopxOx9bIZdCdiH61MuoxaEIIjq5MxYVmNdpa/ulOsFp9jiEEL7IFMUZoLzzJP1HCNrQZWzNhOJ6Ivla2sDCvv/9/fxd/T+cD//Iv2rSpz7LztWI7PEBPxQ6oGIFYuWxn6sV/yAAHAIWDAAil6dGhHuuW7Z2Gh8dUNNjavGmDePA+hOMXm7Id5ZEjQxpzlABAV7BTLdmBNjQ2aWR0XPymWJOdIOMuOuDI2R92wP40qJpymlZra5NamhuPX0RNU/IeIttZI96ehAdgbGZ2jgapuUZvurKBR9kOOyiINgHWnmYA8NbX3aCLtnUpZ6CQcftIaZJE0FG07lwXsolCQk0pcRl2iMAik8brJARHzEhSmgSZldIIvEIEVI0Of9lUsgpKk8RJkT6XTXXh9h5del6fgUxemTRVxjwrFfMyHfWy2VSpGWbML3XiuGNDRi+9oVGPPj+V3J4Kz38Fg7OjBkzU0rZBm7deKUDY+RfeoPMvfIJaWnoN1h6p9vaN0T6RHKUqNpCc5YyKQVrFPH2pnB0Ci3oumxFR1GwuqymDDsDEvMdUc2NOb/6F6zyGraPbbZXdhiAijC2N2QjKiqWK2xuUpolS06TW8+i5K5Any5s1iNvS26QX3XSBnvDIHZr2VtZRgFMRmok579MIMpoMNCruT/lVcRtIZfcXAKzs/OoRYEaqgrOK23nvvferp7vTtarvsuuQFr0tWHKa89bp177xXf309ru8/DaoqbFRl116kduV6vDAoEHbovWo1uUzhBC/GAAwy2RSR5VHHRktURRTcNsSt5Nx2dfXK5MbEA6aZtGOPqcjg0PRpugWK/gjhBDLNpj+8KF9es+7/lS3fueravA8GRw8ojTNqOw2s/ZdetmV4obh/PPOiWAsyRpcZRpUcuaeXbvU3dlqjsfe1GENybpvm+xf0O1Y6drOQghePwpqtG3mfUOzlrWr7D6Znp627Sqel80eM9m1CaujCiEInflFdhwv0f61yD506JDXmQPCL/JsbQihjuvaTrET7cVutAM7nqwm6zW+kTroDY+T1VleHgJjIR/bTZtJy2mWX2Nr+pgjvg0ft5xmLdfUQ2/40I76MbpaffQjYStwRAinbus0TePYAhPQjrXaGlpsnaAoAwMQg1MAWIRw6ooc10gr5f1GxV/7v/9+6XOfk7xdcxyNL4gOMTCRy0ClEc4+ozcGoSMYQAw+FuXlDGlzrexMOr2eL/JoB/ajU5ns9eW1c2xNOXTQh3CGtjZj7MYgoq10LO1z9nFvBgZl2AdajscRnMZFbdDDC97IX84GXSjjiK0ZdMtoVr38/vdv1dWPfKR++7d/W9lMiBGOemJ4lg3AeFB7dGxCbJtwnHFEgOez+nq7lMlm7BBxitVE/TFHTiac+vq71WuaNE3IPprs++J2DtG1tvZWR1faRNsymWyMTD344C7ZTwlHlXBynISKZufmNDo2JqIJAL1sJnOMt88qdqRE8oZHRoSX6+xsN9AicrLoxatBKfPH3rtivrTRB7GwTExO6cqLNut3X3WDrnlYf4zI5NLEtkmPJldT8F+DwVAm4SxEAJUxz8wSbZoAgGSDWIKdo0JFIQS3iQT4SOzEjx35uYxcLrENytZD1i/E8oydeNaJoxlICgKINeQzyloW8mPifCmR35hPdOW5Wb3ixoK29WZk0dbROlkXzu35lLVzbnBErCLULNsETi6XTOcr57okmJT8RV9WFOJfxfkV61m2Q++wPRtt25J4ZgowG1x6+Tld+r1XPFYZ2wH9UoPFxLbKZBJho4ZcRp0tebfTEa/ZRZU9ICgPHiboxzn9Mj1fFue97Q1qbsi6P3Letu3Wr7zgal1z+TYveRMxqiGDVCsadeSYJKkq4lXxZUVlj4eynX7F7Vt0JJVUKi06amTZMb/i8Thm+y+In74Iodrussd+ydEz/jclz2J9/JOfF077YQ+7SGkmozvuujf+u6RGR2W3bd0kxv2AQVRVFvKrKYSgjvY28cwdz3Dxg8PQUBpsU45pmsTny3q6u6zvooYcIUuS1LYtiujxvMFgxXaClhRCUEtTs3q6OvTjH31Xf/e+v9TXvvJp/f3fvlsjI8PRtr29G/S4a55gfmWFTEGVJKMj3vK87647NHDogCoGmfBCF9Zr+LOGZNw28s8kJUki1mB4wXu19XpmZsZzfjY6WZz0mcikLnJ7vI25detWjXmNWG0bc9z+8r777hPPUG/bts3z4dRBIPLqE23FN2JH1mRAV30559i6BmAIFqRpSvYZpRBCtB9+Clvji5YzRCdsTT/gn6ANISwnO6XrEIJvDvIRRNf87koM0Ae98E3Ipo9WojuVvOW2xq7L6zPPkUvba+M6IaNWeT0UOU4onck25mMeI33ve9KPfyyvKnGR4hsiGB8ghjLH1VuHC4zL4GPBoqNpPGwBQyQmIxMshED2uiVsWOtUbIt8mNc6HVtTvh4DHb61hNxCoRAHPu1jAFLGQEAPzrEzduF8PRM8a7ZmojPA4I/dSbSXCUbeWtL+fXv13Oc+WzfeeJMXrRE7mQ5ht1pd1n3aRXQJx0C7AEE4m0Zvs+BYCj5CFz0f3s9pdmZOfHOxva3VkbZ+5Zc9CwH9rCNUBw8dEfr2ePulYocYPI4rdkx79x0QYxbnxbfR7GGtUsWp+maLFEBIX3R5eyqX8yLqYr+ravhkanJGRGmKdqTt7W12TIlmDCDRO3uUvhIdNZWwJVuZjYWsfukFj9HzbjhXGzrzSg0eZJ2yuVTZTOrTIPt1R7W4DmJYhxDMPyjjclLqOs6y2hUF8fLRGYkvjEkMdaTUF6TE+fGYSEmQUl83OFqGrIoBRsY2yWVThZBYblAhl1GTdaQ8TYMSO7zEFdM0iTwzzstw7hSPLmtrTPX0q3O65bF59bVbkIKkpNp2n1cqVtX2xwYVGqeyZRVVMRBxkSoxIlbGTM4vV5PpXRDBOzSMD8CvrP8Fm1v1K8+/Ss+54SLtH5jQT+49vKQbOiaKAM36oT86NhVSdbTkDDoqMWKGPkHSzFxZpbIM2nKOqOU8jjIq5HNOWTXkswZnOT3q4g16zbOv1pbeVo/hUYMrV5BQjc/aicpuV9ntYX0qLYGwkscG/+Cb49zcvJfNnxiIbdO1j32k7RrMo6KSgRsAk4ftP/HJL3qrdEZXXXl5vEnY621KxvHmjf1qb21xhOWwDh8e0ObNG7RxQ58GDab4QeRoV4xkjXhnM5kYgevu7vANxbimpqbJjikoxGPO7esxKGt2lI/yMUePu3u6Yx8MeCuzbPvDF2KbXPQ/OgBBx8ZGrfuivvalT+rDH/pHZT3e4Qo9z1c+cM/dOrBntyZMNzUxpQd27fXcmNGcb3BYQ/L5PGzXNWXcZtauJEnEOonNEVBbr5FJeQhoSsn6JOTyUD7PxrI7NDg4GBnTVh7Y5+K8886LoJHz9Uy1NjHm8BXYnzRj8Mn61uLdIta/9ZQJrzRNfYPU5DFQ8Xid9LyqPiuKTGQjE79MX0C/XimEEO0I/5mZmbiGw5u+ps85p4/pE87XK4UQVLM142m5rZHPuEavmswEZ7beitSYHz22tkpPfKLKPo584AMa/c53YgiWO4X1Nv5RmUsngBQSqH94eFi0FSOcbbnZpbA6g43JxuA/G52+1MyjB9pVax9yaTeDvL7TjxKv40kIQdgZ2eO+u2MbujYY0WktoooLC3rrW96kSy+7TN+79bva0N/jAZ2LVXGG1cRkntKhQ4Oe2PKkLomfmQghiGhXc3NTpI8fS2sok4G7/jSTikhBU1NDLK7/WPDWJU5rbm5Bfb09SpMk8s/m8ho4Mui7+lG12bnlc+iDFyMpOqKynSrRKxxkZ2ebQXFBwYAj+rCaDvPFGFWY9qLX5O2ShoaCZqZnBT/OBbFZVuDoo/wi6lB2lODFT75Uv/vyR+vcTa3WKyibJmrIZQwAMt4+ktgySy0v6B1JBgAAEABJREFUB+ByfUT6UmmaKE0SA42gEKyr9ZRfVfYVJc70W8F/ieliShMlpCSYUkpcZgigxOVRbj6jpoacFFLNFysC6DU3Zr1FmJpGolriOvEYgqrnidJkKQUpjeAsLB0TbexK9dzH5XTNxVnJoMvV3ApbwhEjZyy9y4qXKB8WVamwtRYkg8MQkioNA8RnkIw5YjrqbeU0SQWwetFNF+oltmNfV5NuMxDj2cFHXrzROqBXEAAsTRMlFp4miWCZJMHXUktjxtGvVEMTCxoYX1BjQ0ZtTbnY5qy34LJpGkFxNlM9ZlzPp+puyejZ155juVeYT9kOf0ZW2LorAjHUrbhRjJ+ygUw5ArOybv/pz/SjH/1Ed999rw4e2K+bb7xGj3zE5cpmM65XVsnAjZuRz33xG7rn3l16+OUPEzch4xOT+tZ3vx/H6sb+Ps/HfEx9vd3up4zuu+9Blbzlfs6Orb7hyIqfbZmZnbU+FSertvRuKBQEmGNcDg4NGxTNLpVUD6ZWc0uT+P+ZjQ0NBnwHNWJbFwyYhgz2Rm37ssca7ZNfIYQorxcg11jw1uiwbTGmv/zff6Tdux9QCEH7dz+ocUeMp6YmDQRnNOLoUWtbh1hDGj1fQgjmdPbeWa/XDW4LgOjIkSO2RyWCh9R9e/akymtFo4iWZTIZ3XrrreL3F/n1f54TO5tyQwgeGwX3S87R11HxzU18BDY4m3LhTZ+CO2q+kbz/Ct9IXzKWKh6YAwMDR4E+7UaHs5VCOGZr7DzmsY0NSCEcP64TkCkKni1lanxx0AfszArPeY76+vuV++pX5VFQKz5rx5LvNme96NDhrQaEC3b6pLMmcIlx2Qsstg0hONTfGXPR47/C1rSP1NnZGScdcrFDVOIsfiz6rh1ZDPr29vY44NFjLSL/8R/+ny6+5CK95z3vUY/v0Jt8B16r5/nj04rBV1EDA0OOsBa9kGQ1Mjrmu50F03fGb69l7BxNKFXipyp2CmO+g5832NqyZYNp2oSTrZZWP+kntrPGvYXZ1dXpRbhB2Cpr5wLI4jmxrB1hU3QK1Kky5xO9eFaIZ7rQt82A7agOkDphk9HRiahroZAXvzk27zFY8figTgiekGaGkyPJLyJtOIbHPnyn3vjaG/WIC/qVzSQRNGTt6QEPIUnsnKV8LjE4S8XD9yT5FUJwO5MY1TJ32wMBADBOq8ck0lTpEgOR1CCJBH2wAatH2VnKclM7dPOz7NS0Zcn2T9XWnI9y3O0Kzgsh+FoxpUkQyQdV09K1L9JIl4iIFDSkbJroqvPyet1TGvXI87OuExRCkBQUgjVyE0IIcgv8zviYqGIw4wthS7kzqvYzIaW2j9967KX9+v2fe5wuO7dfd+0a0k/uOaKHndOri3YYdFsmtsykadQ1tW4JyWKCgnVQTMXFSgS93a0F9XU0aG6hbHvLfZKxXdKYqBtCcC3JB9cLStKg1GlzT4Ne+dRLBACc8rYzc6Squ9yH1hrdncoer2yHlwzCGxryetRVl+mJT7jGTrvBEbZFj8tFz6kFfff7P9a3vvPDCJrO3blNRQO0u+5+QPfdv0uAHsYYOsgvs/WnvA5Uo0v8lMXhI0NqamzSeefuEN8EHRjkm71FTBgTFUIIamluEs9Xlm1n5kiRB6QrLl1KiWlaPeZ7HUkmojfg7VD4hSToiCM+zI2KFfDblWS7BOGEero7tWhe1CkuTCtJEs05Sjw1PW2gNhO/BDM6MaOvfe3rbu+c5/uCzvar7PnInAMY9fT0RHtzfbblYh/AAY/vXHzxxV4fqt8mX/AacbZl05+MRcARABCAxNp3tuXSZuRmDYLxUayR2Jr8sy0bucjr6uryvM34ZmPGc5AV7exKrtm61RgEe9Ne8pZLTQq+G0LJszUApqam4ld+Mf6WLVvU6HCoLrhAuu466Y47pC9+Ud6kX67XGV8zwQBENBqAgHxSU1NT5I1edEy8WOcPBjY2ZfFBdpqmx4VMz5ataWstBEunI7emA2XY42wM+npbY1/uOFjYOMe06LTaRL/ttp/o2msfp9/8rd8S0SCeuQohUC0m9C07csCdN1t9acaTyNuKAK329lZx90+/RuK6jwlveUDT4W1BIm0s+nXF0fEQQTl4aMAOr1HwWrQjTDJZzc0vxLt+rnlOLJNJXRUv5IPfnBUN8sYcCcyxqHS0OVqSNc9KnNxBQcY0mp6a0dDQaKzR2dFux1kyqCzFB6mz2Uykd6FJzdHvRUcvZrytumNTl373VY/XM6/ZbrBFFCrx4pEom02VGpixXeZKlpkoY+eXJlIukyBVC6UKRQYEEhk1U1ojLpVIIi9xvcQX1CUlzqwml0uRJnVB6rFLyph/RYH4lRryWTXkUmWdV8gmyhh0lKx72YAimKbGJ01CBCQcfSpSmiTiOk19dMpkUsUU5SSORCWOlOX10hsa4vNl8iuEVFYv2ovxgHGD86XqZ8VaVQwaVHsZAZy3uSVuTz71sedpbHJOX/r+g2pvbdBjLt3siFcuRhnTJDEYCE5y8jFIyCGha8lAbGK2JOMddbbk1ezIWGM+o562BqVJqomZkvu7gjrWTT6WbftK5OHmRLskZpS6nQX33dUX9+l1tzxCF+3sNXH9uxIvJr1WTjrK9YgrLtHznv1Uby/2mv+i5S/GscNzYp/5/Fdt96wuufgCtba1avfe/fr+D34cbdvlMRZCiLyOfVTE3OFGhrWItWfKW5Gz8/O+SRi3TVq0wduYo75xIRrGXLP5jlZPk0SAvA0bejU3S50x61TVt0aU9Rzo9s0MCUfDvGL+I+OIwR5rT6WOaQghRpt7DcwAqHzLctI6ERF+2KVX6B/f/wF95StfE3xZQ6jL2rUI8q8JXacjvGd9w05ircQfJm4ztkrdiaxd87bVOok7js241w+2K5G5bds2sVXY29srImaAtFqk7rhK63BRNvikXRzxE/XrNev0lMfh2bA1qmNn+pJIHPbGxtia8UI+YwW69U7VcT91dEwhF7ujB2OWxFhYb7nYE1tjT2zNmCbRZuxfK6vJ9dhLokMig8L1MgiDmPArW2YAMRA4Mo4mA0F7YunqqyVvYUZwdrTw9E8wKsYl1QweQjiOIQOQiU4n0WYMcxzBaV5gO/jZqII/nV7PimvyQwhxD51Oqi8/3XP0ZzDDD/60r55XCCECQuwBHe2uLz/d85qtmWTwJi3nhS4MPmyDbOpAwy+9/+Ivvk7XXnON9u3do+6ujuiYKSOxftOuiYlpHTo8qGwGAFNxeH3MzjBRf1+Pt44aIK1LlRgxG7ATaPSW4JbNG9wPy2mk2bn5uF1Df/T39UYHqmB0ElLxC/uzvltvaW5Wzo7GXtZOls9qKtkpjDuaRtQAB9RgOXUKxFPsgQ5si/Fva1JH7qbNs8FRt0I+Z36V6MD9WT03kJmdm/PWWkavfMaVeu1zLldfe15ZO/GsAUsO8ONzFDXuEVGxTCYoIM0fwck+xPqmasinkTffEDRzhRCcVE2SoEuW8tIkUZo4hSSW00IXKUmCsE3GgItEYWkxuH8SFXIZpS6XX7W+TBMpb2BGdtFoMbgs9UWaJKZ1MmBL00SJU8o5fF0O70yaGhw5OS9LMh/y+9tTPecxhbiV2dkiq5A6Kb6QWzEAi4kc8EGwNeMzZT467xVPvVwtTXl94XsP6oEDo3rqNefr3M2MscTtSJWgW5oYyISoY+KGhxAUZCuYHw/ssxXc4ShgR0tOOfcDupKyPm9uyKrd25Yz84uanFkwSCmbl5S6fUkqJT5ynrqfaA8pn00NOFM98aotSpJgSciqOAJU1F133a1KaUHPv+WpuujCcyO/UmkxAjG20j/7+a9FAHXpJReqq7NDgKevfeM73vae0Yb+Xo+VjKx+5MlHxROICC83HEnqMaFgYDZiuW67rwdiNMuy3V9zBhw7t29VryNdgLdJO2RXh83RlM1k4pzjyzJEcxjjRwuXTvL5nNjGbGpsEHOE+U4kAj1GvKVZ8m5FjW8IwbZK45cJGgt5feozX9LhgRE9/ZnPUXtHl+pfeeaN/QU+Bbm0rb78dM9ZB1mvM25bk2/UU9ulnheOk3zyoEN/zs800Q6AGPy2b9+u5b4RfTZv3uy1qykGM4aHhz2nK2cqNvLAfvjGRkf8setypqzhtBnbQLfetq7ZNITq+K/Jp83IZc1fT0CIjek7+AKIkFOTyTFJkoh/0As6/BT5Z5qwG/bDjtgau9bzDCEI+1PGeKBf0DGpEeE4MQhOnYlEYa3sVI7UG/D+LKmvr08bNmxQCMcb/zh+DuHp+uvlFUX65CelBx88rvhULmg8RmVi0VCMvVr9EEIEKQ1Lzw1glNVoT5ZPm2s2w4Z07onqUM7dUE1fbH4i+tXKap1OZ9KO5Z2+vB72QL8QqoCQwbqcZq3XDFxsTVvgCe/V6oZwzNZjY6P6q3f/pbcnL9XHPvZRj49eD8zc0aos2LSLNuFM2L6jPwcMsspGI4CgtraWZWOq4shTUTxXwzcGd+7YIiJeR5kunczPF3VkYFiTjp7hxHK5rLBBmmY0NDQinrlr9HgoFNCnugDGT3/Qx9PTMw5xz9qJtKrJC9oS26MHniEbHhn1lsuUGuxk4D/jOrlsxvQNCnbCtfZVQEsVacE6LZaKetp1F+n3XvlYXXpOV4yspGnio5NBipTYQQeRlzc4CyFIvM0vTRKliVNIlDiflHOdjBPgiISomAxaXI2qSuSXlXEWJ05SCEEJvOyYUgMKmcqYQMF/jZabS1PnyFeVmAwnxCv4g5S1zMZ8Jl6VK0HoS6ryTJQmzquldIVry4Q+NU3ZulmIzunP6ZU3FvToC1KDIqTIL1uv4oPfFd/tM15kefY4zim7WkWf++4D+uoPdusZ156v667YGmUnbp/fppE4JmaX8CHJp7E5c8WKxhz5asin6vIWZdbgK3W70yRVytEphGD6im0V1NqYUVNDRtMGZvMenyGR6WhboiRJ4rZxNk2UtW2yBmQ5J86Dqg3Yt2+/+BLLTTc8Vtc89irlshlvl5XjuBwdG9c3vvV9/eSnd+mC88/Rli0b483Et2/9oSO4h7TJka2GhoJCCKq9MBs/nXLoyKBp55Q1vxGPyWJxQczTtrZWbzfnHKVtiv8YemBg0PVT3ffAbpWs/47tW6y/b0yODLj+fNWkOvZi3G/c2K98LhfnzLyjycdKfVaRWlqbFeeXb2gAHnOmSWznoeEx8WUC5hJ6yi9Ux/dwg7Vr1y7dcP31+u3f/i2NGIS4+Og7SaqOEyfGWsvaebTwFE8WfVOF02fc4KSz1vNELJCJP0Emsql3IvrVylhr+BkLHt8hSAFYXY2WfHQjchZCEL/RyXpL/umkmu60lbaEcGzMLOcXQnW9BrzQ3nkD9uU0a72mzeiNzRh/8DxRXWwNHfoCaKh3IvrVyqhHffjA72S+kbmNvRmb6IveWo35SfKRyfhaq63pD+YAtvbycTx3FCfhECGgYcdTrH4FkkWJIs4AABAASURBVGdSIYABh0KrU9eVeLLp/PMVf79scrL6MxkjI3UEJz5lgmFEdMWoa5ZrtrWJzhEjFovVb3646KRv5NHppIaGBjGYTlqpjoA62Ir6pzro0ZM201YGXAirT7A6kfGUOgDCGg/sFwvW8AEtdmLgYmsG8hqqRZIPfvADevjDr9Ab3/Qm3+W3xm+ExYKlD+yJTkcGhjQ1PasGO5sxOyXGIlt+nZ3tdjBZiaaSJAOVsvifkPFbZZs2mG+Hc4+9WfgX7WjGxiY0PDwSnyNr81YncjLZXPwx1kOHjiibScUzM4kdB7Ur/qBupVyxY5qzjCrI6mhvi47WxUff2CLyt+NjHEFDdIz8xsaCQlhS1kwrS44Y8Ea/X3bBBr3xdU8waNhkABYcvUl8TKxPEuUAiORXzpGjqmoV85MdPeVBwZkh1I5SkORLpZ7Z+ZxpnME2JgAnqPZnHpKvJADs6MSs3vfRH+ljX7nbEZmysEHZAKdckQoGEDmnKrG1D4otoK84sRglFpgmiXUKlpvEKFredRbNgEQ5KU1Ms5SSJEQ5wQwSp9TXJAe+tFAsG5jAJ1G1THrMRRm95kkFXb4z67ygEIKqL/fP7Jgd+J54SX256GE7+/TCJ14S9UnMJDX/xHWqSVHn4Bq1VLKuYzOLStNEve0FNeQy8Tw1AMsmaTxPQgLrCFJsGpmd80PUtbO1qtf4dDHa0KRRRmp+wRcZH9MkUQhBYUlua0uTzt25Wc982k0R5DNOS+5wxsVPfnpnfE6su6tLFxqMMZbuuPNe3Xb7nfGZybbWFoUAJzNbehcdgRr0GCcilTPImPCNx6S3AqFlTM7Pz0WwV4lGkpi/WQM2QEK7b3JGx8b04O594rmwC847RzzryA1GsVhaklA9ILWlpVlbNm+s3giNjvlYR2PjhBAc+Wm1rt0qGwARIZMrJknqm6IhzczOiDFZ5egKPmko5EWk/P3/+I+65JKL9d73vEv4IBcdfSe2YW29Yx0quc1HC09ygg1ZS3CY8DiV9TqEECMpDV7n0QkeJxF3tLjihWTE/izaub1dmzZtEu04SnCSk87OzlhnzP0DMGPtOkmVo8XQTk9Pe8xWIiDPZDJHy052Ai12CiHodG2NfHicqq2xM/KxNfMBG55M31r5vAEkbc7lcrHPavlrOaInPplxxVhhzKylHjQ13xhCUEtLi9eGlOw1pdTrDPMxWYmawVIzIgbBqCvR1fJQ/EFHtkII4l86wLhWdkpHTzZdfrn0uMdJ3/2udJLny+gkZNMBGBFjnpK8OuKsFzD0pgPoTIxbV/yQUyYkdLVOD8GrzUOoTp4RQogThQ5h0MP3RLXQCzrajr7UOxH9icoY9NgN+5HguRo9ZYwF6GpjYzXa5fl33HG7nvnMZ+h1r32tgUYat0ZCOGYvr1fC7vwfvsHBEdNkvBDPenty3AO7yfTdRx9KVt1rZnZWY+MT0YFs3NinJD1+OMMXnQ8cOByjAvyMBU4rTVIt2PHt23dAxYUF12/25DlWt+oeJMb9+MREdKxd3iair+vEx0VuxluRA47eLZYX7VTb7JxzQq/m5kafZ00j45aKynaCFc7Kis/i9HU163dedZ1efPNFaiwkymZTZQ0KM25D6rRoJcoGCXkDsay3vSqOBGGyYK8GqAhJUEJyZrDqPiiEYAk67pVJg/I555vfgrenyjaKT03DZ0Xjk3P65T/9tO45MKNv3zWs//7uL+p7dxxULpMYlKQKlkHfQx3rWg83RsEcEpJPkhCijZIkUZL43Cl1Asxl00QltwMezjpWHhIDuMT1EvMKZunt5oWyr2V7pIKP2ZpG8TxrfZoaUz3xiryef01BG7syCiFVCImmJgckBUdsdomXm6hzvD2J3EUbEl7km0TwDCHEI/nQTsyWNO/IWK+3iVsaMsokiYFx6qOT9U98nbgOPSm/gsOKSRKUJHLiGMwvqCGfiu1NN9fbmCW5q92eJNJUJJVtO9Kij7cZcN3y7KeI3xUru0LJNw1F3wzec+8D+s9Pf1nzC0VdfNH5jmQ1at+BQ7r1+z8Wg6nP24qZNI3yzJKsCLKGDYoOHRpQzuvYnB0S86LRNzQ9XZ3u/xykHuctmp6eiufFYtHza9TzIhsjbUS8ujo61OEIGvPigV17tHFDf7xpOuRoGfzQE3uRYJLYBn293drgbf/pmRlHv6bcRlpKaTVlsxl1d3eKG6rqXBmyzJxvcubdXyNacDsZG25cbIsURHS7pblRb3jDm3TzzU+yG/iClr+ybifrHzabNuBYNOhbTlN/zbqFY2cOs+6FEOqL13weQojrdQhhTSCF7V2ihIwhghTIXrOwOsLUfQ6Q4wdi+e0yAN6J2lz2GJtxnwAsTnW9rhMbT7EZPLA1POEdC1b4oC+xNXT449NtL6wBZMjlSB/TFvJXS5TjG7EVYwObr0Z7ovwQgv1NoTpO7WMYN7RrtTrYA/0W7EuQy9hcjfZk+V5SViehYRgEZWjo8gFABx04cMCRh2Hxe2KdRvKrczuFkubmarTsUY+SvvQl6d57j6uMPjQeIxDNA1SEcHoT7DjGvmAQwY9OgD/GdvbRN53Oc3FkYPzT7XTq1ycGHfxCCF40p73ILtYXe6Eri0FOu6FjkhxHcJoXIYR4F4F82gv/5aywBbJrtglhbbYeGhzQm9/8Bl155VX66W0/VgRNXsRr/FnY6csp38XvP3AkOhOZN3fTtcW+uampRn70uOBFfHhoVGmaaKu3cZb/jAV8570VyDckF+3oNm/e4LoV27DiOlnxTbNJA7l2RwVy+Vx0BNSpJerwDAzju9sObTl/MxOLDpE8HBHOhjEDEMtk0hjZAxlV/EH7fFDFTndubt6gq6KXPuMRev3zHqFuR2Jyps9lM8pmU6UGHRW331hRWbct5zxkUR97JC6LxyTY0QfxhyMLISi+fAiJnF9NJhNFiYKyBnWFrMGR7VE0MPPBW1QVve9jP7KjbtVBRwmJMpaU1Z/94zf0uj/6hH5y32FF/a0A+vtC8IJnCEEhkBJFnaxvkkhVmceccuqMAu0wLd9WDCGYxsn5YYm+ZNBUcSo4opdJRZPkIoOx4P5KbQtSRtFWuYx29OX00usLesbVebU2ZdXQ2OG+XTTQHVewEhWD38RAlChXzjxpb8WdC88kBCVBTkGzjsRNzC2quy2vLqdMmihx/WoKSm2z1MQhcXsMwlzVbXZd55nMPHweFPMoS5wPfXMho9bGnGbMe9Jgj/HEdjtrScWOEl2e/tSbxKvkzi45ysP/Wv3kZ76kAwcH9PDLL4lbfjwc/83vfF8jo6Pa2N9rJ5G3LAukohMAecYOg/GcWIHUxuPZMih6u7vEc5CMQZPGdxKSuK5MTEx6PKTa6ghXa3OTeSZOwUl2QllHmTs1PzfnZfd+8VxZR3ubx0rZ88bbmJYHM5uTQ0ypwcLG/j41NzZozBFtxjly61M+n4u8+EkNaOa9jdls2UPDo27fmLABdqHzq7yDo2ud2r93j571rGfp+S94nnbtrgLuKHTpA4fP3JuzvqQqj6VCH5jDU1NTcRxBh67OPuN3dgkQojdr4+IyQMj6QDRr1vbiObH29vYzlgkD9N+yZYuQD9DDF9W3mXPsgE74RuxDvTNNIQSvaw0xwZ/2IaueL7bAh6AjPipJkvri0z7PZDIRBNOX8F9ua+YV+chHLvSnLayuIu0A/8APeyK/rtjLYUXYgj6Gbj1svSaL4fxp6IIRIMJp+KgXCQYcz4jxAGIIoV7X9Tl32E9Pf7rnqBfE//gP6fDhOHGZYHQ2OoWw/nJDCHEAMIFpL+2u73TCkdhkfRp5PBcmGnIZ8Awy5NY6fT0n2PFSFResmj2Ry6BnAHJeG5gcl9db6Rqb/ce/f0QsRO/7v+/T9m2bxIJco2XBZTJj1/37D4vFueAF+/CRQd8xL8SFGJATQnAV970BgQdBdCY8J0a9bebZ5aiVCY6+4Vuyg+Nr/SOjY9q4cYOynsxzXvzTTNYRgXGxbdBox9HgBH1kXf2IE4yJx7++aXekgK2bKnP0qJ7Bf8S8x8YnRQSiqalR43ZwFYOARm9nQFUxY9ISW29hlWK7nnzNhfqDn79WV5zbpaaGrG0eVHLzYjNdkQgWjjVnEIF3RCrXMXlxY8xzblKJQgS4cpQl+crM4tEffser2oeP0OUM+gAec0Xp+w8u6nE3/5Ke+7xf1+Ovf4Vy+Q3iOZ+enl5NzBb1x3/7VeH07983bOYw4FA9BisQgj9ryfKibsEnfjtbVvloItJXyKVaNDAlcmVO1XOAWD4RbaZOcN3Uq1KaBKVJEhP6ZtKgjB1/LpOa1snHS3fk9fPexrzhyi3qNGjYuOkyFeendN2lTQZzEvxSf+QtN4Qg/p2U/FqwzKGpovLm0WtQnIZEiYJMosQfRMCC6Twg/GlY4f70SSw3qUiJCTgGjv5Iask6J2mijMFcW1PGW75BI5Pzmp0vmV1FgFKbwNt2gzECOzo+ru/c+iN92+niC8/X9u1bVLJz/94PbtMDD+5WvyNQLb4pCcGCRLLl3AXMGR72n5ycMlAruN9G4xjjW8odbW3iZc1NzJlUttApR5Jy2Zy2bOpXe6Sp8ousTcacZ4ty34GDOvec7XrVy5+vq6+6XLc868m6/GEXeg5nNTk1Y/B+WAvFBbfHlZbe8GD94GcyGGeDA8NuX0kelDGhS0iC2tpbxIP/i74j4HfQGF/ZbEaDBmbMPfSseC5RCbPnclnxm2jf947JFZddpr/4i/+t8fGxJanVQwghrteZTCbezLJu0RbWLo7oRVmVen0/a2vyvKOSrHvIPnLkiA4ePCh8I89Rr6/EKjd8EP/XkrVw3759ERiUDOxpczabjdvRicdilXr9PkMI8QYeX4As2ouNOed4tmwdQhUQ1nwjPhF5HElNniP0xfq19Bgnxg5ykQf24IjdOccOyD5GfWZnyalUBwGizE9/+lOFEGJU7Gx0+kN0uuAClZ/9bM3ccYfKX/6yWjxTMdJD6NY5I4QQJzodzgPfDPSz1en1qocQ4qBH3sDAgBfTcrz+r7A1MmkjgJu7L/qcvHr9VjuvuF9uvfW7Hhfb9OpXv0qbvPC3tDQdJXexF/GKWDiGHOHi7pgfmBxztIrnXjrsVPmNouV9yyI9OTkj6Pj6fX9fz1GenMC37MgDzolFnm0UeNFvmVzOgK8YH4LO2AG3tjQruiEq1byFmbCgAqyYeDyrlqZMDXs+l/HGcVA+NDziy+AoQoedUskgsewIU7OBQxrbhg0iW1PhdHiG55zNnfqDX7hB11+52QAxtbNOHPVJlM9m7LBTzc0v2mGXdWR4Sg8Y/Ny/d0Tj03MKaVASU6IQgoIZ++Aj55JPeFePIR6q1/IrkUIITnIt+VXxeZA/NKc2HQiP0lzjo3Tnnft0+0/v0uTktPo2XKKLH/YMR2IX9Na3/U/t3Hme7npwQL/3ri/omz/ZrbKBTAhoobpXBZZLKVS3GVqhAAAQAElEQVSPdrwmizQhhHjkg7OCo3Sp8yYdOQrug4LBJ/muIkwe2+uLhJRKaRpsg0RJQgq+TgzMEuWyabRls7cYn3RlQb/23M1K5n6m1z97p5513QVRDy29go85A9E0SeIPuy54e3KDgRhbjCEE0wbzd/K5SeJ1CNV8X0SQllif4JREu0qcU8YxiflB8Rhsb4/FRUchSwZWWKvdwGze1/ywrFyedZumvdX9la99V5/7/Nfjlt4Vl14sYybdfc/9+t4PfqL21hbxjcYQXEG1l+eOeXJDMDQyqkbfDEx7W4p5wc0DNyi5bLZGHI8AIb7ByzgkisXD9iG4EbG0+sGYpXz3nv0q5PN68fOfqesed7VCQHY1XXLReXrhLU/XhRec4/GbEdv0g8NLoMts3JX+rL7RY4ujb9PTnrOOmOEzVHHZUgqB+dOu7q4Og7aiBr0W5D1Pi76ZItoH2EQnW3JpTslgMKe+3h698x3vEFt3n/zPj8e65nr0zbrB/AUYDQ0NuU4+gtWjBGfpJIQQI0esIXfddVf0GdyMos9ZEnmULV8MAPjt3btXADPW7jRNj5afrRPaBhDB1vgK5OY9ds6WvBrfEILoY9Z7fCPjhOta+dk6hhDiWKKdbBfTbsBndmm+rZfc42fmCbiCCB944IE4Ca688ko7oda4hx4n2wnqnWkRBufOCQM03nijctdeW93G/NGPZGXOlP0J64P+ASUMPO50GATowvGEFc+wEP7Ipe38ew06HTSOPmfI+oTVkQeIwdZM9I6ODnHOQkPZapUpO3Bgv17gbYUbrr9Bba3N4i64nh6aiu98J3xHf9iRMNo05y28oaGRGGkCZDU0FOqrxHO20QBBfLNy29ZNyhrExIKlj4o9wZy3K3bvORDXfJ57QeckTZQ6GrB3737Nz82q3duTOMyK65F8iO+i7yrHJ6Yk+52uznY7m9ROPxOvoatYZ3Tgd5yKxZLaDRrz+Zz4tlhrS5OBQXbJaeD6FHWoWCccZYu3037nVTfo5555uVrtlDMGBVmDwtQOOdiJlwxw2E7zXNfXf/Cg/uY/btP//Kdv6c//+Tv6vT//nAZHZpQk6ZIuaGP3bt7oiozgE+oGVV/B15wF8+YITSVIkSZJNF3KaTj7cP1k6CJ9/7aD+tH3bxPOvVROtOhUdlq0U9y+8wl6y1v+UP/tN/5Q//tff+KIVFYf/PID+qU/+7Tu3DVo4IAuOvqqv0oszCItM8QEUTXPuvuCn5KwKmpvziq1Pea9bUj9EIISF6RJ4qPP00SZJOO+4Ojk66xTmgRl0iTmp/E8xGue3frDn79OF2ztdFmogqigyCtIGnFEjG9CbupqiM95ESUzbjKdqjTmFUIwZajqHXy69A4hOE8Kqr58KVLijxCCz6sJ0F4FYmUBxspGWCULoY0thVQ9bXkVHRKdnq9o08aNOjwwpEc6ApUzGBkaGXOk7AdRnw2+4UjTJPKtSlS0OXNn/4HDVX0tl7kDkGFbkQfi4+CjQuBDWvDW/qgBEfNqu+dOmqbVgqOfFc/vOe3Zd9CAfErPdSTs2c+4Oc4VSOL4MdNKTLLcRFc9/GF6/nOearDYDokOeKubNbFSKcfr2geyNm3oV39frwCMgLMKY7dG4GM2l4vbmG2trfFfNTHPGxobNWWwOuSIGfOtWscauC7jpM2R640b+vSiF75YVz3yKt11911x/pmdSp7LRGpaWlq8/vS5/QsxYlZ2H1B+thLrT+3fHV122WURCLJeLxo8ny2Z8MU22J52n3/++dq8eXP8mQwAw9mWjU+gjYASfMWCd8+wPTqh29lKtAvfCCAEiGYNiJBL/tmSCV/ahRza2dPTEyOQtB87UL5eKTkZIxq6zyFRHiTkgX2cNHUSL5wMfMonJiZ0NgZ9sVj0QjEZkSmgCLm+FZGe8xzpooukj31Mjg3LYYpYtF4ftKXWJtrI4gLvQqFg8Q2OIMyISUgnkb9eCX7wBVAgN790x8Gg4xq9mIAc10tmjQ+2ZoDhHJhkIYToELA77aeMwVijrx2np6f0pjf9oaNiO3Trd7+jLVs21Iri0etoXDBnHPHZs/dAzAsh8R32kB1n4gW72+C+2fkst8cSizGLcpKk2rljq++KCqY59obvgh0Ozz5NOnq2fduW6JgXPGby7qeDB49ocGBQ7e2t8X/mRc7xwzx8XFwsG1RNedEu2rm0GRQ2uEBRVxY4t97niltBEwaRRCtaWpriTUg2k/FdcGMsp8/QpWKn5dqKE7SyqJc989H63Z97nDb1NKjgLbNcJhUpYzBWUfC9hGvYiY2Mz+gHdxzQZ7/9oIYcKSjbieN0Kkr0F//yLZVNU7aAiqQyMoJcW+LDXWQdKOEyiOsQgmS6REFJEjRfXNQnv7VLo9qqe2av1qe+elA/+fGdOnJ4QCUDwvKiTB5UKpUtq6I02+hI2IK2brtWv/LLr9LoyIhlSDz71NTcpr/8tx/r7X/7dQ2OTrui860fNkBHklW1ZHSIxT6HRtaj7GlaUaNtgV5QWD01eLuSyNu8gZlMTVmapMo4pQZsnCdJ4rZUUwhBIZDkvKDE59g0kwRlODdt6mOs4+Oc+Q4bjHW15tXTmvOYM12aqKmQUTaTyvhTZmheiVNQmvgYlpLPg4LiCzNz6mNwHikx/xCCKv4r2+kvmlnJBmVsLfp6fmFR2KOQMz/LBEi2NubU3JDKLJQkQfzY6le//p0Ywd2yaYPBb04hBNVe1J/zdti+/QdV9thoaCiIebFgB9jd3aFWgw+Lt5FrNWS6skYMxMrum53bt6q9rfVY4dLZosECc2RgaFiXXnKBXvnS54kvvVRcp+S5wfwjIae4UFTRc63k9pXdrmwuq2c97Yl62s1P8LwpqGh6gGLR25g6qowN5fPU7eZZtUbrzeMGcX4s6cABqkJDXn3emqVtI478QcP5Yc/feMNgXcsYwvw4kDY6+j41PqorLr/cN4LPF4Co4gLWyRCq9iNyQmI9hSflyFyvtGi99joyNTY2pvPOO0/t7e2RddYgAT2w3fT0dOyPWLBOH7SD9rAm13wSrJHLNiZrOMETfAm0lK1Xos0AotTgnjYmiVca27uhoUHYmvai23rLhR/txabIpY20CWCGXPKRDR3565XgV+ONHBK8a+1HPnoxL8g/05SsxgBFCEXy7UkeIuTXg1eixTCtvsNh0AMWqLcS3ank0enj4+NezCp21q1euFZQ0wNAz3++7CGlD31IsuNwhVMR8xBadKcdDGTaVANE9YQhhIiOKWMAFA0A6stP9xw+8IMvIGglPpQx8NGRhL4r0Z1KXsl3lYBP6jDQmWCc1ycGHWXkoSP9wyD9+Mc/6kW8R3/93r/Wju1bDFYLkMRuQDcSi/pe34HPLcwbxDTpyJEh8cBwf1933LKQwhK94nHRIIGHmXFC23lOrKu6yGnp5TU3LnCDg8Pe6hjRBh4mbm4wSJ5Vmsl7GIz5LnG/mr2dczRqwKpPMg90qm7hTDmS1+Lx1ezcurfXctqH80AGE7Crq9N3+ZMGFItq8ZYnPI6mWLWikp0VUYCrHrZNb3zt43XFue0GYIlwwkTGSG6qZu2kaej+gTH91v/8jN703i/pA5/5qebtYJnURALZDspmMnrUlRdqEaBkRyy/aALtBwAkHofoEMyUZOuZovqmrOzTe/eM6G8/e0ibLn2JfrinUz/+0d0asJMj4re4mNq9JSqWFkV7FZJoV1WKzq8ohEVt3Hi5uUhEOxfLQQcN4rKZrMbnE/3mX35Rf/7B72h61vTWD11IscLSR/CRiND8Qtm2CAZAicrmTjurDtYEfucMWBoNkJBRdpQuSVOlTol1CgEuJlp6c0WS+XjkWE8KKnwoSUJMaZqoZJ2OjC/E6/72vJwlozfTJz5AlyhNgwFhak6y/RclhfjmIF4YO2DtavKp+SUKIVGSJKYI0WZl27Bk57y4WDaYrdimZUccK8plk7g1nSSpx0FqeYlic4KsQyJeP7vzHgHEWg32QwhkHU0l8z1w8JAmHMFtaW72eB92xGdGHe2tvoloP8qjVgH7T/rmYXp6Vju2bVa/t/gooxkkbFaulB2NGtOuPfvU6S1DnhN71COviO1A3ryB1+zsbHwuEuA37JsEjgAjor6Ulxwppg9bW5v10hc+S5c/7AJlshlNWS7R7zieEFyXeIB/65ZNzgkadvSrZHv54tjbbedGpN/RQfQ45LFGe1paWsQ5a3LZfUoe7eCYpBlt27pZ3/7WN/Wwh12i973vb7wOVG8UaoxDCHHdSdxfOE7W2VrZ6R6RfeTIEe3evVtEpdjFWIkXazXrB7qvF0jBtgCi7BLoo13LZXNDTcQMH4qOJa/xy2lO9Zo2I5d1nz7BJyznEUKIvpEyaNdLLrabNrDFL2LTleSSTzl9jL3RdzndqV6jP/ywMTYN4fj5Cb80TWObsQu0Zyq3uirAuS4BrO6++24vHiEi/7qiVU8xBkZBKZRblfAEBTQG2dRva2uLd4snIK8WOVSrl75U+sEPJH4mw3eT1YJT+0QmnU4bmEQnqx1CdfBBB6BhonB+qolOZ+KEUOUXwkM7vZ5nCNUFhjsj9D3dBQZb1yYN4JMJXi9npXPAN/a5847bHQnbrJe/7OXi1/C7vLBDz6IPX9nFLdo5DQ6OiAeP2wzYATjj4xNiW7DXd8MhJOASqsVEvRlvVYyOjmnDhj5t6F/5ObGpqWnt2XtQHR3t6nKiTjaXswMsa78jufl81lGD5qM8K9YFfcgolooasw7crfPtyTRNhLXjh0+gnZycjhEIIhxdnR2OhM7HxDlgBHbQcYQneuMwezsa9OZffIKeff05dsQZZTKJ0iSJICRxW4sGVvaFmpqa1zv/7mt6x/u+asddiY5Qfm3cuMGL+0ZH7EoGiS3CwTE2So5ILNgxm0TuegWDDhIXIVhpCmrK+DyEoCmDpHf+4/c1nH+sLrzs6frB9+/ST3/yswhWFXKC3YJvJEp2ikmSNyArabE0ZzMtqlicMbdF05SUL7RYTKJF92UulxX9NmvgODQ8op7uTu0bWdRr3vFJfeMne01TQbqT2fh00cCabxnygDwRIqtlvmX3eTnScM1JUIjAIg2JGgup8o6gLdhW1NfSK4SwdCZxis2DgqovC3OmqyskQfbZGp4sasGRsY2dBTXmUykEvxPR2yFw7iRewR8hgqaGfEZF61z0lmIIwfRuR3DyoA7WPIQg+IfgKn4v2iakknUtLZ0XfY7u2TQot9T/IYQ4DuR6ZfMamy7pnz//oP7jY59Wr23IuArBhRCo+gJ4DHgrn+hVR2e7iNACiFp9M9Djm4N8LlclrPuc9w3PyNiY2CLctLE/llic7c2pbeQ2zM8v6MFde2PeK178XD3jKTcqseySBwTrH3Prjrvu1Qc+/Al97Zvf0533PKDp+aL2HDiiH952lz7ysc/oPz/9JTGHcJIAM2xw3jk79MqXPFfnn7fTa3Y2AvcB3zDRT0iv5scmhQAAEABJREFUT3xZhwf/kTU26ptuj++oUE1Z68N6wk9lFA389u474PnQ5jm4IMBpyeACvpC7d2LVJt98Afbe9ta3ikdLPve5z3g8ArCPSc4uARjqsu6VkXuseE1n1AWs4hu7u7vFjlHiOX6iyiGEGDkCpExNTQk7n4h+tTJk42dY71mvTyYXPthi27Ztvgk+4gjsAZ1Jm/E1gBLWf3ifKKUGKei46PWFNqP7iehXK6OvqY/tkB0C82Q16mo+YJG+po+xVTX31D6xE3LRH37IPxkH/DE6zszMeKzOeVwy505W6/hy5Cb1WRiAiBgdf5G3BNvb2+uLT3oeQnAEoUUMFnjA76SVlgiY4HQ6YGgtnb5U7djhSU+SeL7s05+WfvxjefQdKzvBGTqOOxqH0THoCUhXLKLzGXxMNPRf6+CDDhvR6YBP5K8oYJXMEEJE5iEEoT98ViF9SDZ3EAw4BhsD6SEEq2SMOAr59Kc9WVdddbVamxu1YUPvUcpjC2RFM75T3uPtSb7NOGeAPDA4FCNW3P0C6o5WWjph4hCNaved//btm5XxVhJF8KymioFCUUTaGOYs6IyXip1YNpf3neq+uLXd1t7mHA/pimvXkk9Ldpij3sIpefsOIMGCITuoOpK4dTQwMCz48k01+nXS0YaW5iZls6kYJ0wY6gZLof+ItC0a5L3pF5+k1z//KgOKrB1xav2TmBI75qIdfMmOPuOF++8+9gP9/rs+p90HRsWr7O2tAtvSVqRitIZzKxTyHrrlmBYWSnaYUmo+c46sARioJ8vn7WqxFYs2Es4eWf/4qZ/qJyPn6jkv+UMdOLxgIHanHfqMKFs0WimWFny+4OqGGZXgdk0bzM55AVmwjWcd4Sk5FUW7kiTV5m2P8AIzL/gv2okBBtI0pz37DhngjWqDIxrv/vCtes0ff0Lfum2vTKKZ+ZJ5VgyugvUPKrtt2M7KRrnyyyorTRKXJwo+0udJ8HmQGg3KnLUUtZKC8+RX4mMIQYlTCD4mwWU++rzitvCjrOMzRXV7a7K1MesymRYZVZpg/lGGmQenxPUT15Vf2DJnEEWKtja4qlQqCiEo2A7QhRBsJ4m2lG1L+os2eXhpoVhRmibKZqAnuS1JNdH+ivW7c6hRbEOnaaqtWzYqoTxo6VWJvMcnJm3bA+LGYtEOjW3FQiEntvQa2RVYoq4dSgZTALe8x9GObVutQxqLKpV48Ecl6vuAgRgRzuc+88nx4fzGpgaVFktaWIqI/cxA7EMf+U/fMMzoyisepu2OsDEPpqdnYiT5ggvO00033aDHXfOYCMw++dkviy8CMF+KBklld/wVl16kpz35RmHjJAmxHTMzBvpRC9lUlZiCyzb6pqu3t0tDBp4zvhEzyXFv5h+RWbZb+UIVgJRz1roRb2syd+ifyNWN9dvArVUb+nt1y3Nv0cOvfLj2799rmx41ROTP+sM6D7BiDazyiEUn/KAv7rzzTs+FOeEb6cMTVlhWCD3rbQghrlXYaxnJqpczdvL4FvzMqazXMGSMbdq0Sb29vWIbc2ho6CE2gW6ltOCbL4ANYwubhXB0sK5E/pC8Wj38Dfo/hGCVDGyDXPoGm2G7VUhXzIYeW1G/xmdFwmWZ0GNrxgbtRf9lJCe9bGpqEmMM345fW6HCQ7KQy27kvffeq6RWus/Rhf3794s96NVCsDXakx0BFxgEw55s0Jc8mZlkNAIjnIz3CcsLherzZRs3Sh/4gDwjVyXHCBgNHQFEDNxViddQAIgETNKhpNWqIJcOxy7Y6HQ6vZ43tkZ/Fgx41pctP4emZuu//Iu/0PjY2HKSFa+x0Vvf8kZt8CJ6++23C9CUpNWhw0JIm0gMwAce3GuHv6h2gyOe70I/Fkm2LI4xry6S6AMQK9qpnHPONjuhXCSp8WSxhebgwQGNjU3YiW1W4kVh3gtFzn096MXl0KHDanc0FaDglcb1q4s+dUmTjnjRH0QimlsaXV59I8PeweCjrEFH8nCEra3NBo5NXjCnxHZno50W7YKuyrUixis6FT1uX/Gsx+htjoq1N6Xe+soqb+AGeMukVcc9byfN9a2379Uv/vHH9b3b91eFL32W7dQXigsGL4sGQ0WrX4kJeZDc8+Bh27KsxH8Fg5ScbT4zvxgdLHXLboT9vIwa9JUf7NE/fW1clz/+lx2hCPrsp76ofd6WIoKDriUDR5xnxVuP5XJJs7NjBl3Tbv+CU0kVg8MK25WVsnUpqaGhSSHNqqW5x/aYtCkram9r1Qtf+Fo99Rmvt3N+tbe8LtLe/Ye0ectWJWle/2AwOGcQaVwjktWzrhW3z+2ShL4klvUQ4qdCkog+JT9SVUxoA6RJUCGfxrqzbnMweSxycfVY/fRl3AY+Mjonfv+ruyWvxHVJLMyp+4JjkliO8+FjVlQT+lW5kOPkNzrks0HBtAuOsvlMic+DE2OhlmJlc5k3DeWNhawyaWpA5qO3mzl3M1QyqMq09OsP/uqLjjr9UOfu3ObuCjFJQbVX0dGg3Xv3KYTgLbZGby0PR7DU091lQNQqeFVp0dCXVp4fUuaG57xztpumpVp89JOWVXTA8+PB3ft0xWUX67WverEdc5fi+HWEdMERM4DORxz5mvc5IInj3Ny85nwjxZExw40HcwhwNuUIdWtri3ig/otf/bZ+dNvPvE04Y/BcdFtLamos6JUvu0XPiL+zFjTnucr2KM79qGpLJ1lHrbZv3+IIUsHtHYo3Q9GubtsSiQoNBfX39Ua+RwaGNDu34LHZoN179nv7dlplA0H6xBZZqloRv3c4PTHmCNa5+vmff7VmDWhq/DiGENRkx0maOknUCt4Amb179+qSSy5xZL4DFqedaDN+bm5uzuB36oR8oMFH4Vuoc0LikxQi97zzzovtJsK3Un/UWGBT/ARzBh/FsVZ2Okf0b2xsFG2hTSfiQX9AAxBD5xPRnqwMTAEfxjCyT0SPPQBv6Mq4OBHtycqwFz45hBDbzBharU7R8/Cee+4ROODCCy9UgqJ00IYNG+xot69W77TyMQiNq07m6eN41DodZWvKH0dwJhd9fdLLXiavaNKHPyzP9KPckIc+JAYbOh4tPMOTEKoTHeNiV4xdzxJnTj6dzkCpLzvTc9qBrbkTIdXzo81jY2NesCriDgnaF237hP7k9ZfFPscW9fT159/65tfV0d6u9773r33XzOLZEItZM+HLQkhf7tt3UNO+G+62AxlwRIy7WIBYj7dlYoWjH1WHwu8dTTgasN0Lcp/vlCmu8oxn1lXWdVSAuo2OxDU3N8aFP+8oASBr/779aigU1NSIPjgf6h1Ls3Yw45OT0VF1GBy6a44VLp3h0AZ9h15wVKqzs8PAY9oAoKwWbw3Fti2xrWqs6MjGvOV57rY+vf0Xb9CGrpwWHAHLRgec2BmnEVzM2UmnduCAoF//H/+p//jyPa5bVpomqr1SO28ceW9Pt5IkFdu5IQTx5w8xVh7cN6Bffsd/6sH9I7EaoCXnCMy8I30zcyXJ9BUF/Z+P36sLH/9r6tv0aP3oh3d563a/jHE97EuxPSVH6KSMEgOs0mLRNSwl0J6iHVopArIFA8MFR0syuZwam1oMyhYMMDIRB+QdhXzJS16vG29+rR54cEwP3r9X2K6jc7suu+K5Gjgypl/+1d/RIx5xtT70+dv14jf8u9777z8w77LlL7ovK06KrxCCkiRRmiQ+WglLiLaWZHzqT97BuRxlmwYVcokd+6LmbddKzK6YtqIFXx8Ymovt2djZYH0T16tShBBiX/hT9a/E+SFYrslCCFGvimuVDUgXCXUxCF0hayDXkM8I02FrymqpYkXnHUErmR7dMrEvE299ptYhVWq+ZdPMlBK94++/o3f+zafiL/I3Glxo6VUVY8nWY4+35fgZi3bPM0AHY6G7q0O9PV3RTlZvqVb1MD4+Kcbhjm1btNE3SfAiVUvN0BWGR8fi/6dMPbZe9+qXqP45Mfp6zsDm3z/xOf34p3fpsoddpNRtKHnQLDpqViIZIJZ801F04sjYmPecmjNYKxsEAc6uuOIytXV0xy3O3Xv3xyjzgh1M2XZhXr7mlS/QheftUAiJRn1DxY/fUnZM16rGrFs7dmyNc2TU25hl265asvQZFKNf/Y5+LVof1oQmb1N2d/eIdWfRoLdsnSq+mZDbDv8kTcW3sj/9qU+qo6ND7373ny8xO3YIIXiut4jxOO5dEtp5rFTxNwv5sgBbk/zweX3ZmZyHENRogNLU1BRBGYChnh9tYb1mncZHhWAD1BOcwTm+B8ePH7jvvvsewglQgj5tbW2O8mceUn66GSGE2IeALNpGG+t5IXNiYkLYBNvUl53pOVFF7Aj/OQPhen7oQd8z/qEJYf1snbFfgOeCb0qQXWFg1gnH/kTG6I9am70+BZFB5TradTsNIUQjMxBqnQ1gwDB0Oh20bsKWM9q5U3re86TvfEf6zGeEYUDg6ELHLydfr+ta58KPjmCi0+lc02aOZyOFcMzWyK21lyP9C7D69//xRO16/1V2cql++dkb9JU/6tVLnrRDv/3bv32cSmOjI7r88st085Ofor6+LrV7OxECxlR1YOFMKuIh/UOHBtXm6AnbD4MGYy0GNP193SbHOfhQ95729sTQ0Kh4zmXr1k1eDJecYiTlo2JgNKNdvqvnAfee7m5NedskzWS16IV69649drRSS3Nz5FqtwTJcTYtemMfGJ1TwFg5RsSRZmmA+BIVYh60WHB+Tsaur045g0c5kNrYx60nkNT3SuYU+rUTGExNTam7M609/4yl65dMuUjabqq+jQS3eGhsan5f9hD799fusoxypyeoN7/6Cfu8vPq+pmQWNuy7bt4t2VJHx0geOYNRAOeNwEg/aE+0b9rbwhIEq19jZTdb/+IdvRn44M3QmAlfIJ5qeq+jO8Uu04+Jn6stfvFX33X2fhm3bxXJqvRNH1xatT0UhZLVQnFGpOKtKGV3nrMGiKnZgi46W0ae5XEH5grexDPaSJFU2lzMAHtVTnvhw/c7v/6WB8YJ+9P2fxP4GGErICOYfdM75N+lv/vrvdNWjb9Btu2cF8HhwYEG//Gef0233D1iOxfmdJIlS8w5JYv1CBFXOju8KSvis7HT07TzyK87IO0KYtZ3mDEQXSmUNjM1r2lujm7oK4rfNTCK6OuHD88Bvsh6S4EWigGPFmtRkhBBkY5lPVT/yg8vd1Zq1rDm2jS17zkAwmwahT0gSqkgKbo+cypotSn/5bz/Vn/ztV7TBIILnprT0cpNsj6rkMYOAfQcOqsc3MUShhoaGPa6btMHbwMzXpSpHD3MLc+IGgq2+bVs2H82XdawlQNP9D+7RmAHQ6179Yr38xc8VzSoZbLEO4Pi+8e0f6Atf+oYuvvC8+MUa8osGYOU4Hioqe9DRdhLnjNuyASup5IFOHnxmPJfp05tueoIWK4k+9snPi29Tw495iIJ7fKOWuE8mvf2fpomjt0e81T0SbQB/7M7gpVkAABAASURBVAEdqccAFHtNT0+L58vIqyUsFkJwhK872mvKkbo77rxbbb7ZAhwCzNAPnjVbULe1tVlbtmzQ29/6R+pzpO073/022cclbN1mAELdKUfM2MFge7Kzs3PNz1DrNF4hhPjYSWrwOO6xUDSYxUdiP8B5kiSnwfXkVUIIjiJudATxHBH540ds8ccTBkRE4vCPJ+dyehS0lbbRRtrKeKLt4ADASwieg6fH+qS14A/IRR4gnvZic/oevU7K4DQJ8vZFyGZcM7b4cXLsfu6553o89x7HNaEDjss5SxcMLoyOUnQChjlLoo5n60G9eM01mrjiCqVf/KJadu/2AnX2Or1eOBM9hBBD63Q41/XlZ+u8ZusZh+qZaPzrkV+65Tz96L0X6SVP6HH7Wd5Iik7lXb+8XU/f8AXt2NSmv//7v9cLX/A89TtiOjkxauDUZ/rgBdTLXFw9Kz4HNE1p/4HDBtuNdvZFERUreOD19XY7r+Goi6i1kQlwZGBQrQZrO3dsUTabMR94QoEuFYOaxQjEEi/g/LAkk9bSxO+J7d9/UFNe1NsN/GhftQZ1q4nFdNxArOy7ZRZ2AFO15NjnrO/uBwaHDTRmRUQM8IWjAEDkC3krU6VFJvxIPAOzsDCvP3jtk/Tff+5xaixklEkTZZ1Sp1w20X9+9Wd6y//9un5434h+888+5e3JT2hobMYRqqIalqIiM3ZeIRwbd9ijwQCorbXVDlDRxsvnBPzl14IjV3sPj+vVb/6o3vLXX1HF244PzF6qveUn6D4DoPvv3RWBWMnhnEW3v1ic14Kddwjut7K0WJpTUNlyFp1KWiQC4i1MFqMQgjLZnOyDlXMkLJcvaHpqWJdevMn3Ms/T7gML+uwnv6L7H9ilWUdVSubv6o5WlSLgk/dMK5Wyevsv0vv+z9+J32dbNLPRsXG1tnXo7z99t4HZZ3RkZEYhJAru24rbpGgKa+UxtehEXsX15BM3Qzj9Mvm+rnB0WcVyZg0YRyeLamnIxhRZmVdIfBaCgk8sQj4jQ1bPx2rXmpXMRpG3c8sG7xXzDiEodb00SZQ4IRfwW3L5okH0oo9JkDgWfZ0xGAvBAl1PZmoW5llWyWW3PjCnN//Nlz2+cwYCGxWCK8ryI11FyJuZndeevQcMTjOxHj9mnMtk1d/bo2ZHfkzqGsfeC3bUA77Racg3aMf2rSJiWS2FkmTd3C88J7bvwCE95ebr9VqDMdpScmfNe/ywPfmzu+7Tv330M2prbdG2bZsFX8ZW0WANOnQjYZeyDVWxvctuO2nRbVu0jLKBmVsj1nDqsr7gZFKDikc9+lH60e136eOf/IJuv+Me/b9/+jfbIautWzZp+9bNjqDPek4siHXwgNcOwCO8Kjag37aNlKSpAE7djqwDUOdm56pNXfqktRmvHRsdGWx1O6AZGh4V56Njk+IbnOWoe9XW8JWC2jta1eQbqife9EQ98pFX6cD+PVr+wl44y6GhIW3dajt7PVtOczausUculxNgEP6FQoHDWU+0d+PGjaLviATSlyGEsy4XAbSx7LEFHsh66xpdyD/bCTnIq9ma87Mts8af9Xb37t1eZ3NiRzKEh9o6wSBMqFqls3Fk8oJGaTx3Ha2trXYKi0I2k/FsyIQnvEHhLKQt/f1Kn/IUyWFi/eM/Sg88AMlZSzMGQyQALwi80SFqrhn0Z02oGdPptBlU/s53vlM3X3ux3vmcQb3jVVvV4K0fkyx7V4SzOXdTQV/9swtUuP9P9alPfkLcqdJfLGik2sI56wVy954DXpDL0TEcPjIoxhXbK0S0QvAgY9WsJUvDmbB479yxzQClwTnmRjnezAn++71Aj3srZsvmTeYXBH0mm/cCO+ItsSO+k2yKizu0JFeLfPhgHGFbtnmIRLGyBzcqBOtigrIX6OHhMU048tRkh0fEgvNCQ15NccvTdNbHS7irxhNv2RU9Pmf04qc+XG/9pZvU05ZV1hGaNEkjIEvTRJ//9n36nT//vH56n+/6R8eEY1VI1dTUbEdrPpaNvUII3qJo0KaNfc5RbAsnU44E4EwAhKkdUSGfU2dHmydsVu0xIhmUuB2ZTGqejbHJlz3icbqv+Hjdfs+0vvC5r2rXg7s15+hNqZyoXMnIARzRXoVExeKc59ms07y3JYuSSj7nuBjBRd7gK0nzwsHlfT47O61MMqXnPvvJSnO9uv32+7R31z4Vvc1ZMbJJQjb2+6KdcghBFS+opcV5AfjKjrQ1NvfaqUyqq6vL7W3SoSMDCiGota1Tf/xP39P/ev+3xZy0Iqq4TziPVvJH1NkFZfOsOJUNBmhwBTqn6flFHR5x9C2fqqc9p0ZHCE0Wt4yD2xqSRCGEalIinzgp2qJi/pGXj2VfxERlXwfXhTC4PvmLNmA8uo1lI0N0nC9CKDXkMxGQUwdgVrFNAJOlxbJ+8MCU3vK+r+oL37hNfPM49fjQ0qvi6rICRKHY2lvwFkbeTveIQRZAh7nT3tYqq2+qpUo+YIsx32QsGgjt9JZec3OTaYJLeEembl9ZQ8Mj2rVnv6684hL93Mtu0eaN/YLvgoHcgsHYmMHxv33s0x4PJV16yQVUjvOr5KhYyYAN/mXbGFuXbZdaWqT9S9fQkEoGb7Snel4ynwWDrHnhQxbcrk2bNmrM8+zgoQERAWfsIjCby2q7t1i3btmoEW9LsibPeC3hizolR92wj3zTUEs502/ZvFGFQk5sdaIrfOoTc3eDgRkgdsTzj7nGON5vUDoxMS36jiRbFZ0BPhs39Gpo8Iguuvhheu1rX+M5PhVtSJQIMMb25JYtWzzfmhypn4ztq5e53ufYbMKRKQAKW6v4C2xZAwzrLa/Gj/5DLvbp6+uLz8ch+wH7Rfq/Rnc2jqzXtBEcgG/EV6HL2faNRHXxjdgauS0tLXHs4juww9loKzyLnoc8J4ZcdiNZH8lHF/qB81qKEbIaOi/FiVErOvMjjUQoRxqfpmlkGkIQndDQ0OBoxUxMsWAdP+h0OphBRvtC8EJGYhuTn8nw4qF//3d5JVlHqYoTmMn0/3l7DwDJjupq+NQLnWa6pyfnzVFhJaGcQBIgIaISiGQwBmMbGzC2P2MDNuD4GRsHbPCHwQZsE23AZAtlQDlLm+OEnZxDz3R67/3nVE/vzo5Wq5W0+nu7XqqqW7du3br31K03vRJ+DcGfMWyXLTg0+CmCMslAMtFE5ONT9tXASqk1mbZv347Tt6zHJTU/xPc+vtaCiaMNVfg5en/0yqXzv/zMDB78p214y8XGruJFVwZNZ61q84wypdO1NKrTmGN4X+CmsaEeDvt3lFLlapoAa5oOZTVXx4paGVNpW/ogmjKSAkr6aYz2tlYITBW4xx/jyjRHQDs4OASfq6dUMoWlmiQsR6QE5Fl2jsZfUbd6bl0YUynFQpBzUTszzJ+YnEIiHuP2TAPrMHrECaK/nnSMo6Iy1zbxQEcWYJaRuDM3duCP3nsVztrYhJiAmFuhrW7m8iV8hFuS9+8YwwKjRnK0lf5HpJ+HxkF8a9WuBpSnaIDeuzJGdCL77o+cjsZrnluykq/OM9zebGBfprnlpGdgz0M6y1Vd3fiDj3wKtdltuO/eJ9B7qA/0l4h4CBkxKzGKFxA4hUGRjjfPfpRgjEFQLtDhFBEQMOkvJ0vUe4f9TiRSJG0oX4I4RdQKk3jlVefhmmuvx779Izi47xAmuP0ZEhgFbL9I510o5iydMoFeSLpRWIL93bKozHbKiPkpxOIZa+SMMaivb0CREa3B4RFoDg7OBHjPn/8I/++/H4I+FgCTtsYppDKEYYjqWeMX8L5MsDM8qSgJo3DZBAGj5MfapO/5hm260PtcJW4jGhhm8KtTBFhAwXPIR6IVkJbaANsCyxpjwK9NAUGPLcM2da0ili7rxNmOx4GX3DSWcW6fxn2X4DTA2BzwN197GN+7/TG7/bBcD0VDfYsoQ4H1SQIjLVoEHmQDmjhvFFF2HRfHfMjzPLfkpA8CECqjdo+WYQHeSFcGh0Zs5EmATnNROlwiCCtynKVz3/3+Lfjh/96JM07bDIEj6apNtPXqZ8j+Reyz5BKR4YjjESqR55DPJROdlSQ/1VG5MoGZrnUuk5ZoPvDAQ9ixfYf9IWfpNll82ld6sHZNN7J1aeg9000b1iBfKGKMkWs2f0x5YwyBUQp6F6xQyGOaoOuYArwxTGluS+pnbEKO4ejYGBc8tTYSL3slOYhfUDA6qw3f96D3Vn/wve9h9erV+PSnP4Xm5mboN8WqcjbGIE2HrfsZbieqr2zqlH1Fb5ZAzBguWBigMEY9AXXR2EWrfMc87WuhUMCp/uS4EBRIUP982lfRN8ZA/knvyo2OjkK/tqAxV96pStZez83Z/sn3G1Pps0tcIHAmwKw+Szanqk3RUT8ka/VVfdaY6rkxFVkLi6hd8afnpzLpPbGRkRG79b28z+JF2ERzR+Mh3VS7jg4SiDLFuAyFznr+QpIaUQdFV40bUxH+cpoSjBRP4EUCkZIsz38+11Jgta3OKxnz9HZpmYCtW4FrrgHuvRe49dbn09QxdaREkp0eqs/qm65XJslC+cYYuwJ7obLWQArhy/BIfhddcC6+9w9vwg8+1oRzN9UuNV8x4JUbXS+XyfLrSolMysX73tCOe//udHRn5tB/eIhbkpPW0E0TYE3TsWhV2sxtBZ/GrVLr6DFHgKF3XeRI9BMV0q9KrtqOrD+cm8uR7iBp1qChsZ7bYYtwHBeKOPT3D9CZBty+qYFDObEGzWmFgo5SYm2Nyeg3NGbhckLr+fI0R4cmHsp0HHJWAZ3MwuIi0owy+J53pKho60ZynCffrY21+PC7Xoobrtxo3w9zHYc8gMlYY6n/+ud3/+bHECjzacw0fuJDZxl7regd1hFNvYCsyd7GbVzxWFeXJTDxGUVawNDwKIFT2dIs06GpfdVJcovTsL6ca4xOX3L+lV/5IC667Gbs3DHAiFgfFEkUcAFiNkIkpxoKcCmqQyb0218hgVkYFik3ghw+L1MOrucjkayBcf0jMlvITeCSi7biuhtuwtBQHg8+8DjPYxwHcJwcjoODkIBPvIWKCHGrM4wCPi8hICALLAgsI6ADBwyaWzZyjbPIupQseXFdh9PNt9FDAZJaOrk7Hu7Be/7s+/jCdx+FMWoHPNgvDxHCCDaNTBcwt1hCU10cMdKJSC8CKywlw7P0Q+DIY36eoEzjzGKMtUTsOyp8kKDkpfp6KBqGTYKNR8wrMypWBRtBGBJEhsgTSPqugU+6gMOiDmsY6J/GeqHk4Ev/uxd/++93wo8l6OCbqL8qozaVIpaPMMW5ovmTzqQhe6gttSTH2L4nVp07hkX5VY0CFzxaQAjM678ecl2PfRA9FhDzTHmW6esfhGTb2NhgF7dvuO51iKdqMTQ+g0P9w9h/sA/7DvRA//dkklEm8VymngUELQH1IWI/9UwyqcpG7Utqen4ksXyZuqN6ZdZXAnnQfUg6Ktd3VY+jAAAQAElEQVTb24f9+/ZxkdEC8W3MUofE8jGp0oKys9kM1q9bhWFG2EWjra0Zo6MTBGkzSzUqZTWWDudDc3MTWlubMMtF3tRyYLbUlE9ZatHX2NCAacpcfyiRSCSpi3nq8ygC9kF9Fe+VMwFXphbZulr8zV//Dc6/4Dw88cRjS20fPQkkKJqi/spHHc15fldqW3QkR4EDnzbkeJSMMbSNtRxj1y7wVP545ZaendQpzwWs2k4yEJJghNaYJeEtqy1Zt3E3aRW3bAcGBjgmo8tyn9+lZCffqL6qz2rjeJQka+GBEhfM4lN6cbxyJ/tMsla78o0CfM/Uruu6EF9qX+VPhawFahVtXLNmDZYD/eW8G2Ps3NVYyIcraugsL6DVS21tLdQBFVied7LXAkSqq0FXMubpg76SlgSldiVAIVkN4Moyz3YvIUqYoqVB1fnZ6lDjgauuAi64APjOd4C9e5+1ysoC4jnHFYdkpj5IhivLrLw3xjAy4bP5WmukVX9lmZO51wSTrCWvP/7jP8Zvv/UcfOW34vit6zqgv/6q0JD8lSp3Tz/K8Onp08u01Pv48v/ZgK//wXqsbTYYG5+gc3UhIKZoljFLdXRiKtFgj09MoYaRQG2xCKiIciVV2inTMB4mwNP4tLW2MMpQRkin6DgejfMo5gnUarit6HGSyDlUalUohHQic1w1Sub1NOjxeKySsey4uFiAnN4it0Nk9GM0eIq2xWMxKn8MYrlCt3JU1YWFRZAJvPvGi/DeG1+CxmwSno2KOXAdA8NUZiShQCe9r2eUDjLiHCnhMCN4msQBnZZDpyFaASNWgEEyEUeZz5U3xi0l5Tuk09jYiKamRuje9z0L0MBPguXFq8rLSaVoNN/+9l/Fu9/7x9yyCbB/f++SYwHbN6zhHwF0NgIUMCJUXqTjySMgOAsJlAL95hiNmzEGCTonyVKgzKWTX1yYx9rVGbzh9a9FMUjjvl88Bv3mlcBewPGQUcwXRStgPwi+SA9Rke2GbL+MkFEx2wafi248Fofj+WynDuUyZcuHadqSl7/8BkbdfgUXXnQDWlrPJBCdQHt7J/TjtQ/sGGRnSJJfFidN2DQ9X8TUXBH1tb79L44iC6/Adg0qH8Nr3vMmIjjgCRQ5wZNBmfLP5csQD0eABr26YQHjyNzpCqwfUVYBt2NDBEGAMsdXv9WWLwYwxiDmufZsjAOH4xaRhvRPOnD3UxP45BfuwMR0jiCklXPZQ/WjcqTOeV20EWbHcclhxDEcg0e5tzY3IsNFgTEVPgwrKpWDMrcepxCjTq9mRFlziFlLX0knIo8Bge2IjYjpxX5jDIxRclDm3JP90dxJ0NnGGWX2OR7iWXIolwP2M4TuI46v+KxQJbfsm+4pFH4rT3WvpPIhgVdAGQWUke5ZnOVCjNMeHDxwEFrkCDC5nLNLDC+dKrTYAu91zdOyr+M43KLPcis4bvuVSddAoGpgcMQCqUpR1VMC56RH3WlGfV2GtmIMWmBVyhw9xuI+2lqb7fybZmRrlvZEzniKEWdFqNWnSumIfQDH1oGiljOTE3jZy67gGv2VOHDg6X99KLueol2T03y+9lp1Fxj5F504x8cYU2HlBEfZF/EvuQukHOX/BJVWZJWpG6rr0xZKRyT3FUWedqt2tXUrXhXlmaEsn1boWR6IZ/lktZ/mQuzp+vF0AsYY2pAEari7JP+m9PRSz/5Ecpa8RUfz4dlrVPRL8pGuS17i/2TqLS8zMTFB/TkA9Vfb35L58vzjXUsu4lNlnZUFjKkIRAojxVOnVpY53r0MuDqhwdYg6ny8cid6JqVXRzSAEuiJylbzpKBqV0KUMNWpat5JndlfzkjY/x+TBgJf/SpoaU6qqnhUEvBUMubZJ9hywsYYGyZWXfVBoG55/jNdSz4qr0nzta99Dde/4kxc23oL/vJd7WhIe8uqiZ+KMQN0jaVP9dnSrT3pWbVM9Qw6EYPzNtfi+3+6Ff/wvvVIxgwNe8AaKs8Tv1JcgSBFavT+TIarTj5e9q2U1Xti01y9ajXs0MkJwOklcv2Kv4y7Jk51/GwNHZg0xooc5Bm+r2OkIZVKWkOqBsxSv+QspkhbgE36V5+tYwQyB4+gR+CGokZERxQyGaNahqCqCP2I7bWXb8WH33U5NnVl6NQd9tmF69IRs5ycmbbDXMfBPY/14Mvff4yRuxQ8Oju1Kd4c5jXU18Fn5C1Bh+qwb9oqLXArRnrp8XnECJL6KAOjPsZiPp1jdARUGUN+SkU68gIuv/yluOnm9yNXyOLhh7ZjcGgYudyifT+sTMBR4PZkmZGqSJEq9idipCqKCqRXhn1GOmWCsZCeUzI1xoFhiseT3E6cB3eL8KprLkdj80Zs397D7c/DWCAoVXlWoVwEwCIYOBzrAoJynnT1rLR0LiNgBK5MJ+1RDq4XA8i/S8ARkqeOjjV469t+Fa967a8S8NRidGQKpbLD6EkXtp7+ahRLCVx62RV481veien5PG7+yH/hH75xP7d/yxibKSAeY9laD44DghkAMJY+2EYlVW8rwEx8E6vbsiriE0yXGPUqFCUPQHUMiRljdEnAGlKWSgH7wUQZ5hldEx2fQMxzHZZTWcO6oFwjlAlGnjxcwF98+T7cet9uNDMylWSkC0sfyS3ioUzg0z8whHku0uqog+ME4wHrNjEKnKXg3RWgJSTjk1MzFoB0d7YjQ8dlDNtdogv2KiR/ivaOcltPv2KvdtkUYgReFT0roMhtStlgbR1WziXKvAzxI75CtqP+6ToibSWeOJ6VK9GzVzyI1uDgGEa5H6s5FXCcRScgaFRfytQ9RcVinFudnW2IUZdFS7wemypPT3hkV+OM4HW0tcBw3gwMDqOzo83K//DhYTs/KvUj8krq5K+mNoW1a7q46IxhdHQcAWVeKVM5GmOoa2kCsxa4HMuR0THqfRExP4YRRuFy8wukRUKUrZUHL332oaW5Abt37cT5512Aj370DyvElh0d6lCSCyXNqXkuDBV8WJb9jJcaD5WPxWIWaIjOMxZ+hgzVlV2T/ZBfFt/PUPTIY4252tVZvtFdoXtHCp7gQvU2bNhgx6Onp4d6VjxB6aNZCwSeko+AhrDE0ZyTuzLGWN/oeR7UhyK34E+mptpUebUpeT1XWRtjoLriW7Qk75NpV/wpIiYZC4hJT06m3vIy6quz/MHyaxEWUyqkDkqpludXr6UYytdZgydnU817PmdjjBWIhKJBVXomOlJM5UvwKm+Meaaiz/5cdal4uPlmYGysso1JQ3S8iuWlFYcmiWT0XAd9JU3Vl+yMMQQRczRCpZVF7L0mlvockK8nnngCl1z4EkS7/hpf/lAbwUSSZdT/auItDY6ONGM80erweOJvtUz1fLS0x+2bGy5vxO2fOg3vvKoW09w6CGjk57g1ODc7j472VkZ+GghUKlssR9uMbMRKUbF2Gl0BbgEVz49BL/XqPTHXdbiiTYD2mByzbX55YRsvMsKzQLCQSMYhMOauMCrSu9m5eWibx/d9yGEtMjSvejWMtLmOU2EFRz9yWuJ76/oO/O47L8fl2zoR9x2QDRoe2CQHVbBOGpicWcDffOVn+O9bnyJoKGI+t4ASDYRAmNpXWTnVOKNcystzSwlLH+WLf+lMJl3L8Z3nluNsNRcuG1UZRfQUOXrXr3wI3asvxfYdvQRK/WyrwLIuHYiLEmUhHXDdOAFFmcYxR2eUo9PNEzSUmMo2RYgQj6c4FjHAuNxSiyNgJCufO4xXv+qluOCilzFStYCD+3oggKxxkLMWiCkT8DlODCEBZBgWEHLbE7ouFxDQESuVSgU4jocEtz/DyLEA1hiDYmEO55y1EW+44ZcZ8Sjh0Ye3o693gM4wRBR5UNmI5VvazmTEbxIjY5P4/E/6rEPvHSvg9z5zG25/cB+BrQN2gcmwHpZ92LNIysEsnsJQ95VrPa7c61kIqYnHQ5HATH0SkZD6WiY4EqhQClk/zzHWu2Ixz9h2HSohuwKXZ/EgEK/fE/vsd5/EV79/HxJcuWcZoTHGiKRNGr+IMhJgmuKiIM3IoACZAHhdphaKisWom7bwsoP0dpLlFe3S/PEJcJZl8zKyujI4PELnlEQ9AV7AaJUfi3GLv4CBw4wwspT6GdAmqD+Vc4iQfdUCSWf1I6SAxGPEc1WohnW1GBLfAnbSQf1+WWSa0dx2Gqu5ME4Ww8NjWKCDldPR7//VcVHU0d6CBIEUpU8q0VLi6fl+yYwWWnq3a0avRdC+rFndxXbzXB9PLrFcacf2AQa16Rp0drRzEZO3W8P2OYtE5FxsaG5p61/vuJaouwLHSQIqyWJ4eJwguEC6rMDyqivRxCjbhoYMvviFL6CjswNf+vK/idQxyaVe1VAPjDGQ75PMjymwdKPnyhdt2XfVW8p6XifHcSD+BQg1HgIMxyOk9pSv8ZJvVJ+OV+5knxljCHAz6Ozs5JbyJHoIzNS349XP0/aqz/LH4lU8H6/cyT7zCMgkO2NOTtZqT+VfqKyNMVbWal/9eSZZa3719/cTMoxB25PZbPZku3bccs5xny576NOQSPnUsBjTYFezc1wFauBPxaBXaVbPEmiVrsKeckbVPCmaeNGgizcNQjXvBZ+pAND7ZeedB/zsZ8CddwI0dqIrGajPOmvQNVh6/gLTkeqStehKxpKrzsrUWZFKKfv09DT0MxY//Ke34Au/5uHVF9SziIwKTzQsRw2k7pVo6XR6Wnqm508reOSBDFZjJoYP3tCBn/z5ZmxoEggI0dXVQacaWyonXpRA8JGzP40hOWmsZmlkZQzLdIoCYkVGvFKMMriOQ85pRlVNiZQCylyydukY5QBFg4+P+eaXticFsDKZWgKTMg3kgnVe2h4iURrcpSqkG9IBa/sym07gfW+6CG+8cgNq4y4K3IqU42W2La97C05KZfzHDx7Fp77yC/QMTpOQgd6J01+7eZwXU9wGcci7jL70dZ7gVGPFgk/7VvjX5mKEkH2TPquOgEEjoy1vect78PrrfgOj4yX0HOqHXmAuceUvOYiXgIsAcJtQL9SXgzwiAiwqJkI9E1hi9EKgz2GUyvfjfB4hFk+QjwCjQzvR2eHhmlffgOGRRQuU9LtNRdIscyzKBC1kCSGdfUBaJf1eGSNgAdsISTcIGR1jXkTQAeNSvmkCMpe0DXwC2YnxQ+hojeOmm95AJ9mGp57Yxz70EYiVUA4iG5FSX8pszzg++19EOtOK2267Azt3H4AchsBJOp3B/bsm8JHP3oF7nzys4YOhmkrvdKOzErEGAl5oPKtn6VU1AazE5FB34jEXPGFhsUgAWyY/ZQQkUGKf89ye9LnQiLMPxhjWMNCHqsIpH6IQGHz1tv342D/dgrmF8tEfalUhJrJAfYkgMD5E0KIoS55gXFv7msutzU1IcqsYpIxlnzz1fnxyGgJuq7s7keD2lbJFz57Z2Xwhb+dORL70wro4c2mboshgkFGkPB1fOl0Dj+AgYnmN0sLLhwAAEABJREFUTRSJcyWQL1FalpinfJuWHguIbdy0EZdddjH0XyOFlMvaDS9l5HQdsvXdXBicC9eLw3FrGG2r4Zb5CCRT/ZdKxjhLVE7tyWV/RL+FW7sjjH6x+9zGbLKgbJrzjd1YapC95o3nudArAHqNYppAbo6RK4qD34ocVDgej6G1pZnbo3VcHE5y8TYN3/eoDyVG2CY41sGSvFQngmHftI2Zivv40Ad/G5deegl27nxKpI4kY4zVW/kfzeUFAlbJTwUkY91L35Uv/dbzU5UkI9F1HIf2bh5qp0pbeqG249QpATeVqea90LNPm6f3y5T0ftmYAhdLRMXDPGUv3uTDdF7KOiUntS08IFnLLyyXte6FCSQTlTslDS4Rkd2u9kftBDKUzNMYT3B7sofgtLW1FQKrp6LPDmk/69cYwxV33IZbNeB6z0sgSQMuIZzKQV/JTFUgGoAZ7mOrXZWRkJSn6xcl1RPoXHklcPrpiH7wA+SffJITuEhnlLIT8UVpk0SNMZa+ZCtZ65d8pQi6/vjHP473v/VCfPSaIfzmG9rRmPFZQ1+Za52Pl6LjPeSzZ3rOrGf4VmpUjuvaE/jPj2zGFz+0BrFgHIoI0A3YmiU63qGhUUZ0ytAYbVi/Gjff9Fq85tVXQX9ZlSNw0eopxgkuarSrrGqvENHpCzSFBAACWYlEHFjRPQEwOcF5Rqpqamu4Uo/b1W48FqOexlD5VOhpos4v5MHdK8vjDS8/E79+w0vQ1pBERATm0VvHPAdlApN8IbDgzGGDPQMT+OTn78ATe0cQWQaBhrokpOvSvfr6LFeNaTtWAgIqY8wKRiuM2GOB25fjE9PUn6SN4jU1NcAYg4svfiluetMH2G4WTzy+E8ODIwQyRToUj04worMoAwgJIgLyGCGMSgi4HRkIMIVlXpeYD7gEYolECgYOPMo1RiAwOdGLmvgc3v6Od2PN2guxU9uTPZXtyTKjbQJikmVZIEzvn1Hmoh9x+zMgCIu4/QiOR8DxBCnHuOVpHBfqq+fFsDA/BhMM4brrXo91G8/FIw/twc4d+6BoSxi5oH9HQLmWCSxZCSANtRWSZsi2mls2c9xyEBBLJlPQu3Z5Ahp4KXzj9r34iy/9HKOTOegTUSJqV2BKYxVy7I6mkG2FbCJiC0bF7VnlSwTbqkNRo0RwqP96Sr9lpry478J1HJY3MMagAu5CLFIP7nh8GB/73G3Y2ztmo79xOnUWtN8ogm1Li6Sh4VHqhAH4HR9XJCckcGtCNpPhc9HG0sdAfIxPTtnnq7s7CF5rALZLcmB31EOWCRi9HLXviUlHYjGfRQxcjukYtyynp6dph5OIx6jnrCi5YOmjPumyclYOk5jlQ16BDejLO1DHChCIUZQ3QV3Ry/BxOvFYrMb2bXzsAJRaWrcwUrSN5XNIJpsApwaHevoxxW3WJdKW3qk+eARa4i9OuY8SmNUxKplhZG54ZMxu3x9tm0Jg43LEnR2tqGEETK9PLDKqzsdHvsYY2okE2tqakWK0fdqCtxwU0dBfelf6U6ElQYm+oW4oenm4vxcXX3QJ3vC612J4aPAITV0YU6Gb4Paxoiiy11VAFKc8jTEq9qIk9Vm2KCBIkE9Wcglo5ZN1Pn6jL/yp+qr3ywQ0Dx06RKA+hDJthNoVTy+8heNTkO1V2/IdmnszxAM6617JmBdP1vJjakOAcHh4mBH+/VD/161bZ8/H5/i5P11uMZ61tgZeSULXgOv6WSudogJqSwKQYHRdMTqniPgJyORpWBeuuAIxztDET34CMzR0gtKnLiukN5OSSwG/973v4bpXbMN5iR/iM7/RibUEQ8e2VDUkxz49lXfHa8FjdOGyMzL4n09uwVsvi2FgYMSuZCfGp+F6HrTKvOm6a3HOtjOsU9HYaVLF4j5Zo4ugTGn96SQq13lGDhYX83Q4KZtUlgWPfDXuM4yyTdOY+nRQilQViwQkpJNMJtgG1VmMMgkULuZLSNW28zkQjxs2FeHnjxzA8Ngsfnr/fszMF5hnENIbkgSds0HE64npHD77zQcIkgJIz9SuMQa5fECQWYkKhgQUEcsqn4VIowIIjjC74sIh8HNpLD0CpwLBWXNzB9717t9H16qLsGdPH/r7+rn1UiSAAYEDEwETopD8xWjs9FzvbgSMLpX5uJJCGmKBG9+nczYOHMdDgsAml5tCfv4Arn7lFTjrJdfg8UcPYM/ufYxYzpF+hLJAEpP6DeOQ98jSDYMCfVHIMmV7r/4VS0W4ng+XfEcwiLGtMiNn01N7cdmlZ+LKV97MMS9j1xIQI0vkz5BGxH4EHFvKlMINCCBDbn+WGX0L7XWJ5SLUpitbTo7jEuDWwaXejHHl6VJWuSCGP/3SvfiPHz+BuVwRxFMg25bfgDcB5a8+kDz0MUYGWQksF6LMKFigeUSmQhYq89phGcMoE28BXqNS3JYPCBx7Jg3+5F9/gVvv30fg3ADpGJZ9VK9ImQiIzXFhESNg0OJAzlhbYwI2HnlfVgXSkSk6Dy0gOtrbIDAPtb1USDRBSY1PTELvimlrUtt3ytbYzs7lMMxty5jvEUxQz2FYOrKJB1VlGyrNZyQW8VJt8pJXNpuHSp4KKk9tXXrx+ahNJTA3PUmZhhCQMNQHw1pzs8MoFfOYmR5ELF6LVWsuRH3TGqsXTc2bsLAY2b+SXlgBfFj11H3JSJLzWn9dWeR8kJzbW5vZhcj+kYTGq9JH22M+B7SN2dXZBp96JIBcYpQbpFNlynEcZAjuOtpbIV04PDBIXQ25re/baJl+CFryUaLQLM04x1g8PPzIQziNC/RPfOLj0IKmSlNn2eqQ+iV7HZGpgDqn5y92UjtqW7ZVSfdq/8VuV/Tj8ThaWlqgdsfHxwnaC3r8oqdqH2NclKiv6v+L3igbqIIx6ZAiYr7v8+mp/TonQ06KtsCQrDouRJ5MJrnST9mqOW5bilF78yIc8gzNq20putpV0kAIGcsIvghNWpLqq6Jxcgw12Sycs84CXvtaoK8PuPtucGlvy53qgxRMoV8p3Y4dO/CWN12H/rs+hq/8TjsuPT1zqps7aXq0Mc9YNuYZfOD6Dvz8b7fguotSKNJhXXn5hbiWgCDJlaP0R0kv5ussR28dCSof6Y+iYjEqeKYuzQnu0hBGMMbA0IDyBvN0fjLIEavU0aDKWMogK1LguJXyEYkqsQhKpQipmiYE5Ums6mpDU0M9Vq/qxFw+xD996wHc9fAhfPo/f4HbHjrI6BkNMsGly9nArqCuNoG3vOosrrZ9aBwCooBsNoO6TMY6TNGXPKpt5eiU1C+HvGp7Vf1QmWoyxrBPHrsRwfNjeNmVr8fZ574Wu3YOoK+3D3oHL1RECT7KNOQRDTtg2HaIQnGWzrLIumUE5TyBQ5m9DHkfwffjTHTQbDcWi7NuHuMjO3DRBZvw8le+CTNzLvbt64GAg8Bpmf0okX5AMGMcj3QD0iywJdFTClAul+hsCjyXbX4qVUNWDBzHZTJ0hHuwqiPG7cl3ohw2Eezt4pQYwCIjW2HkUO5lyrOIclAmj7AOPOAWa0CwFzKZpR+nDQloXTrN+sY19s/6I4JP+4xj6RL8CZhoS82PxThGPfjgp3+CL3P7WP9HqUCWUkhAJn0gvgIo4ygCQsqu2s8y+1ouhygWlQL4joHPaGg85sLjuVSOUGJ+QLlEbg3+9Sd78dmv3gHZuPpsHfvroPoRbZWbnJqy0aFkKmmjWIqspGtTaGlqgnSxWr56nqd91PuN2nZsb2uF73vVLHsW3Xlu9Qwz0qa5onbZFWg8iwQTAwNDVobp2lq4rmNlaivqEIF9K1EnQj6nNpIYv+CNvvasYkosSr2JIGAqGRkYPo44L7JYtaoLe/futfQXF6ZhHA9tHWcglcpibm6YtEKWDRnJbMW6DZfx2sD1fEbMmjHAiO7hAYI38ooX6aM+ScaZdA30vxFkOTbieYqLM8k/pB5Umo7IK3tqDLfE0wQLTVzk5AkqZxFQF2wZZuvsuA4aGrIQiJb9UVQtRuCVpx4rui/fonYpREtT1zU1KW57ZvBP//gZbDtrG775rW9Q/kVG7HIIqXepVIoySXIxWaMmaLPmj7Zrn5y6Q0SG8vSN4lPtVpPneZC/LBaLp66xFZREW22orZqaGjQ3N1PWLdz9mLTRMsliRZVTcqsxFN4Qfc1RYQG1L1noufJPSUMriKi9gYEBLjzH0d7ebvsqebuua8deY7CiyvO+PWpxnoGEBl3gJ0HHqrS8WCwW46RNWaWTQMT48vwXcq1JIkBUHXSHTqdKT4KQQPRM7apsNe+FnjW4MpAa3HQ6TQPqHyVJwICLLgK4SoJ+v+zBB8HOH81/gVeSs5LA4Ac/+EH8z2fejL+4fgJvfzlXIQQML5D8i169MePhY2/twlf+zzqM9j6Kx5/cSfEEdHpl7NqzH7fc9jNoVR5Z1yDRhdapiTGBLBlEXRsdmDQWi9xunJqeRZnRC0UrXNchFl5kpMaHdEO0SA42LdWRzvpEVvUZoLmxfsmxGlunraUZq7s7aTgT5CvET+/bh3/8xr14ZPcgHZ+lBpeO+5wt7fjNN12ES89eTaqA3l+Rc5WujY9PcCIucEVYJC95pkVbpqaG26A0lHEadvtg6ZDiAoaPcdpp2/DSK96IqWmDfXsOQL+lpv+bkXiAQKZEIJRn2z4dbEC5FZlIl0AlorEPl7Yny9waMMaBRwAW0hEJlDmcG1OTA2hvcfHa178ZpaAJTz2xB4f7B7GQy1M0Ph0GEBL0RawTLtEKgyJCRq0CbU8iREDaEdsD6cW5VexS3yOinRjbmuf2ZCo+hXf98q9gy+lXYO++w+g52Ee+I/Ibkk5E51RAwG1O8VUu5RAEi0wFRGwvZFQtYNLL1QGdo+t6cF2fY5Jgcz6iKLI0ztx2MW580wdx8SVvovHbhsnpRbS2tsPnduk9Tw5gcoY02Yf5RTocqyg6GLYTsd8BStQTJYGnYimE3hOjf6auODDG2AR+jDHwXKAcGHznnn783qe/h+HxWbS2NLHsUdBEtixvM7Oz9v9hJAHWCaDtw3jMR0tzI6NWKVI89isdFBBLMsKzenUXtPXOJo8UEl1FgxX50pjqPULHdSgLFzAOHdsI5ufmUZepPWKDlrAExzNif0Org5KlQ30FP6IZUlckS9hSEQTA2AFElFloU0g9D+HScfcdHsLM7Dy2b9+JsYUJnHPDGVj092Cg/zG4xoXnx9HZtU2kEFEvIoJo9b+1bQu6V53H/CSd8XoC2C709B6GQI14ICun5CtaEQ8h2xU4n5ycsfLWH6HMTPOa2/7ZbJqRrXECx3nyWG02shcxjU9LI+rq0picml4qU8kz4D9jrB1opU1I19ZganKac3IeKQKvEnVninXUviUmebKq4dgIyBULC3jve34VN914A/bv28PxTcAYY4saYwioY5CPqoKXkONiM0/BQTTl93zOT7VhTKVdkZZNrCFI0rXKSLd0fVgNKV0AABAASURBVCqSdE2+UbTUhtrStVKMWKCjowPZbBZ6yX1yclKPT0nSGAgAqt9J2tI4I3PLCetez5Uv/6nyy/NfyPUEo/Xqj/qlqJjaqtKT/CUHYwznYg6nQtZOlfjKc4khYgm/2qjjHL+oMcYqoxRDwpAheiECqQ66FFiAaPmgr+RRvKld1dGAqc7KMs/lXvwrScjLBf80GlwN4+UvBz0GcPvtwMGDTyvyXB5IkTR51B/9d0c3X7MVv3z6/fit17cik3KXkfr/75J2kMYcR9KJWtZ4B4y6lBhxyDMytat3EQ6KuOf+h6EfsLzltrsZWZnA5k3rUaReibbkLB3Ti8kpOi1rUpTBhmj3qNwBpgnEcozMypkpSU4eHXkinqB5BBNL8ssq9lvk9qWicHKSdtuCBgsQZQOqKfTROR6PobOjzRp3j15Z7yl9+47dGJmat0ZdbBgWbsqm8IaXbcXvv/Ol2LiqkZNugU/ZLguI/yJXodI9PXRdlwY/Rwc3ZyNSelZNC4sLCOkM9+zZhR//6Ot48om7SGve9lFgLKK0HDHGCoXiAgJFwpgiOsGQYCZgCumU1Am7KKKzdBwfSUavSqU8GutjuPlNN2DDpkvRc2gU/XSOBcoiKBPY0REU6DwCRqyC8iLbLLAVkJ8iwqiMULRtXpF9j+Ay8hGjI47gwKWsy+TDxSQuPO8MnH/x6/Hkk3146MHH6AQnUSLzGkM5LzZFug55LyEiTbbAc4BI77wRiIUEamW24zgu7UUSjuPBcV22H6C5ZS0uuvAKvJFAzIu148DefkY2yoxydGLjxisYJUzi7LPPx2tecz0dXQK/9hffx7//6AnMCGxSRmU2XkkhFDkrk69Fbi8LjPi+A8cx5I1fyphDxzZZjmXueGwQf/T5u/DYrn5oCytFY89SR74qq9XvEKNXohunIxDoKBO4Sse0iHDZnyMVeKE+ThIsqG3910GZTJpPj35FMyAgHRsjiGDUV++JJbnYjajNvhcjcJjiSnyCQCFuk8qrtvJZhPKMGAFZpHzyzE/Q6SeUbZ9HtrAtyXv7mOfKBAkpp4i6EDKpRIpzbu/+Htz6i59jsbWEC9/yEmQ763DaKzdi87WNmCg8Tjlp/FjfMLFxQjnS45Hj6/kJtHeegbr6Lo5PDo1Nazi3fRw81IepqVmWq7T/fI/qS0Se9YrC8PAYgXvMAivjOJicnILHRUKR0U3AwYb1aznGjn33TluOlTbFc+Uqyb52cb7Lvk4SZAkIV3KWjgYElTVoa2uxUU6NseZsilHQ0dEJiAcrWsoATLo2xmGkpAmPP/4oLr30Mrz/A7+F0bHRJYKVk0Nek9Qp6U3VXlRynt9ReiOfbIwhv7VwOX+eiVKMACnFiJ3mp3yj6j5T2Wd7HrHDoiF7J98o2s9UR/1dtWoV1Peenh7audwzFX3W52q3UChQ3xcgGYq26B6vop4rX+VOhazVX70fJxmvXr36SNTzeG1LHlVZy4+L7+OVO5lnT0NZGjgNuiauwoJi6GQIGWMs0x5XXmJKinAy9apl1AkJUgOgQZdgq3knOhtjaOATNE5Ja6QECMX7ieqszJOiqc+asBKsMZyhKwsd7767G/aHZWdmgNtuAy3F8Uo94zMZdslKff/f//1fvO6KrViX/yb+9UOr0NUcf8Z6zy3jJPvy3IgeKR0SaNAfcpsqxO2PTeM3P7Mf37t3DINjRfwmAeX2nXuwdvUqC35K3NYoESjIICZpJGu4EjXmWP5COqt5OqqZ2Tl4vocaGkXVk15KJzTxjjS+ZHPLrCPglq5NYe2abjqp5JEiIq905MHShcOH2l5cs6qb2xBZRnpK+O/bdmBofI6OKKRDodti3xwDtDbU4Jdffw7efM02tDelbd4SGepexXFm0rXWCGm+GGNoLCtTy3U9uF6CfUmyHqAtocWFGW4l/pzRwRm2RSBEJ1ksFSxYihBAn3AJLMmJClg5jkejlILjxhBPJG09z13AxRedSSC2jUCpB08xIjk1NUM6AYFJBAHkgECZPUFAMBRwOzKkMw24hRgqMsYIWUSgV2ZyOW9jBBySr+fHSb+MYmEGp23pxpWvuA7FII2nHt8FbdlFcEFfSZohykEAQ3AoEFkuLyCyfBeZV2Yqosw2pecRjXqcwMNxXT4PWY51Sws4/bRVeNvb342mtjNxYD+jLGNTNMCLzDcIuQUK+GhpOx0HDsgxzuBgYR3FY9A3mscn/uVn+MZPn8L8ImVHPsoEWXohv8joRsx34LkODP9BH2MgXpVGZoG//++ncOt9+9GsKMtxQFOJoGuUoGmK4MrzfcxSHxWxqs/WMeraANk5ka2mkGM4wyhajtvXotnMyFk1r3qWDCYZORgcGqFDrUGGEfiA9WJ02rncIgHFMFzHgeaFQ36X1JvVecVvxU7lCE581DIK4lKWYP8c1ok4IFEUUW5A5aCT7pn0iLocKl9ntqmyYV0Z2246De1bW0AyMA6lxVTbVIOzX78V2a05HB66H3MzwwALLOEyQRI2ETCFXBRksXrtRUjXdcB1Y2hp3cwFScH+JajAEZvEc/mofMRDLrdAeYyhSHtRV5eBT1sg36AoVpx6Ojo6hikCM3bF/tVkXV0W69eu4jwu29cKNGcoAfJYaV19yzKa1tHeAuVNTExCelnJrRwlT0W/2tqabbvaioUxkHxHR8chu0XWILqVBM7JONflrfjWN76Bc84+G5/73GexuJBjmaNf0a3heBljLEApcVF6NPfZr6Rb8hNFLgBFx6c+PnstkHVj/WKC805+UfUlW5zkJ2JnJfMFuyhOWFrGmGetbYxBNpuFgNkMfWNfXx/k25+14rICGhv12ZgKrpAMl2U/46XGKkUgakxF1qLzjIWPk6H+Hj58mPN9FqsJxNSP4xR72iNjKrJW2+qrZP20Qid4oHFR2061jAZdgheh2tpaq2jVvOdylqFSfdGTQE9GIGJEZaVo6pAxzz7oK3kyxtARpzhxfRr0BU6o4soiT7sXb2pXGeJZvOv6OSU6MpxzDnDFFaBXBB54AAyVnJCEhK9BU/v6fyff8bY34a7/+AD+3/vq8cpz609Y95kyaa+hRHtLR4YjSeZYz5+p3vN9rj6UGREr0+H3DOfxh1/swT/+zyBBQIh17Qn87hs7CGRi0Htb6qdSQIcpp5BO19B4u0eaFn+ip/eQpmdmoXIZAhw9k2OMx2N0rh7UQT1TMsbwNsLC4iJ8Rrk2rFttgdURoid54dAB6Uc7V3V1YHy2gH/65v34wc92Y2J6wdK38qNhirkOzt3azm3MC/GKCzcg7lf4z+cLNDYFbkPO0HAbxGI+6ujg21pbeK4FqMrJZB06Os9E9+qXoKPrLMqoSIcex8TYXtad5dZnjn2WvrI1C5hKCAmSwI/nx+j0ktB/z6NrPc8vTGHj+hZcctmVjKYUsGfXQUwTOGgsSuUAYeQRkLEyZRQIeJVFu0znFDCVuWVVpjMqWuel8UjQwRm47C+PjksgtoAN61rwxjfehERNO554bBeGB8fIa558RtxaLaFIp6I5rvplRukiRsBAUBBw+zNkRCziWWAM/PixGGXjsd0QDnkKwwIBehI33fBatLVvxuOP7sWO7bsJ9hRZMeTfsfwHkoFxEJFupq4DDzz4KL7whX+mjGOYz+Uolxrc8+Qgfv8fb8fOQ2PkKYDrGMQ8B2A7oOw1vuAnoFxGZ8v4wb19+Isv3ILFQsm+Q8Qs+414VJLuTdOJjNABS+/UzxnqpK5bCLJSXEiw6JEvRwyL+TymWUfRsI72Viiae6QAL6g+kG3VT43EKWv9krwRn9QVAYrD/QMo0dmm07VwBbJYQbxwQFSb+lImyJnnNaA2pGO6Mcaoiwg56VmFcoqWpRCRnjOBmSEbsonXs9ymLCfL2HzFBrhWjw3JKS2deMkvWjc2YevVqzA6+STyixwbMWQ0HtV22Ab44fik0y3oXPUSjlsZ8UQasXgTt3jHMMzoYokLMZZ61i9ZQ6lUZDR9nOO7yPmTpk3X4iO0UarcQp5jnrJ0BExczyNoG7ay0SJuemYOjY1ZtLW1UpdmMM0Ie0gdikTY1gKMMWhqqmdqoJmeZ5kZyi/E8o+i8PrrStkF+aaJyWn2KU6eFmx/igSJlfIRT0qVcUnEffzRxz6K8y64ALfc8r+cY2XmH/36BFLiW+MgfdD5aO7Tr8R3nrolX5EiyEgSuBujkXl62RM9cRyHIL/G9l3tljh3T1ReebLX8o3Vujrr+XNJqtPBbUy9d6WfyFB6tj4HXFiJR7Uvnxyj7XgubVbLVmWtvqofolvNO95ZfIk/bVHqZyz00x7i/3hlT/TMGEOdTVlZq121f6Lyyity7qus2qPlAh1CgcZ20YIwDboKvdAUp+GREokhKZSUayVN5YkRYwxXjLV0Ut7KIs/53qVB00CqPdHWwK4kIuGLJ+VpgjzfQT+GLo2DBWXr18O+9L99O+i9jikinjTBxJeU7tOf/hv8xYdeg0/fNIwPv7kbLo30MRVO8kb2JqThLZcjOqXQpoJeZGakQFES5VfMxkkSPEEx9SEgCBPd8dkS/ua/DuO9f7cXc4tlNKY9vO3lTbjsjAx+9OAU/va7S9EaTrJgySHIOcikKFWb0V8dypjqLJ3RZFKkwfd8xPwYq9AB0BksP0qOmmTt3GZoa22uknre5zhBX2d7mzXmD+0awqf/8x48vmcIxWJAmmyZAjQw5MfF1Reuw4fefilOX9/KvMrX5wpeY2CMges6mKYTj9GYKOLX3tZAMLlg++H7CYKz00kJjOjOYWjgMQKVAvPKPJcIdgSUigAdn+/H2WsHxvhMEZ36LDrba3DN1VfBj7dg+xP7MDrClTuNdhgaOoDQOrQytyYBh/clRNQLICTtMkKCplCRMgImQ/pJGnnPi0NlXYJaRc6ydR5uuP6V6OzagqeeOoDeg31sNw+Qh4jRKrVDXE32PJRJJ7TRtgJVvWSdseiXGBVT8v0YHEYIQyqgQ5kELO86RVx77RXYtOkcPM7tz8cefQoTU1Pku0waEbQNWhaP5DvkOeSWJxh1iwhUW1q2AHCtrUjV1ELvaDmuCxnQr92yAx6BmGMMwMQjKDzyFCHPbfTbHx/GX37xDjyxbwRdBN++7yv7aIoAOfWBwWGQXcjZj45NcCxJv7kJdYxmGWOpovop0jErIumSh+7uTvJVU806cpZOj4yMWhl2drZZeqLvOC4UKVOkJl1bQwATs/zqQFZ0Iu8h5hkpEo0MwVoV6BkYOI4hnxGKjOSFYchrpQi6lryPJj4HoPuIDU/MTqHtvBacff2Z8BIeKl2KID2JOK+VQtqNqYEZHLi/Dzt+uhfpljQjO+MA60cEOIABbHIQ2bYjhBwf6VJ7+5lceJwP4zhoadlAPW2CfnF/muAokOLg6R+ShWyxZDE8MkGHlmQEMGUL5rngUXTSsEnxrxRKN9iuQxlkMhmWM9wuHKe8IiwsFrHIiE53dwcUAR/v977HAAAQAElEQVQdm8TiYh6qp3ZY2H5jMZ9zvZkAtxbjE1Ost2ifLz8kU0nqVjPBTNK+Hzc3lyPga2BkexHqT0geKjQ5Yvw6xuGisB652RncdNNNePOb34SdO3csJ2mv4/SNiaWolfyAeLMZyw7yjfPz81Zfapaia8uyn9el7/vsS42VhdqV/cSKj57luNjReMiPqs6KIs/5VjQULRO26O3ttdGnlUQkgzztWJHgROUkn5Vlns+9aMmniLZ8vtpZSUdRa/GlcgKQ4ndlmed6LxoaN8nz2WQtnqqydjTojuPYgXJpWJ5rwycqb4yxYU4poJiSUNS4FFn3YlZMx+i4TkTn+eSpTQlYiqW21KbaFg+614ArPR/aJ6yj98v015iccPjJT0BrZItXJ5j4+da3vokrz1+Ny5P/hc9+YL3Nh3UNS5fP4SQbV6YhLdLp7OxdwO9/oQc3fGI3fuMzPXjv3+/HD++fQKkcchI+O1HalBMWCmkI1dZCIcRPH57G2/5yN3qHF+HSMF55dh1uvLwBj+7L4c+/MYqDk43YvGk9jWRIYx0hYt2IK2k5BlAvlMoEajNc1S5wm0cKnGT0Qc7HIT29VwMjqRzLVYmrbY2hjK3eC1kZscAL/IieXvpXqPpbt+3E33/9Xuzrn6z0QdZXiW00ZpL45deehQ+/66Xobq2zgEIGXDo3TyfqcS4VaFwiln/ZFa/E29/+ZqxZXQ/HCZg8NNFZRXRiLkHn1FQvLLghYNIcrGGE2nHoLJli8QRlWECm1sG111yKjs7N2LOnn0Cph05yniCG8g3AMQ6oQREcN87yEYHdPEFYgXwXWKbMZ0wERCGdiOfHWM5DFBn4sThCtWvyuPoVl+Occy/D40/04PFHnsTQ0CgdfkDeIuQLebZRZD8LCMp5mwzrhaQZhCVEvA54HbFPjuvAF5iMIqg/hA4IuZ15xulrucP/SvT2TnMLsg9akYbkh8XAE4qlRZQZzStzKzVg+ZBAzNInXV1Ti5Cp67ILSMdx6Lhr4Dgu2yZ/1P+BkRmoTEhd0wKgSL1/7MAUPvHFn+Guhw5ATjpFJ4tln4iNKwoyMDDEvpWRqklaoFegE2/mdmZ9XYZ9cJbVAAJOuhkCbjkPgaz6+rpj8nUTsswkt9T0zpLeE6vl9nyZUTrJe4rgZHh4BDXkJV2bgvScjAOVg+3PAiO/OepRDUFzhvpgDCcDSxhTOYvW7Nw8ZL/5mPKLmAJbN2L/bWLfJAuR1VlbcIn6ONJNtbD55DEkTyHlFHBeTfRNYe/PDuKR7z6F3scHMbJvDLWNNXC5/SsaxlTkoLEmATV7TAo5bhG33F3qbV22E/n8HObnSCPTRhAToaf3MPldIJ8RyJpNIQc+RwAwNDwG1/MIaOrgcGw1fpNTM7w26OxogxZemXQNFgi2Ko2KhlII3/fsT4loTPQ7YIomz83mSC+GDetX2/aGuXDReKndSv3KUTanq7MVhv/0xzrSBV5WMpeOikoq8hmPx9DHaGZAe+s4LkZHJ2yUTbKsjF3FVvkEPvrjoQfvvx8XXnAhPvLRP8Q0Fx1L5OzJYR9THNs4wZn6L96UEdAm6l7nNBcBoqXnpzLFYjHrl9VXyVNzQEl2VXyIrxfDNwp0rF27luMR4uDBg9QPLvTYMbWpPlf5Msbw6an7GmNQQ1ArWaodtSfq6ntPTw/1MIL4Uhk9P5VJckwysilZVwGhdF7XkrdkLR2otulISGK0+uDFOEv51FnXdTE5OWkRspgUsy9Ge1WaxhhuHyRsmp2d5SpngsbV5Uq2Fsac2kGvtnnkrP+G6dprEQwNIf+d7yCYnmYofgSXXnQewh1/hR/82WlY25E4Uvzoxcnxpakf0PCWaVQHJ4v4i6/34w++eAj/+9AkDCMiM/N5jPD5Aztncf3Hd9GJRGDxo80c50rGSmWURL9aRJNVRqjECNxj+3N4z6f34ut3jsAlcDpjbQ0+cH07xmZK+PyPx/Djxw02btxMx5mGnJKMVUggJhohG7D31ggvUA/mIJ2oobMKaIjKXO0rCmCMsZNETqCaAvZTE0nl5KRSBG/iT3RJVpenLBljrGNYu7oLxcDFv3znYfzr/zyMiZkFyrAiGdsuW2xIJ/DeG85Dd1sWMRpiPZchBWloRR2n8bvt1h+jv78XiwuzuOC8rTjc9xiKxRxa27bw2QxBSB4RZeK6PhwvxmsH8aX3xFyziHPP2YSNm7dh155BPPXEDgsYAoKpcuCgHBiCrZCcRKwHArFFngsIl0BSSDBjgRKF5JG+Sx5hPMQJ9IyJUCrOYcPaNrz8Fa9CX98U6e/kVuokIuPAMeLFRbkcQr2WISEZgPXCsMh2mQiaAoEojp3yHLbhsQ9G9R2X259z6O7K4jWvuRat7Zuwe3cfhgdHrWM2iriBZRiFlC4DHvkugx1ARJ0JGSELlEjfnqkDDY3dyHO7Uby4rmPBma7jdGx7+sZRZgSnxDqjM2V85bYefOMnj6GpseGY7UnwI17DIOCcHKNNmrZAbHJqGvrfJOoyaftumcaTRW3fbf9ZST8hMsvIhf4qspWRWcdxVORIilSGkZTDg0N0AimrR+VygAT1tUz++/r64bmG23EZGMOuqqaI86xTgVE38eATnGTJh6XPgo7jwvCf+pojKFEEllWO2LKQ/Vae2o8kO/Jh76lX1AwrT5Vv2dBKwPUk9t97CPnZPMZ7pywIu/9rj6L3scMc0xCF+QLGD0ywDvkjnWQmgZA0A+kUbYsxhnkRQt0TiEdMElLIcyg+WPZw36NYyI2hRJC9sDAJP5ZEU/MGRqNmbWSwUCjYsRsYHMHCYsECKvVZPGoLeI5gs6O9BfXZOhS4sBkeGYMAqGEBOdKQRoqsWT4iXui+hk5XfkX/C8gcQV6JkdrJqVkIMK9d041FtjM5OU19Dkjl6NcYg2w2jY6OVi5yFjExPnm0jAaFyeE4NxGgCxzmcvMYHRuHy+iv4XP9REu+ULS8UGKoJEA62d7WjC9+/l+w9bSt+PrXv4p8/thInEufKB8ccpxGR0ehvqkf/3/4RoEBtSMQq/RiASIK5JhvNpuFflB1eHiY9mA3ZV22eiwZH1PwFN/olSTJWsER/cyL5K3IXWNj4ylu6VhyxhhI1pLvNHGAknRD42yMOaawI5QmhT7m6YtwIyEUOAnr6uogJZDiBTSIL0JTx5As01EIjWqi1tfXWyOgZ8cUehFuJNM89+oLp5+OxKtfjcRDD2Hrlk2oxSDu2T6L/tECDRqNGic7v8s4OPZuWcYxlyENUqEY4au3j+Id/3e3fclZY9vVHMOHbmrDb9/Yjj9912rIEYDO8ZjKJ3mjPgRBxMhIhCGCuz//Wj8+9c1+FLilUV/r4f3XtUHn798/hf+4cxGZ5k3o7mxnv8JKomEOmUTHJvIc0PBMM0JQppPKcMVrqI9FOqEEV58eDZwMO+2rTpZL1ZNBztbG8JZXnY1sJoU0tynGuM0gQ1jRoWjJGNoqp+xgjEFrS5P9mYze0Xl86t9/ge/dvRt6/wjMAwyNSQh2BWNT85aHkP1T0uRXAsttPW0bvvH1f8Njjz2Eb3/7qwQIacxM7ScQ6EEiIeBawuTEIbgEMr4iS4wyTI71EPdM44wzN9OBzUE/7Do1MQPQAbAJlKnXZQIVbefxIR1fnjKXTpUIvsu8DgiISzyHcIxraRvK1/fiBAQuCoxetLfW4jWvfiXqG1dh+5N7Iac3n1uUy6X8feSLBQQcv1ADAoOAkbEwzCNgJCSwQI/tsPMagxgBkeO6ZM+BMSzLMrU1Bm94/auwcct5eOLxg3j8se2YIuiJ4ICqQL0q236wAkI6z4BRsYg2wTp6OXY6/JB0AnbY83wkkim2HdLRZSr1oHbKS8/i2NM7gZmFCHc/NYm/+tKdBK7TEGjCio90ao4LtP6BYWTSafIRcCymSTeGluZG1DByVa0S8ULlZbvGJyaRJLCSU45TX5l15CsRqcxhRtqMY9De1mr1wSXfSr2KDs3NEaBl4VJOoIRFmydLI2C/NS9CngUg4gTyyqAoeYognSoQmExNz6BIu6KoTSzGMeKWnmGJMsdBZY5JZKoydmyN1yyGA/cehBfz0PvwYdz3n49i9MA4Gtc1YNPL1mNmcA6HGRkr5cuobaqB4xm0rG9iZVDS4MfwrOTwWl/2gAuDiJ3gCcY4vGLxKGAfDTyCyqamRkQE7zPTg9xe34tUTQMjWnXU6TGCsymCpSxSkjf5szJg5DEei6GzvZWEYMsoEuW4LmUQIZ2uRYz9zhFwlakzrIZKIhfUVXGVoX2Qcxcwk+3PF8rQe3NtbS3QH1toHKcYfQulhKqwlIzRuDVDkdGpqWnq6oxtcynbnhzX4di2oKmpHvMEZhMTU4gn4pjmuOhdM42D+EFFEpa3bDZDnUrgt37zN3HpZZfi0UcfsbSqB+lNmfO5ubnZykw8h9T5av6LdVab8sO1jMAq6VrPnk97z6WO+qa2WlpasIGBi5GREcp6irKiPj0XQs+xrNqdnp7mImwE69ev55Z6C0H6Isc4fI6Unntx6bb6LDmnaXOkv3q2kpKjSaOwt5RiZeapuNcAi76EIWbUngBZiuFatSnlk8E7FW0tpyGaol2kERMSjdNhyBCKhypPxxPIchrP91ptqs9CxOontH1JULa6NYGahIeBiQJu+OQu/PutY1jQn+dTH1bYhhM2rbKa9H9FcPTNO8fs1D9vUw1+7bWtBEsRvnbnBP72vwfx1KEcfnDPCL71sU0npLcyU7ITECsTjM0tBvjKT0fwlj/fhaGJvC36W29ow8vOyuC+nfP45H8OYazYwa0BhaIjKnclRWRSdJRCXssx6Dqg4anlSlayWeC2kLb2fG45aCpG7ImSjJnKyvEYwoMrL9iIm67airqUa52n57mcTM2opWIPDI1wO2TBTmbVkVwsk6fwIAewqqsDXQSbD+0cxJ/968+w+9AYAUuAgH3z6bgM21P76qvO1aS+gH0ocUvII98CADOzczTQSdSlPYKJea6Kp+Ayz3FcGohZ7N9zB6ane9HXuw9f/+pnseOpXzByM2VBSBgalEoBDJ1fSMdXKuWhaJvaKJcLlH+ZKagk8uTHEtAfK46P7sW+3T+Ffk8sFitx+/NlWL/xbILEAxbszcwSUJI2oCgV2IbGOoTGKyT4KpdypFmyKaAjDIIy+SnRucao3kmWLyKu7U9uWSJcwBUvPQdXXHENenqn8fjDOzhGOUbvypQXUKQsSoy6iUYgnoMCiD4BjT8jbhEda5ltSocc16UDjjOHEraDG8IY17Yd8d44jm1bc32uFMdf/ttdeGh7H7q7O8ibj+UflV+kzvX2HUaZ0SrZoYGhYepOiHZGuxoYjTGG7SxViniWrRgnEJP+rlndDQEhPj7mW2J/hrjan6UM9Uv8nuuAROH5MQxTPxUJqKNTlg1ihq0r2uwU5RlinuAix6iX2q+hXTTgP4I6h31TGdFXREzlBAhVJsftYPJJwwAAEABJREFUTOUnCQbUr4BALmCfwjCEeNWzSNdMohFST9VwtrMOAfVH/KVbatG8oQkhy4SsW9OQxPrL12Lr1Zuw5sJu+Akfi9OLmBrkQoA8qU5InQs5PuqHAftpAMPxUF7E8YD9GN2ijaBUfMnmas4rS7/6H1B3Wlo3ky0fCwuLEJ85njU2AmK1jJjPcI4cZpRRJCOWlK+IEYjpOsYobyZTa/meJbAWPfFjy/IQkT+XepPNZhHQhsnhRzCYm19AqVi2tirLrWhtyS8uUPciclZNvPRJX69DiA/t6OTzLMPn+rK75AYE5klG1NoQJzC3/yMA7VojI7ET3Kae53gGlKfKV/lyqFf6Edoxgo/LL7scN9xwHaPmfZCf0DhKRsYYSzdOXyWHnc/nEbE/FTqn7hhQVxaob/JTajdGAKyk6xLBvtqWTpy6FiuU1Be1qbblF5WEB7RdaIyx25j67VGVq9Q4dUe1uW/fPtqSmI3OST/UvpJsh/h6MdqVHCVP2REBMemWkq7VpvJUptpTRwJRppRiZWa10PM5qxHR0wBroKVky+kYY7gySlkBSSlPpfJp8oqm2pTAl7er6wQBkniSQDRQp2ogpOhSKMmyKlO1V02OY/D+67vxxivaCMxcDIwt4o1/uhs7e3J0VBFkM2UXquVPdBbPew7nsZvpE+/ohl6o/8fvDuHwWAmPHnKwu2+RdBdx999ug+8aOLSdOImP6AY0YovFEA/smuN2507s6J2HSxqXnZnB+17fhoHxIj75H4N4arQZWTkaTmgZdI25jLWS6BxNIWR0I5oyQxksLC7C4fgnaHjAM2R0jiTQiAZ03kWcubEd73j1NmzqTEOGUOVec/F6TE9OMPRfoMP10N7eDq2ADw8Oo7C0bVBp9yQ6e5JFKqxF3JKMobWl2Trz7987hc984yGMT1fGTuNWaTdCyIHUdZW8HKr0UHqnbRfppRyQVuFywo0NacxOH8bI8B4M9D2CVG0jOjq3oallA+obVhPMTGHvnrvYzwWSdOA4LmUUQcBIsg4ZgdA5IBhSuyEdrOfFoDQ11Y8De27H3Gw/uro68dLLzsTFF70M+w9O4KnHt9vIgXxHEDoEuyEKjIrJeMAQLBLsRRFBnn1xv8S2AwR0piGjVz7pJ5O15G0aB/b/DP0991H+szj9tNV49atfh6GhIh544AkMcUuqzDpl6hTFYmUH43IoA6aQ9IqUVwml0gLCqMQUoEzAp3741A+1BeoNCxOsztGBTdBmpBCSmMokOZeVH7CN+blZC5oFWsjska/GT3N9dHSM/Z1DPR21HGeOEY5mbkM105EaYzXsSJ2QMpyansEctx9XdXdC255HMpcuxNskHbC2r1q52k+na8h7GTFuN8/O53D48CAjOjVIMwIh/sWnqkZLB8lawCPNBYoAgjEVHozhmYUCOs5Zbo8KjPkE7FnuLkjHA/ImsOA6jiQjarQfIZtQYkU+kWyUeMkylWdqf9PLNsEYg0RdklkRIsmRCRTSqvO6UVOfQkjANjcyj4BbybmZRbiejEfEejrDnkWbTwCQVyYdC4V5TE30Lt1F0CdLWStipeieQ37HRvaioXkdEsk6lIp5jn/CRsEytTU2Oikw09s/iCKj5p7nwXUddHd2QAApna7FNKPrWPokqB+yP3Ko85R3SL20fLEv1XOMIK62No0JgurJyUnQ4dn2fD+G9etWoUgAMjg0Cs3RJbJLJ4NajktnRzv7E2GEW6bLy6i/KtjQkEUHtzod4+DAwR6AZ/AzNDwK2TnxIbnrTLaQIIDrZPmHH3wQW7Zswec///9QLBZZ4+jXcRyk02nqeYxbqDnKKDiSKXB55OY5XogH+VnJS/ZIaSWJZDJp/bL8osqpzsoyz+deNkW+0XVd1Go+rCAiPVHUSrLQC/by4SuKPK9b4Q+9r6a+bN682fZtOSFjDBSwMcZYWav88vzney25qU0lyVk2fyWtqqw1Juqv6lRmGEsKtamiMnJE+Mrk4+f8Vb0qDdFToyciogGS8mnyqV0ZoROVP1Ge6mrQRUs0pdgnKi/eJCjVkeDE+4nKP1OejPc8DacGU+2q/eOVFf08t/saGBn5u/dtxJr2WhRp/L5x5yiu/cPt6BmWgYpg7ePxCCx7Zmgm/uV3NiMZc/DNuybwsa8MYapQC5cjurU9wJ4vn4dPvXcNEsz3FMGhwjlmGYEVl2ozoNMslSP0jhRw4yd24os/GbL0Ohrj+CRBX0Pax999dxz3Da1He2c30jSiMrshKwsQKEW6VuIqNaTjUFK/lRfyeZlbK/b9L/Ki5zaRF9EJmC/daaqrwTtf9xJcuLWVOTRntGQhE9jnhrokrnvZZhhGbIYYfdCY19WlLTCbpLEeG5+wTpG16GNEFS/oY5ulSysyCtJHB6t3iLTSLRMAwGvEf/50EF+/5Umob5WG1Ga0ZOAjy0ORIEf9dGho67gy13WRDkcRvilu0Uhv7F+KBiPkfZEgbBX03s0onVfAbcnGprVwHBd9PQ8SlM1TZxZJtxLBAiMWhvypnLa7DMvF4wmCoxwO7rsL4yO7IKdy9SuvxRuu+zWMjDp44okdGBsdR4njHZHpCC5KBEEBtwdJGGWe9ZeaAkgBI1gRo1YBI1ZlRgHAMYjFkyxTxoF9P8NA/8OoScVw9tln4o1vvA715PWpp/ZjnOOgsVTfOKykH0H1Q0tnkcNT5j3PjB6GlGWpVISicSXOj2SqFpqXo0N7cJBg7+D+u5GbH0N+cZplNEeKZDNCwHq11MEigXhrSxMUocCyj8YuIKjR+zGKYiQFlObmIR3Jchz04rWiLcuqUJJgJCWHMW5FaUy6utope04qm1ORFpknUJtnhGMIeuexiaCuRMeuaKT62nOoFxHBQZaLFfGwkn6JUZopbp24HCv9l16OI/qw7RhjEHLuyJmPE+wFRMvSb9FdYBRJ/XXp1KRDIeeXpc06Ea9DFlLStfIttysYuO8r96OUL2HLlZuhLCXRiEhjhpGwfXcfwI7/3YPDTw7pMTzfQyFXZNmIEiBFQxBI4G+My2fSgbupa3MA7wf7H+e25B6OSyWiZHlgA+qf57nQGfqwf7XpVnR0bUMimQFZh6EM+g4PYZHRqBRBQYm6pmhZPaOWAcd5dGyCoGoKHvtujIH+iZThIZNJEzyl7JjIualdjZHOSizOyGYt5HgHBgY4txZRpqxmZnNood5s3LAWmocCvqGYIU3VtyceMtwCXdXdiVnO1cnJGYQcEz4mDzoCAmPSgVYu1uRHRji34oxcOq7H+TbO+VqmrCg7SZDy4BfSmw5uof7Fn/8Zuru68IPvf5c2o1QhuHSUvGoJXgLqsEDKjde/HueduQZ/9qd/AvnKpWIndSoS9MnPyc+L5okqGWMsaNICUu1o3p6o/InyJE/5Rp0lR+nuico3NjZy4diFwcFB9PX1UZeOgtET1VuZp/Y01qKj99VEd2WZ5fdVuUhfqvwuz38u15KXZJ2kHkvnjDHPWN0YY0GiMIPadZaXNMbYkGmKYfMFhjRlUMXg8jInupbiiBF1TsDEmGdmZCUdMSRFkWETY8+lXZVVuxKE2n22QV/etspKUWKxGFff889JAdSuJqCSeJcCL6e98loTsUiHUyhF3O4Ksb4jif/7qxs5OWP2P67+jX/YZ3/Pa2KmRCMVgTZjJQl7b8VK0cbcEA9/7mz89vWdeNfVjXjfq1K47VNn4Osf3WLLuURgvmegMy9xvI/aEBAql0NMzZfxfz5/CL/xmf00nqDxM/j9mzuxdVUS37lnGv96dwIXXPYq6D2xKy67EE9u34WIBKT81RTQEYVKNFoR8ySjkGelaMnYyTSJlyNnCkYGw3eBm15xJl572XpG9ViCfaxaPZUtkmbfyCz+/UePw03UoqOtmUZ6AtOMZIRsU++HZBhF6B8YxsTSOyJqn+RJ7Ll/VVd0tdodHhllZCWDBFflEQ1rZ/c21DeuwdzcGMbnahmhcKg7IdSW6kkn5EyLBF75/CLHMmSKEFIGjutCwGx2do5yduHScIs+2FmWwML8ISwujKC1bTPLtWNocCfaOrYyO+J25i2IGBEL6KQCgpuQzlEyZyZ5SzIvsCCm99C9dFJxnPOSc/CWt30ADS1nY9euXkxRLot0yJFeqOcWpSIu5VKB9crsFRBFdL6kGdqoWACByRLBhkBEnIDG9VyCrYNs4y7yHmDr1i24+eb34oyzXodHHt6PnU/thpxWwDEvc7yk70VGQsKgQBmV6cxKiMISBCB5QVBWQkhQ6boOXD+OGgKsyfHD2L3zNs7HAcjJxeM+8vlZW9f2t5yDAJVkbMj18d4Tk5xzXCT1E0T7fgziZZQgUVt8coQ1em8Jx36K7Ofo2Dgddwpr13TBY18pERaS9vHEb4nj2d8/xL6E6Oxss87YdVx43Obq7+vHzMyM/QMCz/NZVfWqCbbO5OQ0zwGaGhoQp80hSRhjbIqoPAUC03GCQUVQswQjctz6gVXxHWd0RWXAcvbMyjoHdNgBZa0UEeyE1XyeWQSGB2PsEYlMAu1b2/HUj7fzKb8sE3GslKb6Z1CYLyJWE0PH6a3Qs4neSWS4tWmMw8KkwfL22lAX997NMVnE0OEHMDK0g+MYYc3aSzAxfohlj34j1uH3yAPxF1DnFnKTBCELaG7ZaF+Sr8uksZBbRE1NEu2tLQjJ1zTleZhRVs9jxJb9FFDL0TeJpjHkB8budjuOA71759DQaQxKXEBVGoygspX2I2SzWRhj0NPTC413wEXJJMGxQJmioPpL1AUCX40aB7BCYumo7ejm5gaMERzOcftTdI3y7AGMaPlcGLZAdOYI/LVglFNWH8bGJznuIXlRBfEEy4cWd40NdXjrW9/OuXo29uzZjeUfAcxPfvKTuPalZ+B9lwzi6x/ZhrOd/8Gl523G3XffhSKB1vLyK69D2hv5RmMMQWkGLm3PyjLPdG+MscBMNGbt1nDwTEWf9lyyWeA4iX/5xtiSrj+t4HEeaKy1jdnR0QEB0WmOj+gdp+jTHqmcxn///v2cn51YvXr108qc6IH4FIiSbREYFb0TlV+eJzmpbc3HDEH88rxnu9a4CLs4xytojOGkqIEEo4Eoc7VyvHLVZ2Ja5cSQGNHkqOY917NAjQawOpii/Uw0lFctp87E6SyfqeyzPa8KRM5HCizaJ6qjiaBy1QE8UdlqnoyCIlACP4pOFAmClK4+rx6f++AWuhYHYzMFXPuR7fjSLaMWtNHOgnapSsKeDY8yPJ5rEPcdbOpO4qNvW4V3v7oN69oTzH32r2gGPMggFbg9+fkfDuP1H9vObcAIov/B69tx4+WNuP2xGfzu5weQaLsYZ591OtSuZOX5Hn75bTdCK3k5MSlhQGaVpAehdQwhQrYR6ZqGQdchz9YqSRhkU+WlX1ecvwFvfMVpqKvxbRuGXDjUQ6MyERhhCfkE+OHP97B6hMXFAowxNNzNBB5Juz2Uyy1QZ110d3dZQ6J3UJU/eNcAABAASURBVIp0oBHbqiQSO4kvi5PvkJGSefT0DdhFigCApcFRIgOI2A/fi2Pz6Vdza3E9yzPiE3qI2NeIBJQcbvWkm2vgbljEuku7Mc8tMslJdSUHgY8UgYG2MZPJBOLcfisTFJx//iX4oz/+M5xz1moCqEPcvl20f5nZ0sqIaLIBw0Pb6cgKCDkvNYZ+LM5+xzAw8CT2772d1xH0ByRvuvk92HzaNfY9sX17D5HWNPmkm4lcGvICQUpAA+2BQ0SAJLBU5rnAPpRRZmQuJOiLGMFKcKWXIlCanRklILwDM1OHsGpVJ97ylnfh9de/DxPThkBsJ2Q4y4yAqm8lnsvUB8kBxkNEwBwx0hYyBQSSAUGfTWzDGJfOLMk+5UnnxxgZfgraCtJLzrF4zK4gQ4I4xwnQ0V5D3ucRUc6rV3UhvmLOR5S9QKa2C9V+gjIV2A3pzAXEGuqzWPkJOZZj3NKSLq5d003dSa0sAuUNEOhPEtBqiypBvkIKLs7F6+DQCFf0wxYQJMQPeaCUpSmVxPt5Ag05aW2P1lCeasAYY3VdPJc5loqIzczMIUme6xj1nSVgdx2H/U+yvxFpcSKQFo/QRzIuFPJI18Thug5pAeKJBWGMscl1HBimLV011lakCa4a1mRslEztig5JImJf2k5rQbarzm5VTh2egcsVUrw2hpCgBSQacQxVPqS8cvPjiDP63kVQ2tLciGR8gXo6j/GxvZwPG1VsKYlbJVJgQ7W1aRjSGh7eyTFPQz+LUSjkEEUxApYAq7o72P84cosL6Fl61y9ie9rajRH0ChQpIjo5NY0iwasxbMYeKm1IdhrjIoGKtinL1EOWIH3Kj0XUZ590mpubUKRt6D98GMZokTFFnQ+x7cwtUOR6kCBQY06uVf1Ich2XPHbC91yMjIxTZ8uVPPGhK7ahudzO6FciHsM49Ur2vp56Jz3RXJf8RFe8UCQwxkDl52dncPrpZ+CmN97Ihd4cHnnkEbS3ZHFF3S34lw+dhkTMBdhOfa2Pz/56J+76t/dgw9pu+5eKooVlH93nuNNVKBQg36g+K1tAQ+fnkuTj5NflG+VvRftE9YuUvYIqKc4NpRVlT/rW8zz7vpcxBvqrSLV9osrq2+7duzkPHGzatOlERU+YZ4yx+Ee8S4bqz4kqSB4qJ/BZV1eHlTbpRHVX5jkrHyy/d4mm1YCeCXyoYV0vT1VGNGDVQV+e/3yva7h/L0WYJTKXIqykI0UTTzK4ySUDt7LM87kXPSmwBl8DvJKGJpN4MsY85xWH5BfS8JVp4MrliCAjQpHnwlLE7M9/ZR1+6eouGg+Dg4MLuPrD27GrN0dnEIHVaMaOcuNwYnoEZP6zRMCO1jh6JVoBeRA43N23gMs/9CTmGDVxSPSy0zP4yFs7MbcY4Pf/pRej5gy89nXX4u57HsLuvQcQEESqH2JGxuQ977wZl1z0EuzecwCHBwaxa89+rnYnENAZq68qe+TMCroXJyGvpcCnrWvFm15xOjoaUnAoU3YLxhhey2QBAq565jk6Am+95kzUJn1r6A729NstjpgfwxoChFjMw2FGREIacOluZ2cHDXsevf2HaWxlOCPKVglP+5CdpbyINBdRoV3kareeE5wuJFqqUj2THV3u23UbXC+JtvbT0NK8CYpmNJ/WgJf/5qV41e+8DC/9lYuQ7ahD26ZmdJ7RCqfWMNpT4HhGEJ9KdXUZ+OzDAOWXTtfijtt/QtBFWe7egd/7vT+wDfuxlN2yrMu20pGl2J8ikqkaeH4cxCZIJFN0nCX7V3zXXfdGvPoN78PoRIQ9O/fZrZZiMUBIp1ei4y/bbcgI6nNJ724FixzOEsKwQKcoYFaioynBOC7BQNo6rn2778DQwONopvO9+hWvxJvf9nuYnEnirjvuR1/vgB2nMp1fmeOuBOMjoqIFBF+hom1g+3ToEZmNGBFTvwOWT5Jvh2Ci59B9OMTtyVpu0XR0tEFbc+q4QIzmW00yIAgfx8DhAXR3dRzJVxn1I+KhzKiIohJT09PIUKbamswRpLeQZyWVXZ5C1plhJEN/HScgoF95X56va9EVSBoYHEZbWysjlhnKpmxlP0/ahw72IE2wmsnUguRYRVpR0V3eoEiHKPo1NQk7NjB8yuQ4DstHdp5MMQqkMq7rcNu1HgU6tJByzFAXbHkStlTtARynEDlGcdZ3NeC9152LN1y+Ca3pCB7rKxljoJ808X0P3S0p5m9EU10SjgGCQoDtP9rNCFgHiLVtROzQ/X3Ye8cBzI/Oo6Y+afnKTS5AoaeA8z1OUBZp3FjBwOF8cBm1fZJ8RIwIzrF8CI/OcxW39TI1ERcFdzIv4POKjpF9VD/z8yoPdHSfzUcRnVea9BzKdAH12TrOvQJ6uAhaXMwzL2ZpCHivIfhWBGxwaBipmhQXYSmClhyjsdO2LWMcsHukWflKfwTq5SNmuNUYWSYqAtS1UiIRQyaTZsRrHHqnUNu2+r0yyS6droHA0+GBIctDherRYyadtsBMztqCN+ry0VzA4fjW6/2y9lYEnHO9BJeu68KnnPT/+xa58BIP4MyzrLGyAOc6LggevP8+NLHuv3z8OvzwT89CKu4yt/JVWSXdvfycRnzt/6zB77/rpXjTm97I+bGox9xCLtgtTfnQ5JJvzOfzeMUrXmH/qriB0dlK27b4SR8SXCiIXo5A73i+scx+KkKkvqcpn5Mm/CwF6whyNm/eTNu6YCNmsh3LqwRcbOmFfbW9detWnKq2jTG0M7V2LEVb/Vverq4lV8lDshaA07MXkpyTqazJpk6qcSm46uhahlJMaJD07FQnDawGQ4qstqREGgwJR88EAlXmVLcrehKwkK7a0qTTM/EgIKh2fd/Xo5NK4rtakHaWTo+Gkc4qZAqCiM41JDALUeB2Zk3Cwf/7nc1Y21GDMgv/18/GcMFvPY7puRJUllU4havUnttZdQMeyjSyi3TQr/nYTvztt/shYFZf6+H/vmc1GtIePvyFPnzyq+OI12QZFv8ZHX3AyXwVMtlGfOu7P8KBnj5IOQNOhIA8tnC1+evveRujMhutESUeskYs5EU1SQZKutdfV6YSPt58zVk4a0MTV+4yVIZyoQFXl2g3i5SLaPtuxXHJeapuKhljJO0MnL6uhSUjDDI60U8gIyMV9310d7XD/qQBQZjay2TS6GbEbGRskkBx3PIFSlB5JMB73qkyn5XZF/3V3TQNuF72TnCFqzIhZTY5NcUIF52UHthkEBFgbD3jtdjx5A+5fbkKo6O7kanrRNfp7fAJGkmSZdgn9sdnfzdfvg61zTUoEBBBbTKFpB1STq7rWWdPbnAeI2R/97d/jkMH9+GTn/g/WCUAkvJYJaKhncTc3AimJvahxLrxeAI++ZydmcAZp5+G69/4PkzNpvCzO+8heBkExQj5ihKjCfavMY1LtlyOeZ4RjQWE1YgVgZONipGXiK6tlpGMSP00gB+L6Qrr163FB377T5BuOAsPP7gdw3RWcixBQJqRw7bIIx22+lPmllRIgBdGJQSMtkWUVcB+l/hccyhGAJqqraWRzWHvrltRKs6hg0Asm83QALqYn89henraOhltWwqwtLU2W0BomVk6UIS8EjCYxRC3lesIxObmcnSyE2ior0M768gJstAx3zyB0vDIGERz9epOGMOOHlMCFjj3EmzKEamc7IAfi1F+Bvv3H2S/yjaSZwzrWkYigDQkN4HDiYkp3gFtLc0ES569doxj2woJcBYWFzHKbVSBr0Y64JDjOc+tsAyBmEOHHpEmv2yPFHmhe82dbG0c73/ThbjmwjV08C4yNTG0p0NsbSrirI4QF66L4dLNGZy3rgZrW1JIJX3EYx7YMBbnFhFLxTAzNIOFmUUbKVt70SpsfvkGzI5QbgcmON9DJDNxFjfoOpPAjc2zMu85FwWso4DXBi3sV4KAurdvkLLKQ7rr+S5qU7695oFfVVYC62DpEyGiPiRrsmjrPA2en0BT8zpoe1lATP1fXMhDUaOmhnpElJUiTWPc9tNYGmMwTzCcSiWpmz7B1DQUMYsoI2M4FkpsST5C0TLR0wv9oi0emUWa5IFssQqyBIIZAurDBPsBbcDg0BguufhcyJZoHMTXFHVR9Vam+mwWqxjVE29TU9Mrs2GIgptbGiF7skAQPTw6hobGBsh+DjAKJ54riZyRGelkd2YBd/3tefilV7QfoWfYLWbDdWDlqGssfX7/5rV410t6cPGZrfjoRz8Ch7pTy7kluppDLS0tkM+6++67qUtgpHwK8m0PPvggPvzhD+NP//RPlyg9+8kYY0GK5sQsgyXqh9rRdUjbUUfw5BF0Pjul516iqakJXV1d6Ovrw8DAgB1DbWnqfuPGjWhra3vuRE+ihvqjfql/8/Pztob6PcOFVIz2QLK2D0/BgcN78lSSySQEwPr7+20lDbIx1BR79+IdpGBqa3R0lIZ2zCqXhPTitVihrHY1EAGBx9DQkFVEyaCSe+LjY489hm3btuHLX/4SBN6UOP/pACObNKFofxHyQBtABxlB0aACQVmRadu6WvzTBzZDoGB9Rxzv+dt9+J1/PoQSwZTqsNqJGViRq/KaOEVG5D7znUG8/S/30CgEnOAO/u431mALtz3/++cTeM/f9SKeboUiCvrLpzVcmd5998/xv7fcSoVvwfXXv94Cx29++4c0ijnSKEPyEU/nnn0GtI3Z2dHCVe5hO2HUZsjOhpysEQ2rDN5NrzgDr7lsA2LcbpX6ODRarutYYCYAkSuU4RrAYabqkRCNkLFpNpfHl3/4OGbyDtauXgVtJRa59XCQIFFblCzFlXYGq2kkBweHMDk5ZSXR1taCumw9o2WDmJqeEUkmjUjEM6Atq0GuvtM1tahhqF2VIvItIKDVs4yBntFsWqMWsT/GGIKxH6C5ZTOdWBmrVp9LQ5fBo9/dxWIVuryAcQzmJxZw5xfvR31nFs1rGy0pkudZ5ZRCqwtqU6nIKIkx4Eq5AX2M+iUTCfapk+TmUMjPs2xIvYphITeDvTtvx6EDd2PX7n343ne+gV/c/W0UCkUUGPUMQwPplzGubatMcBQyIgZuGYYEYxEdY1AucRxZvlggTRfGcVEolDg+cQRc9c7PjeO97/0dXHTZ23DffbvY1iDB0ixKJByGAi7zrE8ajLYVCwR53F6ECRBwO1LtRIys2HaphL4fRzyR4gKkzD4E8BjhJWNotr/B5NOxFzAzPU2nMc35cybLRHCpG3J6xlAgKryUIgpwYWEBhzj2juuSlm8BepwAVS+ES2ZLRY+cSuUAg8OjMMZAv+LO05G86kXAMj29hy0vnZ3tlF8Ax3ERI/jt7x9g36dtJMv3CTzIA6gREXQEpOsz07PIE/C1MDInexFS75kN13GYH6JMuYza95ByUNQnnogzGpODIm2a7+qXTapE2voWOJ6S51uufQne/MrTODaupedyorjUL6WY59rnMYKiOFO6Jo4ko0AhwXI87sNhZ0MkYzwcAAAQAElEQVTaD8M6iwRjKUbDahpTEH0yhsY19Vh1XhdOf9UWrLlwtX1cpg6N7B/HkU/EnpKO7sWjzyjcqlXdMI5v/8jhUM9hbvUvwPabuqVylcR6lQuWdXllkEhk6E8aec0vs+syGWhrMsnt+y7KXQwoStXbP8ix9ahPAQFYzM7XTCbNe8qSUVHZgJBtCRQJjBtU/tmCJO24DpqaGmEM5/nYOCO+RT5lt9UXNqJ+6LKpqQHSj872FrRSHy+56Fy8/S03kM846xocONSLBW6l2srLDi51YzWjg80c70EuEGdnK07b4Oi/OMdYkd36ugwXbmMQ8BIQVHRUiz0BzmBhFD/8k634v7+6iX2LbAshGePXXuvAKVTtlm6pl4YJyKRcfPb9W7G+8ANsWNuJW265BT71c9OmjZiYGKftboZARIzPYjEfJUbo7vmvm/CpT30Kf/zHf4zn+jHGWD+sAE3VNwqcPFc6z7W867pYs2YNampqbB8VKNL7Zs+VzvMpr/6l6BuGh4e5KJ5DHcGn4zjPh9Qz1jlpalJaIUINZHd3tx1s3QcEK89I/RRl5BluFTIV0lfS9fFCpqeouSNkpMBC/vF4HO3t7VaJdS9ZHCm0dHHnnXdi1apVR0Db5Zdfjqeeegp/++m/hiaA0sBY4ZjJFHB20afR4Ef2eUA0olQkaCpwG7NAYHbVOVn86mu6CYKA0ekCbvzELvzwvkk7YVnd1lti4bgnlVE7ZRriOx+fwZnveRQzi2Xot9A+/OZOvPmKRjy6P4d3f/oAbn28gM6Odq7mHRjjQMqms1aZKRqUb33r23TID2Lzpg249tXX4Gf3PoIf/e8d1ogFdDIBvbPjuHjppRfgHTRkehleYCYiEyGT5NaYSSIRc61zEPPGMQC/AfML5JG+Agk6kzIFY8EnrZEtA8AYg/+6bQdoSlGkIeYtGrmCXrtmFSdoyoIIAbPpmTlbtot9kZPr6+2HthJdTuaurk54fowgZ8A6Tf3V5KHePviehywdAolDvE4RtGkV3k3HsKqrwy4ElGcTbWXIKEFIoLF+42Vc8XbCcX34fpIA8ADycwUE7EtIecgBlgkwH/r249j2qtPgM1JGH2DJqB+6iNhHJV0rr0wQ5NNwZsjPJPmor88iRh0cGh6BeOzgNkipOIvDvY9i8PBj5LcMz4tjdnaI7fcin5/D/n0/x/z8FI1wATAOx6jIazqisGjLhwRjYVBEwHGL2H4sFkMinuQ92A+f7cUwPzcK/UzGL/3SOzExFeHAvgMYZRQqYD0OF+lEpBmIPOtV6BrKJCDoCxgN03tfZYK9EsEl+In5Mep6ANehbpkQc7NjyJFHZkGGfYYrzqmpaQLcZvbHw2GuhNes7rLXKlNNZBcBZdTLra2AjjjNaMDo6DijaQuMRjURxNZXix45q48CQTkCOP3cgYDQkcylC9EdGBjhdvgUuqknCep8SDBVW5vGKB35IFfldXVpWKCnwhwsqgKPFQLzjMzNzs5ZkFWXSVce8uhQ/mo/oD6MM2o2OTlDIJKiQc9ghrrqEUjVcBtOZSw9S5sV+S0THEpHX3beevzGjeehvSEObd8bzhljIvAEx3XgKXGB4/Ic8z2OoQcwN+a7qKuJcU450Gfba7fBGGOT7tk9aB5G7EW6pRaxZEyPsTC1iPxsgXIOEUv59pnKAQZHP6wV6S5iey46OjsgMFWis5/jVrDA69TUDKvZQipo0/TEbpQXt1N3n7Bt24c8lDmmq7mQSlLuimb1cJsv5PiyEBQBixNos5ilF1IBYwQWtYwm5hh5SjFS19nRCm33aqzsgoaFjTnKr8athdF8tTM5OUn9DUmLhdh3yV40Pc+hHuWhcQ85Dh7H5u1vuR6vuPIyGEPtjgz6CMpDjqVqLk+u43KR2I04QfAQgZl4qOYbGLWCZE0SnYwEJzifhzmX8vki8os5fPY3V+M//uAMzg2WNNVaYC0DNmsT+JG5hOEFv3pu+ZZ4lZixqTuFr/zOGjz0jfezRAT9tXOCizlFa7XQLGk+0nYyE5/71rBONhlj8Ou//us466yzoO1BgQ39aKvO1SQgVL2+7777aG9mqcN16OjooM3JI8etTEvsRTxIt7Q9aYzBNddcY23Dzp07bfsvYrPUk4g+ZMG2o0hcNpulfZ3H8jE+Fe07J0NEq1ClDB2EBld1XNe1gxEQkMmYSjH0/FQmTRzRjlN5a2l0jTEwxkCoOEYHMrsUMj2VbYqWJpto61p9dpyKmMSH2pYsBAj/+q//Ghqc9evX4uqrX4mJ8XGsJTioz2asU1CofJoO1aezX6DRKBFw/fZn9+H9n9mL6VwZDvuiSc95T0cVIaSRIQ6BQFmZDr3M8iWCs7oaFx9/5xq845pOzC4E+M4vxvHqj+yA/lukgHX4pcKI20rS3NQz5YnOnr5FnP+bj+PJg/M03MBFW2vxN+9dg3m9J/bFPvzjd4cA40H8astugQAYSx+yaGWuPnQSCBTzi/ja1/4Lij5dccXluOSyS/G9H96Knbv3W+dcpoMPaKw0Pu946w246mWX4BABkQyBdIRqA8fROAKGZzFeYl9preC7FaMV0kuojMN7ioCygf2EFNTrLt+MGI2kjK4MtgywyGhbqKuzjeQiCAQe7OknCCkhTqO9mlG+iBGhwcFByrZMp5FEJ53H7NwCJ1meoK6BY6HoRWRX6DIs6ms7t7uK3Orr59acVuQ13CKRbMWMYxyI54jADI7LsSuDHYKBQ+eUtHyEHIRddx3ArZ/5GaRDEe+VbEXwSGKSCbvF8nxAgroWiLF3zK+vr7d1+7gFa40At2rm6OwEylLxAgr5GRaNsGb9xdi4+Uqs23AZ9L6ZfjZjbvYw+TIoFeYQBQRmAkuUQ0CjXCZo0vziSMBxXZQpaD8Wg0vZLuRmsXZVBm+47kaMTQG3//QeHNzfgzyjZmUChCB0KUfDOiHplyB6koNSSKBnnAght0DBcQypCz7nr8MtWcOB8lyHMp8hABtDsTCPIMjDGMNni5Dz830fkxMTWL2qE0nKm5078o0onIg09a7dxNQ0gU+WQHkCs3MEQdx2kg647AvFRkkeqYZpgiQ59O7uDnQw+mGMOZrJK5IlMJpFL6NibW3NtGsZa2iTXA3ncot2e1IgQXPfwKiGpa92eMN+lDA5OW0XBVq8GKMygNURFgjJ8xSjZiMEjYb39eRVhlyyqSNwM6JJJiJR5ZlFKNeQBj+HrWta8KG3XoyXbGqyeu8aQHNDZ9dxIHm6bM+eHZdlPI6ysW2nCP59AgzXNXApdxbDQ998GPph2NNeuQVqzh4MAGbOjsxi9217sfOWPeh/fAAudSEshygulFCX7QRQmZ8Rx7RSF/yQawpCbJMEAuoHHx75yo4KmNn+yrgxJ00/osjze97xKkyOPYDx0f18Cli5ECwoIjZP4Cx7q4WXFkSaw3XpNLQ4t4XJQMRGQ86pGoJZ8ar3vwSi0+kaGwUX+C0R5BnybSqV7FHzOMsxEG9aBJCMfS5ZOI6LeCKBPXv0vmyAgDwrv6EhC72WsWXjWjiuQ52bt1usEccWKz4Z+irpb5HAdJjb4qHkVS1DWRnOA7WfjPt49zXN+MlfnINVzQmwK5VSLONyzEC+sfSpktCZ1WEccstyKqK+GR44Eixt4FEvrjy7Abf85bl4/cXNlFnBgkxt4as/Dgn4nGcH+su0j6zIWqsY5fz85z+P7dufYtQ9xwVDAkNDg5CM9EcsOjtcAOicI/C6+eabbYTMccgI66c4V5LJJJR3dIyY8YK+RysHxBk9PT2MnE/ZX/evq6uDMcbyoPfG9NM2yj9a49RdqT8KAql/6qcoG2Ns8EX9lw6JPz1/oakizWegUmDYXYwkqKA1DBEaUxm85cVjNOICSyq7wEm0PO/5XqtzGnjVt0bwOO26rmsHQ8ou0Kazyr/QpP6qL2p3+bboVVddZaNkig5O0GFoYG6//acMhdcjwRWRHJVeJD3U02udupC8jEnICd3MUPaa1d2WtZdsTUDA7A++cAB/+MUD9lnAmVhJIPiIEPKeXxqDyJYtEpTJzjXV+fjrX9+A09emMT1fwr/dMoy3/PluTM6WENJqqI4SLxHxMEfwdt3Hd+Hfbx9CgRE3rag//9vrkYo7+MtvDOAT/zmOeE0TWlqa2FYARbQy6QyBkQdt/wnsWAZ50BAYYwg2fLSy/O7de/Ctb32b7YZ41bVXw4sn8Z9f/y56GbWQLDSGZIFbn0349Xe/DXqHYmhoFDHfgbTIGMM22dcIkDPhLdRv1WFzNLeAMcbmgZ98MUCZzqEhk8D1V27Fhq4G1g9xmGBpkFtQYI04dXHd2lXo5Ao0pOXSux+HB4cR0mjqRx71V3bz8zk68coWjOs6cJgkKzntHPW3jSCsva0VbBwDXOVq+0HjOjMzi4XFvJqBDiGBjTEOjHERaRXPfvDC5il/YMcI7vznezGwYxhnX38G/KTP7JApgvqoxML2WuWL3C5cIGgXD6edvo1ZKsfy5N11XTQ3t7AfEbeDchaojBL8LxIce75H45nC7EwP6wACPl3dZ6G1fSudUj+3F++gnIrUqxJBUhlV8KTCPo2ycVzEYnGmGA3xLDwnj9e99uVI1nZh965eDPQOoExZRnDYvsOtxoCR4hz0CdlvYwwvQwQE4pJDyHOZILZExwoa6zgjF+qkSydQLC5AUbH84jRBwSL5KTIrIEBOoJVyn5udhwBT09L2EjimShqfiHKY5PbzyOgE6uuzNPyLGB0do1GsgYCYABMZOeabp/0aYWSrkc5UYMx1nWPyNQYBJ9Yhgvck+ZTjEXDw/Rj7Chw40EMey5AzNkZ17SBbrkRIei4gJh6bGuvhEcDoucOyBoY0QvK5gFFuT5YYJVQZUdAY1zBScoQfIwqqycTrHPWghvry/jdfjGsvXosaASvy7rkGPDHxzAuHMnUch+06cKkj4FhwiiDhu3xm4Nh8AwN+1Fmeqj97sf2Wnbxb+pIpVsXovnGOSwhtY3ae0Q7JpueRfnS0XgjpleVyiU6F6FL9pZOyIh14L754sl+Sx/qNV8D1E/Zev+fV0NiIT3/mX1FD0B2jTVCG3gFUNDBdW8OFRgHNlKmS6svpTTGC6joOdUZPbK9YLbL3xsg5p9lvz4KPbF0GHvVbkaFpLooj6rCxTBuAZV3KS+A5zQibokgLnPtiXfy/5Jwzse9gH37w49sISOZod8oIWV/5p5+2Cb/E6P8aRm61YBgaGYfAPlZ8jDFopJ52cBGrfCUpjuhPM2q4rqmI731yG25+WSsEmpf3SKSIP3SySe2SXOWaxzIXTwF9QsgMsoWqzTcwzCUlnXiViDn43Teuxbf+aBsuOyOLGS7kmrkVu3XLZs7hEhwSjcVr7Pyb5aJFc2TN6lUYGByAfgi3saEB69auRi/nh8ZTIDrOKGUs5nN7uh8PP/wwWzn6VRnhBJ9yl08uEZAezX3+V9oi7GO0XL63paUFxix1cImkqfLczgAAEABJREFUMQbawers7LR89S+9UrWU/bxP4n+WQR/hgDQXA8Yc264IK0/gsEzgP7/0fpmeP98kK/O0ugG1QQKV0gpsSdBPK7TsgTGGoCSBOFfCYkqIcln2SV9KWVVfgpAA1NlnqxyjExaPqlOZVFTIZ6t0nHyBMPU5tYT0jakI/0Mf+hDOPfdc3MktSSnGALctzj33JVYpHnnkUfQy+nPwQC9O27oJjTQgWvGmkknOvQgNXIWNjI3Z1gR2dDEwWsSm1T4noY8JAikBMQG0MidZieBN9zwh5CzTOeDzMq2sokhFbmFyDuLKc+rxmfdvRn06TpIRfvtzB+zvhwWsELC80l99/TDe+ak95DNCvhDhsx9Yiws2p3Hro9P4tb/vwUyxDlnyZ4yxzljh/hYCx4nJCQwMDdNQ0igWihakBZr1bElfFqfxd5CprYUiSHfcdgduvfUOrOZEvuHGNyCXL+PHt9xpjViZzjmk0wY/F19wLt7+5uuxY3cvZEgC8um5DlwStJLmgZcsCcrOnqyhlU4oeS6fs/NTs3l8/2d7MFd0sJZGMZvNWAN8kEZDq1GSQYJGYy0BcB1X4vl8AXofaIwg2qExr6ehbmrIYoQgbpZGSNEm6Y36IsAmp6roy9DwmNXnRUYL5wnimmnINCbkosIc6HDZv4Dbd3oQMjIUKFqmG6adt+9F2+ZmGMdg/OAkyty2JPvMWf49Vlcjgo5EPAHHIchbyopYqZJCaD7UM2Km7Rzx4vsx6zQ/9LsfxSc/+We48YarCKpGYIzLxUobamoaYIzB8PBTCBixKjMVCZYM5eC4Ptvx4BOMlbi9WC7N4ZpXXoorrrqWWzIz3C4cxKS2ddi+2soXSwQnIVwnRppxlIo5RNz+LNv/37JMsQTQWJdomDzyFeO2E2Dsv4g6MD83gdz8BEqlBZYrImJfy+UcNqxvoa4EiMd86lAnXNcBiTHxGClFjBTN09AOMs9DQAA1xLHzqRAas/SKhSKrQC/U67eiHPZTjjNOfbAElx1Czq9eLh7mCX66GFkNaPNUXj/uOsBIqgCAIgqSOZllTTp+e6zwNMOtxvzioo2EayvMmEpfdQw5X4p0RmPjk5hnRDNDp5+lc56hvqUJNlReSk7RIqQcdO2wfoERyIg69fZXn41fu+4cNHB+xxjh0jzxXINKcqkHlSQZxHxeE1xE3EpLxDzUJD34BDg+n3ms45KuaJN1rG6vRzFXRDLrI2L/9cwYAzAZQ6d2Witqm2tsmcEnhtHR0m3HfHLiEKJIkq3IAOS5pWUT9AcIsB/l6SKytkRXtdzm1dkm1j144B6UioscQx+ytXv37iOwrodeJShxTEVZctFc1HhpUeWyD5LfABdVJAHwcMnZq+E5hjS4OILRIybWZp541BjW0jZpMRxQltlsHRcjAUY5FrOMpLKbrGWYyBlvPM9DC+2e6o0RvMteqK5Ax2WXX4pHntiJn/z0TpSo1wF1JODY+r6HC88/G1e//HLUpBLQcy388lwAkOrS1/Bs4JN+Z3sbGhvqIfvkh7P4yu9txF++ewOSXBiTbYQcC5UWU7o3hv1ibX15yf6BZcB2Is6VkIuiiCkkTxH7FjEvsmXsKFAPpE/2mgRUv60+jj9/1yb8nxvbuBgdw46du+1OzirayEbaE/U5zvk3QnApGa3q7oSS3m3TeCigoAhlGxdNruOQj4CUgVdfcwXBXBL/8R//Ye+rB42bxkD38qkaF10/16Q5uHfvXkas67B27VrqjntCEj6BYHd3NxevzYxq77fRtBNWeIZM8Vvl+2RxSJzYJ0XsoJ2z+RcAzGT9jrAlRkRM4EYClbIeyTyJi+pAqJ46JNR4EtVskTwdX46hUCFsReSMsSpq857tYIyBBKJ6UiDRerY61XxNptllKFgTs5p3ySWX4O///u/x6KOP2kfbzjzNrsgFuLRy0AprgQa9tjZF5zUNOXcV1KqopaWZkyXEy176Uu7jT0HPlDc8HuBDb09D0aeLLzibyh2xXDVx0nFyBjZVrjVZibNsuTJBTJEroyKBGecFbr6yFb/MbcwFAq6puRLe+Ce78fOnZnHtH27HwZEFOlyD972+DW97eTP6Rwv4jX84iFueMJzMEUHMothZlow1pu00HnrXYILOeJpRoWy2DtNcYY5NTC4rC1DkdoJIBr7n4L++9R3cd98D0PtlF19yEe6+92HcctvPaEAC8h7QaASk78F4MXiuw2RgwA8PomV0xwt++VAGKGIdySWksYlkY6A/w7/j4UNYJLgBP8YYC3q1pVFbk7I/BdBDJzvDSIvjGGsE9UcJiUScK915KG+aq2zPc9HGrSkBsC5G09paW6BnAl96gV7zIKDxdUlDjqGTq1ytolHhgvyw8aWvMQ4iGml7u3QWty5lMrxnDK1bKPvHBhAQVNsyS4eQQEZtVGnKmPh+DGU6kaeefIxbwVeS5zlbWkZaPCmxy9TBWmj7coZ6W1Obwqf/+k/wi5/fhR/98Dt476/+Mvr7HsT09ABa27dQhpJ/GfNzIxwvjwunFBxHTjuGiABS0aotG7txzateg76+GTz+2C4MHh5CQF2D8RDSwJfKRSi6GpKRIqNcQZDj85KtH5LfgKlEh8VCpB+3+uw4DgwCOu0xzOfG6UDnSLOIkJHFkEBOvydWJiDr7TlI498O3/dQ/bAZ0o4QkGY/edF9jAZvnDoop9fMCJr0Tm1U6+gs/iYYRdM4rlrVQRllYIxR1pEkWtraUuREYyvwrme1XAFPTM5giGCsliAvlUzYOnJs1aQHc/Y9sXnUEWQJ8BtToe8Y6gH1IyD4FA+KiKQY/WmgI1ZkNaA+ia5oaBxFEywPGDrWEvTy+isuWI/33XQ+1nfUIUZQ5TkGFCPHzcD1HJ4deNRdj9e+zgQsEeu7vE4lfWheuQ7LkSfXNcwBeFmhQVovP38t3n3tWej5RS8a1zRCn9nhORy8rwd7bqcD2z2NJBIEglnUc94PDvShu3sV5maHEbFfasuoEpMXS2OWc2lwcAglRUP5DDAwxkCf2dkZnWxyOefVVcdxEXBR4JBHz/fgke+zztxCvl2olmQkO5mk7DXOAmJFLgTA3Dk6uYvO7EImFcNl53TjwjNXo0CfIXCnfPBj5arB5LXmfC1BoRYvcpRZLtw0DqOMVhYZjTbGkCoL8muMgcZbwKzEBUuZeheGERzXxUvOPQfnX3gBo2V3YPuOPRbslzmWGuemxixuuv5aXHXFJYj5HvV8AYNczJYIxkn2yHexkMfU5Bj+8lfW4T/+4HS0ZGOVoWcJl+PEE0AeeODJQF2wt2CxkInCK9O2fOq/evDJ/ziAXYcL2DeQwxd/MoTf/Mwu2oyI29QqzGRAGkyofDjslXs+v+KsBtz6V+fhwzevtdutIyOj0O+9rV3TDUVsVUPzQmPjE9xIBySvWCzGfo1Yn6FItt6vVNm3XONDvvZd73qXbo9JxhjOad/aKoEU+fZjCpzgRvIXEDPG2O3JZDJ5gtJPz0pwR2/dunWQnul9s5Xj8fQaR5+IT/WplqBe/TaGgjuafcIrtSdepW/CPxXdPGGVI5lFRtDVtqMnUmQJbYFh2+cDiERjeRIgU4ckWAE8TbTl+cuvJSwxLwVQHWNOXgDL6ehaAhH/al+dE209P14KqeBqV7xlMhkaO/dIscsvv/zIYG7dvIHRhjRWdXdwC+MQ1KcJOgY5w5GRMWzetJ7h0jY6mtBGk9Lc8tt/sAe9fYftVlJfXy/0ArEMTDu3wooEVH/4mWn4NKqH+/aDi0MaKTofLjo0DpqMFUDGZzQKAmN6zkvr6OR09KxMh6moWUt9DH/0S2tx3eWtKHBb8l1/vYd9Aa49rx4fe2sn+Yrwu/+vF//4wxwaWzpRS+CylpGlZDJuV2zqz5GOU/QOZ3CmLg05K891IaO4sFiwgHdkdBwL2rbD0Y8xBnFO2JaWRuSpP9/45n9D74xcfPGFOPe8c/Gjn96Fnbv30emUbZphZMGgYnR4WiJkoGvbT3ZU54hGyJ4pEPU55HPwc95p7TTgBuKlf2AYikR4NOzNTQ1oa20C2YEct4BViYbRdR0IeMnQszomJqc5NgMoFUsEiD5836MBDO1f3s0QyBnjIKJuqHy2rg5lDpDaqqHcargCEg2lCm8h5RtA1yHrRIwcKK+aYikfhx8fxKqXdMLntlPEPvQ+2o+pwzN456u34SUbGzHHbYSQz9WuTyMYj/l8NoODB/ZSL6gUlljENmiYI6WIbUYwxlCvGmD478Y3vh0/veUHGDh8CJ/4+O8TLCRggglGuR5FJtvOvi5A75QZx4Hr+XAok9z8OOoyLq666nL48Xo89ugObq1NIseITpn8SLfy+QVIhsZN0BEVEAV5clNm++SL4yLAFBCMGcclEEvBGBdgkm7nF2YxOztGpznHuousU0YUluB7RYTlOQwMHIYcYJrAxhgDfUgSkQ4ce/220wS3djKZNDRmklMDQUIbt8t9jrfKL0/Ts3Pcop2hDjSjjWDbYV+X5+t6enqW7Q5DYE4v5yuSJqCnLcIDBw7CpXNME5g5nAMRKyiRFQodKDJarBfUE4kY6uncHddhCcCwLPgJCFjmGEmV7umZAIAMcomGVnPO0rR9s+RYg2fez7PO6evb8HtvvxQXn96ONHUmpB5ZnWATruPAY1uuUznr2nddsmVs28m4jxhtiUs+lKezw2tSh86613PHGDy6exA/eXgEf/Txv8a73/x+hPPA4BMjqHVTaKxrQIKgV+Vc0k8QFMXjCSwS9GgLWvRAviKUAQMc7n2IZwPtCihSqOgS+Flg1JCnY74BAb2AmDEOZexbvfaph4p6/Pzeh6DFqSpoXAIat8GhUQigepybmn8ac9mj7Yem8cD2fsoohvbGFF5z+WZsWdtK3c6hwPERDelPNbHLBBopUMxWr1OpJBShlD4peikgya4AKgjwZCC9CMmDaJQJzJR8zsuXv+JKxFK1+OZ//9DqUJl2QbyyFjraW/CWN70OG9etBqcOtJAdZbRNOnGYgPVNF8XxrY+egYu21lkxwn6MbS+gHQdM5TkVTrxadngtHQg50rc+MoH3fHoHRibzeOzAHPb1z2BwqoQz1tfj2gua8A/f7YPKsoooQR9di5b40dnSZIa2MV97UTO++dEzcfGWGszR5k1wEaP+SMabN29kFG0Snh9HR0cHzj/vHMqwBnFGmUcJZg3HUPPAGIPRqRg629J2PL/whS/geB9jjPWDAiryyZoTxytXfdbT04MJ7mbo/7WUX3YcToJq5nM4q14d7bfojI6OcrHZRz2QVI5PRHyJP/GpZAzH5PhFn/Wp2q7YEQfCGCF9wzNVKlPHVMYYY+XsVJFZjE61hitDY54/I8sbNcbQSCfsYKizQp1S8moZMTnPVY+eiXkZgWreCz0LkKkv1TaCIDiGpICneFIZ9buaqffEJMxf/OIXMMagyJXUEEFXK6Nd4nHtmlVoJ6hau3YVZukANEOA0NAAABAASURBVKEVth+jovox34KYQa6QOIdoJBa4qhjGvv0HLUDRewPTXFGqrYV8hHgM0GT5yQMT+PodI/jq7SP2Xs9UJuQs4lek7HNd60bnkIVoM1DiZC4vpdUtCbztFW3Y0JXAR97ahY6mGP7pe8P4rX/qRRRroqHJ2D4ZY3h2UJOqgaJDiwRbExNTbINLMTZslpLrOvbdmWZGIwI63XGG/JPJFASA9M5WgYCGRY98ZchTNHh65+PAgQP4/vd/jBquUK+66gq4sQS+9e0f4Vvf+RHeduMrCCzVVsTuVCaIjtID9e3INfuoZzJYIRU6pDMI+ayzOYPrXrYFq9rqLFgQYBwdnyAtIJVMQn8VKUdfpsHUy/gjBJEh6ycZJVtNUN3e1mLb1xaDDP84AZrGOKCOhEwtzQ1oIrhTf0ZpVKcYHUwQvEpn8tySEH/qdMToUkSedA22biCQKfPJEvy6MQ+u7yJZl0Tj2gbIyO+75yCa1zUh25mBTyd67tZ2/PoN52JLd9rqC+zHoL+vB4MD/XRern1SOZAo24kopKOJ7fHeodEqUFcXGK1tamyo6CYnekN9EqX8CBTVEo+u6/A6j7HRAwRrj+DJJ+/Ft//7a7jlJ1/hswHqACBZWZmzf4Z0g6CAUmGOLIQo8zpkhCPgNm2gM0FILJ4knx4mxg/i4P67MDl+iO2P05HPIOBWaMCyUVhG3C+z3CK3VGeQzaatI/e8o/1jN9hGBAGvgcERlqmzTlZzSyBIoDrOMTSGcrYleeBXCwSNfyZTi+6udguy+fiYb4HO+vDhYebF0ErQHlA3tGUbkZZeOQio3wLfnit+IkqZ1aNKKlOO09QB3tl3grT40FgbwyOTQLZAyDjnkNqpJ2h0KLc851VNKgXX8yqOgPT4JW0dYQECVQC/fuMFeP1l61BXG6N8AM8xlJULj+AwoL4b3jtMnuvAyss4jIawTMy15VzmuY4DnckOtRBMERzeOI4hHQffuGU7PvOth3HXIz246JIrMDExhq/957/Ccxw0NmTh8BxyLHX2YzHECMwko4j6LbDlOC75pq6hBF6wP6Gt08rIci6Xt4CqnmM6NTkBbc+ma1PQZ/Xai9C56hysWnMet7bqqFtlBNSbxsZGSK7bt+/AZRefb2mBXI+MjmGGdlVztUT7ks2k0dRYb/NlZwV4p+YK7LdH8OjZ7dkz1zfg9Vechg7ahXmC25BzHfxEVKhqktxqaYuMcaCx0hyRPMftwpq6zbKgvIwx0D/RUF2dA9oEAXfx08LFwLWvuQYzuQJuvf3nEJBXP1TGpe5ccP7ZePMbX4s2bu3laSvW1S/gqx/eihsvb0Vt0gNI3Sa1YyjKCPwY8JZnfk0liR2lCe56/Mrf7MBDe6aZAZyzsR6tjK6taU2itT6BjV0p/Hz7LKQrBsaWqR50d4SuHuqBzkq8bq2P4RO/tB7/+rtb0FQToK9/AOeddz5Wr1rF8QX6+vowRF+2e88+jNEO1ljb3sCF8Bhcz2GZCA88NcWIpRZpYJkxUX7G5FDH5G+NMbQPs7RDxWPKjhI06TfF2tvbOUdb4VKexxR4tptnyFe7nZ2dXKS1ob+/H2pHY1strgXnPHGI2hN/Kl/Ne6Fnn0A+nU7bvgrsLW9X13omHautrYXKqj1HBz0QQ7o+1UkdTKVS8GiYxICA2QIjKQKCer4cEJ3qtuM0LBKy2lKbigKKBz0XChZvavPqq69GPB6jA1i074JpO3JVVycK+QJmaIxjBFv9hwehqIvK66+xstmsndyiN8zQ78DAEJ1Qng5lDo10ikUalAwNivqn90cqzsQhfW4jRS7Ov+BSDIzM47bHpvDI3jk81bOIP/hiLz7wj3vxhZ+M40Of3Y+P/dtB/NN3D+P+nTN44sA8DA2s2tdklbHWOeRB12Ua7xJRWsJ3uGI2+JP/HMT+iQw2rl9jIwczczQ8nLTGANXk+x6jFA02CXDNMnolRcHSxxiDBCMCMjANDXUYHRvDNKMMiUQcMjgyaEtFj5ykR3VUwvq6Wvzge9/HPffchw3r1+K1r3s1zjh9KxXPs4BIPNPe24mtNtmNY69p+dU3mi0+55H9C5lyi0Xc8cgh5IoOVnV1QOMrY93LiOQ4naI6p4jEKjpnnedzC+jhNuYkx1FMprjyF2ir49gUGL3IcZtcz5s5ZgJrPieRVoDDBOKO6xL0lSH6jXQiMrxki9+IziUgX2HlrCfqDChcEWMKimUUF0ssE2HnLXuxMLmAteevQpyOl8UBytbAwKdxk0Fta5MhascZ287BpZcSxLJt6U9FNhHpUAYU0tH7pWekMTI8CH3SmQx1UgbSQDo7OTHNBVESnZ1tQJjDQP9TGB/dw0jmJLq6z0F7xxnWUZYInObnxjA+dogOU3SVXIJIRrXYJkNjiAiqyow4BgQv5VIAx/U4Z5KUzTgO7f8ZJif2E/TXEnANMSK2gJA0VScoL6C+3kOhME8n6tMwNlvexK+SJc+DFkgDg8MIucBQH/WeGEVE3WyE9MkYSQtWdKqn+aX3gjzPRTf1QGOt58tTmcBrgFHU2dmc/cMVR/OHdBK0R8PDI5ienkYdZeZ7Humyz6wcMfEGEcdThlo6ks1mKKcEDOsbY0CRW0a0OJmYmsY8dayGDksATP/HYYJ2J0E9gz7sm2hWqINyKCJPu/KWq8/Ab7/5QnS31iLGsXZJ2yFt8Siw4PsuUnEfniPn58AYB2FkCEZcJGOefe46Dh2XAauxpQiGjOva4XOPeuVTNh7T6GwRnu9hw8YtuP++e/C5z34ailrFSV98GWPg+zHEE3H2G7Rh83Z7ypDq4uICMnVN7G/A5KoFnpmhK9arr69DhjKcmZm3dSWvQqEE8TA12WfbmZ8bJ71peF4CxjiQU0wx4rztrDNx9z0PILQgKqI+xa3z8shzG6OcPudijr5imIuqIudqTcLDtZdsgM++xVgmQTkk4z6ytXG8lNuYV1+8GYZwVVHeSHJflsR0nDZevk4gPmCb9fVZCGhprs8zUq1eGUMKzFN58RUQkCmVyiXIeeu6o6MNZ551Fh56dDtuu/MeO55hGLF6xK3AIdSYafzz+zfhE+9cD+1gMAMkeyRRdFZW1edkU5c2GXsEZPve/n+fwsB4AW2NNfiN16/Fxs4ajM2U8FffOIQ/+re9+MSXdqG+1sH7Xtddoc26y2nxFlV6OivpmdrXWTytbkniy7+/DX/8Sxu4iP4+fvbze2gzEgTWNeQhtH0e44JX5cEKMQJ22cckF7/9wyWMTIQ268Ybb7TnZzuofpr+QeVytL2agwcPHmSbKaxevdrqgPJOdVK7qwg245yb+n8uJycnofktPZEP8TzvVDd5hF6CW6iSV57RZiVhESU9E1/GHBkZOD6V/kjNF/FCHZazluEtc9WpdjVpX8QmLWljZGx8q1ia1OJBSZlSIg3Grbfeyvwydu/ajf0HDkHGVdGsdevWYMuWTVzNBRy8HJH9HCTcOSJqCVbAJMeoxNo1qyDQUSQIkzFRXktzo6WjSTzPlZtWjlr5TU1NQpN6D1cerVxxqQ3xUqbzaOOKs5OTfXQ+BsfzETgp7OxbxL/+ZAhfvGUCH/qXYa6WcpxPNKM0AIFNlcmra/oQ5oGABzgwXIa2T0uku56AKJlIElAOsB8Lau6YJKVYRaeWTCYwOiZFPbaMMQZJKlVHeyuSjBbpL8vm53Ko5apzlNHBqSWwUyFqNG/pKFw0NjSgzMjNN77x39ixYxfkNHuGpvHU/lEU6dTLBJAyZJoUlQQaKvaNVoVfS07nkAZSZxjgnif6MTVboFF24TgGekG/g1GvBCfaLI2qgHMut2jbb2akS+ArvmREFDFTGY2RIgPtNPpNDfVoZ/04jXWekZTBoRGUqJ8yiGwOGiPRn2AYXWUqTNkjeQ1hjEHE6EJE4UdiUnbZjgJQ156G6zso58tIZOJw6USWsthR0mADj+waRLb7PLzjne9FilHLq695LTZu2gxLi0UsSR50X0l8SCK6VlSDJMgDn7GM5JFO1yLFSPcsx6emtoaOMI+pyWnU1WWQShSRXxxj5LKZsnMxyWhWLjeO5paNWFiYYpsBjTCo7yUE5RxCgrBQf6zAqEaZKWLUzCUQSxLQBLzv7XmAIO8RJBMuWlpakOJzY2jEiznSyMP3C6SxgOnpKYKyDOdOnIwe/UbkuUxHN8QtKoHeOMdwnNsnmjMNdPSN9Vn4Kwyl6mhLqEC96uxohcCS6zpHifIq4ryYIBgdo242NzcTMNSybxGSyRryMoeBwwPQXBQ4BwV4ZMh0wbTAOT3HOZtKJpGmDB3HsfUNCxtj2KcI07Oz0HtisgGSrXQnpA7U1CRhjOH4Uo81TkxkCSUC9ByB21Xnb8AfvPNSnLau2f41pMuy/DKiBbjUZ/XFdRwLuDzXge+78DwXgAOPwM0nGHFtOWPLGwC8tdeu48B1DZMDz147XJy5dlxeduW1eOXVr0VPzwHLX4HyAz++5yMWT8BxXUbtFgmoOe4EIVkuOGFiaG3bjIbGdSzp2p4YUBYEPRw6sJOUC8ijxzINSFHv6jJ1nNslyijE7Mwghgd3EITOwXE8lEqLiMVSbN+xC90nHn8SF5y7DR59EMVu510LI/K1pCNbOsLITD5ftO0UGHG65KxVaG9Osz0XPudSNcV9D/GYh66WGlx/5Wl46blrucVcYLuqy+r8Sm+UjDFIpZK0XbWcG4tILo3xLG2HbJkAZbBkb0Jrn0LaUyZeK2pYpm2Qfiaoq2efcxa2nn46/ueHt0E/+/OTn/wUL101gr/9tfXY3F0Dw3aXfysyA8gC7GdFgeptNd91XNRxAXfa6jR+8dQE/uxrh1AKPQvK1rQl8YHruvF7N62F71fGHSRQrWvp86B7ybbaNh8tfQ3HUxWganjluU346h+egVIxzwjqFFzP43NDXfIgHV/kImI+N8/8EloZAXRdB3QtOO+0BPSRHHU+mWSMoT44GB4e5hgVSK8V8sP4/+FTV1eHdkbh5KPHGGBQk8ZQDrp4EZPjOJSla3VO+vNM+MdZ5J6/mHsReYEYEBoWExJImgi5+iyk8r9YbQc0LGpXk0irOLXtUdEeeOABGukMHnjgfjs5V63qxLYzlqI3nHglalomUwuFa+UwtMcuPmN07JJXQ0MWNZzUAmdy+MrXij5bl0F3Zwc8GgutnqcIVE7bshEb1q2225fiR6uyLdynV/08AcDBgz1YQ0AnIKZt0JDOJEVgpAGsoYOTQ1jV3cmBzBMQzmJ+YZmRYdmQM40s0wACvLUGUltORYLDwwODqE2nqfQlSOHPOvN0OK4DbdeVKRss+xhjuCqqhSJLnIkYG5/kuJVZQspaSa7rIiuFJoBRu6Kvs+Si/xJkgboETnNWsl+ShJxsK4GnXpa+/8FHUVjMAcbBT+/bj5n5PNRfGcpqgv1YE0JSOvOBmueJXcWG7gbIAQ1z1ayXs0s0kH7MRwsBcEtzk6UnQ64+ljhdd+laAAAQAElEQVSOnu9xArbYfBlY9Ut5MrwCaimOo9oeofPWeBlDQ8WGWgjmBAoiOlmBBAFS13HZuwpPLEJZRzaBAlO5kAAGyz6je8eh33Daes0m+HqHzFZStyJQBOyHsf154uG78L3/+W9GJuYwwmjX/Pwc+xFgmvojnVE11mJbPPImYjLG2PL6q6g4tw2Zw/yI9SI78euoiwGjWXk6MhnLPA1qgTrhOA7KpQnUpBaRbehGS+tmrvBn4cdraGDzONx7Dwr5SQTcagzDEhiyokOSHriIEdRLbwYHnsKhAz8n/3m0t7UiQ50wxhDULaBAnU4mI+Ytkm4OTY31kBzVLpY+4j/kvFdUdpzASfNokavHaUZf67MZtLUQrNDhLRU/cpLTnJmZtfQUtfU5tkcyeUGxQDQ0F5OcQ00cQ42J78egqEhPbx9lFKCWIMt1HdZY+kaVs+aMwJ5H0KMf4JWtUI4xBsYYyjaEgJrmu9qSjGXHCpSx5rMAk/pmEzVFdSNOygVGebaubcIH33opLt/WwciXB8814FDY5PLa81yOmwOXyi3eXNdFZBwADpJx127Pxeh4S2WOMfk1zAEPDvlyHAPHcUhT9ZncSvJ4dphks+6+86d48IFf4Ffe81t0sAnqTg4e5eLRpon/eUbQZetStDktrR2Y4dagceJIJBtgHJ9yY6MIeFakDMs+EZ/pNkI8HtPF05LAvXiNx2uh7XNjHLS1nwY/lsG+QwWC9TW2jhZJkt0oIzLTjNa7jkvdC9BMkKbt0XueGMTtDxygjBy4rgPJzPc9+L6LGJPP6wS3cte01+HGV5yBzaubuADNsc2KzRTtanIcx+qBoew0L7LUu0wmDemkdFPlBMxkM0IuuJQC2syAxlbArBoxU5+14D63dQSfe18XXn5OA3kzSzIBOERHr3kjvQE/htf88grQtUsdqOZJ0g75+v6fnoWaOPD33z6IHz84gYAR0pgX4RPvWI9/eN8WnLa6lv020D+oEiofS4/1ddYTw8PRbN2BxSPWq2TIhv/Rl/bi337cg62rUswMMMmFkey7fKf6LDloG166Mjw8av0Ra8ORivJikhEnnp71K7n2cTtUYGzNmjVobW1FIpGA5kiRUdBnJfACCoj3eQZTkgThHR0d6Orqsluthw8fpr2jXr8A2ieqKhnmGA1Umfr6egiL6Fq8SKd0XU1OihPQdV2ujo4qbjXzhZ7VmBjRWYBguYHTIEgwElKexviFtrW8vgZdRki01YbaMsZg9+7d+OAHP4iPfexjNEhzdqLOcWWUYaRHL+Jns1msJTgK6MgUxm5k9ER76w7rdna0QxEivW+lCSnnkKXTozmCBE4tpnI6mOMqWH3N0wEqf4TAYZpOpKmxwU6CgJN6hFucLg2wFLCd4CavF+XZRpJOZGSUe/Qcj2y2DrGYTx5LGBwcxqpVXVSgDju5DaeSywlsDCd+yJYjQJOqOqHLdAIyTjXcFjjAiN8o9+c1qcYnJq0z27B2NaZp8HQvWWHZxxgDRY0EbgSw5HzE87Ii0Di2NDdAfZID1soyHotbXgV29G7d8vLGGChC2FifxfZdBzFbcJBpaIbkavkm4xU+KE3yTgxk+8nHPLNzS8QMz+u66vH6l21GW2Mt8nSEg4yuyAmrVIrRuy5uz9VTdkWCj8PcRlYfQ9KULLq7O8hzveVzYHAEMvzaytRYawxDggQ54hY6csd1oO2oiclpOw55Ag2BbLJgx5Fd4mUEGWqliE8rz/iY36AUonl9I4wxmOybQpkREtsf5hljMD2Xt/qifrzz1Wegs3aWq/oFbvHejYd/9j/4zZvOxwduPh+djTEavwXW0jey9ADDdkOrd67jcJWfYuuwspIcIwowYmOxWALZbBbiu0BjF6MDDimLLVtPx2+873fwhtdfiSgcZruLGB89gIDbjCFB5eTEQeKwMtsoI6AzUj3jgB+XQOxuRlFG7Ht2DQ2NcLnAKRTydrEQUn51dWnMzU5zoROnI22grrisV/mSJdIkqOGcGxoeQ4ygS3WkY57rEty1QMA3qhQ/cixwLPVXvgLPnYwga54cyVy60Ev3Q3QUjuOimcDcGAPD6wgODnNhUqSu1NHhxnyfNaKKvHilr/oooBeyr/pZlEQ8occwhjRgIFkuco4KmOucTtcQBHgEnwXrTOSURVHlLGHWVl8XFwuIewbveM05uOmqLWirT7CeA49z13UMHCbXdeA6Sgb2mhFIsN0QBnHfhQCGw3xjmM/y8ZjDnIhjGiDiWDp85joOaTqkp7Nrr0XLYR1yz0XQogVLXV2r8aMffJssGugjGzXHSJ/Gz3EM1q/u4nj5KJSyHONFO1a53CRsvywtgkQbHQtVnc/tyR7UX11MHMcxay5u3HQlAVgSTc0bsH7j5ahvXI32zrOQrmtTNSkvIzPT0Hz0qVMh7WQqlbDz1WHbBc6/Mp/1Ds3Y/nmeQ17dyrXrwHUc+DzH+DxOudUwanve1lbov2nrZFQtR7ts+wE1xdEiw/xyPHw6yFoEQURQsMj2GiC5qqx0s5IiyoKJ8yqkjuiZ8h977AlMHrwX3/jI6bjhshaCJ5fU+ZUCG575NcZwXPD0D/ON4WEpR+1XLg2MMWQS4BH/+rtn4tO/thn/9P7N+PwHNuI7H9+Gl5/TSJqGfa4mQFVUHvyoXwF1Q2eb+Kz6teV4MMaARfC1Owbxia/swYGhHAanQrz72rWoTXow/NfNQMD5F5xrbcA8AYUX820Us5U+Sz7B5ZzddbBoSX/pS1+y5xMdFJHq7e3l/GymL+uC6qu8zjWMiupaIEW2WNenKmnRJLrGGILw2iPt+rQFnZ2d0H+LNzAwgKmpqVPVpKUjHRHQVH+Es2KxmH1ujIGu9axIu6wy0illOjqIMQmkSkDC1vPnm0RHgEiNqVEBouPRcjiJksmkFZCAm8ofr9xzeZYnuFMH1Se1rTaq9c899yX44he/iD27d2DN6m46nYBtO5Cy1RC87D9AR0SnMsboUBcjXeqHwEVYylnAOsoQuhxCJpNBO7cX57mtIYe9acM6bGTSXnsiEbf0zt52JmqXto/muH20ZctmbDvzDAxyS2zDxvU41NOPLZs2oJFATfVGCcS0QtuyeQPLDKNcKkNbIgJ1awgSlT8xMYkv3zKEz/xgBLc/OgXjcN5yxoWcWVy4cYJF4K01LjpL0Zu4unRp4Pq5TVOkY1ukYZuhQ2xn2FmOa4D8zNNYVWVUPctxtTQ1EcBlLR/qazWvcjZIJhNoa20i2KqxZaYY4Uizz0XyPsEVVqWcjoYHQ1m7qM9mybSh8Z3A5CKQKxrLM70Ez+SfFzpi6WNrGgPHqaQigc5DOwawUDIWICco75nZOfvuhs4Oy9bR8SqqmGSeZC9QPcsIgKGRyZA/vfyt8ZbDVL9CjrnqCByL3izHa3R0AhHlKh0QjWw2awEQ2YM+IQ0zSC+ikWZBfkNEXMGyc9DHoWPITS0g01qL4Z2jiGjwq3khB+sn9+7H9NwijCFXTOed1oH3vm4T3nRpI95yzZloqq9BOhnD9VdsxRuv3IzaWASNXxRROkxqQ/NK4HiBUcdzz73YOhS1oexqOZ1ra2sJkFKY4+pQ8nnyycfw85/fid6eQ7iGW6Sl4gzHMoPJiV60dZxGAxxyfA6yCUOnF0OZ/Hqej/m5ITsO0hu1LUM3wyjeLMF9miBF+ubRSLdxK1i6QQL2W+WnQFA0SCBcKgUwzBnlYiWkjJsJgKX7xugpM5a+AR1wRY8iaMwymVrYijj6CcjbKMdqZnYeohOLeRyHEJ4f4+p3HOOcs7Wc2wJN4ODJVyqJQsS2Nf65+QXqMGVEW2SMgTGVRElDYHZyaoayy0H6lGIZgQPHOEgQULIxfUWO1O3JRpYDbsW+4WVb8MG3XoRNqxsQ8114roHrMNmzw3uH95WzxznqOC5pGfieyyiaz3wXjuPAFT+kbgBwtsB1DdtmPwGOTQRjDMsZ+1x5Dttw9IzJGINXXbKRgHmadmkeL3/lq9Ha2kGAFuf29SLbi1DHOXHZuZtw1dkt2NKVoK3jwo2AKZVME5hNUGzUbc6RUDofwX6iKLB17Q15Y6Fl95WnK4+dXWejoWkNHNdDSODPCixCKUtBeOW67D/HxBiDNton6dgCt49HGTHL0UZRLLjy/PUEBRFinmcBmOdSPo6hrAxcnkVDz2K+h0TMQ0MmgavOX4NrLtkMz4nYtxybXeoEyDXblg4mEnHIJugVlIB9ZRb9Q0hbGvIcLCVek7/+/sPY/+S9+OCrEvizd65DW0OcYwCbwA/Zh8aKl7atJXK8NVAeLyCzoXarnBhjUM1UnsZQ/fA41l3NCZyxthbr2pPsN8sBqBzxtE+V3sqManl2FyEPdz0+iQ//y27cv2sSvaNF/PI1a/A7N61HY10MjuNAf8AwRRv+2KOPUz/SUICglsGbNkbECww2iH4HgxRushNnn70Nn/vc53DeeefhjDPOwJve9Cb83d/9nYrYNDMzg56eHvgEQGsYFUtyDtmMFYcYAUsNgZnm/QKjyrJdK4o8p9uQghcd0ZMNFH0RWJmkZ3q/zBiDQ4cOYZ52cmWZ53ovHJIjiBVtJWOqI3CUkuQsWSh/kbtLRYIz52g27CRVpjLUkecjkCoj6rwaM+bpjCxvU9caKA2ErtUJIUpdP5ckoauuOilaHifs8vr6PRIZUk3YBU7yAUadytzS6mhvg8qWCCJWdXfh4KFeJJMJTE1ztTY1jbZGB+maMuZpENSGtsEUrtakVQRJgz5HYDZLh5DJpOnIJqE9am3vXHbpZXSSC+jq6qTSvgTd3atx1lnbsHPnbui9rvncIlfYSdue5/lk12CaDq6BkbkpnpOJBIw1Mg44h6AXUFkIr7sceHD3LPYdXtQtQhqJgElnPdC1zho/1YvTcciJzlNBhhhRSiZTcFzf1jvj9C2QTCSPPB2m6imZpWFLsG4nZeTTwOm3uBYZKVD+0WQgENbR3gI5rDE6wHnKShNghNfTjA7CGuyjNdRea3MzegZmcMu9e7B/tAyXk1G8Gpoah3227RvA8NoxBsYoOXhw+wAGxua5jRMn3w6auCXWTNAp/gQI9Reg0kHHAIrytXM1pzy9UzQ4NGz/MspzXSgK1kYwKSDWwTIpbl1KviPkWdtn4EeGq6E+i1ZuuU5NTcKnTkXqC62eZBtywke0nnqmcxiVWevo1yEoGz80icY19XA8F2E5xODOIeTH8ihGMdzxUM+RwhE7r3ETTbWre6UyAUddJoUbrtyCl57VjkI+BwEhFrcgS33bt3eXdbj5/CL1hMyRR9WtppC6YYxjy4NyWbt2A+7iFtbdd/8U//zZT6MuU4PaWhc+DebhvscRlBeRmx+FcRwYY/jco/Oeg8CPRxkEBEoyWtPT08jW13H8a5hfQLau1l5XOyUexUOZ28oj+tFJzpF0Jo0ZAug8FwaKZGo7U+0aVlLiyfZBZRRtbqVj1ovjmtfKq6aQsp/mALkS8wAAEABJREFUAmCUW81yForMheynz6igfmx0cHAIMeqsgKKhMlSkslSbN7IB03QUmmPZugx1ybWZxlS4CDmuAnlTnIeu6zCKkib4CSVZJDgnHD5T30iK6s2jvuRJc+icLR340Nsuw9mbWuFTB1y2L7LGGOjadRw4fOY6DqSLLnUjguEzh3PIYx2X17DJGKtdqHxYSjTopEUnEfOQ4BZdBH0c0nbgGCUDFgMM4LCdq85fi3QqhvvuuQPbCcaHBvvhUzYxRjzO3rIaNxHwn7chi2w6jkvPWo23v7INZ21sYH0XTc3rUflUWqlcO2hoXI/5+TLtW8UGVcYatCmhLWKMsWcdHMflifd8ZsQUSVXKs2+UWeVRRKBVgsZadlRAWPZGW82qEwQlvO6lm3HW5jYk4i7mFkt2PIxhrgEM+6m+ujxL5koa/7iVkYe17Wnc/IrTcOnZa1AsFlCgrbPjR0aqZ2OMBWXV+4g6oBSSRyUtiHdSfpetnsE/v38Dzt9UB1ahTrB9XrBbAMjMsmSMgTEGgBL40dnAGAMeAPDMVKkL+zEOOAfsJWwxXpIF+4zs2vb46Mh3+TNREy1bTzcspZOe8RKDE3n88Zf34ds/H0TA/p21vgEff8cW+wcDyhctndXfPOeo6zjEBT7ndS2mORfm6euMMZBdDTivh7mg7+vrJ5/G/l5nuVzEI48+jI985CM2CvRnf/on+OhHP4o1BGLZbFakT5iMMWwvbpNAilJUZeqENY/NlA9QXeEZpWNzj38n/lavXm11QxEz4aDjl3zmp7J1+hkLz/NoU2vhUH7PXLqSozI1BKLGGDhY8VFmkghWnVCHTpYpMTJPZOm6rmVE5xWkn/U2RqesttVmjuDhZAZCZRaIplVHETHROF5DGzdutMYi5CrPcT06p6QVvLa0BEbkHNT3ddzOKzKS1ELAUKFjeDJWATu4XTLCSFaBijpKxy0wp5XEMLcgh0dGECf/XZ0dGOCe9M4dO/C1r38DolsqFfHZz30OP/zhjzAyPGRpLZLnKYZIH37kMd632mjPvv0HUVhCyau5RRlSEQX2enr7ufpvRCuBA5mBn1yNHT05fOl/h0AfVEmMwOiaVezEVblKotFbmo3ZbBYCewIm4xMTqE2n6RznUU/QsYWROYFSyUOOV3WpH5xooFIZOu00Otn/IvsyyZWTxhvLPhrvhoYs+9FGueahqJTreDT8PoZHxiDwSjOzrAYgoCiwt+/QEL7/s30Ymg5oJAz0T47l/6PtPQAsOaqr4VPV3S+/N29yntm80u4qopwlhCQkBAITRLKxjW3A2GCMM/YHxjj8+OPDmIyJBmOiSBJJAiGQUJZWefNsmJzjy93/OfXmrWbXAgTIvV0dKt66deveU7d63npUrpbBmDogDdnBtuYUZKQEnKamZ50nMZGIoaO9jd68Joiu+vdlkw64xGl0eriqk+EXmB6fmCI9UygTgAdB4BSN2KM/VJhkfZKnkNqvOZ9DK/tjjIFAZYxj69NwNrRh5DwENfZH/KWhZiURZYsRjv+xVADLsgkauc4TOhCyzn0/HUK0EMF9w2QNRuginKQXjUXBriHkpREqBG8LKxVUBchSPj0mHk7a2IHfvfYUbOpJo7Cy7Poneg/s34tHH3kQvh+oede+e+BF8lDne+Tqr9Ov5xrHqQwBHrVZpdcql02zzhW00gin0i2sz0O5vIz5uVF6SmZQqxaRTCYwRyCmdts5R+a4aBHoaWtrhrVPqhO1G1Hhy7s0Rc+uxrpIIzhJAJWhx6qLIFd1kcRjzmXOi0l6qJu49SmQH+P4rc2gepdoFLRV7VPpCZCH5K3Hvmt8j9ATrDnUlMvAel6juw0WsD8VgtdFWPK/lQufIPBd9cYYGMZFLLFEGqYoC9IVTQSQ1nqQgpecOVAuIhgiVxLka0j5LqK3PYPffeGZuPRZAxwvS0BoCZIM5RWubtVvjIUxhvFMc/QZN14CVrHAQgeT4SLZhu7MAcME0ewCM1iP5UmvT5lMxjjPCPyqTgdEzGtc8CzzeB485vn71z8bzZkY9u/fDZ95V7goffGzd+DZp3ejqyWJuOpg3kQ8QE9bBpeemsbvPX8j1nXF2bIB2KZ4I16D25aZbAfaOk9APNmHufkSZakEHdIxukeiXQ8MVRpplVFfVAejeOqJ4I31Kp4RbnFljOHW0RwXxPOwluPHerK5NHVUM776wydw8517SKvn+hJyvixyjtTYb8ty1hp4noFAbox9Dhh8z8JTPAOzYGt/Hi9+9nas78k7OShT34KH6F0bQDlovJdpD/bs3ove2BF8+k/W4/pLu1mnJRcAs/qPZLonHHcoPloTJxoar4YPCry5U8/Ky2kDVtZgC1SmkQYeeubt6NlIV4TKK921qxdFMiyuVPGeLw8RjO1CmXO9ty2NP3rhJlx2Wpurn1nYY13rQTpvI22h9MPk1Cz03ZhsXYKexOZ8E8QTa637ZQHhhL6+bve5z8GhQ5jlfI9RXyr9Ix/9CD73uc9iI3eQFKd5dNNNN9Ub+TlXz/Noo1MIqKOFBcqr4/RzirikSqXChcISZdwnuE5ThqyLf7oX0dza2goFbbGOjIygxgXoLyqvPEvEP7pnaVd9v65XflG5tenq68+kVoQJ4BhjIIbI0K0t3HgOqQxXqMDECHlFVGkj7Ve5N9pNJpPQQJeoxJ+qHk0WpSmP8ioYY54qq4v79Kc/7Qaoq7OTcy1yAyaAJcZ5nnUCJuBz8NARKobWJwfBeADDArf5pimYeQrjCpVZivQtcKWvb1esscwfurDIQQlicWiFH4/FXL1FunhT9EoVuZ1ao4HVX5SJftUpha9+LJOHWq1re0zzSCtzeZzkkYpzRS4js+C8TUBpRdtJoCJNoO5ViUDdxAmskvVnjYcEBO6ImAaGCJaTqLW1xd13794DgasiAeY8vRcd7a2QS3pmbg7aKgo1q135+sUYg04CnzZuMYl2ldX411PrV59KsIteDdW1tLyECRrgWDzGSbIMAbNqrcqMopO31bOJW8BNuSbc/8Qwdh4qwE+kqSQMgyXNQMjOWSpU3zcOlLyQ23jdbVnKRxECX4s00KA6yXCVIfCVocFXn/T7YnPcTouo4XKcJH293dCH2PKACYTrz7cXOa4CaeIvu+f+ElR9lFxoDPWRbxD4bhxl8EVydBxf1HY9KFUhch/zF5dKyFDx7f7RPpQXSsglM5Q7j32i/FHRNDU14ZF9E/WiEcsxcDq51f9SoYp0wqcnkPIHHiTOcrYm4wGas0m0tnVg/fot6O4ZwIUXXgpVkiN4AAyePFgh+SJyFRrxIRsxxiCfz3MrbgVlKjFD/obcctU3FXOzh7k9OYnDQ/cTiM2iSiAWhmXSXXWrXrVTkYIkKO2kl9Gj8mzUrbv4I77qjy6MIT2sd3pmBsZQfgjE0hyfSBnXhBKN3iSBmOpav66Pyji5JrX+WKKcjnBFXqFB6ersgPIaY2Gsh7GxcRrYBWg+xQniXP26KLC4+rzAbWvNC3nENH8ZDaN/hpCHDCpS14gGze9cNgPNO82/gOOvuUlWkgecSyzoqmWZEssITL3osu24/ort6G1NIZUIwGpRJVBg1fCshXSEa0vP4pfxQMyNnzx4EAdGZmGMS+WdIxmyDTYQrt5VmeH4qA7Lu2ctPOa3Hu985yMY5QCgMcbVawm6PAaf89H3PKZbvO33LqOX6ERsX9eKP33Vhdi+vgWZZADf5bMEMpbbgJ67+6y3JevhmrPSuOqMFPJpC4DB8Abyi8wwvKdSLejqPolvWczRY6lFpu/HlQlNzb0cx2Zkc11MB3lXQ7S6aOEb8xgGnqRZ75qr01zswb2DshZAoNl3YLuKMmXkkb0T8Kxlf4yjvSkdkM8hiuWaiw/UX7+ezmywaoK8lEwGjI8HHvJc4FxyWj+uv/JktOYS1E1LTneTEncqL4fW6Z0KF26P7bwL56yv4I0vGABYX8hEnnAH39199cKm6k+r8XrXo+6N4DIo0j3UL41X0avuN+6NdlS2nlOcqj+tjavHQORB5bF6VCiDP3poFm/75G5MLxQdT198cT9eekkvVHcjuDJ8Ud9VtIuL/1naAb2HTl8AqWQCbVzE6BMbS+ZqvujXBbq7OulomMQMHQxxZ6sq0EJJC3jND5XXNqfmnjDFNddcg3/4h3eqmV8YfN93dlt0/DwcUiNoUrraymSkZ39pQHQMLYlEAtKFzc3NOEIHixahx2RYfRFdwiDqp9pV/1eTfqWb/UWlAhqONA2dANkKQYM6rjIiREQIZCQJThQU/0wFDbgGT3cBC7XfqFsDK+YrTXmMMY2kn3l/4+t/B793XRzD3Mqo0NWaSiUJNFeQTCTR19uHOAfAGMOJbuklKGPI/UUWRZ7bUFFYwTzBkMfJLikeoPcqiAVcFRcgA9HDvfR1gwOQ12mJ4EC0rufqIkXDM8Jtsgl61dppiAYG+yFQIvBVokGTF6ytrc3VMUmPWycngb5tG6cXJ6IyFphRvZ0dHW7VWKXQgUelZnHNeT149XPaqYwigjKQrLoSJ8XMAfikNaTyGxsbc6t75mAeXlcnXYxgsaOjE57nY5RGrsZJV6KhKxI8DvT3OkUoOkSrq3DNJUaZ6CGt8mJMrX7fsSbZPSY5eeVB1CSeprehRGPayq3FBYJYAZ2QIInUuLy6GGPQQoCwsLCMz3/7Adz+6ATKCJhk4HlPjq9oFIhZKNTQSZ4Gge8MwQj7sFxYceOnbca+ni6urpjGcdPPXSzR42rZRjO3p3p7OrlVHHegeZ701AiS05SHro52Kp2kG9cJ9qvKLW3rWSwuLqOJ4ElyRy6vGhc+hVVE5FvIsUI91l2xemToMdF3ZKYCAqgWaM5Yz0MsniCdHuWswvELWTSCeliqhFjgVkyCRiOX9pkHLt6zhs+GfLC49f4h1NIb8brX/wl6KLcveekrcdY55zPNZ/0AuwgdHGb3rjsbYFTE9sqUlZCGJmQa22SjAldSPlokaGWn8oWVOeapoVhaQOj+2rIKbWNGtTmC4AJET88qD1nx0VNtSX7GJ6a5/VSlYfe4hT9Lr28JbS0tbnwtFbkrEPHKEJJ/MsJlzYfBXnpw80w49tQ3d9rynCe4FtCXbNU4F4IgRiMwhwl6qJPkqWSNo1IfA9atfkeUM8mwxj9LRZ2lLlPtBobG2kKHjK7kQPUnk3GCiLoMKE16wvAhZOdUpQJfUa1WyM8KLj5jA97w4jO4UGhDPOYjoNEPuHCI09sloCbRULAcQ59z0ljLMSBlZPS7P/Nj3HzfEXzkhgfx8a/dh+n5FfI7ZHpI/odqBiTTjb1lfp7Q3VrDOIIORUAHKRRhfFf78Zjl+BrWY5jPcLzqeQXyT1zfhVdefQr6O3PUERYe5dFnULmANOvusw8eafUVPIvNfTG84rIsLjs1iSTrDgnEjQhT0JYqeZxvGUB377PQ0bkV6zacjU1bLkZn54no7T8NXT0nkp7QjUvEstNpMboAABAASURBVBHzr74goo5qPIOHtRYgr7XoE++LBLz62Zbl5RWkCHQv4far5/pvXN988ropkyA4i6FYiSh3UZ1H5IUByM8Iyh8PPMRcP3nnOCUY2psSeOHFW3HFuVuYFhKYLbPpyAXwEJ0VLlZ62pIYnS3hLz++G3c+PufaqHFQQwaSCrEBqwebdd1xFxLA06XorqB4DdXRu0uFXt2Tq49PyqO6GnWrrILe3Z15Gnfl5Svprtfj6mDhJw4v4y8+ugvfvmscK6UQF5/ahbe+ZBNasjEwGSqvvCqvvihO75b8PXDgENKZrLNX69cNQnbo8PCY+0Oobur+kBn1R10R7yHnsB9I/3DB1dWOnu5Ot6CfoE2zrFQ6X/a6hzp544b1HDdLQPYup0tE9y8KxhjECfRSqZSbc4VC4ej8UNt6l/5Ic24r3y+q75dJTxLb9Pf3c75XMTQ0RBlZOlpc+Ef9CmgPRdvRhF/jwT7dsolEgkYsgSK9PNojVfB9n8orBWPM063ml86nzgp5SgGrzfn5eQpexG2fDJT2dCr87Gc/i6VCyIkUQvVo8GSE52msh+mSLK3+lVh/Xw9d403ME7JuCa1hWxRyrvB7e7qdMEgAhg4cdHlkKLLZDAdpkUZ8hWUCN3AS6GUCsxoNeiwWgAxy8cv0nkVURgH5VuFqT9t4VXqMrKWSJiiQYZjlPn02m2Z9BfI2ya2/I5icmkSKghFR+MHj6z9cQnOKfQnBPkVUvAqik4mcXavZXBmtMJfYroBThduNSlM99RAiSeDURlAob9EYvQxZeqtKpQp8CtmWTesp+BFGGF+kYmTtx5xpThDxTPQLaBYJ5o7JwJfm5jyUx6OSH6I7O4KMgI9xgk4ZyuioKmJmnuJNFwHocrGGr/3gUSyUA7etyCQ3Fg/tGcfuQzNIUh5lTKQUmvNNsMbS+M9BW5llKlFDnsrT1U4Q6BF0agtqjMC4xH74fFeaAJj60E2PXjaTJi+r0F/SyePmWY1JDflcFu30CGrl73mcLuSvSI5oWEKOZcRAzqMOzEKR6YKmxNyhecQRg7w21hrE6DkVLaJBsiw5DDkgBQLheW69RDRu+UyAgEbGsBZjDCyDsRaeNQwWV527CbsfvRM3fusG3HvvnRz7GrcIpuGxT8tLC05GRc/aELENtaUFVYW8SaczYBRDxPENYVl/hv1XuvLG4gHjPBozgo5qAclkCM8WKfMVdLS3HB0PrB6qS/VKxmZnF6g8Y1zALGKJRlTeqHZuAQSUJ6hTR8tEWCRInuMc7KYSl6dtNemY2zy9LvJ05gikm/I5R28QxFAkwD8yPEK6LDR2lvyJVFIXhoiDpDxzBHEJKnPR4dMgG+ZTUNYawYBokEdY46At9xrnoXggudB465nVMbuunGcEgkXqwE19rXjTK87DBSf1Ih7z4FO+fdbN09HkWQvJZCLw3Xu1ZlD/L1glBz6+ffsujE4vY4l6IpNJYWiyhLd/9Af4/l37MLOwwvYADj3rMO5ujIFl5cZaAKY+dmS86BZlhmmWwXgWojsWeI4utbvExcvCSg1N6Riac3F6wWydXuYNGHwGlfHJH8+yPEPgGQJqw7oY+O7zffugjxdfmMbWvgAkwYU6f8htir50YyrTBtEUuvlR4XOFtFIaSat7YEGlsQRHiJSzX5Hb/AO3PctuLDXO0p1z1IXij2W/Brty+O3nn46LTl8Hj++BZ9kHj33xISCZiPn0HMfgkz0Ly2UuAqoICZhiBJk+afdYxuM9YIaYz3KB5/gT49idMNCMVxOknnPSAIpc1IUEGBHprctCiD992RactqUFC+ThF28dwT98bi8ePbjE+sH5F0EqgNnhDnXJPfDCZ558OPY0x766t7VxrgwvqpNku3RdGEVG6unYoLJKIytdwsRcGe/50gF89FuHUKE8D3Rl8Nev2OI+dVC/lE9113RxhdkHliS7OCZgvyJnB/XHC020b/oLZemPgLK8wt2hMm2XdO4o7YK2Mj3f585C2o2dgLPSpQ9isRis9bBxwzoE5LmA2dz8HOsPOdYliBY2+7RPYwx1UZJ6NIYVOocWFhbcXe0kaR+fdkW/ZEZrLdpoIwcHB7k4X3S/+C97YIxxOMT3/V+yxp+d3f7spP+ZIgZKWMUAEann/5nrmY9Ru1V6tdSmOi9Qpbin05IG7nOf+5zLOrtQcffu7i4amxpAhgpQSXikZLVdaYyFtjbkZWmiEZhdDDE5W3WKU+3O06OSzqT5vuS8HlmuuuXCdWCG22KdBBNyz05wdbDAvNoebOdW4OFDRzA6NsFVQdF9HzHFfXYJ8+HDwzTYOU6API4cPgJtSxpjIIEPqfzjFOoyAZL1rAN14HHFeWkKtYxDhCpd0lqtKWhCMfmY0xgDGaNsNkUv2ywN5bwr2+Bf/a4J2Ix8Pg/9Lpr66Pkx8mEZ7QQ0+ivSZU7EaW4nVEnT2gaMqdffz+3AlUKRXsI5aKwAzXS4w0qgaZS1stJvbGkiBzTQ1BWY5JZmkYAYThW47O4SJ3jpYNu33r0L//Wdh3BkpsoJbAgKalTIYDszmKMxV1tJgsqOjlb3l3JSBgKH4q9o1bavDH4ul6ESKEPGfZK8rxEIx+MBeZNle5Hzlk2QFvFDcp3hGAvsyQCq7zHSG/gBqZTyYqDSJkEsCwiMMYbPEV8YmCusiqdNVPoxCEAEQRyiZ4nguESDrjkUY5097TnKYuS2J2OedVwzxsAyGGNgzLHPhvL5hpechQ1NczC1Ir71ja/ia1/8CH7zqq1408vOxMauFAoryxxjWkjUyZHe5SNfgDjBSZxe4YhWJKTAREzU3XKMlrnFrHeB/5DevzaNWWcaM1PjVLYpSI6VD6sHi7p25jkOU9zO99kfeX7lEdWYyIOpulazH70VCdw1PrlsGv193eRPcDRND6q3QFk6dHgEhnSpHkOe+gSdESwOcwthRWAvl4XoqXOcJfXAW4ULj0VuwasvrS151u8zds3JfCvFAhc6M9DCKMd6AtK+tLQCAX2Ni8qKDmZ1BfUsuluycfzeC8/Aiy7dimzSZ90efM9SJg0sDb7HZ8u7MXpXvMc0BsbHPI/8Ah7dN4XDczmcc+416Og6kfqgTM/9GOKpLL5222585Cv3wbDfkgFrWY9VPQYAuUBCRBvZ4cbTGAvLPC6/5bOxMAyWz5qqhVKNBozbdJkY6fSO0uJ5Fr7lO+8e6fWsZZqB1TOD5buCZy14gk1AR1Pa4NmnJfCKSxLoabGkIYLhvyiqwRijLIwLV0O0+l7jHGEg7SHlTrRHvEeNOcR45WxrayYNFho7/fU6YNDTlsErrjoJr3n+s6Dq7374MDzP1sEYjbxPgOWROJ5sM2K8dXOJoo1iOUTEui07oDKe5zHdq5f37NF7oHoscNa2Trzm2tNdGfBQWWMMvv6TEZwwmMXbfvNENGWTmFms4J8+vx8f+MZBzC5VuEWs2c+gTrAci/B63GnWvK99XhOtR5U9mswH9WO1WvBVWZ4yKK1AL9hnvj+CP//oEzg8uUJZDvAWesSuOrNTLF9TjrTyzbIxy4K8sc9w9es95LjEaXfk6Spzy1b/H2eFC7kg8KE/ulghGNJcSFLvyh4vc1Ehh02VOlU2T99Td3Mb09kw1qXvruVB0s87LTHvhvXrqE/S+NqHX8hF9DR+2UP0qUzAOWuMIe0NDin2fy9IHnJ0WCjM0zEkUNag5ZlqlWL4i6tSo8tczZa5rZAl6JBSl9dKJbXSr2nm6+V/IahNtZ0kApZLUkGDrzgJiZj0s5qV4Lzzne/Ed77zHaj8wdEKzjkphgP0cM3RiKhchm5OKf8yUb/qnZ2dI9haxkQ0heLlJRp5i9a8B3mzlCeVStCwlzixfe4tj9A1O+M8h5rsBYKWidVf/7WUbCkf/aL91NSMa99aKotUygljKpXk3nhKJNAwTFGoqE/45vk+gdM8BFoENtTHJAV/jqtFedCY5WjekLNVQEwhpOLRu0RT78q3Noi+1pa8U64TE+NQnxu8q98jGGNpdNtcsb179zk+1Ogd1H8HM9DXiy5OMoEW8a5exmV1F/VNHid5UGZm52lk5kln5NIaF4EQTdQOAtRFgtVpAqME+zZP4ymQpAld50K9hCUPW1uaCVjzuPPB/bhnzyxOPXEQz79oK1qbuK3k+D2tvrAtIEsDr+/XJJ/qn7Yxlyi3EfmU50TSVmWa28grLKef+1jgVqRA5Bi9dQWCBLUnRdTZ3ubGd5lGX2DbGIOQBsTJ+WqXIqo4xYU0RLpHVDwhgyjnUNBQBwjZbkBgCZZfIhCTa93yOd+UwXmnbsBLL92E7evbuN3ic6Vv4FlD0AbXF2MMjaBhUQXw3piqbJn1bl3Xhje++DS88uIOvO5FZ6KjOQ15CcSb377mJGRi4Spf6gT7foAYwZhkamJ8FOdfcCm37JdcW2wR1lr3jU7IPkTsax+9xfMLHMfZWfT2dsGnMsbqof5FvEgRD4+MkxMRy3tUrrPsg4UAVI4LFSaslqjfNH9mKRt6W/czvhNTnklueQoE9/b2HOWjH8Tc9skkFzpNHMtkIl6vXt0jLeqI83iRz8ViGXkuptLUGWpLgVxklohzt4zJ6WnK9gpXt2mkVuUhYP80z9SvkPWpWpVTKNMbF/OA6y7djtdceyq6WtOIx3zSZuETEAiQ+TTqnvXgeRb1uwfA0ljzai0STLcElIv+OizGLkTfujNRLMa5RbsJW7Zehg0bLyKfB3HFFc9Fa0vefVv2hn/5FvS7W5ayQJIc/eq0o41xhvVaa2AYeELPChQPLK5UUeYWXmdzEvl0HKl4QBkC5BUxxsBjsJ5xZTxrSbNdfWac0lghTxjLsTWopx3Nb5DPeLj2nAQuPjmOHNWYaKFkApQdwPD04PhIYiO+G0aBnjDDZ/AwxtMVUSM/O7hMQDw5PYuQHUhxe/Ki0/rwhy87B5sHWjE1t4wDw7O44LR1CMhLz/HZwLJi1RlSbmtc4ZFExAPrwHJTOqBXMkK5GpJ+C88y/2pfPct3z6vHGbi7x7rScQ+8QYfqnKBuuGNXBf/2jSk8dnABv/3cQbz22o3obE4Q8NXw1x/fg+/eM4VFeiGld0k6FFSeTcDoQSECjFl94zN4WL7r0VijYWWMztU8emSiZR4FvRqzJg31Z2ahFyziVuo8/vDfH8UwgZhk8/nn9eK1Vw+Qv2DdHBlm1HioHrBsvTTTFB8CnmWsqb8bY+hhrDDCuo/2s/SSqaxspXiiBbtsgBYvAmjMjvHxccQIkMrECAHv4BFxTLXwUjlLZvQP9CKfz3Mej7v6P/K52/Ccyy/lPCgy9y8+1fYS57f0sPBHkvM7TfstnSY8oPRfXMsvn0P9KHIRLf0tYNnU1AT91aiAmf5/TLX9y9f61CU4DE+doFgRUuIWzwoRsTouBii+EcT4LAGa8oioZ5IhYvICXZJqS8zXgOpZwRhDZZrRIxXrEpTXvRx3+bu/+zu8733vw8knbUOfykhIAAAQAElEQVQum8YdO8tYWDYQnRpUVsOV6Sjm5ueg+mWMS/ESggt8RAMRil8pMq2GI+NV14bKTFNhyNjnc0mWqdcVcQbGYjGIT6JFW2YSQsW5Dx39CpWjXPesk/xUutpbIChZN9gPgR3RF4/HoO/KIiqXbdtOAKtFEAsI+mY5sSLnHbrwtLh7ZhaXHjKT8DB1kXvnHGA6UOHKZoXAQ2O4li0pCnFba4v7MdBhbvloAild5TgdXVmNs7yIVVZ6+PARTmiDEuvTOJ+4dRPyNHbaciyyLyrbCOJn4Pvop7csQ0M3QeNZojFbm65n1d9Hz0gymYAUnvK0t7U7r9fC4hJCbiUpXyNYa9DZ0Y7FpRK+essj2DtRQ5DMoa21mQbRc+BP9KgeYwzaWvLo7upgmg+BQ4EvAS9jLPTjtJ0ddcA1Q/A9S6AbkYca+w4CsTTplpdnkiC6TJAuGRcf05z4enf8JLNCDoCeda/zrUbeUbOtEt3c3OIAkSaxlIjyZQjCTzlxAFed1Y8tXT6auD3peQbqn8c+yrAnafk9a50hBw/LeGMMDQ+OBjYEkGYODHRENGoqr8Ds6GxJ4/euOx0ve/Zm2LBI2a0oGxcFCccT/TzG7NwMwUmJ8ZGrjg9ugSDFA1a8TMU3SAUqkKu0RmDXKVsVjI5OoET+JBIJTNE7tsKtnnZ6NOVZtuZYtVIjr+Y5l4uUl76+LrS25hvVHb1r+19gTX/t2sZt0Qz5XaFy9zmvNE7Dw6Nc+MShb8AMS0UMdcIjsiKCxneJq2/JdxM9XkpWMMZA/yr0sM9zvsmQaJ7lshloXLU1Jm+o6orYOVcv+6+ymsslem/PP20Qb3jJmThpQ5sDNgK+wSoQC46CAwuNn0/Q5VmP1RnoiBEcWM9ivpbHo4un4J7dHnbvHsIYgazmLUgdjI9Mth0rhTy3Q0bxuje9Aw8dLBA8Af/3v+7CB798N+b0v1ocpc/AWAWWNgqG7xaAxQq3+pcKVbTmEmhtSsBj2/W8hkDFZ/DIL1C+IrAKWF6sMe7ZGAMduhlun1sGxbg81jCPgce76tTd9wx2rIvhFZelcfL6GBcVgLEeL4a9MtBh3JMhRy1fdQ95j8ifxl3SpmeQrohAN8CW/ia8/Q8uxXPO2YTRyQXccvdeAsCE264MAg+eZ2GNcfWoxmq1Br3qmz3R5FkD37NQ3mZ6NDVe4kmlFsFjWqM8H+v954PiFFQ+zrGtcXD27tmLTev78MLnX4kLLjgfB8tb8bZP7MP0QhlveNEGnL61jTQD9+6ew+vf+yge2r+IUiVEyLkZwYDqk/0EIOJASiPw4F3PDHyBMYb5sdofA8NIYww88lbZOeT1OpiiZzANjYPPB8cLeOO/P4bP3XyEgMhic18Of/XyTRjsTK6Wq2dmF1fbqL+zKMdELfCdjapuTlPGgeUiLHC+HjkyzMVwjnoh7WyPwFWS3nVjLGkOSaPP4EGL1gzn0yLnXz8Xcp3U1Ye4IzQ2PomB/l4scWFboYdNCxvpnhznZ5lz+zP/0IsHHnyY+mOKRPzsU/NSekm6VHpYOmdtbr0rXukKoTqyNsOv8Sy6V4h/AoJMtWEMmYV6hUna0oGBAer5Ap08B1b1aT3tV73an1VQhCxRKVtrIUD0s/IpXqhRQYSL0Yr7VYOYqXqqVKC5XA4CNT+rLjEpm806A7FMT4jKNvLu378f733veyF69HMSS8sFTlIfqYRBZ6sPYwwZWaSB8liEk8LWMNsxB5wKlH9cQXRvSMkEiEPw0b/rZf4IubR1ggge29eVKaQhFVyIjuYKfLOCS85uhwxLB93s09ze27JpI3MCA13W0aEX0VgiSOmnx2nrlk3Yt3+IQGPJrUSkBGR4urs7USoWUCwUeC9RsQQ0RgmIxw/ujeEjX57HFLdfh6fK4NznxI/qgbOKqs49q60lTpBJbsMJnBlFoH7Vo4xQe1sLvRrT3DacckabxZnEGiLeeGY5ybTlOjExwRXQBJKptAM4fhDDpo3ryPcqPXkTLFtl7mPPDIHNACdnRLAw7H7zreIykO1Q0Is8Af0EZlKEe+iRM8aD5E0Ayk2sOkHK6oIMaR/B3vTsIr07y1hP13cnwZX6EjHvFMGy+F6lMjWG48w0AQQ+YoreOIVytULFFUDePPU/kYhDXjUpCfF/dm7ObV/K4yHZSbMfqmOBxly0rbKG9Eg++MZ2IyoArSAj9hV1lcbt7Ha38qtSEfmeh63re3DFWYM4ZTCF1mwMAZW+Zy08akprLKyePQvjGQQ04sm4B2MMZSxyitRgzT/GG2NIg84IxhgGuADDO+ukVsX67ma86fqzccqGZpSLKxynGqNDTIyP4e67bodH8EDyAdKc5TxyIJz0alxaCXaZcPRUvioN3zT5OEGZkjISeBZf8k1ZdJDX4tnRAnyIWGiZymyO7n2tpLu72hl77BlSgBfpIT18ZNTpmebmvJsr8uYJRB3hlr5H/glAWfaT0klqWUckqkHvRxX6xEBtNzc1QQsCpsIY44Lm4zLnkUCdgKHoqNEwq27V6ZHnIcdPZeohQkiaJH+97Rm84aXn4MJT+p33MQg86gsLzxoG68bMAO5Z9VjrIaRHWdXFfA/6b87KJof95WdhuLIDhw5N4cjQEYKmEsfBsB8GZClCFohYLh7PYmbO4s1veSN2PrqbbfnIciF5eLqM//PRWwlM9tMrU4Vh++w+jP5RboyxlLUapuaLBIw+2puSsMxjDInjxRgD/QPvihdwibMvAigkQtEMzCEAZlhGkQp8thZMg5NBj3UqWNbje5b6lIH9BAwuPjmJ11zZhO4Wn3kZQ17wylrIT3qRwbkhmhXngt4ZoIMJEXPmkhavufYUvOqaU7FML+cP79nPBXQJzz1/KxcvCXhsyxgDRJwTzB9yHKv0fsU5XwLSI7os7z7nlu97dfr4noz7aCM4Fc0L9BxWhZQMSLVxwZWzfGbdhnfpAH1X+pIXXU09N8iW2J6x1L9JnHTqqXj3fw/hY98cQjoZ4K9fdQJO3NCCrtY4/uPbh/GO/9yLI1MljmsoMtkI68WawwBsxvEoZL9ZORgFHYp3UbxQhTHKKBnKoDTd4Q7jtkrf+5UhvOtze8HuYrArg7+4fjPO2JoH2eLKqV5W5UqQZe4OVqR5KX3F4SaN7BtTFNfIq3I1CqbmYoGeIemwubkFWEuZXl5CC3ctNI/0Q+oCYy0tLZAeaKK9rnI8SuUqEsmkk+uAQEY6Wp/rFGn3ujo7IT3CJnFwZEU3KI97eIqLcMgybbvypLlIM0bUPUVGRik9xgWc8pcJ+Bj1K59V4o8l4h/xRfV6nveUdRlj3Pdl69at4yJ1FPqZDNH8lJmfRiSn27G5apQEEaK7lLQYcWyOp34zxjiFajmDtY35yxKljgsFKwh4CPU+dUv/M1bGQWWkRFVedZ1//vkIfCoHTrAMB7I5n0NLawsePWAYDwKpej1VemOaT6ERuKCM7FQcbQ/5aM8bDHYHOGFdAq94bjP+7D1jnEAGf/qbeYKzdrz6mgwVdBkb+wJOhhqWCyHaW2Loa1vBh/+2BzvWFZGnkZrnKkOtPPvslG4OCGzfthX6hf7de/a5LU+BCa3aczSI8pbFYj70/cTBQ8NIEQyooP46pbenCxIyfWBJucYt98/gY9+exJdum8bodAml1e8lNBOrnJHGGOSb84gn4g6MjE9Muwmi+lxgukf+CJTkcmkCrnEsLi6s5qF6XJ2dxhhuY7ZD4Fjfl8kronIyxvrLuc2b1hOkzblQo+y4utdcmrgaGujvIQ2zLhyfR/KiLUwFjZ+Mvb7LkwIZG59AmQBBz2uqRCIeRye9WaJniUC7j6BO5ZPJBMr02oxzm2GOnq8aFW8yGXf/q0KavCxyW3JsbBLTs3Oo0QgmyJs8jbjkZZmTXuXUjitHz49441Oei1RKojMWC0ANJhZDICziFkzEt4h3lWOiu4VhFUb/yLu+ng48+4xBPGtTDp35AMm4T8VmnDxZyqYmukeN6nnWxXtW93rwGR8EFlX2I6Tx8gjWFFgtngxm9Vl3BhhHhjEGIRlXrtSgv6iLxxMYGNzAcWzGFVde4+jPUYEGgUePVQsOHzqMcqmA4z+uF28EGLRIOuK8VAnofXpmBj6NnsBsQ06hg83rViqXMEnwFk/EoPHX2Ci+EUgaivSYHTkyAmIR9BJoSwl6BIkBadUKe4neUo2P73mu2KpIuv5pe1JGQMaiJZ93MqFMxhgYYyC6S6xfNGj8miiH0mVL3BZLUU4Cyr74E4G1khjlj8jjcqmCmG/wO9edieuv2IHmTAyxwEPAcfDEf46Z4RgZY2AVrAfD94idqFQj+J6HCufBF3+wG4/O9OJQ5TQ8/sQo7rz9XmixFcIDjIJPGYzcs8o6WqIqkokcEok2yoJFc3Mz5uaXMD+/yHFrwq07R/Hn7/sehlZ/JoMd5VgAMwsl1253S4p6zWdZgzptBp4xcAdvejSo//OsQTLmwRiDEmXE8YEZ+QoX3DPz8sUyKL+1Bp61bMvA8ywiwwDLLfcYBPJyKYvrL0njd5+bRT5jYJmONYf4y4GB2ooiXQVaqvUcfH/Lq89Hb0cWdz58GLfctQ+Xn7MRJ23uZHsWlm2D4wPmk/yVCRgCzyDOPqgCJYumgPz3GHxrXTmPdPoMuqfiPvLcxiyWa5hfrkA8NypowMOQF8DySgVTMwu4+MKz2FSIUKiJbWph8e3v3oqhoWFcevG5iLdswV9/7DF8/fZRnLIxhzdctxltzUks0zv5z5/fR4/VCJa4jal+cvqyz2xCZ6RLPZCtgIE71Ix70EVxCnxevaGRr8aMX7t9HH/8/kexQllNxgP88W9sxG9c1E16ASbXs7IdPath1WGMrqqGCeChWz3qqPaqFwTEk3QmDc2/+fkFLHOnxZKf0gGqb4Xvmns5zqkidWoQ+BBIO8TdlMP0qoHjJMDW0pKHHA4F5hH/V7g4W2ZoYIPX/J8p6NAWoO5rg3SBcIjiMpkM5c3T4y8MHsc+S1uqjIuLi1zQ1vT4tENIuyA6RaPaFcB7OoWNMVhHUKaP//Vr/zPUjxr7p1NWeZS3TBBp9aKgCBlEKTER8ssAIpVvBN/3uarLulcxVB10Lz/nIkLEvDgNbSqV+jk5f3aSMca5VtWPnp4eKrE5MmiAiizL+BRWKERL9BhJUCZna7jy3AQyPRYXvz2Dqy+M8A9bevC8s9PobQ8wt1TDzDzDQogf3rPshFxA64NfXMDff2QO37uziO/eUcDUXA2DPT4BWhqve3Ga3rEa3vOZSWzfMohOrgSe2LWHRstQyUr6Aa3Kn9i1l94wKlDyqUywoT8nFkgT3YcOjxBtt6JIAOD7Hjrp+u2jl0lG6zANVyqVpBKvQXHbt52ApqYcdo/U8N6vDuMz35/AF384QeMdMQ/Yro8SkZvAhf6EXJzTKkUTifoF0IUTR/Geta6tiMI4MjJKz2GByXWala6smpBdXZ0ufhf7Wb/TmAAAEABJREFUBeMhzrGap3djCz193UzT/2Mpt7X6gjWHz0kySNe1QNMY3dgL9DYdnyfJFZW+8dIPuE7TuzhGMJZvynMcF6kgZyA5Eh2q1lCRWCpSea462lowTO9KjEY8T364bUy2t1IoQnUUqQzUEwFygYd4PEbv2orz7BWYR7I3To+PlIbq1IQWnQJfRfJvgluXapMM4/iGfDTUWwYwFuCT4qHDEWekr8gjYO/eXTh92wDO39aC/vYkcikfyq42jDEQPxU89sO6dwNjVSeglathfQaANUA88CADU+Z2iIbMGAOea4JhTvC9fmdReo5IK1/veOgw9i/k8ad//nZs334ynnftC3HyyadD/G6hwpwhr+fn5jA42Av1HauH6tAYlbnaHTo4DAG7XC7n+KYOipetLA+24YpE7uoUoMavRlCyfl0fmqi06ylPXqXsBH7nZhfQT7nwvYByW0Wc2yHj9MYe5nZHE9uq66DIFXRXXiJamaWVZTeGTVz0aLHlMpAhhswSzVLm07OzmCegSxJYS6csce4H5GMqlYAMseCA+uEGjH3Q3AzpPb36ou34g994FtpyccQ4B2OBj4DA2LOWY2FgDAMbtGzLGAu9lSuRu/MVdz96BF+/t4DTLvgdLJeb8KMf3gUtAgQCwpDyQeBWLlfoXSYg4GIwrJVIRhVhtch7DfpmK988CGsDthIhn29CmgZJMqqxkMJ//5fuwz/+x604NLYIfcjd2ZKm5z9gGdJIuhxtvBvD9thBPsKyNsPg8UHBGANjDPScpDc2omBV6N2QPDOadRlYPnjWwmMmBZ/zyiMvAANlTbGcyloPsARHvgsWTZT1374ijeecniBdbDACD3dhH8N6IF1gPZEEjZBAqY/tm8Anv36/25p88eU7EPg+1CbJYBnm4NiXCELYDBKBB5IGpfmr9HnWwrMWmitWcXy2xjKPgQEPXqw1nIsB8gRmy8Uq+VcDOCbGGBhjCE6rdCykIH2jUKIOuO32e/Ddm3+M0087yc2Tn9xxDx7c+SgG+3ug78v+7EOPYfeRRfzu1YP4/edvZG8sRmaKeMP7HsV3753iXKyxPidxJIInu8Ir+8Tr6rPhI7sH98qL3l3ghSc4PG5L9DX/8hA9cCvUCT6efVoX/uQ3NlBOLUvzVEbeGie7U6/PRUTsH7vKZ2OUMaKdiKC5wCiIL4pVAc0x6egWesI0PhEblz7UXJaneYZgI0bPV4L2OpfLQAuNCmVaeSKOZ4nAQlhiamoazfk85FVvpTNE9kp5tfhVmyOTVejD+Po8VwwgnitdOkI4JGA79ZRf7iogJWBWpadL2EJ0/bwalF7iAk5tSzcq/Lz8PytN7W7ZssXp13379jlb/rPyNuKlK5fojfM8D1aRZTJQEWKMlJfift0gRqbTaUeQOqkOH1+nCFmgF8kYThIqYGOcSByf7Zd6/6M/+iPn7ZHACMRoRazvUgR+JCSiI9mexfdiZXin+tjz/gpmH/QwMePjyvO78ebf3IAP/s2J+H9/vhWvexkNStbgLa9uwb9+Zho3f3Qjbnz/enz939bhOx9aj0++sx/nnZrBt35cxP/50Cw+9c15PH6ghKnZEs47JQcdOzbGcMtdZT1CDG9vb6V7dwHaepPn4Ij7jquCA0OHXFzIWXnCCZsx0N8H0V+pVF1ZjZG+/ernVuccvT+7du+F7uJtmkBt/1gZHf2bcYD3/7x50pWRQLe0tNDztYwU82zevBEFgr2R0TEH1lwmdzHumkon0dXZhgJXMSMjI5AwuwTOUs4z95hIxDEw0AfJy65duxHEYtxyXYEm4emn7kCGnigBsypXsK7AmotPgVs/2A/Jxoi+QaKya9SroddzmuX7ertonOPu+z4ZyiaueEbGxiGPo8ZP+VStyhhj0N3VQU8AoO++tu3YDnkUBarE71m62kfHJlx/jTFoa22mx6+Fysk4j50UTBSGTiF1tLUiQ5BZ5SSepDIpcoLGCeAE7lKpNEqVMurtRwC3YQz4z3gkxTAwapUwtfv8izbjwpO76WEJIENlrSWNDLp7vHuGbVoG3Q1rgpuMmpD6ficizw3qh3tmQjLuQxmd4SQJRi+8MyuMMaQNqNI7qg+3AxpOy7hLnrUOB3c/gE98/IP45je+7GSvWFiENcA4eSoZzGRSaBzqgvpYI6AaHhmHQGs7+SLlOjs7h3YCYAF8y340yugekYgFAu15hr6+LkjOFb82SLaVZ2x8Cp3c4szncxCPY1Ts+q23oaEhymlqFcSpY/XSjaciZXeeXtx0MgmBMWvIFGYx6gwJD+mKkLd5mnR69LTlCWYklxrPTDYNw3/qm2PUaqU1jr3+eOOEde1408vPxUkb8sgkYsimY/DJQ05HGMOSDOqz2rKeZZxFlR4xstsZxH3DM/jAV3eheeML0dpxKu695zGMHhmj0QtpZFTeOrBarVVhrYeQ8lMprzCuyHoKqBKY1Zgmj5/obcoPYGl5BSHps+xfG8eAjeIwF20pymjZxPHPn/oRvnXbo/RglKG0euAjDBqHMeZod1kNR4ly6hLJgDryd2+S0Rg9g5q2NXbaspza9TxDehVULuKWaQ2qPhEjDwDK9GqwvHsWyu8HFoHv4dTNCbzxBc0468QUPGtZzAK8iqCwVsHUxF7o4NAplp7BGP7k1Re4suK9aFBeIhwCWLbLjKkE5xPr9tiW9Ina0d1nnM/xUrxnDdszMEYBRw/DJ8M0Q1osQ955Py1mlsqc2zWXv6UpxbaqnCdL2H/gML7wlW9h4/pBnH3Gabj/gYfxw1vvQGtLHlr4GWMgb2tzSwc+9p0pvO49O1HgTsWfvmwztg7myasQ9+6awxvf9xj1coFjHFIeIjcGJAWiRxdDtnA09OiC0thV3Vz3ZxcrDtx99uYjKHJR1pJL4m9etRkdzTGogMoqNCp2z+B48YHddXXwkbKkKyAQ1qif2eAy8EH0cBnndHoz507jD8uWuJiZo82RHrSs0BiDaS7kJian3MJIIGSBi5807X0ul8UMPeNTXMjmm5qg/FoUjXMhXqNwBb7vmnv9S7OIx1PIE7CxacZRtji/l7lTkaJ8/6qASHWtDXHqFgEz1duw/2vT9VyjrhNok11SXmPECaX86kH0b9q0ifxZxq5du6A5fXxtEQdB7SpN7XqeB6sICacijPn1CVnbqDEUWDJXDBZDhECVLiWjd4GMXC4HMULxv26499578fGPf5xKPemAR5zGNM3226n8BSQ6u9sR3x5HcEWAzAN5vHXLORQYi6svasOpJ2SpHCOEVEZi1FdunsCdOyfR2mSxUgQ++rZevP5dwzjtZXtx0e8cwtV/NIGXvPUwPn7DHIT0Lz4jjZs+sB6fedcA7ntsGm/9zXX4xzefgQtPT+LuR4pU7h7k2aoSYGmlEFLRykvQTMHX9qW2K0O2rZWB/jz4EN2/bTR+UxRu/Y6L/u9LTQpNDhkmCXoThb+fAE38zdDFvJfboOLlYwcLEG/HxsbYnxpaW1uJ2FPYt+8AtMJua2vmqmWW3o5JCoqmIDm/Zug1qdrZ9vj4OMbpqQpJK2etmzTM6e5qr729nXvmY9w7H+MYxqCflLCehxO3biLPijjIPoTsk8qsDaJ7/WAfivReDdMjpwmhdIqLbm5MOghc++kdLHPlNUSPiYRVE/+wA7Bl0kCK6vrFlQkCH+sJ9g4dGMIYaT7ppG3O6GcINjSeAmuzs/Mc45AGNICAZwsVqxSEvn/KUw6lqORVmSWIU1uiL8XtraZchp66eRjTYJIattR/EaKw4tqPuIpU8KlwjDFY15VlO8aV0fzSeFnPundjGA/DfoKHgdW7AXhzAasHa4fhP2ssDYwHj+VjgYdk3IdAV5XjwiQo1IgMynRb+DRKPvMZY1wtolQfpJ+3JUGDF+CxR+/Hhz74XspBMzo6Wl2exoX6AeqDeCUQm6VMCZiOT0wil82gq6udyjrA8ccKt42np2a5bZFHP7ePrbXHZFG9+v8lhw4eIQ1JCIwVqXxjsTgkHkNDB13+ZilnZeab6Naj7jUC5FmCrCAWoJULDM/zyBUDYw34gJB913di2p6s0evUnM+5+SaveJZ0BxyTiJUpcNCgQ8/L9Jq3ZBN4y6suwPMu2IRE3Ec88FnWEERbxAgsEjEPNRLpQDALGmNBtlOOjMu/Uijh099+DLbzclxxzWuxa88wRujNXqJh0WIqZOYy6ZeMh5SVamWF5UsU3pC8rjGE9JyXWTM4F2sI6OlNprJo69iAEueH6PS9gF6bFlx9ze9h89azMbdQxsFDI6wnwnd/ugfv+eyP2a0IxtXCqvWm/pLukEFsUoiYzmiElFUXSJvqVwBLG2MQJ9CKkQf6vsywr5I91Vsi0ABVRTLmIUYZU32WFwWNh289eHz3OTYB+S0+xmM+YoGHy09P4/XPz6OnLc48FsYYGu2D5HOCvHoIqxRjx8YO8gNQ2ySR0eJNDVUaTI1DwLrYBOsw8DzL8h7HyXPPnrWwTFQw1sIdBmwLwOqdzcLyYvnu8eJZy/H20J5PQMfsIseFD2effSa+fuMtmKG+uPTi87BI+f72935IHeejt6eL7VgYY9YEIGC/SxWDv/rYLnzghv04YSCLf/z9HehsS5P+CO+74QDe+pFdWFipUnYiJ1MaCw4V1FfDduEuAKuGjiJ5ru/Sfv+9j9CeVdGcjeNffm8bztnWrOSjwRXT4DJGzy7owned7CZ5CVevojXeaqMRVFS0LBQizC6T/1x4ViizPT3d1JMdUGHJhQBNjYsen+PLSLf7VKSMSrYtG1nmAmKRwEz1+eSHANssgZzve1Cb0iVaIOm5pyOG//fe96ka8qOGBTpm4qvgyRhR6ZKesYucE6pfeEcASBWLDrUr+nPU/+qD4p/J0Erbu3XrVi6kDtOTOIxwdc6JlwpZOhtEV6NNq4gGgxuRz/TdGEOFknGCPMEtifn5eW4jpgkSks9oU7/zO79DoTMY4DZIX28PQUkFcqNqeGeDeSxdvQwzaTD5yWnMcW/8g1/YhbNP6cWf/utuSOFQ1uhejvDuTx3E2Tss7nxoGX//hm7c/3gR1/7JJIZnWll3H/QL9J4FmnMW2VwbAWAG9+5K4do/PkLQdgSwKew5uIB//eT96JE8s5cS+JGRMSTpqZKxO3jwMOvppmI94n44T8JhqSQOU5kPMa2rs8OBJnnFpNjnKdgehXyB++LynvUTiAlsGNIxQ2NlYJxyEqDrZ/+3cUtzx0nbHaAaJ7DySHB3dxcpMRT+ZefBEG/GCF7kUo6ouA1TwXrAw1pLg92GfD6LQ4cO08u2yFhChIg3ng16BWZa6NrWH05UCQhyubxTZJ0EayfvOBGHh0fpiZpxE5LFjjkF+gZJ6wS3DLWiUp1rM1jyo6e7g0qhjSuNFYyMjnNl2urqOkJgpvzia6MMxcwpzUF6Fx966FF6zKaxbqCf5ds5RgkqtSLB2iQN2iLrAA1qnP1r4nMEeWrGuIpTXX+yMz4AABAASURBVJqgsSCA6LPWcytmj7xXnNKxyiMDi6nJIUhhwdR4r0KTPSQvLYmx1sKzFrq74OIMjGGwDCxhqJEjamTxP+JkDdkhcpkpgFU+BusZeAyuHegawWe9nrVYKVWxVKjCWIMYDSU7wwwcJNZjmNfwrlV7yWbduBcLy+ilB5JJR09mYbEIBQKUg9ye1Dd8Va5mJzgu8XiMctqBbDYNV99qKbbAvtYwPjZJkBXHILc8lXc12d1Ub5WK/dDhYaeIBgf6qHyrgCGYSaYhOV/kPGyl/PiehQ7Vq0CCeIZuS0NKvI15Yr4P0eBzbCz7HpHPJXpZJ6en3ScJzc15jnPKeZY0VolEjHWQmyLEVaoW4MZa8+SPXn4eXvncHUglfGeYBR7EZ89aGKOWFADFK8hA6ne9RGssMPjOnfvxyHQvzr709/Hg/Ydx790PYJRexSLHhKTR6MLxiETwXtQNIT1jVXqHatyiDMMqZasMw38RQ5JeWJEai8VgjAfPT3Gb7Ey88jffii0nXsYF1RjHoR+bNl+KDRsvoP5M4y//6h2w9AYeGp3F9X/5OYxOcZ5GqyKA+iG9xii2HzHUGEIXmAuGWVxXebeUIc9a+JQ18YSvWFypoEJPYDLuUZdal6b++5Q13cWXIPDgK/i8MwQMPoNnLDyvHnIpi1c9O4lXPyeDJPnd3rEVhunxRBbg3YD/jCGwsYhZg5VCGUsELzHPg/5K0rMWlkH16q42PKs4w/jVwPI8WRPqcwfgs4HHSGMsjPIbA5U3Ht/5LH5rvsbZnyZuY65oLsFQ97VzcdGLG799Cx5+5DG32IsFAVgEgAFcAMczwiF6LQv0pmveyOnw4N4FvPHfHsGPHpzCBSe14a9erb56LBHhrz/+BD7z/WGU6OkS0Pd91QUwUSe1Aesk8P3pY3N47l/fw/lSA9UC/uqVW/CSi3uh9lVCdGtMoYMRepbM6a48igbj3V2X1Wele+SvyitaDc6vAEdmQc+wQRuHI5e2WFleQnF5EtecG+Gf39QP2cdegqimbOB0rO/7lN0KNmxY56rRuFQqFdIawhgD6TElKE5OhUTcIB5nWfbXmhA/uGsZL3rRizA6OoqQHWxqanLlVOZ/K1iOv4CX9Ps4beIKd4L0rvn2v9Vmo97169dTpjrw2GOPuT7HCT5TqVQj+ejdamvq6Nv/4oMGRgyQh0auzSXumUZHpeKZafikk06iwW7Bvv0HIXdrMhHHxPwUpp49g+7BThQ+WcTy6AqkuItcoZeKZXzlu3s5+Wt43Tsfx++/4zG8nvf3/lk73v7hCfzwYxtx/V8cxO7hJrQ0N+PwkSM4c+s8NnbNYG5+kVuTVRqAJCanF8nkMQLAMrcPQqS5HXrdG2/Gjk0J/NMnaq5z8VjMCbIxBkLGQSxGQaxh/boB0jtE9/hBKi/f5ZWAep6Hvt5uAohxHDx4iEYvQeM0B016pStIEeivKDvoTdJWkTxqAqOj3JIcOkC6d+12yiek12CEnijx2/MEtNo5wSruP+bu6e6kwq1imGBxZnbBtQ9NXgW+edY6OkDQcJBAUWPIaHeqPj1Y5hmgsTXG4N777keKrutsUx7ytJxFV/9Afw/2HTjENsvKfkzw2E+BMnlNRINWWcdk4EsikcDgQC9aW5tJ5ygE8po5HgvcHtNkP16MSAaa6XmU11HeR0uDJWArPvlsT22MEXyV6X0THwU8CvR0qB+WhTvoHYwTiAgIN+oXnSTl6GmMRUTj2t2zDTNT+xCFFgY+Q51xxhioLmt5V+C7MQbGKMB9Jyb+iXYFGDx5UGtal89SJlSvoUEPaeAjeoNoTKl5+YRiueoMWCruUzky3lUEqN5GZVPlLP7l07fjx/ftwYb1/U4GG2nKrryam/v2H+JipMoFRhZHCKKltPRNn3jeyL/2Ps5tR21/b9gwgGw2vTaJ7YMhghYg09PzXMT0un6UqbATBB0qe5AyrTESn5lbdsGV4YWvESRn81w1t3Kc9VMXrgHyJGLOarWCkMQvckXutkq4yNH2yBwXLeKbvOLqF7O4ulxZXqpEJkv0XF17yUl48yvOQS7lI5UICMZ88sWDZ8lva5izfhpjOCyGdQDlSuTyxQk0yjSmM2EXzrj8j1AOW3H3HfdjnvqsWBJdzB4ZjkeVNMowhRy3MiuMoHkIjh0HEdVamfJh+RrBsk6fBk4yFqOiXl6eoxe0gN969R+js/dM/PSOnRgdHkepVGR+SxYZJJIt6Om7EB/76Pvx13//Idx9KAZjDP7uIz/EW/7ft9im5EG0RORYyHKNwHcxhjLGBNIFsIew7LcCq2D9oG6InHxlCVI8z1JHRI4/1pJHnkVAeoPAg+gOSL9CLPD5znTVxUqt7gCIdeCrDENns48/vDaL552TQiKRRibbgYg8seEMQLo0HwvFCkGYh0wyIN9DiEDR4FnV7R1tw1iQh8bRhWOOyL2pLwoqr7vlhSdcUA62x0b5JJ6wzwSeibjH9xCLlL3v3fIjbFjXj+amnCvDBJ6GQfVHGJ+YgvRvG/XvLL1p0zMzzvsr77t0zbfunsdbPvAwHhtaxh+/eBNe98JN3NIEJue4wH/bfbjprkmsFGsI2f+IMhOx2gOjBVz8ljuZZ4XxwCWnduL/+4Ntjn+WTSsPswN81vjpnapZrIP6RZa4Z/BwWVin8ujZwLjuam4oL9dcGJ0DkjGgO8fxpoxrLOaXQlx5Xg6vf2knbvrJHD72TZ+1wYHzVDx0i+OA4LRQKGJqahpyDBTpKcukUzjxhC3U0y1Yt24QyuMK8lIohuhutXjxc1IwxuC2+ysE+DHoW2vNddlEZvtfP0sEzgodHR3wnC1YJr/IpP/llsMwdDpt27ZtEAjcs2cPisQgxzdrRdjevXshV97xic/EuwZ/gcJtjIFQsOWkEiIVKNNAaOvymWhHdbznPe8hCJiGVuVqa+HiJTQ9pwldt3Vgeucs9F2LDECS21B6Fm0BlUgLV9Yqr0AyceXrh3Df5zfj8j/Yj0S6yw3cQNsUV3ZxfPWWJQfQ1g0OQIGjScDSi/Y2eZOaqCx8/OT+cVWFH9+/Anm03AsvAhaH6S3QD16Wy2Xs2z+EKt3xUmopGpUyXcWD3HbTqkOeMtGnyRQjOIg46zZsXEdhtpBnwRgD8VIeAvFTXg95IuQWVn9WCgUi8nb0EtTJmyawJgGIWKFCJpNFFz1ms9yey+WaHODReKjdMoGqAaDQuCaTSchdr7+8UR9qNG447hBvN23a4H5b7N577+OKKImJySmsEOyce9Zp5E2AIW4/1tjn44o6Hm8gONUkOXxklMJaOj4L0uTRAD1quo8QdK5QoKUEDpKnszTG7Joro+mloJd+5o/RYMgr+awzz0RXZztaWvIctggCW9MzXBpSs9UIWuURS1OpyNhPz8w5j1oiEUeRhlDjI08N2Y4T17UgGTfkf4Sx0cfZz2YYI25RsbMuQxmv1iKmM47xlsFYwzzgQcocoRGM3vis8eCNJQFjDIOF6rAso7Qa+aUJrXuNciAvTZnKM0ZLpzzGAgkaEg1JsUwFDyDfSkX+uXvwmRt+RDntRZIyz+ijp+qNqCQmaFRkTDo72p1xmZubgzxW3fRMRkdzP/kwQ8MjQCWA3NnR9mQCn1wfeJnjWAwTQMiT3NSU4QKkSM9wGiv0wB2gzGfSSTTlMirBQBuhhhT4JsWsMckQ1EuOjTGMBQx5wUHjGbnfnZNcsaST8QotS4VzpymbBWAQ0WK56kgLeGg89ccmg93N+LPfvBDb1zU5IJaMB0jEAhoOC2sMeDIYaF5ZY/lsUeY4hjSW8cDjO5DKd2LMuxA7DzW5D/YP06NYoadL3g6A+QnyBRglCaHiqyVE9IiFCmGJQKnMUCPgqUIVJhIpBL5oiJNPC1hZmsQLnncZnnXW5Xj0sYPYvesARDuHigY6RJV9lSz4fhyAQS6/Da9+1XW44evfgDEG2UwKXiyN177zq/jqDx5GSHmJGGoUDpULQ3KmfsIdLGOscWV5hdKLJS4iTUQe+WASgaihvHuosqwxhvPYI80ePOvBMoMxpl6ed4+BUauyjKPpyudRXuOxAAny/ZRNKbzjdzejtLgbr3luH/7xjc9h30KAbQgkB57H+g3nvA8DC3bbgRLP4xvbMKZ+V71YcxjmNiRA8cZY6O5Zy7osLMsY43IAq7JhWFZ9LrMB43n42h0j+OoNNyKXzaCbusIY5VgbKH9cjA8dGqZhzVI3lLkYHyedSfTR8xzQnkBlWCSRSKAp34IPffMw/vbjj4HOYrzjd7Zh+8ZWMBnTi0W88d8fo9OgQgAf4qXvfADfv3ccxhhYL4ZP/sWp9M5aKC+jcPyhOHVDweVhBnJQLHTBxSuB8TpDRfCBLMb0sgFxL7rz4PgCxgIJen3JBvYlhqn5Gsg2LjgS2LvvAHScfkLMfZ6jZ81TNz/5kqJt0MJe/ZX9WeFCSZ4vz7Po527F2eeciedccTmGRkr4wncLpM3gla98JVL0EFk20tTURB0adxikRl3HKp/xM+QEmqNui8ViHLccjDFcECSoF5Ou3RV6y57xRlcrnOeOoECg+qn+ZjIZbOU2ptrcv38/RNtqVliBgY0bN1I+Izz++ONchZUaab/2XSBPhORyOaidtRUaY5Cm0tWgLHF1KYCyNv1XeRbafs1rXoPM+RkE1/qofLOC9ida3IQRGPE83z1r5T5HIKIVuE9lKGPe1xm4Jk/aHMftn96Em+9ehB9vphFZwYGhgzgw3oTzzj0Ll158PmZoxMtc7UcUcCk6Fcxk0vTK5NHX14f29jYYRm4ZDKh8PD6BE7fELcgZCkACWlWorAanxhnQxe3JlpYWl17lrD1MgKHtxRK3Y+R5klBrEKXl5hfmoa0f7dWvJ4Dp7+vh/vQw2zMwxkD1JTlBBghEZGy1ghNQs8ZSIVRJi2HQGXHMgba2Vk6GGD1P4w6oyMiOE0SNjE4wPxWzsq4JAjMd7S3Qt2VjY+Osg9p9Tbr6lc/nINA5PjFJT+UEPN/HCLe2PGuxg1upK1xZCSAp75qi7lGKcANXpWX2XXnWCqsyWGtIcwsG6HXTCu0IPXtxAlbJmPoppcNhUdajwaeSXEeg++D992OKQKursxMCX2pLfGnldpgAlzx6WvWqXp/KuchVX1PKw5Vnb4T+/Ls9n8TLLt+KE9a14eKTAlx6SgbtHZuR4ba1tR6M9eG4SwMoOkv0pIgWo0g+6KZQ55j4z8BBrfNBsYblDVRWcVJOJXrBbrpjL97+sR/hX/7zbhf++TM/wQe/fA/2Dc/SyFgXwMP3AM/zccNPjuAv3/sNtHOcWulVZNLRk2S4MZP8j4xNIJ1KO4M/xq3rXC6Drq4OJw8kC40gypaoZCUTnZ1tWE9Pm+dRg6N+NOqUghkaOkLwlSRQanWA1vdjMNbjdtsBOoZqnCM5V0h1uqALYzTOM7NzCLjy7qBMGmMYCxiON4xBRCtS5OpWCl9zrpke0JB+ADyFAAAQAElEQVRxcwR/MgixWJyZSTKJqVcp3oIe6wLSiQBvesW5eNElmwkyAgiExSgTbtvXM7Cs3xjDZhQsrLUETYBsQzLmw2eeUs1gJXcx7hkewAP378EhenxnZxdpSNWa5VwJGSosGyCi5xRRhf0tghQhpDxUqmX3XKnUEIslkOKCyFgD61mwJczPjeKCc3fg2ue9EEOHFvDAPQ+SfwVIb1kbB3Ehg/Ia0lWBPGwRavC8GDq7tsOS5q6uTszNL2GMc62DC8Q7Hh3Ha/7uS7j1Xip90iB+RRxUsq3eV5axpAEwINH03hAosqFE3LJeo9h6MGD9xoGygHwr05MUAi6Px/IKVqSx7nr9EchO5ogYwGfDvJZ89Dm+HgLfA7EZPJb5lz++AicMtrNPEcfFQxB4MIxXfR4zeZ6HOMcgGfdQIeEVAktjDPQPPDRPIvaNZIDR9QCmGsDjuBljYJloFAzcEa3KiKirsL/GWMyXA7z7M7dRXpYJrLphLYmACiioWIQKPbP7hw4jHg/gsw/y6CtFYER/va/ntSEkCBijJz5Br6ehLXnrhx/He764BydtyOGjf/4sZLj4K1dD6EddX/++h5HP+FgpG/zHn52CbYNZVxVJ1dBQhgB2xQV2BaKK7IAO964IvTDosZGXr+5UPXpYLBrMLAHNqQiZOKB8EQyMMRw9wHJLUfx5fH+J8gt05KtoHNdcmG48OhsUT8SR5zzUGGnRUOZiRJ89sDKCrSS6ufsi4u+953786Nbb4Ps+BunI+M3XvBo7H7yPC5AC3vWud7k6xW99PiX7JweOeOcSnoGLAFGF9jqfz5M0c0yNale2I0HwLLyi9o/J8Gu8CLQK26h+2eTjq2qhze/v74dA2RHuvildUueIVKETTjgBquDgwfpHtsrwqwQpkWVuDQhEqKM/rw5jDF2eGUeDGCcj9PPy/7y0gziIkdO+ivbKCkY/NY51fQM4SI9MZfVD+kkCDQ2AQhD4rIqTrFzk5DNozVvkMhbxmEUmZfE37xtDhoBRq/UzzzydirGM2396t9t2O+20kxwoO3T4CA4dPswtnhEcPjLsvEGgWC8tLcPjhB0aibga8uj6zeL0E3zKZgTL/pbpHUtSAPT9lfuond6Z4eERxOMJ56Vw8Xw31nBShASRY2xj1IWBgX4i+iW0traQfrg2168fJJibxQbeBeREc5XWJKKiUqbOjnbM0NgNdlYggYsas5O0Kt33A/T09ED3WQJVeTZSyQRGRsddOeVZGzzPQweNfVMui0Pkr/q7Nl3PlrS305Xf1tZCgTsIeRBa2ztY36xrS9tnAgQCQcq/NhhjHOjqoYGZmp7FU+XRGPbR+9dJL43A6RC3wHp6e7BM3utnQkJqK3VToVG3QHMfV7FTk5OOnvUb1iOfz2GZYGNluYCXvOi5+IPffQVeef11+O3fegle99pX4uprrsa+yarbPrn8rI1UykBrLo6mdAwdTQFedH4Kp6xPcFwtg4eQSviEwSZ47H8i7gMGKBGYgQe7xStWtyspKRGfGWkNy1oFZuapOio03P/x9Qfw37cdwaYdZ+N3X/MKXP+SF+Clv3EtXvXy38BFl1yMz37nEUzPr7g2Veabd41xe/LHjFuGPsA3hpWhfogPGncpzIOHRjjWPuURGCUQi8UC5u9w8m7Mk2VUUvNxnAZe2/8bNwwgoFJVvEKjTuU5dHiE20tV9BMohzSaYD2S5+GREYKNOQIx8oRzol6Gpdl3iZ9uc/ML0JzQd2LxWIyJPFnekC8CYvrLwykugrQ92ZzPQ3NH+iVJQye6yEka9LrhkGwaY6jsS6hwnr3mBWfit689Gbl0HIm4jxgNvu9ZeB77Se1XpycCi3D8LHkJlOl99ElrLLAolkMsxnfgUPVc3P/wGB7Z+QRmCAIr1CniZ4WerwrHKgyrpKHCUETE50qlxOd6XJXeO9Vfo2yk6BWocr5bjrdHXi4vzmDThnbnMZic4Zb/PQ/hII0+xRdVggXRVywuUQ+w7mqBcSUyJ+J7lbTW60+l6XExHtkZIZvLoqW1FfrvwFZWitDC6Nt3HcbffeBmLBXKMPxnKZsKosn1gaCgTJAVDwxiNMiGLbjAi0c+iafih/UsfL5nkj74SLmuQbxXkKqJRHQEtlAPlg2oHY+ZPetR5iwsVg92THJSJu8C8jkR8+DyG7BuC8/32Bbv1oDVMBgkAg9xxmtMKlzIQocB0+xqMPWybM9aD4b/rLVwh9pT4BiEvJc5J1Xv9IrFu//zJ/jy9x7AABe3MS4IFN8IKhuxcwcOHuHivMBFThv18QQqNPBdXJx0drTCkkblWxump2a5O7KEwf4+tDQ3uXnTST08WUjjD9/7MH766AyetbUZf/mqE/AItzTHZyt4w/PX43nndMFj4zxBMo9WafjUeBeb+Sq2g12E3hXAQ/l4q6fxoREvb9jUIpBNAK0ZkNdM5Kl0s3qPKEEh+aPfYotRDgRWNw+m2D/LHMDXflhwd8+zGOViLpvNkBfjzh5lM2kuBubRSn0v++VTtg+SZ7I7elZB2ak0Qejn/vPz2PnQowRtKbztbW+DHCmHaUeVJ845naWnW44cARrF/apBOmKJzp5cLgfV+/PqsdZC7dZoN39dQFim3hG4U5vCQMaIw0/dekB527RpEzo6OrB7927UOb2a1xhDQ99KZNuNQ4cOoYHaVpN/4a1BiBpJE8wY87MJOb4ylZFLTwwRE49P/3nvRRTxBf77wH9+ADf/6QJeeXIaEQXr0MHDBA5tBHxpyHOUpQBpIqmuwJZ4izDY4+FDf5PHn78mQ8Hz8MjeEkORQtLrQFYubbFr117Im1bmCkC/IyahTXH7LJc2SBK4tNMj1k6AJAGYmpriqqICyjaNPjC+0I4Pf2kRTxyo4PQTY/iTV/poaTLQan+WIIlEQAC2k5N1ZWUZ8tqofm2VHaanbJRbc1kKaJFbkGpL9FvPw549+3CIgLCV7R5ivjwnvcf42bk56DuzBbrVExTuRCLmlEeaE2H3UAllAtAp7vurDWg2Qwe1KAmOExB20lunb4NEX1dXBwTgDh8ZwcLCojK6YIyFMQZB4KObeUJ69YaGDtG7Wl5Nf3LcRVM/vXVq7/77H6DByMPSi7O8UsLJ209AN7fGDpJ+GQ9XeM1F9ff1dDljPjwy7hTimmTSACS4StP2WZYehwMHhjBJACcv3tT0jPvmTgPRUGQqa4xBU76JPEphn/53APIsRj5d//KX4n4a2x/+6KeIWCBa1VRJehuvuPwivOTF1+GW+49gbGoeAY1CjKv3gIYkHvNw4kAcLzgvDVMewu+/8DQ897zNpM26eiwbjVG51WhcS9xOZNWMEb/BPAwwMFTovEJtik/f/PFufPCGh3HBxc/GJReeC01sxYc0DDXKtX6g8u57dtJbey5E63QljX/+z7twaHQavX3dzB9D44jYlPJoHI8cGSPAKDueTUxOc9usgs7OdrTSQ2iNaRQBSaI0UHa5nVmip3Lduj5kOXeMeTKP6hRvNS76g4zenm4CnriTlyS9bpOsX4sMgeBYfJUe0oI1hxTuwsIC8k1ZeupSMIb1M4gf7BhBR82BnxkCIAGvPMdtnnJoPeuUOZhdhNZpITXsbJnKUNv1l565CW96+TnoaU0iSQ9ZgqBT4+ZZCzbBzCRklR5jOFYw5E0IYwxBia0rxsw6LOSuxL2Pl7mifxyHCJTK9FhGCNisDxmsWq3KigzfWSU9Y2FI4ETAFa0+MxFg/Z4XwKM3y/IeUAmvLM8j4a/gsosvQLapHz/96UOYoJFbKVZZl3FGlrYBVcoNK0CNwE/yETEyJOADqhy/MsQCazx0955C4LuAiPIhw6rvmuJc9GmhKJoRy+DN774Rb//IzSixDyHlW6BkpViDZSXEOq4uw2cFy0iPfLbWg/UM3LshXxgPHr71kIiRBwSv2kI33OK0LGhZnskwxrjgWZYBnxkZEqirXeniYqnKWCAV9+Ezj2FBzzIv6/U83lmeRdypRwWNs4YsTuDI7ByvGuswsHxRurUWjICeFcAj4pyJKBehgvpM8FklHT69lB/86k588qu3o4s6r4lA1hjDEvWT2TkGEYHtBKa5Ta88M7xrZ6CF80V6z/f9euY114XFZbeo7uK86ma9jibU6zXGULZ8JFJZfPSbQ/iTf9/JhZ1Pr62PJB0ByYTPvuDJg0SoS+qzAskHo8BqXB53VwLfyAJe66eLN/XnWghMLNSf23KS0fDY8kwSf1SmcWcUNg5wPlISrzw3iy2DcVx1QRp37KwDshor1Te5+jmpJO2gR30ei8XoEFjnHDr6IzEWhU89GXIuiHe91ONaKAuoqC3P89Dc3IwLLjgXl1x6EU477TTIIaSP3o0xSFLvqk7lFzgTTU83yJ6qnOr4RYDo+Dqla7O0t2XpkV9yGzMMQ9rJBY6hpb7Muvvx9f+sd/V18+bNsE+VQYkDAwNobW2Fvi+bm5t7qmxH4zSQYoCET50Rs48m/pIPalurSG1/COD8ouLfwDfwY/57AV6Af3rFP+GqK67GP31iAW99dZqAKCSCH0Nji3GByrynzaI5a9DSBHzgr5rxL2/KoyVnEVLazz3J5x3IZQK0pGbw2hc1cVUJelCWue+cdaQIzFS4qlNfSxVDofMJFFZQpeBpUi/T2zI2bXAWt7RUQLyQW3KpEOF+Kvb3fq4MKZTrLk3iqnOtKz/LiT7B7T0Jw8wsPUI0hCkKuk+hTSTi0CyUEpijYZKBDMMQmlXG1IevuTmP4eFR901aKwGatgo7qBC66GGqklaBuFJxkfxgsVoBLzi/DbMzM5ibm2PVqzMaOiIYY9jXHA11B4VrCblsDu3cQlpYXILqVV0R24/IL0Rw+VPpJHrpnlado/Sq4bjDGMMJloCA2fDwsPtLE+t5mKPykpI+5aRtMJ4lwByhsSgfVxpIEfTqw3/L/h4ZHjsK/BoZjTHI57PoJxhJ0ghp9VahB0M8PHho2I2fFFkjv+4BjWIXwWRAOgQMDtNlfNFFF+CkU07Gd77/Yzz0yONQH8XrkH1Ns4/Pf95ViLWsw4e/eq/76NYjzYHvIU5Qlk35eOVzT0Y+m4DvGUiRWmpJY4zjkeJ8ArOqDIIbPsZbyzQNb0S5C7F/eAb/7/N3o3vDSXjRddcQdCRoiEMITGm7ZCdp+sJXvomtW9Zj24mb0EqX96dvegQf++8fQN5I9dcYAx3qr+ZljQZcv/slGUtn0hzzBSrNZeSbclyVtcEjjaSARTiYvOpc4rhMT82gv7+b9bawL1bRLjTqXWSew0dGWUc7ed9EoE+5Ju+X6ZU5SA97nCAsk03D8J/kxBV2D5Eb47n5eSSZvyWfJw2eSzaihQ2I7/OLi9xenoW6I+Vf4mJIfMhmMrDkm6piVt7qdKufS/TKbx5shYDYWdu7ICwj0BQPfI6JZTukxsDVqXot2zPGokxQQTYRYHguz1ItiYOlU3HfwWb85Lb7MMyFj0Be4sMtvQAAEABJREFUjXIQReboeBgY1N+XUasWEVEHhAq1MsFkFbUwhLEeAgL+GENAOorFFZQLs7jwvGdhx6kXcNE3h91PDNHLsIiQdUcEcqqzRuIjgolarQiBPCBEjfXWCMxqBIEKastQfus/ldHMeVGCjpDtdrb34crnvhoXXvwK0pFiO8PsZxVDI/P4/X/4OpZWKlD9cYIbkIvsiq7QXfz1WK/1LOkHrDFoHFFEfvNUGxHb8X04vhVLNQLU0GUTXxWMZTmeEWsOwxp5EnLxWUWVfROY81W/6raAby2U32MZe1wwrMNV7C6Ro8fjgihFAENs4No11sIyo+XdmEYBthxG5F8EzbsSvWIwHr533zje8ZHvwRJIdFFPqoyrevWiLmphOzwyxoVC2umP4ZFRt5Dp7emk3MZWcz55KxRKmJiYZv4UBuhpCzjWhmQ8GYzj/yF6klWqm7rZi2fx1R+N6JUcApQXq4doAAzHHIhW++B4Dx7kP6/udPnYjntZvbg4Ps8sg21GaM1EiPsstJqgG9/Aalm5O5kbjn8eibDWULc04dZ7F/Guj40gEY/wo3slWwZN1BuyMfNcSGW5SOugI8F6hjtRhxFw0bOwsATNUS3EughIpWNV3zjtm/ST7FRHezsGB/rQ2dGGBx7Yia/d8HXqJc4DeohOOeUUXHDBBY4ez/OQJTgS8F2kPqhpkrqUp74oXfmUX+WOH9enLvU/Y40xHOsE4pyzcg4J4P3PXE/GaFyUT8BR7ar9J1Of/pMxBhY/5xDC3LBhg8shd5oUontZcxEDZNCERH9VQtZU5x7FyBRd+4lEwikqoVWXsOayB3twA/9dhIvwHP5LIAEN4I033ogrrrwaH/jiEp59ZozeDEOhrqElW0N3a0iAYfD3b8jhX9+SR3uzBzETPGi/sXV94N6v/aN9GJ5J4XPfLqGP22ACifIC6B4EARbpBlW/pYQWCVSKxRJB3xxkEMSDiBPp8QPgoAasmYJuLY1bHzatb0cml8f4NOlIx/H1Wwu4/ZNtnOD1wZ8j4JK3QoKtevU7MAusX8JcoRdK7Wv1ESMNbQRJlUqFgHPc9U8Nqf/iVQc9dkP0WA3RQ5iiZ6xA+gwzVKkIfQ9oSdXw6svbcPqWLMbGxh2P63yImCtyPLDWozGmwWaBZa4UWlrybjIK7ChUG5ODs5snjDFoa2uhoc9imNu3Y1zts7JjTmM40Vtb0MmJOj4+iSl6E/1YHNqyyhCAbt+2heC2gKfeojTI5jKcyL0/M4/HCdzamkcPwaH4cIQgNc3+ZwkqR+lplPyK1gZRxhg36ZT/4Z078eUv3+C8ic++/FLk8q342je/h4MHh2nQauRxCEtFpW/RXv3Kl2LfTAxfvvkxeNZSxurBJ+DyqJws8xlDjkdwR523II8sgsC6esq0JDISNd617fi+L96DR8YsfuNF16GTSi5yxjikIaniED2Un//SN+EZD+edfQaBWgpP7N6HG77xHaTZtw4qNmstdKh/ES8KMzPzkCdM3qXllQIkOxnyo5P5E4kYs68SyCedxVIJEzQq+h5mcLAXge8r2gWSAxkGx1d62pSmcdR2nPU88iiCtq+VnstmYQ3pOVp9BP2rUmbm6LlVPS15AjGWU+XGklfkl+ILxSImp2dcv5vzOfLMYJnyp3HU+KoeVsZTlfONt0KhiJamJN7w0rPxgos2I5+Ju+/G2hjXlI5hfrmCEre42ATApnQxxpJmgNGIx3x6LjxUCYjGo23Yu3giHts7jSce2cO5vkLDZQEEzBtCwJitwkDlK+RJmbJRRUivlcBSSMCkuWqtjzg9ziClHtuqVktYXJjCOWduxW+8+GUohyns230IWoDVyBdiG8pelfUzVArQ+FUJwAxbCgXylIF1CbBBoI3xsXgSnh+D5wWQXvL9BM4662w8/3mvRV/fWdj1xBEsLZYxMHgWtm69kgutZrzqVb9DI5dDPGbxJ/96I/R9meMLAMsHQ1oNZYk3xhx7hlHIfkaOD3qOSI87KW/xmAfPM+47tBr1jIFxfYgo3woleoeLDDECwBjzsSlYaxgswZjn7p5nYRiHxsGxFR9CIodwtf+qF0ZXw1yG/fAQJ/hRmwLfyh+t5tczHzn2IbgOwu7RIv7lU7dh99AY5LHx18g3Vo8iPcJHCL5i8Rj747lFqOrp5uKtIY+rWd2txv5pzpAk9BOI6Q9WjBFtLtldRLs+/5Cd1I5AnHXHYjE3DuyiWIjGQVa6R8XXq4lweLKAf/qvvbjxznGEzMDTya4yWgs0WlO8wkIBmF2KkI1H9EAynRlUV6NO98wX5QUPPrqxUt3sjnu+/YFp3P3IEm1VBQ/v4fzh1r36IaeG7oatysZIpyiuKddE/TKL9esGkOQCWrz1PI86YRj67lOLqqWlZYiPPm2KwO7QwUNoobdR9Q0O9uHEE09wP6Px8MMP47zzzsM73vEOUgc3DsIX0t+yu8rvElYvGp8l2mTZQ+VT26tJv9ZN9Ks+zS3Vr/aPr7BIfSXHUZo7gslkEsaY47P8Uu8czp+f33LE8/k8tM85PT2Nxl5vicpbRIoQgSdjfj1CnoqKBkOMMfTWLEADMYMZfJX/4ojjOv7LI4/jj29961t45LG9WKBybaEnjOOPheUa3vLqDD1iTejr9Ch0x5Y6NFrFloEYLj0zQ4OXhAa+lR4Iaz1IgJrzTejiqkaDMjR0kKvRMrQK6O/rRZ6GQ7TlcjkMDPTTFZvHciGkYKZp4CbJsyOO/hrSTnHWqCW+fMu8+xHZi393nHWV0NvbTbDRBz8I+F5GmR4BKWtRaTkGqj/flHU8kICTJe5Zwuh5Fq2tzRBt+oOFGhW4yilNq9AWCv2f/maLc4u/5OJWJdG417CtJ8RvXdGBLf0ZutmnWL7m+KK6ZUh0T9BD184VjbUeebJMRd+DIOavfl827+rSJVq9+FRyAoSJeIADBw6y34tKOSZ4nKgdBAVxGiz9WG2RSjCVzmJ2bsHxr4er0FECtlkCVNXbCKrEkhcq28b+6ls5/TWk4teGIPChlWw7AeICV3Ka+Pl8HktLK3D8oQFsKCOVM8aiqakJzfkcfvSjH+PWW28juGzDs5/zbMwtFfDNG29xIFDKN6JR8ilQp5x8Is6/+DJ8664xfOWWx2GMgWUwxpCHdYql4MRHME5BtwgGOpR3pVjBt36yB99/cAbPe941OP2UHVQ+lsq25oyzvpv6CkGXvHznnf0s6DuNSW7JaltVykdGJaC8qD71J9KF6l3bvwKj4pUxBlMs43kWHe2tSNPTZ22dBpVTqNCLOjk16+hfN9iLmOqMmMLA7kIGrkavzDC9nwWC+86udrZST/eDGCY4VuKz6IvT0DCFZ8Q89UBxp+ws0TtSRktznvMmBUMajDEwps6vGsdE47lIpa16EokkVgi0krzHuVI1rPHY0zhPW40A6DeecxJ+63kno70phRjHRuPjWUteGvj0pLRkYxwG8mGhzDnDR1ZUqdLTwjwxguhv3fYYbt2TwKR/CfYeibDrsT2ct1Oo0DpF8DgWNYYKy4Ys6aFGcFWrrrh7FFUZF9L7U4Xjv/UQJ82GMg5Yth9gZWUG6/pb8ZIXXQdjm/CTH9+DPbv3YqVQgHgTkslVtgXjwbBMRGBYqzKNfavR81ariu4K52cFtSiCH0tyDsYR5/wJOFbFwhJ8r4Q/+IO3Ip3bjt17hzE6PkX+hJDMql7rJdA/eAm+9KUv4m/e9i584fYFzC+VcMOP9uGdH7uVW/FL0JhYY2GMAWDYn8YdCEmoMJFkgQmr7xHHmDmZjcMJj2VT8QDGGKxo65UoSLJV4PakZZ44FyPG8IGnJe8VPM/CMtEFphljXHnwCNnXGsGd7oDiLXRY5oF7F41w5QOOM99QYLtFbcmybJljDB4rtTj+73/diZtue5TzuhVpLv4M49eeVSLzw1zALXAXJU3jKpC1wkWMFi9dXEB6bjzXlgCmOGcWCQSka/LUH8YcXyugBdE4dzykn+UhUj3pTJZAfM55lYzrR71eoxsvnHZQVewCvnjrCN7xmd3IZ+N44tASxufKZH8EZuMdUD6JDocH7Daml4FELEI+BcoE0wEor/JpsFRnBEDvCtDBCCe7vOtV/F1YWEYmaXDBaXEEHuWbg5/LcaFlrZsLVc7XOOelz/nWyp00j+OYzaSgsdInNAfoEKiRMI98E29934f4KNulUKWDQWkB4/v7+yAPfqGwAtmDAufFnXfeibe//e0OmO3atYv0Gqg9jY3SFUSzAJGeFZ+gA8cY9Va9eOaC6FT9NfZZuCAkL6R/9Rxw/gm0GfPMtGufLtmWA9HZ2UnD3wp5y2a45SVCFP906/hV8hljHIjxsz6+Wv4q9q/sxwuiF2CA/wzMz6xycHADvv2dm7Ht5IvwR6/sx7+8uQ3v+/wihkZqYJWIKHwa0EYFR8ZD9HcHOHlrwrVXpOEp0wMVEtyUuZ8sT9X06rdXShMY08RWeppeBxmxVnp/ajRci5zUNQ6eBquNnqwNG9ZjmYZGPBO/FF+rBXjdO49wOy5Aa97DfoKXaRpOfXvTTPAgIZBCkCBLAObnFwhY5kl3RMVcpQDPudVFRGUub5NoUj7Vr+d2thuxk2MylvNT+I+vzuMll3SA2V3/G/2m+cfJfRVcdWYzTFikkpl2StyYOm9VBziT1cd2et5EkzEW+uOBUrkEKbE5AifVR5bq5kKaHk5tY9aqFQxxcooml7DmkqJi7OOqUhN3z959nHAJTvaqC1s2rWf/8s4D+FRlYzT8muAag9HRCSwvF9bUDBhjHLDuZ/3xeAwjo2NY5Bg0NWUxTy/N7OyT27X6/oXZ4XkWAnplLja+/rVvYOeDD+FUgqQLL7oQP7nzftz2k7tQ5bjWqGjE62w2hYsvPhcnn3EOPnXjI7h/1yjELymlGidtRL7pmcNAgshFMijkAKi8/s/DL/xwHzbtOAMXX3gu+x6D6qxUqtBfmN7645/irnsexLatmwkuu2iIQ9y381EMD4+Q9x0E+wnXR/BQmwqSuSOrW7qSsRn2scgVnLyuAkIelaNoUWAxthdBXrQS+9vX00VA2gTDf0qvBxLMPsioCAjWgXYcIY1XgqvB2bk5js8YEok4kk4Zqlb1WkHPQIFbmJL9bCaNplwG4jOrhKU+UQ7xY5byIzAWZz1NTTkUS2Xm4/ixDWONY5woUX6FKufYErcnLztzA/74+nNwwkAz4jQMMg6eZ2HZiJFmUyEGviKV8NCSi2NxpYq5pQpiBAf3Pz6MG++dwakXvRbJ9Ebcc++jOLD/IBdD9YVJRGAkHVALK2zWQLRGUYXzo4QaPWJVArNKpUx5LTMtgkfl7HsxBH4cnvWwvDSJmalH8LxrLkdzywDuvu8J6s4hLJMn8o4isixbY6ggJPgK6RGr1Up8Lrv6gZDyJsAXIQwtvCCORDJFMBYj/TEUCguolhdx3jkn4dTTzsETuyZw+OAIVlZKLB/BwCKMPNIbwuPXKiUAABAASURBVPoJymYN/YPn421/81bK8h0Eiz488mu54uEfP3W7+/8xS5Q/8Qs8DCJEtPQ1yrvuURSy3nqIImbQyQeezMncfKhxfoCyT3zERXDZ8TIWeLDWkh4DjY3a1Lue1ZYCGgfriFg+JBCL2LailU9Bz8ZQHvhgLC+rZ8h8IctELOt7BmVuQS8Xa0hmmvCRr+/Eez/zA2TSGSd/ane1mLuFLDvNeaIfF87nmwjoSpwTM9xJSbt5F3BMXcY1F9mCcQLedi74ugnWfIIKkaXQyCZdoz9akp1oYz61m0qlKdsV7N93gLynPDZzvqk7q7wkKSAjySfWwjiyDD98eBEh5fDiU1tw3o4mLC5XlYUZXFZ3Z9cxuQB6J4GWVATxXpWErENBmRp3xXMYQVbBGDbOUzUxq7Kx7qgezzeuRXHPYyEGu32csiXmFtfi8RL1aIJzlVnIqzlYazBFr/Zh7oxIrypeVVvPYv36QUhPa44rn2RpeXkFgwN90FxnY668gPAwAbEWdPoEZ+PG9a7s3r173A/Iqk4Fay3SBMyiY3x8HCE7n6KtMcZ1RFn+V4Ixhjo6jiR10jQdUyv02me5E+B53jPann16tcF1fImrAQnfli1bHFP055qzs7NPt4pfKV9EEbkVt+In5ie4InEFTk+cDv1OlgwNfsHRQg/Xidt24Dt3WiystODtr2vH525awaP7KhQCUBaeHMT9I1XIS3bC+gQnYxY6hN4BwxVHjYokpIFPcSL5LGtdWKLHRcbqwIFDVLgENEbxHhVmgD56vOTKTFBw3eDlcqjRkM3MzEKeNm0P+bEM/uD6U7GJnrlHv7IJn//HNrzrD/M4ZRMVMhVbEPiQoWsl0JOXa8PGDeiklw48SjRaczRkIWeaMYZKuOAATCwWuIkj75rnWU68iBPKw2BHmmPIcYxYmH2qgxDDfgHGGLSka7j85AAXntSEwvISQcuCK4vVQxNY9TU1NSGfz7s2shTI1pY85glAtUV5/JgYY6gI09yCa8Pc7JzbHhW9WHMYYyhLKW6PtrrtAa2sfD+GEr02hvw88cStjg55fLSqwnFHNptBX183aA7cT3eU6Vlcm8UYA9HYS6+bR8Wh1WqJADtGkKatV42R+qYyxhjeDBKJGDo6WjE7M43/+u8v0RU/jYsuugCbtmzFjd++FY8+vhtSLArqT3tbMz1cz0U56MAnvvEgdu4eQ1Wrc/Ha1RmR9woh7th5GJ/45k5E6V4a6iscCAqpVKqUjQrB6wMEXd/49i1obm7GCZs3oJleu8d37cU9BGfaDsnlMjDGuEBieUaOP+rX9PQcxA/99p2UnjMGlB3JETiPmNmdUmaLlF3Jj4yKvAC+762m6SbCI8ioHOJ2aTM9rOJhlfQFsRjkgdD2pCUdAlrGivuig62oKKuocLmuPywRn/Psg/QGqaa8WaaC/AixSDmTh9MYjVEzauRBjSvnNIG66HHjwvp4Hi2zTGOweaAdb3rFeThnRw+3Jn0CIM8BC8mnMWzFMHujEJ+NsahwPGSI8vSWVdnGl24dQn7DNejd+BzcffcTbmXutlNXAUypXKRhLyHi2EScYzXnsSqjRsDESIKmCrR1GJJIn0Y7Tq+Y7wfQc6GwiLGR+3HuOSfj6mtegz17pzE0NAyNiQCc+C/ZKVeKiCKCPxjWW6HMFN1dXr+QAK2y+peasD4S3AYK2I7mhtLHRh7FpnVZXHXVlRyPGIb2D2OGhqJQLHOkWR9prgpIsW6SCNEKHpr3bR0nkpYlzrk28iWExiBBb9vMcoS/+Lfv4ys3P8L8EWkJOU41htABsZB1inYFEq7TtcUL+cE81FnqV0Hfk3H+ZpIBEnHftaGylmDJehbWMhgRw7B6cthcfcrn6jccQEZaypYxzKyTd9N4ZznlizioIccoJG0VeuRKbNfzLL5/z2H8+f/7BgF4DZJxyROLHHMuLi5jdGycsuOR9zXqpwnEYgEEIGT0j8nMF22NC4hlCAAGB3qRoG5n9DFngQt5/RRPlbzQ4k7txuhJsl4AeeoLNOStnE8xjqUKRhoc9k3P7JpuLrCrdc9YUxZ6PvvEZmzuTTONfOFVp4rO0SO2QlHsyAG5JJyXjE1z/MC5BlcWPAxD42zUELICsk3D5/LzFWSnG+smLoy0YOaUxOhsAg9x29JaoKedF1YkXe95HmWkxoVB0dkp3/PhM66dnvhMOk0bMk+7tILDBGqSXfGhjY6C7u5OGFam/yJwfHyC+nXW8T1HD5x2isQTfWIyzMXn3Nyc++a48V1ZjZ1r4JCuri6oXulwzWmS9b92iqZGO630CEo+9C4+PJON1rn7c2oUIQIUalhExKiQlT1HgLFu3Too/cCBAyjTyCn+mQoRxWQ3duOL/HcyTsYV/JdDDpYDKZTqc1Uihvy8dt/97nfjQx/6EPYfHMMHvjSHG2/38eZXduCnD1Xx5e+vONolkJLGvYcq2HOwgq0DccizIGGL2JmIEkrbhcCPGD9Ll3cLDXwLBa1ARVNljvopQ2go9ZqAolF8qtDDplTPs5zwFbTTyM/Pz0O8lIdpnl6v+55YxkO7imhp8nDmjiTO3J7B1GyIC09NIOZVKagxgp8FhkXorwInJyY5yQy279iGM844HTs2BejrsHj5lTFcdxGBZlTEyZtjXHVX3dbnJWfEMTkN9LXHUWVnI8068tbAiDSIZoWQqzDqNXRkCcxOTeKMLWmM07smI6KMyqM7WFZKq53eMvVRq/12TrJWGn6BgnHSV6NXUfnqAW6SthK45eglGR4exgTziIw6LfVaPU7kNq4k21iXPqCdIXCN00jMc8tR3p3tJ2x2PJ/mSqxe4smrpUw0cXXb19sFgZEpehrX1q2cHpWF6paSrCvWSQLBtJJIz5TjlWiq99OQLxZJGsEW1vvAfQ/g61//llPAl3Mbs1wDvnzDTdCv26uvMgaeZ3HC1o247rrnw8+vww8fXcDnb96Nr926B//9vcf5vBdfu3MCue4teP4LrsWG9QM0dBGkuCsECMP04H3zplvc+6knbUOeCvEgwdD3fvBj0gJ0drZBsgUY6FD/FGa5zTsxOYMUV24lgtFJDrbGp7OjDQI2xtTzqww4dkV6w+SNUlp/X4/rUz2NqZGeIifXh4+MwuOY6Ps6fScGYyEZGSZNMiq5bBoeQZx4xmpZWGXhFPTi4hLzhtC3aHEaOKVYlhfpollbkQIBhUKJi586wJScid9SsJEqXKVFFauMtiWSMQ+/fd0ZlPONaOEWjmctfN+CNwb1U4UUALVljOEcN9DWo/LJa/mZb+3EnvlB7Djrehw4OO++4yoUC+Q7yxGMSbFXKb/WS7JsyKA5HiKkR0xBYKjCLUSFCB5lJEU+BTCG/AkjTE3sxpZNTXjN77wFsXgPPW5HMMXxEd9DAiSNdZVWTnxTvyJ632r0tAEhIrah+tX/Kr2APmU2Fk8iiMVcG9Z6mJk6iExiHs+96lq0tG/DvffIq3cIi3RnhJzDYB9q9C6FIWuh7grpdYsI+iqVFaidkPXG41nSnXc6O0HPZjabxTzByczsAvxYEj+8fwRv+tebuLAYZb/JFwCOVhJdf2MEeQuyPKLSqNJIqk9Fbk0WCcYoFm5cmAvGGCRiHum3kOeKVcAy7mg9zKS4Br1qxzDdwEDjCh7GGD5b8AYDIGQB5Q/ZdsR+hgylSgil3/rgKL19PybtI2inTopz4cUix5zywA5z+73G8j6B0dTUDEI+a85o3nmU+7UFlDZNnaJ2B/p7kOaOiDGi5MlcyjPOubfEBUMHdWOa89H3AyR4lx7VT+3kaTM174wxRwsay2cyg1dJveuDEtklDI2t8F0poPcrkoQoiXHAcgmYW4H7Rqwp6aIhfsV8uDvXQ+wTXJ1kVz0Dr3o2vDdO8VuZFK+4j3xrCOXQc58YaE7KvkqfGGNcfROzlrYq5vSlMQY1jr28W3GCU/Fzjvatwsbdnd5W8UXAVTpBdUnexI/Dh4ehMkr3act7e7pRZX4B5HnaRZVJpzP0ojVh8+aN0PfGsvcV2tRUKoUY54ToDTh+eq9Shyrd9UcJz2CQvRYGEu0KlowWzWmCTsnKEh1VouuZaNL+vErEQHUyToSvThuzdijBgbf0yrSgv78fk5OT3E4ZdgP08+p8OmlzmMNX+M+Hj5fxXwtacPwhhogmxYtGCYae14ZDhw6RRgPDyCAWww23TOD/+/QSXv7cDmRSPv75k4tOyDiWmJgOcfNdK6C3H4lEzPVDQnT4yBE3ARMxi3ScgIc8iHOSC5A0N+edQWkIgYRaIU8jLmDSTC+HMYb1JVyYo/FMcfW/xEkrgZIH44579rDNELRNKBQN3v6pFvzf9/0nSsE2ru5CeNGcW31K4MCeSCA2b9qAZQrBvffej4f3lDE8GdHol3H5ORls2xjDn746i1hgsW1DDDt3lXHqpiwNTsg+RdDkAw+ShbouMFwRGXiUhICTWco0EdTQl6/g2nNb2CIcYCnT2IOHMeImoJsMaFdXB6SoFhYXIQOvFdLwyDhmOangDrbpGo0QsIEuAoWAE/AIV03ir8uy5qI8nZ3trN9wG3eIwLJGRWRoMJbQ093F1W6ro2d2dn5NqfqjZKKbHkQBuPGJKczMzDlDUk+tX5NUkL3cnlMeTXIBmjiN0hJRt1PMNJrqWz0Yyo9FvjnHcU7h+9+7GXfddQ+2bzsRVz33KszML+G2H98NKa4ay4XUoh4ZOdDfi7PPPB1XX30VLrn8Clx59dW48srLcdEFZ6Ob/DJGPA85JlUI/H/7e7di1+4DEOjUj6Iucvv1ttvv5gpzAaJV8gbU+Q7yUvK2zDxSXjLyMkr6LiOiAW4jqM3Ra8gmsPaoEgTMiGcRMEAgliU4XpsuuQ0JRPTtnjxjXV3t7HtdCQcxgnoamzl6w9MsF4sHpIKlWRev7oxYgT6+L9Fz25TLIk05N8bAGEM5s24cKlS4M3NzWKJnLJmMQ/n0HVWc+iVJ8GskkAZrDuMUf0hv0XPP34Lff+Hp6GlLU1YN6wUs87N6PpujZQzM6rMhEItgjEE88DC/VMQtj4a44gVvRiLdi12P7cX05BS9S2XS5kH8KRNohbB8B+WOuoFgpkbAFNIrFkbcKiKwqVJZ+H4c8USKQIl8YL/V4tzsYSRiU/SUvgDNrdtw3z2P44nHd2NhYYnzqwrae94jGBt3vAvJ65B111bvAkpV9lPEK07eBEuDHtDgSK4XFydQLhzAlVdcjC0nXswt+GXs3nWAvCwQ6NQczVXKYJWAS3IYka6q6A7L7FuB6coTsvqIzxH6Bs5wRjeizBhjnGc1TqM6MjbBvlcRi2fwvv++G+/+9E/w6P4JlpPk6WZIv0HI+muUKbVZ4gpF34yJDzHqHWOM47vl+NSDReB7SCV8V65UIfiMWJ+CIymCaAYP5WdhGJYFDByQx2pe3qsObLK8GMr3Mr1iqmKu5OM9/30fbrt/H3L04ku2jDHM8eRZJXjw8+ubAAAQAElEQVTQXxwLQEj/zlFHLXP7rK21GQJjAh5P5labkZufyt/OeaXfybPWrs3invWtp+aN5l0TPVrSAalMBnPzizg4dBjxIIDSFA/2CWuOBoVkBcdFbdYTXff5GLKfZDX2DS+jRi9vpWYwtQBwHYKWdP2usswKqh8YC/IM1P8AWUXZgItXmsvHi8PtLKB6jQHHE/jOPRN48wcfw56xiGA9BdkpZuG24YDTuydzkZigfCh/LmNw2VkpLNEGGWMoX1XUyFvlNyRA/Uxze1Y8DimTGfJCaaMEwZVyCcYYl1/pnR0dlLcKqswnG6J8HR3t8Dzf0RCQd/LGazdOtk/h+DEwpm5jk9TtAk4CUKrn1w1VznX1UfOvAb6Or1P0Ka3G/itvJKYen+mXeOfw/c/cDUKMMRAzveNWDMeXEMG9vb1opStPIEjbmL8KYSWU8D3+ewJP4AX8twEbjm/qmHdjDDSoqVQKZXroNBgSYGUSHe9///uxedNGKs849C1LSKncuWsBb3nPNB7ZW6WSjvDhLy3jt98+B+snsOtgDdZEaBh7fbQ32B2gUChisWC5MvCg1ZX4U+X2jQZgjisC8Uf9LXKlvUCPjt71vZ0Al4RHQeCsiYqiv78PAhwTExNOMMs0Uuv7UohI9Ee+PIm3/tmfuq27B3c+zBgwD6CVB3jISKZSSbqARzA3N4+AAKeZoHAj99vF/5f/xRjufqSEN797DrR3aMpablWm2CfVAXBugyxgTajXy5mpiR/3Ados+J5hsNDxwN5lKuI5XHWahyvPbEbSKzkgpL4r3RijG4NBngC0jZ4tGXKfE6iTE2qZAOcQvSxSeMx0zJnNpCBgVqG35gg9Lhq7YzLwJc1VaBfBlSaXwJvnBZy4NSqtCBs2DCLDdE1wjQ2zH3PGCZgFDhNUIFLAywQvazMYY6CP2wXwZCgmZZhJizwFc1TScwTOjXnFrCxqoDEVr+fnZvCFL3zJ/a8WZ5xxGk7cvt19X3bn3fejzNWbZCyikYMbURx3RAjD0CmjErc27vjpfbjn3ocwSJkY5BZIhZP6gYcewxO7dhO4tXHupdw41SuJ2HegSiM4Rjd/ifT6vg/RKw+PvFEtLXl6JrxjWo7YkXluKReKRfQQDMr4SB7rdZJKCp5onpmdoyd1Bq3cThFva1SQiWSKnpdljAyPIvA9pyCNamcZ3Rp1aAyWaNhSBFW5XAaq38C4O3hU2a85zgu1EVA+muj9q1RqqFDhpTl3PWtZXcT+1YPK1ggslpaXce7J/Xjzy8/FaVs6SYOFT4G1DMYY6GD3XDk9W8Ux0EaTz0DMtzDGYHIlgd0Lm9HWeSoB9UPYRaC0RJkQDWVtTdJIqB4SQf4WuAAqIXJAqYqIIEnesBpprZEnMYJT1z/juf6ViksoFQ/huVddhpNOfg7275siUNqHJfKjSuMZcY6FoeWYhwxVhoqrO4rKpLFGssP6O5cdEflqrUedFuc4xiEgXCVInJt+Aju29uI5V1zPLbYSdj++lzpqjrSSPhYKOalr5HFID1uVW6u1WpHtlFhvvT2lVamvwohtwSKRTLPuBIxNgMXZD4Pm5h5s23EBTjjxAnh+M4YODZMdHh7aO4F3f+anjo/G1Hmu9kIyucZQpFdM73HyWvyXvBljYAAYY1wAD8UrBJ6lrjEc+xBlAjlHE/ttjAEzu2BgAAZjnLSRDsmp+BdybGoMEYF06MJy1cfnvvs4/vk/voMaee1AE8thzRGyk/pOTJ+XJKkYi5w785znqVSC86wd0hNrsrvHlZUCvTIzkMesm/NGOsUlrLnI0ytPmz4r6eA2ne97nCNp17f9+w8gogxpvh0L9NhZ1lHiwkXzoUKQVY9hZONk96Wr9To6NsmtyiTGZkv4j+9OImQfWzIgyFMq4Lq6WgGLQYHd5SiDfAbnAECxRVWiBvKxEVSGme/fM49//NxefOe+ecQSacqdB41TlQUEfmQLx7m41X/z10cbrzmgn3XaPBjD5sEAbc2UIxIxS/0hPkpfz3LRFcQCt6DUpzMh+SAZrFA/ypbl6JFNpZKU0RqGR0ad/GnnR/orFoshwQWa8i8R8MkzHpIZvu/D+wU4xFpLva4++FBZtcfu/tKn2l6m7tFd+Edt/7xKjDGUoYRrW/1X+Hn5f1aa+G7XJqrjIqRK5ZNOpyHluTb9Fz1rANevX++yaRtTgMa9/IJLSGV0L+7Fbfx3Ok7HOfwXIPgFpZ5MNsYQ1ScR50BqAGWsBMjyBAoSFDFW8ZpcbXRjB7Esnjgcx6Exg58+HKK9vduBLgky59TRfqt8R4tBNgWucLKg4wwrVLRqeZbehmU+S7DSBAdi5jJBSKVS5tbaCkgSgzkaPM+SxgQFZRni76UXX4Bzzn4WBgf6cdb2NAQEp+ZquOnb38cHP/wJR8+5JycxMVuDxsUY4xSEyqo/FQq3vuVKcVUwy8lw6NBhR7dA8dbtz0JzSyvueriEeX0Eyo4ZEb0aaqHh9qXhliig/lKO3aTwrcHekQJ+8OAC1ncncOFJOSRjBt35CBdui+OsM5/l6JIyU39JEvtXr9TjZGklbyXAS+RLNpd1HpBJuvq1eizIBcisho1JF4BqNptNQ385Os0tgwluY6pvzPLkyQYy9PY009M4QQ/skZER9zMPVSqxNOP1H9mqjIBZSIP0ZMH6kwx/X28nFUxIkDtFvlfqCatXj2MiJdDTozwRjgyPoFoL2SdLj+80x7HAsuC7guFdcpZwf604TA/ff/3XFyGv0SWXXESPwzroB1v37T/IOmpUNiHLhlA/FTSGVSq5CgG4vhP7zvd/BCmfTQKX9DrtHzqE+x98mGPoERTlXVuAQeMIwwgyKAppzs1Fytoit5kymRTaCYZjBDo47tA4LBCMteSb0Pj4+LgsBFxLrt8Ck5ob8s5Yrk7LBEz6K9kq5Uzj5FFQKEbs05M1lOk11apWCqs5nyPtgUs0pk53SEUqz6O2SPWs8ZDclEoVGq4EGjRHlAVXkIIRsZ9LVIbre1vwR9efi4tO60d8dcvLo3xayo8xFsbU21A5YwwsA4fOGR/PWlhr8IXvPYy3f/j7+NB/34lbbr4J9979EwLYeY5PxDlleTfsj+Uzx4uepDAscag036qM551gLKRXjC+wnocYtw89L4BoCAl+EBVw6skbcdllL6Z81QjGhunJXYQAgEKN5auUS91r9LaFBESgp61Gz1WNgFNxNeraGvscwbL+OIJYDJ4XUH5KWKDXrbPNw7XPfwW8eC8efng3JsannMFXX0Ma5yrnQsR6a2yL7COpIUIawIjeN3dnWkharfUQJ/0+DWUQxKAx84Mk1g1uoFfvNTjplMth0Ip4vB19/adj64lXIJFsxqWXXoFt23ZQV87jre/5Nr57+24CohqKxSpKBFSBZxGQ1ywMw7v1PFhjoGdjDI4/wtBRSb1jXCgT1FUZp6zGKD8D78ZwbFhYfYuYrnIhO12pRShSNhmF7987jLd/8NvYPzKPHoKmhjyx2NFTi8QRemYgAgE3h5Svi174HHWIMWyP8Y2zzIW9vM1B4GNA25MEDo20xr3CMRulJ7FEUKXtSeUVTw15rK046QQBwxQXKI0yjbt0wDQ9zVog1ecDRU4saWTgXRRFq3NC4/SiC7tJfYRMPEJbzsIyg8gm6xnPAjw1N/Wiu7Wsk3HMxivgW0D5Oe2o9+ESZxbL+MANQ/jqXUXMrHiUt1XExmSdspeyo+rjysoKenu7uRuWh3YWapTpr/1whfbQw+RMgfPeR4p2KE07mKFu0jhpgRiLBZTFCB75onjf96Cx1AKyTN2hv3hXviIXpxnqwIQ+USFQ1rd21lpHU5L19nBHQ/R87nOfE2m/MIhnskOic4mgrsrx+oWFmCEi89ROhTpP7QpPMPppn8YYqJzaX6YOK1OWnm5h8Vp85lDVi4iQIlfRAlUKxph6wi97ZX4Z0HXr1kGNDA8P07NRYexTn7uxG9/nv3a04zn814a2p874NGI9KoM0BcIYg7/92791Cl+GpsgBb27JQ6hdxmFsfJJCFFBI632s0XCIka1NwNh0lUIUutYkZE8cSlBxwymwsekan6s01lNcUeaRpStWQGNxccnlr3AV2pzPu60AoF431hwSDIEZYyxuve12zNHL1U9AduaOHNuM8A9v7MQNX/40Hnv0AVdqfqmKwI/BGENvSdrFJeIxGuxm9x5S8U5NT7v25KLXZGnnSm337j04dGTa1Tm55GNirs5/KTHqM04QODBGmefkNqwfmGSer90xg3hgce05dOE3B2zPMFhEkcWuwyt41z/+M+677z5cf/317vuyFa4iJcTMdPTUKkkeQPGzSIUlwKnJKLf+1AxX9QQkrPBo/ljgsz9NSLJfw/TECFweX6evPG2tEADV/1CgVZdH0DBPr4u29LZu2YA5bg/M0bN1tGKn0CJoYmvSd3W2YoEARjwPOd5P5gN57BNkUfIIKAW4JSPyupaowQSAJD+cq45PxhjeLfmfQltLnvx4AN/85k3IEzReceUVmF1YwTe+dTMN9BQVSuhClUCsSqWgPwf/xo03E5SvYMeJW12bWmHrrzdXqPQ6O9poEGMADOBCRFZFHN9ljHGlnKKCD0MCM65Yfcp6R0cr0vQwQYeK6M5QIt/1jVaKHkLxJ5lMMPbYs0RlobYnCYa3nbgFF51/FvTtnYEHjcPy0hIEloOYTxrglHj9EkF9WWR6RGOfb+LYsR2x25BmhYjMWqEuEQ1FeiPkNYsRBEjHxGMxSIaVn7XytmqNeCvQE62FyW9fezpefOlmtGZjrBEEACHovF2VVcMyqNPECowxIEtQLIe457Ej+MrND3MRUsAnvn4fHtg9jZVijd6kESwsTHOb73EMHbjL6aNyucBynM/6WQmCJVAmNJ9CgjKBmxrnVo1x7AoCGgrPDxwtNQKdYnEO6wfbcMnFF8P6rdi9ewijI2ME8MusJnJjXuGYu3pYd8gyIUFRyOcq24tYN8g71a9K44kEgiBgiEPvhZV55HMxbk9egZ7+U/DgfbugRccSvXokCepvjUYxIiALowpC1qc6Q3rTIgLIKKqiRnkjlxBFQECvXhCLgZOBbcRQKq4gHqvixS96BU45/WrsH5rBELfWCoUVAtqI9bGMn0JX9+m47/5HccGFz8bjU00YnVrETXcexJ//2/fw+NAkdYUncmGIEDTPjLFujGAMdIRsnCd0r5HoKgFVyLueFa98scADmL3IbUzFY/WIyB8ZduUP+VxjKK0CsQf2zeJvP3Irbn9wPz1cHdC8WC129CbdMzI6QS9cxc2ROepaGdp2bj3muXjwfbZ7NDco0zXoE4cV6rQeeuYF1tYku8eQzJ+cnqE8zbtFkLzsnmcJpBNu7kzQc53NpiFdbIxxZRqXiB2e5+JohnRoPrS2NDv7pPTjsoLNgN2lzQlw7Xm9uPLMXvxk5wRluYqOpjiMMWB19aAKGBgFtcjh5htANrvgXpigVGxaZgAAEABJREFU+RMPAMuIT39vGG//zyEs2w5oZ2NwcADaYVlatWMl6g9jDPL5JgLvItq487XMRbYxhtvBWTd/ZhfAhYFBOklaKH+dBMQCQdpuzOZyGOICs7NFc6EG9btIPRCSqFn2P02dZUhHLpuFpcx41GUT3KXQ+OhZwWec9NYU47WDwew466yzdHvaIcF5JTygeguFAvnV4M7/rKJIfbVCHRxwHqqcteLU/8z3dGJ8evPUbsiBXCYwk778WeWUJtBoDHlJ7GLLVMwqJEJkhMSMn1X4l4lXh9ra2tDe3k7jPU6FMooalUijjmlM42b+q6KKK/lvEIONpF/7HqPyufXWW7EkIWJtWolM0Iip/cZEFNMEXnL05OhnKjQYf/6aZrzns5NO4FgM+iammUKZbWrHAoV1eh4wFKA0gZjyl4mkwcMYiZcYmsICQYImn6WSMkbxzLB6VqmkTzllB+QNEn8eevhxGpsIZ2xvOzp5fvyJ9bic+/PXX5XCY/srkCArb09PN3nZhhJBgrGWoHDafbvUQiAgA5fP57miTeDAgSEYY5zwDQz0YfuO7UCqGzfeNYP79y4iQY8XSWN6naglGqyb7p7D0FgJzyMQ29yXdOUBCaRFBI/GziLRth3nnnsu+vsH8P73fwD33nM3Tj7pZExNTZOmsivDZuuV8ppKJTnJu+mBWXZ904rUMF4gYH5hiXHHTo54PAZtY9YIaofpqVpcWmbuY88gFqCru5NyFLp+Fotl6Hur+YVl9HEFl8/nILC9zElwbEnQELFsZxuachnHuyXWr3F6Ml9Er00S+gugfFOOgGoSokEAYpFATkCxRoOi/OqnMQbW86jQmqnwE/j6DV/HPffci+3bT8Blz74Mew8cwe3cklwiLfo27ZYf3oGHH9mFbSdsRj9pXSHtd9+3E1qNd3W1ubbhDnGJvKHGLdCrqP7IuFjPkqYpyksN+k0jfatiYKDTBcB9FDsnTUnFJ35Ithl9zFnlHBynkjt0eAT6YP+lL7oG558jT20vWpubOJ5TXGikEU/EOPYsSlJ45Rm5MStQcQnM5TgH0lSslnxQ+8YY5o+opCsExwsQf+PxGLTyLRBoeTSAym8MaQZc3ohXPqJMmZZCvOzM9fjjl56J3va0oqF6fc9AoSJPiuN/pGiXpifaaBhj8NkbH8D37hrCyCxX/l+4G7uGpuD7MXR2n4iBgWchk21HsTCPUnEZIyMPolYtkZdlhARKoqgmDxm9TCH5U+M8NZT7OBV6QK+SNT7Uz2JpifLj4fLLLkFH10Y89NA+ArzDlJMVAOq/x/rAwGcCo5DjENJYhfSGhWwnZFzNPdcIfELECJT8IAGwrE/AV+bWacyr4JKLz8LJp5yFoUMz3F7dw/lXdsAiIgCrsnyVcySksleIVK+CQJju7EONfRBvjQ3gBXHHB5/3iLSUCtM49ZQN2L79NEzNVPHIw7sxN7cIfYgtQFQjj6ssD3Dus7229q349Kc/g09+9guIcwciZLs+t7Y+fMP9eP+X78F9T4zAGANrrLujcUR6MAijCKHjQ1i/E2kwionMYHjj6bF8jAvBGleLJQ5olTToWWUj5ndjT09goWbxqe/swle+v5MgoRmapyx+zBmSvonJabddlqAMS29ra1B5teBJaPGwpkREYua5mJvljodAUjeBRcNGrMnG+hYhgJeixyZPmwDSnspkUOA81u6E71ko3rN2bTH3vEyQpwVpjPqro72F4+GjRh7X2E+XoXFhnWQF6Hh0vycWcX6kY2W88l13ocz+v+7aQShd2ck9YDW/7uDBrrhHstvdXV7mYdLR0/OA23ZOoq+vDx5fRMcK6ROA2LBxAxcVBc6LGiz7oXkbEFwc5O7L7Myc+920IQL3gKClSsC/bWMaWwYD/O4LU1hZGHX2yPM950lr4kLtRZdlsKnfh+Z2NpOCgJHKCWdIhyxyUbdMG635JvAlIrVjIZrm6CmTDvHZlujQD9TrvxZSnl8mGGOc1ypGTLBCwFUiMFxbXjTJXogX4oHP/q5N/3WeE9Qf6qvaUNuSzUZ96qPilKZ2RZ/SnPQo4pkkRBU3ghrS4Ofzea68hzE6P4of89+DeBAX8982bMMzfQiMyUvX1JSjEok54yA6qlS0okODLkQyw+20ubl5CswSPvy33fjIlxZwZLSMVz2v+agHTLSNjo5RUFc4sAlo0qYINvS9UUtzniCpFWm6asXcHFcGzS0tEHhSOXBaGGMA3gELz3p4/PFd8DkRRA8QcUIX8fnvLGDjNbuw5fm7seF5u3H7zmWu9MvQoXwayDG63ae5OgtigaOlmW0rXgpGK5NDhw9zhTfrlJ6EbuPGddDE0V9mPvr4flUFk+jglmQZ47MVTvAQdz2xiFu5PamtyXO2ZbnipThQCUf0iAEeqfO5mRzDzoNlvO8DH3F1NC4nnLgNN950Ez7+8f+gkcpBtIVhBGNMI4t7Fq/loVrixJOMtXGFukSQot/L0kSLnszt8mvV1E5P1fLiovt2SQuGo1n4YGCQzWagb/T0QbjaDWIxVKnMSTC2bt4AayzkUZIiYJFjzjgVci+3MWVgBZREw5MZIoj8DJVHd1c7+edjijyvUcm3cpWo/IsE5lJ8KqO8gIHnWScH01NT+OIXvoLRkWE861mno39wEN//wR348R33QD+7ccKWjc4Q73z0CTz86GPcBk8jl8vAGIOjByvXXxtpJb7AFXU8nqCHbMmNuYyK+CklCRVRYMGIfF8kaNQ3LV2kWzz2LMeSaY1ThkdK7uDBI07+rr362Xjucy5xhk1pqqNAT7JW/a7uiCUZIjJVochV8zK3SWNBzI23J8VlAGN4gXH9Eg0zNGwe5Vv90nxzCofAzbN1elSXAnhUqdRXaAxO2tyJv/yt83H29h6sZmONzEBeqHpjDALy2LMGVRomyVmN463gM+6jX7kbU/QmRxynBYLzZCrt6tHcsNaH9QLkmnrQ23cq50cFK0uTGD5yP8HjCkFsCVV6rmoEOgpV1hGjIvUDj4YpgiUZVW4x+gRKF5z3LJx62rk4PDyHxwmui+RXjbyPOGfKlTJBUxF8RSiPGOsDF5tRVCMHawCBRaQ4ssv6Hjzy0VoPmhMRwVS5OIdtW/tw5pnn0vAv4eGHnuCcmgWMz/KW/I1o0MqIODcjjkuNNFerK2yrxrgqDXzF3UMmRuReIpkh4Aug75tq7NPK0hT6urO45OJLUColsHfPIYxRr5VooKLQIGS9zAbA43NInpQQ0lso2WjK9SNGMNbMxV8YAVNTs46eg5MlfPKbDwAcH7KAdEZQOnjoHhJwhKw05IvqYTTz6Ep2wOhCmt3N3eUdNcxRKldRoie9Qn1douesWAH+6+bdeNv7v4OxyXnIy1Wv5djrLHW5Po/QuFcoW5LFRCKGboIsyXVE2p8MEedUgYuzGQgM9Pd1Ix6PHVsh36QfDh0ZgfEsdU4bBKqSBGWMwP69BwjyC5xDLS6e2Y85y1ywT3DBGpIHojm51lPN7qvnxt0BZoH+oGye2J67eWjLAi+9qBPFWhxb+9P4w+vWo41eU2MMjIW453imcnyFMXAHuwjbeOaL+uvSVuNcJl58zl+PfSoQpMR86xwJsmudnR0IYjGn0yQb6oPoX2a+CvsjHmluKy7iuMZ84HkXJvGeP83gxP5ZOl8mIE+b5vZ7/nOaLYE7P20oF2fxsitzlNMa5XsU69f1uzTV30p9X6J+GZ+YhOpUQo2ANU29oTZPO+007kTcp+hfOXjUSWl6oHRfIhBU31bYJ9GZYjuylb9y5T+noDGG8pWkbMUhL12RC9pGEGBLUpaMeXJwrM+B+Tn1PWNJsWQMs32zuL16O3JDOZyzfA4C/nvGGlhT0Ve+8hUnoHNzc/RGTUGGLEYh0wB7lNZpArFJbtUYav+ICvMNL2vBup4Y9H3Ca1+URzJu6JaeQywIXa2ZlKVr1hIIZGFYHlQaUaQVn0IEy3r0vZwxhu1aBuPKKZ8eGM1bREH3qQRWaByyBIFFSBD37T+AL35vlOlAW0uSxi7DLZfAKWoJTzNXYykCQAlOM0HtEj07ciE3N+ddHq0GtdpQ/0JOkD56XwQaS27ldoTKt+wA4+BgPzo62/Gjh5bwlZ9M48PfGkdz1sfVZzcjk/DYI6lCSwDmASZAxFAO48w/j7/9xw9xRb0dxx+e5+PFL34pHty5E294/eup3KYc+DXGOB5E0gYsJP7IlZ2k4K+sFJHn6knbvVMch/HxKZSkgZivcRpj0NqSR55gRR97ym1dpXJupDfuefJDIPgIFeY8PZNtHZ0EuGX2swMn0hMlD9rk5IxTAo0yuouefHMT5CGSQpjgilrfdimtETQvRIOUeZle5D1798MPAiYbgr0Jjl8J6h5JdX01xtDLlUAXAdFDDz+Cb33zRsgo9Pf3YaCv103KI6MT9e/EaJDbWpvhedbVxwsQgQAghEDTGL25PnlbCyMnh6lUwm1vJggmXd7VC7lMeSpw9b6AbCYN/RBv8BTzeZEyI4/YMsHPhdyafNX1L8Q6bpVHToYjGt8aHnlsF/KUNfVJtICXiKFGvi8ShBpjuEhpomKJMYnEkgYBX+UpUslom1db9rkc5wiM40+KyibOecesrEk5WY5nSDAlQ9dLq/OGl56Ha87bAFbvgvIqKPdKqcpH9ZLBGscvn8ajSjkXnWLfEr2II1MrlPOKAwmxWEAeLjpe/tmf/TVe8pKr0dIc43uF8y+B7t4dqHJrL5trJTCbYpv0VgkokcKAHitLvgMGlkAIJkK5NI/NG7pxwQUXUb6LBEq7MMnxqZEAAcIaQUeVxj9SfhgCvALrL1E2qojksWKQcanSwFSZ17M+gX6CuiXG9AjFlVl0d+j3xK6C8bLOYzVFeSzSa0iHFg11SDmqubwhI0KCPaDG+ApDFdJfVXrMIlrmkHyJE8DLs2c9D8Z6nA9LaMnH8PznX4nB9TuwZ88oDh8ec8ahSq8jSUK5UiDYKzq6KwJ5BHuqN2R7EcGiF8S5LdhOHpcRZ/36rlOLojhBWggPOsgOkIUMEcchJF0hwlX5UjrIG526R6gfESNULuSlRkIUJJP6rbQKgfdKOcIdj07iL9/3Hew7MoO+ni7EjwNNLMqdjAKN/DhgDGXEc57kiAndBGLN+SZYyg7WHJrrmvPMgoH+Hi6MMmtS649VjtcwF8Fa5GjbPx6LQTrBow44dPgIZWAS8lQn14KselGnbzSPtfDUPM9m06sp9ZvhrUQwrzyiQUF1LxCMcUhofwDLvjz7tDY878w8fvM5/cglfdcPaxyLG6xmTaDOdjfyPIJLqL8+eWW0XljUpVtrOZZF9Pd00mO/0YGjzRv6IU+f9LSASjabJa/jTm+laH88ypPs5jIX1jWOlQCM5ihYKUlFa97ir383h3e/KUDSn6YdWKK+yGN0OsDf/PskZhdq+P6dBbz5VXlIrk7dMI8XXFIHaPPz80cB7Rw9Y21ctAuISadom690loEAABAASURBVFKfyUjXqw+/blA/RPsynQIh54zspjHm1632F5ZXu2pLulIhzrmjcTi+oG2gtuMTnsn3vdiLG/kvZVN4ceuLcdLASRCA0fdlMnbPZFuq6/vf/x7dps0UUMB6lkKVgCbAJLdqQiotMUbGrVBYxh+/vAVXnZcBZRRvfHkrfC/ETx5YQYKr5NLyBIUn5JaBdYAs5ACqfk0ghSon7QKBgBisH7mTEpDE614PfGNGPfMJxhgMDgxwBbFMYW2m0K5Q0SUhIeyj0R6bDsmXJWdki1q5smyRE1eDV6DRK7tVeNn9HESBxlXgzJJwfaMlevXtlrEehkfGMDM7x5VkK9sk0Gtrde7kB+5/EOK353mOPz2tCVDvcUIb9tMijHzO54DvcURBG1L9F+K7t96N6667Tt3+mcHndsvfv/Mf8NDOh3DppZdBAEkGl91l++ZouTQ9id3ccvQIGgRWNmxcTyPpQ9tyM1zdNvjbKBCjce1sb0Wc9xFuYy7RC6S0Oj/1BKeAO7Wqo6J86KGHIGBW5kpubm6BoKOP/O7D1PQcV4A00hz7eqn61VC7aeXaTnA0T0WgcahxTOup9WsQ+OgikJU3VFvb+i4qRQUlkDI2NkEjJqMI9hM8DO+GoDpLEJzEnT+9E/v27ceBw8O45dbbMTo25sYkIK3GGObXSbVGugSWRlmf4Xj65I+UUUigIPo0vsq5NsioKI+AW19fjwNka9P1LD7og+ZJrtK3bF6P33rFb+DkHSciZHtSilWCrUOk7Vvf/gEe37UP+n86SQ1lIKJRjbBMj1iVNMjDmSIoVJ1MBES6ZJMyKiUto5XNZuDklNuTPgGnM1QENI36VC5iu5Jrz9Zw3cUn4pVXbkdrxufUiFyVmrBiy/7hWfzfz96Bf//Cfbj/iVHSEgLMQXLhccySMQ8xArMagd0P7t7PdmOcr3HyPEUAUmL/apSrAF/72hcRUDZPPGEjTjqpH4sLE7BegO6eHfQOPYG5ucMoc06Bh7H1RUlA3kcEPaXSAtpbkrjm2uchmWnHww/vhdue50JHgDKiS6gsIBSpsE/AV0akbU+WZYdIQ5Ugp8K40BnoJMFpKp1FEEvAsg+l4hKyWQ9XX305Btdvx65dh3D40AgExCLOQ9BjVa1FTr4QRRBoCQnuBMgkF4qr8b1GebXGh8d+JpIy/BY+53eZ26tRdRbPOmUrTtpxOrfT9xDsPc4+z7GukDwFQ0S6awAM6nXXELHOkHXWCFpr3P4M+cxhQzbfwzm0wHwhjDGYoxGtUR8m2K97HjnCciHrWw2im0HlIFkBD97ZDYBljTHQc+gAW0gaGFiX3kv0iNXosds/VsD/+cgPceNtj0GAKEl9jOOOorwq1OkCCUnSIVmU3mnntqDmjefZY0qIV/Oc5zLGfQR3WnAdk4EvIYlu/EVmB3VPNiueAurnLHXKMLf689x5cZ8MsB8scvSUXlpcXobKZzJpSGdYa4+m60FzTjpEi1HAoEY5AhcBAqGdeSCfAhYLwEKRqZQTzzNQM5bPdZ4Bjnl60aRSoAzqVfmYWk/WA4NhYDKvALvm7lo0nbJ9C4LAh09dFIv5BJctyDfnKashenq6ea9BfVDIEpz5nBdJgs+WlmaC+aKbc2DbatOyi5YPHu/5bIDfujaNs7b7KFE/VGsh7W+Ssp7B2edfhg9/mZ2DxWtfdgLO3BHHJ97ehXSijB0bgLbmwJWRXl23bh0++tGP4vbbb3c0PxOXCu3CEr1j6ksLd7LS9JiJxiJtq8bumWjjqeqocQ6pXbUhYKlQ5SJOcqi0tWWsiBKBSlSmtYm/7vMc5vAd/tP9+Xg+NvMfeFiOYFdXF1q5DSRQNjo6SiFqiA0z/Brnww8/jL1792L//iGufnqRIdPL9MBUaVh8GgoJYWtL3gnVs8/O4rkXZKkgAcN/2zbE8bkblzE6WUGNyvbweBUrhYITzNNOSEAgiDJIOYwgfi3R86C+GGMgHspgi4cTXEFLeYdcYWqCY/XQgFjPopcGtEigxYo40VNYv34d9F1Ze3u7mzQxrsbOO2MQIZVUnF4RtZMmmNFWlqrSxChTuDQ5rDVcQVfonUk6ICQBCzjJ1LbKykiqbtWRyzWhq6sTJ5ywBevWD+I/bhrDh74+SqNEMIaA6+4YTKwVF177Bnzky3fhAx/+D9K2Xk3+zKA+FSnQSxT0zq4ufPjDH8YtBMRqRxOrRKVpDLlrnqwiS+Ot9PHxCXhe4ABPmV4o/cL1Ar0xqlMKphESXE3o+7JiYQWSF7X3ZG31J8/z0N3dTQNWIwgagn5CYn5xheO0gg3rBpDL5aC/6pHCdmNYL+au4pP+0jJDHmvlXKDXRTS4xNVLJpOCPGpJjoe8q0vLBadkZmYXaegXj8qvMeqogcdx7qBCz2VT9MQsYR1pCIIYPV7zblyhgyJfooEfG5/ECgF2jOM+Se+IeNZCD14+30TZpJZT3tUgmRBwlCwMUI4ky2pxNdndNMml8A8eGoa+m3nFS16ASy86jzLqse0aNBfmuR16+533Qj+zMUgvgfol2VW/i5TNFbrzMzQqGc4f8ctwfihEfFG+WRpk1eEHPhVuAho/ayzSBKvWkmb2jVkl4i6oTJXg56JT1+GPX3o2tq1vhQ7JqdpUv3T/8g+ewA0/mUCx6sNQtm/44eN41ydvwwGCtL2HpzDNPZ26XERgMvYeniGv1a/QjUGK7QdBDJ61XHUn8IH3/ys+//lP4ds3fR2emcfokftRrZbgeTEkElnnAQtiyu9BRlHfmcWCGs4/91T0DWzBww/uwdD+w1w8LaNWixhqKNPIaEFhYFlXEbVqgaCigpDeJHU2FKjh3Dc0tD4BWDKVAYvAkuBKeRlRuIQzn7UDZ5xxHh7cOYTHH93tviWssn72ClWWra5aT2O4QBLQqxUROQBTZV0KBFLMo374sQA+vVi+H0NkIqwsz0D/d+apJ5+FmfkaHnjwcc6DZRQpa+Kz6wfL1mqqp8o+lFh3DaI7Yts1gsqa60MIYz3EYnVeBbEM82lgwf6GiKifAuqa79+1lzSF9cCOhoyPOEg8WSfz8oHNwZXkJXTvzM+8tdWgv+otVyIslSJ84qYn8JEv/QT6o5kW6mocd6iMvsma4yIuQY+ZdIYWoAJK3fRQx+npZBNQUFHRskTPzizzCyTJc+Z5npKOBpIFeZKHuY2r8u3cRjPGIEX5r3JcDtCeqL/yihljjpZrPBS4EJmanqEMGXqzW+HT1jTSdBdP5heW3OIzJDPaqRuk0z3PwJDXNRptwlRQRNCcjpCOR9Cv8BfKcHWqLzXytcKy2snZuZ/gmEQrHnXOAjD1UzcG8BCpqlNZ9MwoGGPgBz4S8QDZTIreq2XccfeDGKQ+YRLkJRM9WHPI5mgOz87OUV6qBHMB+WuhZqwF5xNwx84yXvXX0/jyj3tx/y6s6rQANcqZdNoPbrmVNRp00gZ96pZ+es4m8JtvO4I/eVUa84tVLCzVcNLWZrzsZS/DE088gde+9rXM/+ufNfJW9klykCW4bIy9MRxf7trIdkvfyXb++q09WYPaa9SbphxpHjVSE1xgpNi29GaR9lN5lUZWAiJIQQkiXgm/bljGMh7ivwABTuU/PMUhomRERXSDYU+R7ZeK0n9Kqr7IKKizmoQSWE3iEo2+McZNvMCr4vqrmlCtaRoY14bm0P7hMk47IQ7KKYwxDrEHVDolrtwqNCjKWKDBknDGqQwkaFpxKF78U5vFYoEKcMWVVdsNZiuPgjHWCb1WIkoXzyuVCgU8gjEGMoSnbykpq1tlazLII6N+JQgIimzfJ7FaCavuFRpzxYke/QZcS3MzjWTS1TUzM8N6ASmAeRpR1b1AYzx04CCsm6nAnuECQniI6ME8+Zwr8bLXvMG1/Ysualt0S5DFo0Y/1m3YiD9765+ht6eHAGQW1SqNB8wx1Xmehf7oQ2XEz5bmvJvkc1zBFo4KaMQyCoAxxm0txGkcpqenHV/wFEcmkyH/MtBfTBn2z+fYLXHVmiUIFA+kvEXvUxSFjHkTt9wWCS5lvP5HHnYhn88hyclU5QpHgKS7uwsFjofGQPyQgiSpLMrMvHqeB62mj3CbQ8rceh7lb4lKKmQfqIQWF+EHPqy1UH3KLyUZiwUsrb43AiXl/6ftPQAjOaqt4VPdk2ckjXLa1ebsdVzndcY2GBvbOGBjbMAGTHzwgAeYD37gwcPknJMJxoHkDM4557x5V6ucNZJmpInd/zklzVq7XkdMa2q6p6vqVtWtG07d6hmRuKJRxhgoAmDMdBssuOOlPowzkii5F1g79OA1SBLYsTbkCGTUJSvPr98MPW+zeNF8e9+nxfZo8PWAfZ4LmHg8igBlTPfBZoyRnvi233I+hUIR6mOEYFn0XMe15VVWnfH5psQTijSI4tfqxU04ZM8WW0R0fQEMjslXYsEtBF3t/T7noZoRMKCOTlHyqt+6uunBTbjsxqdw12PtSE/mMO3UfdL2KN+kJhozSWPlJRYsWsw8D9If13VgjEFFRRypVAdX+HGMj/Ujkx5CyconMDU1homJQUatfYyMjmGYkcWR0RFIRjUWtSn++XSgPoGL7rHbfJVsO3YcHJPOjiN+ECCRr+mJYcp2iNuZeQKZHBa0taK6pgkb129FdmqKAMwjDZfJsOvkMwkbwzPv+H4JHp2wT7pg8jhHOmt8HBBcRsYcAr9gMER5yqKQy6CluQ4LFy/HWCaH0eExtlkkjRKLT9MsMvoluiTPFxvju+iqDXISvogrwZB+AGBfXMptOJxgnvoKOmDaC0wfAskey/M1fYPlAQMd05cz17wh+h7Ho+TrzEoFgTKSTU2WcNeTPXh63VbahhqrE6yy08vj+KWfkkHp9Ghq3OZLd+NcUJGc/Vx+01iky5NcQMnGSGbLebPPOeqw9E9lZEfV/TC3Z/P5IhdyvZSbhJWj2XXK19KXcS4kZRcS7EP5fvmsPuhRjbINlz0wxkGRcufQ8lJEykVnzgYuGRcPAxkCVO5eg4IBbZMrOvv89jR+f2Mn54K3d/Oa5vYLGfazfQNlDXBIO0jdDlF3E5VJPP74UzjowAOwvaOLlQwch73inICHMYbvQJhlpfNh+jzXZT7ngaxhnoH+eIH7nvKxdOkigqmNkM0JBg0XPNRV0pKfCNF2i9yyZUvw3LPPUSY921bJqUPXQAlBitryPd+Eb3zjG1a+8AYc0l3Ze5fyq/Z3R1J+Nczx5YkP1M/dlXmt9zTnoqdzlNFbY8yLSBhjuCiMWD6UyzrlUupQnChOHdI2pgS/nPdaziXGWZ7CU7iDfwJix+AYBPj3UjQEyhYtWkThLEK/Xaa2X6rsK90v0kmeffbZHOS0MxkaGuEqIGwdphyYnLWc58T4GL78wXosaA0gHPKRLxjQv8AYg9OPrcSH31GFZfPD3FZM2pVxKBjEE+vzCAcL0DZRSJLjU1kYIZMCj3Plo4iVVmElCp/ASUN9HUZGRl9CaVh2bupjAAAQAElEQVQZvm1PQHRgYMA6NwmP6sq53/JACqsWRegkpuigolZwc/lp4TbGYIJtCmhonmRMYgwna1JrGFKGoUNh2729/dC8sritL/Ag2voWo3WiNOQLFy7Ak+0FOBUL8cNL78GFn/wqlYGa8QrMFq/Vd/VZAp0liMoQ+ChNMrqyes+9cMWVf8HHPvZRbnVMMKUtRWNeEEyXit3U1GCjV2MEiXreQ4BIIf1+RhnFU1uJvJJBUlXl13MLdpBbFQJm6sd0mRfeZQxq6cw7uR2n+aqprUeaK+Tq6hosXbwQ+ndP/QPD1tG+UGv6KknA1drSSHksoJ99KNJoTudMvxtjrLNo5darHPn69RsQouH26Fx6ewcsCJcSspidX8Bw/mJobW2C+uvRkFVX12JgcAQ9ff2sG7aRizFufcuY19fVoOw0fLxwyAGNjKZQRWA5h9stxpgXMmeuMgTm7TSqGfL/yMMOwjvPPAWKGnh05BqH5GPjpq246tqbYIzB6pXLyFYfRQImOUeVAckqOhcMBMl1nx+NTSXKtaLF6kOeyiK6xjjI0YjFbVQqAI/ekC/bG8N38UH9bkhG8Yl3HoK3HLKId9mkKJNeiTxTeV93+XbVneuRy44g5KYYZaiD4xgCz1osmD8Xw+N56qiHh57txHf+dC8efb4bkwwfqI1yEm/L13L8Q4P9KNImFDmH0857jOCkhLqaCvK4BI+Rp0mCMIdyOD7ej+6Ox6GH6zdv2YZ77r6F6S+UGy0oiizrU15Elc6I/PQIyrwS9dGela/k2fZA3rqBEAHSJLZsuB3dnQ8jNdqB6mQQp572diBQjUcefoYAfNyOyee2lc9tOsl7kdEEnzLi8Tz9m2VTtCFarJXYfoGcYj/IK8mcS6fq+1nqq8uoWAoVcYMT33oM5s5biQ3rutDX00/6Odbz2H9DO1fg+EnCuCgVs+yr8vLM0/0iz0xs1/N9BBhlCnPh4TgBuI6LfG6S8xGirOZIALQrIbY5yW3cIUwQ+Hl2Ln3OLLPZP77stc668Am4NN8lzrs3kwqclyy9eoljf2RTCl/91W14cn035rY20zkHSOiFF7vE+c6io6uX5AxtfAQ9tG+hUIAAtMHKuSRrOk3Xky8bpJ555Gcbo8CS0+mcF94LlI8e6m2aOtNMWxSkbQ8EApSPCDq4iNLujaLMUdrXF2pNX8n2ycbLDjY21BK0xaczZr1rwa4IuABbVVUltMiYYgTepWxHwqHpklIWXhljJDo28SPCQS5KKgzIWgxnYH+a6BfXtePn17ZjbkME4ifZOlN+mveGFcVznXlp66o+WQCyWrdsqq1vRG1jC+dvBE0NdbjqqmtoF6c4x47NL9ImlEoeUowqTjH6J75W0PYIlIXoD4vkm+u6tiy7DQ4HDz7rYpQA2TgOFzvjWDw3zD6yhywgnsovaDfoCQLADRs2IUg6ixcvwkNbV2Ay6yMz5eHKK69Ea2sr5Sxrk/TZNvIa31RPPklgLMZIVJSg6OVIqH8VFRXQnGbox3R+ufIvlyc7O6GFNuVImMqY8my8uJYxxvoH8VJyNM39mXLGGCvoQpJingakgc1kv+KpE524hn+NaMSJ/KtE5SvWKReorq7GggULoE5pW0rKVM57pbMUTkyUkAh0dXR04Oyz3oF8fgq6T4vG8yQ8rmpHhofw8XNqcMDqGCREHDJiYYmwT6EATjy8Av+4Lc0tkrw1QsYYO0m5QgAJGrzgjMKqTy4ZPkqB1eRVc4tJypZKpUjXoSEssD0Kowq+RBJv1eemxgb7TNcYI1j1BHLi+9auEg7cI0ahzKG1qWaGluHKOmn747oOgUwFx1hAmFEzOckgBVwPHMsIhKnsop1kdERfANC9Xobjxav53D4rnztpdMYJhn7x55sBJ/gSPX3htuppjtRHCbGET7KyaxKwVvtvf/vpuO66a7Fq1QpuN/YSYGYtMWOMPetNfW1paYbjupBTaqVBDpDPvX2DGCColmFQOeO4tozmrYHAJcZxC1xK+MVLYwyMMSoKl7RaW1toJCvwLFdjGr/juHSCE9w+nIvFC+cRIKUwwWiSxmQrzbwZY6BoVjMN9CgjJanUBJ2XJzGyScU0942N9QQMNXS2o3YrIkpgMkVjO8Btx3y+YMuSFPukGoYRvgo65Qr09/UxiheHlFX0VUYAPpGI0dlMG1ZJpGppXoeGR7k6D2N+2xwqb1S3d0rSFf3vSRn+FcsW433vPgurVy1j+x5lxWNkpmid1w0338F+DmHfvfegLMeYV2LyrGzJ4YmoIg06g2w0xpCGb+dEwHaKhrkiEUeEfE8T4IZCQTrm8Eyf1WMlQA5d/A44Ps47cR+cd8JqRLha1hztSKxF8rapvuE0fviXRxBPVELbsCHO/XSegc6u40BzMYegVm3KiV91x/P43mX32/7voMlB6FpEWRNTdLIBghbZBEUoAoEgkslqO+8h6oq2oEMBoKfzSfT3Pouq6lbUNy5HsroN0VgVDMFIb/ezXFh1ochtK4+owuN2Hhi14ihhr0H+8T5g+Nkjb2JQmz1dT2DrpjvJHxd77bUXTnv7KQRKq/DEo+sxJKBP4ON7DuA7tBUlFOgAHeNCbRQLU2yPiaDJKxU4xiKkS3LAbiBMmmE60i3Y8PxN2LT+DnYnjeOPPQgHHXIUnnyyHZs3bkGKtqRIwOPRGxfs2YPh9meJ26q+l4Nsoc9x6FwqSlY5Do7RDQRJP0IwOUXwlme5PCbGhwm+xgCOs8R+godDXZIdiMnRGaMs3t35xdvglNAp+/BUl/1QnzTWqVwJ3HTAYBq46Ge34fo7n0YrF0LaOt+ZCgj6C+jl4iXLKFZNTZJjH8YEI1IN3PbTgtgYwyrTsscL8qvEOUvZMq2UGUWKdX92KnkeF9cp0hqF9LiSzlj5kWgMWnRspw+plu1k0v3ZSTI2RpspnZBt1eLPGPXhhVLikxZ00l3xqJnbdKrnsd1K6pBDmVZpZ1Y99Un3xLPps2/5BwY5bn6kB5fe1odTj5qHOfUx3vfJU04JC5MkPwOGOgUenHL7mZf2LCCme8EAYChyAcq+4TwP9vZgnHKS4cJm3333RlvbXJAi1McAfdvkZAZaAEtG7LxxIebSrma48CsSkIEtgofh0JWyuSwEgGQfCoUcNrTnbfsB6mCckcOFC+fbXxkQb1gNK1cupx2M4dZbbtdHnHjim9FK29/c3Exf0Q35swzBUZ6LPlvgVb6pvHyC6guMvcpqtpgCRKqjccinac5sxqt4E9/GubBW0crKSohXun41SfwWIOT0vLi4CCUSCcsQKd00819crnxnAhO4ln+DGMTb+deEpnLWazobY1BfXw9NSFdXF3p6eqxwvBQRMSvLyIwYJyaKmSorZhy4ZhU+eW4DmusdTE6OQb8oLue359Iw9D8fXY7cGAOHwgQewYCx326pqQriLzdPYvmCEEDDJbqjBFn1jMpMTjnc289hYnwIlVUVdttRq6d6goNQMATJp3inX6lX9ESAgE1Ah/paTuXPOquvnYzkxKIR9nOKK7MQQkGHRjGEw9fEoX49+sQ6OFRgzUWQiqI20nSIUzOKkSIozBMAyDGrD8FgAMmqKggkau70kL3+16ieDRgZHrEGS+BxCyMByhftEMPJOqtPu0vqu0BWhgoi4ZHwie9KuldO+pynAql8mU6Iq+1vfvPbuP3227lCrIWesVNfjTHgq1wMMSptM4HZ2NiE5UMzAZGeldK3Dqf0/AudmI0czNTQOFtYJp/LWQVWuzNZO07ileYhT/6sW78eck7ZbIHykMGCBW1Q1GdbexcENnZUmrkI0JC0tjYiWZXAICNyGfLbWhjml41KlA6phRGrmupqaLU8RoVMxBPW0I/TaAtM0mbCsI6SY1xGf2oRj4bp9ApYuGgB9KUBZu/0Ev1x8qHA/YoF8+aigvq4UwF+UJkhzmd7R7cFkO8553QcedjBzPGpNz7n2eM4J3D7XfdD/x1g+ZJFkKwW6RjVLyXNk09r7dOYy2myMoyhaad/U7lRypbmI0z5UB8mCcpc10E8FoXGU+aH6ikVaahL3No/fL+F+NgZ+6O5JoYcPW+Rq22fnkPtqRxYeyydw9V3bsBlN61HfX0DAWsCOowxMEZJn15IEW4rzJvbSvvQAPUhR0+TpjMRTSWV1Apesql+5BlR1n2fYEAOIcQxdHZ1E9xGyfuilcNksortOmwPvF+Nvt7n0cVI2cT4AGpq58EjaJkY10KCeiOAxO0+byYqVqI8FgoFC5YcN4AIV+LDw9ux/rmbuBU5jBUrluE97/4wDj38LGzePIDtW7dDzj6XK1q25QluSlwkegJdxSn4BHs+2+PM8doj3QLb9+BxfoLhKMFenAvWfjz/zA0YGdxIBzoHp55yBgH2/tjeOYEH7n8MExPjBNBFeBS6AueiWPTgc/wltlG036BUf/M77nksw6kGjItoPIF8fhKd7Q+xr/dj25b7IFtXKmkRVYKxxtK3jyFo8RikfvhsR2kqX0KBgE59tfRA8+nByqDHMZbYjxLnP1coIW+fFSvhl9c+i+//6U40ElhVcx5YZaeX5FPR8mEuSBIEMQJA0kOVbW6qp40I7lSeXcE4dw6kE7LLrdRL13F2KiO+KFrV3d2HOLfltfBS/6KcuwL7uGXLVguo6xhh36nizAc5agEtAUfZJ8nhdJbhyUDjn+AiT4tJYxz6iDoEaf9kOys5hlAwAGNUlsX5Eu942uk1ne2TFvDMtnF88ZINWL0giXcf34JE2MANBJAvOcwnp/kCD9XR+JVgddlnGXBOQB8CUGW1cWL9nfSiZ3sHnnl+PR574hmMjIxAdrtIWTDGUFa3UNbC5E+celKg7YlzHku230HOeYQLsgLB2USmhKm8j7EJj/QN3nuSi1hgnDKaxpnHVVDGfDtHefqDCQLo8m9kFmgfltAW6TlrPevtUS7WrNkXafq0SdrY4eFhPPbYo9Dz4C4BoDEG8n0l6guH+pIv5Y/T/hpjIL+qui9Z+GUyjDGIUR7CtDcZ+jv1f3fzVCahvEku/uwcE4jJzpTzXuvZebkKGpBQmyZqgiE4MW52+RxyeJB/t+JWnMC/fbHv7OzXfe1QiRQt0zNGmzZtYnQr8yJa5T5p8AKPxpidynzgw/+Db/yuD6lxDwu5Nam+n35sAh89K4n/+V4f/nxDCtmcZ4WMerOjbijgY+0+YXz0HTU4+ehqK1By1h6NWpZRstSEQ+FzrOBlMmmu/jyrGD4pZLmCk+Dp930EyniLL0PBpGLQcKsPmjyPBlaKo2tjDObOnYNehs2NMZbWHivmUQAzeM8XO23dyngA1ckkHMclUAvTUBcJ2oJW6FRAzy6EQvxcUcn+huCTfv/AIEHBiB2f6zqYbs+Dfu5BUaWe3l5LK0lDqOiMwM16AhbxFbscEkgJum4bY6zySgAzFFYlXSvJWHlULpXbXRKQ+/VvfosffP+7FgDJ0HrsqzE7z109Q+jJ6iTGHm0t4wAAEABJREFUadiqCXTmcNU0TKPRwe2KXF7bNqLu643jA1dxCSjsLmPd3r7dGg/sckhG5s6dCzs//f0ce4RbEj0oEZycdfpbbai9u7uPvC3tUhMIMdrY1tZCO+ehn9GvXC6PHkYbZxdMJGJo5TZmgI5ZeTKaSc5ZL7dVJmlkNE6V11CNMXYumxlhy1Cveri1NG/+PGiLSDKRSU9CjkVATat37HKojLart7Z3Ik9+nHX6STjt5DfTgMZYUoacxphGr48ycM31t6CxoR4LCT41t3JyHudISXRsogH3lTQXpCDHmSbv7XN4xkGyqhJ5ym+WwFfjNDAsNevFqRBdjXNuYxX++5xDcNCqRlvAZwSJNhxFArJckbrCsnJ89z/diZ//43FM+RE00bnawq/yLUFjOY/Rwkpuoaj/aldnVde4CuQJm0EoFJmRe/aCYybbkaS8GwKLNI2/xiLAOU5nUaKxX7G8Gfqfok0tK1Fd24bRkQ4kKhuguRzofRrZbAoeI0wlRpQ8ASduNUaiMYSZpjIjeO6p6xj9WgfJ6xmnnYUjjzoPW9sn8eADj1K/+5GnrPlwaDN8CCz5tClFAjyx0xdosUAvx/wiBKDADN84iETjjHJOYdvWe9DT8RgkE4cccije9rb3YyJXjY2bOqD/FFAolDhPJXCoKLItj/REv8Q2dO0R8Hn2Jy08lKzz9eFxKsORGBzXWCC6fdsDbDVH0NvIiGUU2clRfvbIxwLKz9tJj5WCoRDvi9NAOOSAbEWW4LtEY1MiP4sErJKlouaefcvSebNb+MNNG/Cln9+CCQJygTHscniUQ81JV08vIpEQiqSlqHOUi1ZFNQWkdqnCyEwBsnkC3ookByR0M4XUQ6UcgUFnVw+MMdCXeBzHRZhONxAMYysXp5O0Z9IVLXqxy1FiHwTECgQizVwEqp76qWIkpxPlI8tI3gCkmypTRb3JcSEZ4xi04LaFQIZPX+zgHVXP3nFIyCfv9GEglcf5334SG7sn8YGTFnAB51J+OArKTIHj0PCG0z6I7cFq07RIWtceJzVfNAi6sKlM3+eF8tO0L7fddR8XsX2sa2g34vZLcE899QyB0BMEpAG4BEKa4zDBl3iv8fpsm1NDkFZENe3zI89N4qkNBZz26SFc8JURbNxeRM8QW2E3L/vXBILBIPLURdVVuyEC03nz2ii/DRA/5YdkjzVXk1OTeOjBR2j3JrgwiuCaq/+BffbZBz/96U8tHdnvPMed4Rz5MzwSn5Q8z4Puy/8IiKld3f93k3igdh3ikXQ6bfs8m6b6oT4pTwAuHo/Pzn5d186rqRWJRCBgJgSYZURK4GQLtuBK/q3BGpzKvwACr4bUayoTCoWwbNkyCwAEzDR4MV/gQMwQ88Ws3RE1xqCmpgYZ7k3rF+8j4QCa6yNoaQB+/oVaHLg6jI9/qxeX/TNF4+hTAKepSOA+fGYN7ntyArc/Mo6QMwVjDAoUrDX77IU1++2NEkLI5T34xQk7SepDmkZ9dDRlhRlUjGFutUEXAMHHFIW/B53cHizROPkSbAqRVgz6uQyX2tVC0BGno5GgjhBEVlVVob42jHt+P49bqWyLdWSMcgQDiUScRruE+fNa4FE4M0TnruNgiCuLLEEhm7SGJhgMQPxKkpbPciVaQ4EWXnLlVs85TbBciNtYA+xjFnvuuactL/6qnvqilbDOUk4J/CTbKicpga4lFyqjdl9NWr3n3rj++hvwrnPOhgCL6qt/4qMxBsYYBKjM4kmAY9A/oG1sZKQqWUmjO4QebmXK0O/aVkNdtY0+befqTxFBjWHXMtUEeOLttvZ2+/tddYx8Xvuvh6B/Rr5k8XzOUx/6SH/XusYYylOS5ZqswRUPOxjZlBMoj91xXUZ6ajGHK/Mp8mnjpi1IzGyF6NtbBYIa1VOfSM6OU4ZaIKCDfR4ZGeXKTHProZGgVAaBKJDGlu80cqqnZyC3bOuw2y0HH7gvLnj3O+yYlafkUYDVnxtvuRs33nIX1uy7J8RXOWjJnke5E6/LqfyZthqSpRzlfJgRiTz7qoePg5yHNMGLtirD1EeVU1eU1J7oTE5NoSIawEfOPBhnHr0MhP/w2Q/RhgbMFHAMXKaOvhS+/af7sak3C21P4nUeruNYHi2cPxeu60CGfZLAl5wCGYsiAQcMP7Ft9bGcxBtjDPRFnDxBQpE6oQWNy7lbsWI1znv3+3Huu05FKJBFIBDCUP9muDyHwjEa/WHSzVP3qI8kHgwFQXZiIkXd7njYzv3BBx2Md77rkxgZj+Pxx55hZHUYBYKUYtEnKwzyBMo+tyl91vcYtQI8bg0WyVaevTzLFsg/3mW/Zf+CgQC2b3sQWzbeAcfkrI6+7aR3Y8WqY7FhYzf6uYjQl4hKNjpVsvbI6gbboKlh/wrwCCIFxkoESJ4Ffh55BI4rjHA4QuC5HZvW34rs1BCaubVWw+iQ47hgh5HPpzE1OYKR4W10jL4de5iOVTxTvo/ZhyHfOEZGyzLZInnl0bZ60PYkO49Ng0V85oc3YmB4Am1zW0gvMLuyyCFL0N/V3ctxeJAj7+FCVXLU2tKI2prkTuX1QXkqUyJgUiQ5EY/ptk3qm5LKdHExp0ivwLL46nK+o7E4F2Xd0E5MPaN0EYIPW3HWm+qOjY1zwTYGLZAqKhKzci2LyKMCBFpGU+NcHFbQtjYQbE4SDDlIMAq3UwV+8Dm3stljjOZQDGCMejlNa2KqiK/8cRP+/HAIIc6NxyyKK4p2fn1kCWphWJaCV5swoAhjJKN5MaCLYD4boDSFgzyzLkvyQi+f1ViRU68x6Y6SrmV3wuGQBVk1NdXWXqTTGWUzGchG8oIvA9lq6Y6CFIlEjGBumt+bOkq490m2xrG1zWllWXAOSzz7qE5WMSWtbOc5v520mxs3bub8B9Hc3IQ5LP/8c+sJxKII0N7vt2Y/3Hzr7TDG4P777sKFF34ADz74oM0X8FEf5IvER50naWsFhpTHBt/wl3xfBe247HeawEztFmlfFKSSHCnvjWrUeS2ENOhUKIWfjv8UTs7BefwLIPBaSLyustrGXLx4MfTQ//bt2ykEcTuZr0RMoc+//vWvSCaTXO0lceMj1TjtU6P4170lCJj9+kt1OHSvMD7yf7249PoUBcan8fKRrHTxl1sy6KcBGc8UsP/++1pD9OAjj1MxSli2dDGGxw2a61wUadAl1HrgvoXbbRJoj1okZRvoH4BPLfEppJq0utpaDAz0857PegUrjMPcclL+1q3tcFwHAYIzTXoqlUJDXR2eWF/Edz6ZhF8ap7HK234kKeBhruw++45+uHRyrutQ4CtRW1sNqgQM70W4KssRvIm2tkkqKxP2vvpQQ8Om+wOMoPT3D9o2DzroINYFZKzUVwGaoaEhy+c8VyYS+gxXJ7OTFENCaiu+jrdzz3sPbr31VqxYvsKC1Tz7q767rsthePDJx2g0ira2Niq3R8NXpCFvtf3tpIEdGR2DxjG76SD5N7e1iYYwRnlppwHJzs621w6deUtLC+UohtrGQ7F0+dGIVOyN7d1prD1kDWpplNq5jTnO7Y9d6Rtj0FBfY+nojVNrf/fNo/dToi2E47qc20ZLZ2hoGDLWSYLJNIFNH2XCozFVPdUvJzkSzfeoQFk8xm2O0DRdliUz4NGRdtJR6TfmBOA+cP47sf9+ewK0sdhx+JYfDz36JJq4iq+pTlLOiuRdifU9mzQeAa/ZZ9sXH8wvWWBTWVlB3sShlbT4GY0y0sQ2VIfFeDX9klzkuS14zgn74H0n74OKiGvbVzmQEWTVdEFeZLhN/OurHsPNj/ZgAUGU5Gw6899711y2zWmxEY8SnbIWJDqLfoyRq7332Z9AatL2S3xXazorhWeckKIx4v8vf/kD/P73v8I3Lv7/8PbTzkAmPQhDWRka2IxQMI7JzBDlaRQRLlBDoQgCTgDBgKIAGc53MyNW78UyAiX9S6XBgSEu2grkqYExIRQYVVPyOZ8lAqNiIQvfU34RPgGTImIl2hL1z7hBAvMKylGA25//Qi47iqXc4nn7qefiwLXvwIZNQ3jiiXVcgI0CxrU2oSiaHL9jAvAZGSt5op8n2CvBZzRPkTIaEZYtsc/sN0GVHtTfuO4WDPavJ4ioY2pAgAA8S6epZ4sEcqemUqSRphyRDvVRfNL8UtJI1+c0M2H60H2v5EO/uB8KGIzTdmYJznpSJXzq+zfiT1ffC8mu+D5dY/pd8qfIU09fP4FMBpVVFRzbCDLUlwYuTPTA/HTJF97V1tjYBIaHUxAor62hjWS2erMjkbDK9DBKrYhYkjrIW3aRNDIyxqjQVupokrazijVf/JrkQmNgcAhJ2tv6utoXFVAfBqnf/ZzrUDAAgT2yiDzxkKS9lWzuWilHW6o6SxcvwEknvAnPbB2nbPiUE+BPt3Tha38ZxFtOOw+HHbYWH/rwB3DDA/20+wI2JMuBGTNN0Z/Rr1gYqIwAgxOwwExAzFEZDVRnGJZkRVXjZ/W5RDlRIEC3lPQMnOs4tK95fYQCCwLcOqt8uU1rl1lCviAcyHKrMwVjDAKBAPvvQfwK8rqnr4+lYO2OujHIXYUh+jnxcZqewRzqbDNtVA+joGmCvwDttvq1dMkSPPLwo0iPTyBCgDzFAMMf//hHnHDCCRgYGLDtCXiJTnd3t5VBRbFsg//hN+m92pZvFA8UECrz5I1q+lUDsgIK+Af/+pw+fKzqY5gXnMfw4rhlyBvVmZeik2VULk1kqmjZnDlzsGnTJjs5mpSXqlO+f/rpp1PARiEmbty4EQODI+gtnYBTPzlqgVljHfCbL9fgyP2i+OD/9eBP16XwyW/3o2/Io/Nvo7I4ePrp5zDOVRJlD+3tHVYAJQRancho6GvYJTpkCZeMmIQrTMBkqBl9NDJhGv4MhS7Cc46gQ30zxkCT2tzcQKMyirlz59jP+tkK0Q7SMNYkQJCYQ3O9g9t/2cwPQ8iQDw7rrpg3raT//Nl8JGIGTqnXKogMmyJtVVWV0KF+yZikGab2aS1kDEZGUlaBZDBqCD4EtBUaVnnxWhGyqqoquyIZIihTlEx9VcoQlOksZ/xq+C+aL5c0zq9f/A1cc9U/CAaD6KfxFMiTIhtjrAKqfoJRwSau3kdGU5b/c7nCniBPtY05RuCkMrNTwHXQNqeZTjTNOdtOPhZ2K6s7xsDtp+UrDkffSBLDqTSOOfpQG4XasrWDdYuzSdtrY4w9+3SwuugjuNUWi65pAaEUJ7BqYz8VBVPUbZQraBmlgaER6JlGta1x2jp8cxwDzVWyIoGuzh60cOXY2z+EQRoz/UZbntGrD1xwNk44/iiWpkmmnZ1dnzftK8V2auhEPPatvGDQtdrzWEF9tmddK1EuSAqGf9oGlAyDC4l4LArV4RvHoxIkb8t7kBwcss9CfOKsg9BSO13OI2hUOyxMSoAxBhrTkxv78OtrnkIiWYuyQ8cbfMQJ3BdxW7ahYdpx5un4nnrqMTz80JfGs7wAABAASURBVH1saZpXvLByrz6Wk5yAdSgc1+lnvIsLg21I0nH/6IcXo6mxAY0NNZDRLTKa5RgHE+O9ILsIOhxuIU0hkxnEfvvugyOOPgubNvfhiceeRj8ddMn+nI6DAusVCL7cQBSWj0bAWIuEEtSHEoGaT74VaT8UEYlGY+ymgeM45J+PYDCKw9YejTcd+16MT0bxyENPEihnrPM0BHolAiDPc0jLwLdALMfrIgFUHj6BmM94vvTJcQK8T3oEYiXfQ4Cgb9uWe5BIxCC9ikSirFPEOKM2WhRMTmVREY+zjkfH6qGKEQLHYRvk0w6ZAAgW8ggFXVumxDGIdoHRwDyjgi6d7E/+/gR+dOntmMOosX7bi1V2vEjK0h8kqFGS7El2B+nABbBaaBsFdHZUmLlQ33oZxVbESvpFRkndZnKnT1k68k7qUCwW4RzWs38lRBkRKxD0rl+/kfyd1rXp0ju/S3YE4nxOdDNtzuxcijQ/+pCOaHHkccwtzY1wCUTkCyoTMQRcl/QdlnvhVaIu6nm4mpoqnHfO27HPXquo6zVYe/SJ6BkzmMgatI9EsPawQ1nX5dx55I2Pw/j5F9du0xCZDAIEuqIqXdU8yAeRNJqTQDIODE3409uYnCsSYR0wqbQBhwPwvsNBFEsl2rWCzVOEzBjDxYbkElwMRGEcgzou8EsE+qRgy0lPQqEg5aSE+a0B9sWl/E/ycxHJyijOPC5JeYqTbpG2PAQFCEpsR4BPUbYc/Th4JGmburh1LJ5E6CcHCXpbuUDWM88KuNTQJ82hP1y5cgUeffRxaC4ll8PDg+zjlJVR9WXOnDlWNxWp8sQE0v5PvmTzFIRoaGhAnLqhPilC90a2ubPUvATlu3E3ruHf2/F27M0/8JDBEEKU8KpjEg7efkNfmsxUKkWkHOH2WoWlHSRQWb58ObT1VN7GtBmv8i3GbcHf/e53SGeyWHPCz/HWjw7g+nuA6ioP3/9UNS69YQyEQFi9eiU6urqssGmM+6/Zh/0IE9ANQaDKdVxs7ihQ+ArwKOnBYABVVZXWUGqLsJpCF6bwpgkaurq60USlHaChaWuby54aClKAtEv2mQNFIDTRpx8dpJAHKXSTlu6eS6J4fmseTTUG85qBW39Rj6CTRl1iBF/8QBM+fHE3/nBtCvsuj+BnF1Xhm5+ogQ61qciXrie5ykylxqyREJiRwxdflaekvGXLlmPVqlVIkde6FwgE2Icpm4wxVIgsBrg60TxLAL03UPjVF30rNhJL4LLLrsDPfvpT9Ok/DQyPkq8e2DyTUbfsWcpQX1+PoaFRGrRaLGPkYJTj207jK2OLXY7Kijhaadj7+/u5PdpHG+XvVEL0hwe3oK/7btQkhzE28iSNSRLtXUHKWBU+eME7sb2jm466d0c9OZLyhwDnXdcBOh+dd+INm1LZJGVBDsmloe5ilEv8jRPsdNAoCdyqjOoqqT/GOJCjyWenLO/3238NeeHjjDPejl/99nL2p4sORgbb43iYVHFWkjyluIAQXY9v6pM965oOxKO8epzD6eSTBhNdmox0nqCvIhGHMYZ3sCOVyQsEJ7gs/++zD8GaJbXQk8JySkWG8EukyyGT3nQ98BCI2dI1CpcyJSenfshWTCcWeINflYkEIyZt1jF0d3VAdipMo6/2PPWPPOCLfeSYeaH75aStP41FUZWqykqIh+NcqTdzJe97w0inh5DLphEIBOmQB7Fx3a3oaH8EN9/8d9z0r3/g3nsup55sgSJdeW75lnbwush7k+RliTqf44h9SO5LBFCGFphSDgExH4Z8ClL+gmxrFMnKAD584edRVbsHI2LPoXN7L9hxvaBD24mlUp40p0gvB48AzKMD9Rh5KxLoCeyV+LnEuXZdBwGCsSD7LsCQTg/DcVw6XwFAcDwT3MIfo7ObQIygMBaNsL8+qioraKtc0vZQ5h87gSLHlstl8YULDsf/fvAYSPd0L5v3WN7gkpu22n95ZIyLua3NMGZahzFz+OS9tu22be/i2KPg1KCP0Xq1O4cRbsnwTNEdp3yhyKhxPwFgEAsJvn3mKPG041UiAGgnzZJXQivpqB3NfzgSxebNW5GemIDmMxwO7ahTvlDZ3r4BKNKjPiSoBzZv5k1DKBLQdXGbeIxyoehdFXV7cipnFxplmqLjkefGGDvuFMvmuUA47ZQ3Q1+6kS4EqA9xLtgq6TM++P534ZMfvwBnnXkSF6bXcgu1286Nml2z/37Il1yMZYpwRI83yTrmGzDojBABWpCbVNIrxwB1Fca22TcGlLjI5CSyBqBLGJDPPgwLRhh9EtBRpuzTAEGR/JcxBmHqi6Jj0/msxEIp2tixsTEY48BxHGzeXsS8Jo9zF2EukOW8L18QsFu7xhjUVFfbAIExxt4T6MpMTkELUdEOhUKMvHJhwM4LuA1y4a+tzAT1t7e3jzrmMhDyLGmMWvoHH7Q/9tlnP+p1wgZXAuSfMoLEA6qTJdhLM1ihe290yjFiLNAXJwhTEn2XtrySNkJn8UXzrfv/bnJejkAXuvBH/h2KQ3E6/3ZXVpOnjglQKO2uzGu9J4HWIKVcyWRyt9U1EUuXLsU4V3R6GF1ld1vwZW6ec8451rD85qopnHXRBM77Upr75QQ1FKIoFVgrJFVPxIJ44KFH4boBayw1QZnJSbxlbRwSZilugcZCk6NnEQwFHpTjPJ1blCt3GeaOji6EaAQ0NtFkE2yrFk1NTRTqKCTwdz1eQDE3SqM+BAl9Y23JArLaKldV0FRrcNsvaqC65391Ar1DDi775yg6Rxtw2Hs78bkfDOFtR8Vw5cUOFrb6tk6RBnnP1aswRYGV0Gh7RhmDgzLIDg15CX//+99RpEOVkkiwM4yCzU66p/6ozDSAmKYtOv9O0m/8DA8PQ1uSUirRWsbtyzvuvBPnnnsOOjo67ApM99W+xq1rYwyNbQvC3DraSCM7f14bBDS1Yu3uHVCRFyU9PJysqoCe1VK0tDwPB6yZjz//+Zv43a9+iHe/40T85LtfwsVfvhBbNt+L1raj8NdrH8DC+XNxyEH7MgLSjs1btmPuvKXY9TCGE86bKcrj0MgInebOPHJcF02N9TZSME4DrW9GRth/GZaOrm4U6UhkaEnCzq8xBmE6UEV9nn7iSUi26upqcMEF70asohqX/+VaC9bkbDWvPtgeu2CMweFrD6BeTJBmEewIX8wlcYENj9ERW54eUPItPjDXlmNVWICpC3WEdXRSmmTERPL8odMPwLvevBLGURWf8sNE50NyKsa27GnmzVinwJ4R3CbtllgvIxujNO5qF+zz9Hmm+Bt0cqh/zeT1wvltEH/TXBRJZ6fb4zvHpXbLiXdsywU6TWMMpNNTjLBo4SW5HGQER8BSwCIeC2LblvsxOLABsXgNxEuH0aaR4XZLY3S0i4usdeR9jqOzTCJPPPgESZ7mmEChWMzbJn16SdcNIch5dp0g+xrE1OQYpjJDeMtxh2Px0r3w7PpOArFOZHNF0gPbA/LU1SKBgafnxBiB8wjsbNK1X4CAGEuCrVraiUQFAkG2QyeWzowx2j+A7OS4lak0ndg4ZVb2VjqWoNMBWyrzxuPETl9reD4834fswVsOXoCLP3ocKmIhlEo+JnMlFvAxVozgE9/9J4ZHR7Fg3hzbBjN2vFidvClB8u9RbmJcmPRxG19RvNaWRvuc5o7CMxce+9BHsJbn7sLCBfPolOMzOTufugmUFP1vY1RawNN1XG5/VtOOdHFB1YVGbn/GCYJ2rjX9aZQyqcdHBNaqk9z+9Kfv650ioRMExHoJ2CoJUpsI0qcIxIJciMUZhbMFdnkTsFPk/OgjDsEZbz8R+qJXgOWj0QijdTFINh0SVzLGIBR08bEPnYe77ribuh9ivktb4OC000/FH2/czmsfrmPgOA5K5EkkCPAj7/Me6ztM4BFwfTRWcJ7yPkYneYNMN/bkw/APNgElypHGnOLY67gla4yBDmOM9U3BUAhBAh5jjG1TgE0gVHOmHxEfyVTCmOk6WepLasJDKEDpYXvxeAQ6JDt1tFuqp/5VEHBpHlzXUTYUaezhAjxCEOhRHlzHMPoUw7Zt26HPEQLHPfZYiSeefAbS4WSyEn/5y19s3fKbMQYxBlrilF3Jc556XM77d85F8qesFxUVFbslFQgEUMXdJPVNoG23hV7DzWmu7FJhDGO4hH8OHJzLPxfuLiVe/FEMCZOpUu5/hyFiaJbgQYMMUSBe3NLOd+rq6qCtzH5GQLq5p7xz7st/koFcTbAixsv46vmqGAGU2n/s8SfRyC0LUfjmx+sRZ1RAipgnyOrq7rEC+8hzXO2Wxon0S1x1NSLC8RtjYAwTjAVBcRoAfoQA4yBXIRI0Cel0ApTXy330PIVofCqM+qQL5Ulx91waQ44rj2SFg/LRUOPgT1+rwrx6tksBrqqqpPB2sA6wcNFi3PKghyPO78O6rQWIfwKKTzz1DHSIbmVlQpc27bfffowa9UKAWgI1SZBZTgJk5WsZS1WQ8EVn+PPvgG8JuULTDQz9Kon27OTQ4LzrXefhlltuxUEHHkiD2mn5BxhrGIwx0CF5W7hwgV2dK3IzZ2YlLmOfGptQkZ1SkMawlWXCoSBB1hz87e+X4/RTD0H3lueQy6QsH5LVNVi2fCmu/8fv0NV+F9rmH4h4cj888fR2vOmoQ8lnH/fcfTvD8fWWdpaGyF7MvDUTCNTTAPXRyYxyRTlze8fJcV20NjehtqbagqYeGvjGxkYIKPdye1tzRHtmy08PkwCBcyxn9ec/X4Grr74Won/KqW/DE89uxBUzwKxIZ+/RSJNFCLCNow4/2NLY3tlt++xRVpRKjGyUeK3kCZz5Hg2fD5+lPdVn4z7z1Q9D4yi51FbMmcftjY+csQbxSEBNMKmGD/XR4ZuSMYafDSkZeAQbuaLHzz5WL+L4CEKNMdA3BLU1p8jIGKMVamc6sdob/JIctXHbWltKGodAjc50GeQJ3/3pBsUTOfuprPVe8Dj+MB1BdU0SclaybSop5xqJhKDIlVfKcGwO5i86GG3z1mDhksNQ37gMGUaeAm4Yeu6skB+n3BKY+SXy1+d1nrRLPHsI0NFF6UQCwRCdbIB6nmX0ZhgH7r8Sh6w9Eps2DeD55zYyQjDCOuKnx7NDMMNOc45KpRxKxSneK9H+FFBipExATKnARZjLxWMkEoPHssY4dOBFjI+PIJ+bQKnIPqEIYwwmGbUoEdwJiLmOY/vJKrP4w/Z0lzezBERtDQl8/aPH4sBVc8kSw377KFCmMsUQvvjLu/CjP9yKeXNbrS1kgR0vVidNH520nSOjY6jV87RcFE7S5mhrrLGxzvZnRwVeSC5S3H4fHhlFG2nKsbPLzNn5pTKKiunxDzlsz/NRmeTcUb42bNjIxUAVIzbJnSvNfJqir5GuarvULqZ304D+VVoXI9thLqjVD41FUl5ZEYdkbIbUjlORuthDvT587YF433vOYt9bON8uXMflJk04AAAQAElEQVTYxXeIfs11AIGSYNBFIOBQZx1rr6ton/fdeyWm8jl+DjPPxbx584BADH0jefIaFFzqFU/ll8ara82U5tvhGHQdDxtURX2kpgxSkyph+KYcQGVUljcg3zTERYciV/qsZIyxYxun3vbTluVslCgNj7pRSXCSJd+MMXZOwaOiIoGuAQ+5gsdPoM3ebs/yf2GOd4Db+AUCHLXZJ3BNP6r5dSRzZGiE+ib/wksrk+LNnNYWC3YUzJC/Wbx4ISq4uPjud79rae/6ZowhWE/Yfo/R9mpcu5Z5NZ/VL4Er1a+qqrKg9JXqyS8mCDaFX8SrVyr/UvnO7IwilfQqXIUu/gmItaAFhn+zy7zctZhbWVlpGaIBafJervzsPDFcg4kT5Wpws/Ne6doYAz2kLXCm/2M5xPDnK9Xp7OyEHrB06byklI10pHJLxhiClH4sWbSQkapBXPfzE/DTv4zhnW8JIWL6KSCVkIOSAfdNJeqrHUxy1SklNA65xfrG6AwK77Tw5yl8ca4E53G7MkBQoMhQJyNm+nc6eu5M2xvGGLtayJlGzGPEp0QjFwlRmcZLiFKxwOPWh3NYcnIfDn3PAI47OAIByUqu1hRp0TgUDjYUcM3DAQessdueBxLQFOz2SQn9BK2PPPIYQ8FP45FHHsF1110HY9TuBI31uE2aA4ExzYcES8LJpne8jDHWqIQJPlUuTyC5I/MVLkRPX8zQ/M6jkVGfX66KZOGiz/8//OmPv8dYKsV56bMGgF2AxmiMsdWj0Qj0bZ0MnYvuzyXo0pZCB7cxBdRUSHzhYJGsqsRvf/dLXPT/PotUXyfGh3qhdqoYYo9ToYLBAMJ0ZAGev/yFj9ltqWIxy7kZxn0PPceyMRstGxoaIDlDgxmAjuwsYBais53P6EB1spJbLH2MKORYRLKgxEt2W/LQNqcFcTrlzs4u0k+jmiBNxn+CEUrxXcZpeogGitDUMT8Ri+OSSy7Fww8/hn332QsnnnQi/nnzXXjgwcetYVU9kL7rOjjrtJNw3DGHQd/K3MIVp353qH9gkHJZIh89nqeTT2DGG/w80z9Qdtn4xEQGB66ej/efugZN1SGSpYbwvvTa5xnsnDGGJwO+8aUzkCMQE+ALUB9ov7FsXh2O2bcV2roXn2R829rmsHwA2raVoRa96YQ35FD3AJ888ewzmlEafAMHDY0ruR2Y4VinHccUI38CoNLBQCBINviQ09AYPTr2CjofYwzGxtPQYk3jGeN2cJ46vXJZKxYviNGBjEJHLFaNuW37YHBwA/QgvsCZx8hYiZGrIrcQpYduIIQ4nQqDSjBc6HqMbqUnBrFiWSO3pE/FVCFCmdvGbZ5R+/iDT2BbIGBSe4XiJPtX4pjyMMbh8HwYxsH4xvscD9nvc4wBtuGzz8YYaBGi31QbG+1FIT8Bn+0BJSj5nPcA7ZFkHSzr+z5pMsu+eE3+6TJP+0Eciv93/uG44OR9YfTH8gXOM1EFfnXts/jmr/+FutoaLhaqYYxRNZssSb4JVPXTKauM7IZsUUVFAoo0Cfxil0Pz0tc/ZCNm+ga0Q7u2SxGrV1u3ddAJxzGntYn2sIRINIYibeeG9RuhLy821Ndid3U1F/0EBhqzomLiA/BCv8FjnGBEUfci+S9QHwyGKAcTBAWx3dL0KBzS3xht/fnnnWH7FKQtCIWC3NKMo4KypGF4BGzBYAAhpgBvBANB2hEXug7Trh5GIPfXK/6CMIFMkPU9RlUPP/wwXHFbJyJBw54p8cSX+m+MsTKr6bI55Lc9M9+lDiajQCIMDHONeu+zY5Sfkv3yBLN3vARGfcqDz7rynwO0E4qe5Wfse4j9cOkr04w2Fy3gp/ztqE2dJ1hPRB385v+rtXd//LkmfPUjdfjShZWWqw7HOT2eAIFmiD4kQh4aqL2WliYMj6QoqwGMjKagnYSG+nqrAynafclwPedRetdBW6ldFdvIS7wFAgH66SpLO80I8EsU2+1tyaYWCQJXmovdFnqJm8YYymKCcxmAAGGZdy9RfKfb44xSr1+/nto7c/sO3IF/8e94HI9V/Atg2tHMZL+mkxiiAUnoBczE9JciUCRqVmdCFD7VMaYsSi9V46Xvi4GLFi2yTBEwE2PxEsUVlZCAaQU1j85hkKu1AoVPhuOIw9daYTlgdT2SFWF86SOHYP22EqoSLrxihoqVwMDgINRe70iUDieAIa4wNBbXceDRIPRR2fU5QkcwhwChujoJGeUS82RskskqVFZVIBwKI8yVVxWBgrpKfYAxBlLuihjQVOfys3KAL/0mgiupqF/5yv/hZ3/zURUHJmg01IZNpFOgo6ioSMCbUa6NGzfQZrp4y1veYs8lGoNqgg+NX8Iq3kt4dC1+KWW5+lG56VZ3/y4FE5DRWUKsse6+5PRdRcQEyObPn28Vcvruq3tfuGgJrr/hn/jaV79iQeUoV9iSKWMM58khf4wdm1bdAmYDQyOYM6cVbVxVpxgp6xsYhiKgHQRoz9NQn3POe/HD7/6AfHc5B5qHJII0jiFuU8tR9vd2Y5jzW1NdibeftBb223Zsa27bfpjiNkX/cAxLF8/Hm489HJLx009/J5YuW4k4o6GYdYQp0/PbWu1c6KF+RSuBaUfn82yMQbIqwYhZI8fhopurcOO4cB0H7QTsea6SJQ8iyaI8GSq7g5bmBqRGR3DZZX9FlivXN7/5eLTNX4Ar/nY91q3fzGiIxzbZDj1SFQH7WaefhH33WgWXBrXI+fcJNCRfOitNywpg77HBDKMWcUbCLjh5P+y7pBaxsEvZ9VEUc9gLvYwxOk0nXjtMBdItFH0EXOUZ9sNn8izdeCTIqEkAeQLXATpmwHCbIYKWlmYa4XFu8/VbAwryRXPLbuD1HKqn+hqTvgzRw6hjFfUsRuC7aOmRnMsRbhfVIBypJZCahDHG9lE2a5rfnJlpIrY/4okxxhp4FrYOOcoosTGG3fNx4vGH4IPnn4CG+oB6jlA4wejPfM7LBMZSnbQFJaikGwiyzTiME2A9F1GC/szkCGqTDnXzWJaL4757H4d+PDbLeS/QLnrkZ5H2ghVgjMv+GBRtVKyIAs9FRsWKdI6FQp5yWIQxAQToOCN06gFGyCYzKfahD7lsBj7L8Q36BuToSAfvd3BeSpBMiF8+wQQJqCkmyg7f1bZ4ct4Je+GT5xyKSCiAImUgxyiIcQzueT6F/+9nN5N/wDzKuUO5ZTX7mmEhHX8a0jvpV5FjEcARABEIqkiQH0bcsVXIP9hxCIiJlhY18gvTuS+8q7+KiClqpXwBnBDHbCOvXHjIpgmIhULBFyrNXKmuQFOGi7dGRuUS1FljXuiDiuVpQ/W84/hEGrU1Seghcy3sKhIxAqsY2bRzedVJEaSr/HvOPZ124QhIRtyAC2uXIxFoPGpG/Y3F+FmVOGL10SUvQ8EQIlxsVSaruWhowlFHHoaRkSELnkK0I3vutRoTWWB8qsD2sSNRRKBDPRL9HRn2A+BxIny20zk4iW9d/jwS1Gv1LRTQoozwnXOW5A7MVGYUkrcMAZd0Rc+AlWgrPMpFBSOB2VyW+R4yM88kh8lvQK3Cjg1so7oyDI9+Z0lbAF//zRAaawOorgAaKgcgOqv3WIEMAVKefjbNdsAjQJskYFydTMJxHfK7mkBsHJ1d3aRukKW9iFNO5J8FEDV/smms+oqvAIFZnAEeBRfSbPflKhS46BBWEW9UxxjzcsVfNk86VVVVBYe8Vbvq80tVEC82bNhA3fahnT6nHe24gn97YA+cxL8YYngjDmMMHV7YgiM5eTFlNl1NkBigSa+srLSGYXb+6702xlAJIliwYAGd5xRD/5uo5IUd5MQc9UUAYvo6S2YAyWQlQdaQDW0ffMihWLdhEz59/t6gVKClIY61+y3HCWtD0LdLHOTs2NITI1DEZUtvEGtWBLgyHqISjWKQETpjDJUyouowxoGOXoaxm5oaYYyxAjpJo5CZzECAbQ7Ds8YYGkxj89W3cKiIyvh03b/fNoXzz/+ANQ6HHHwAUgQaoxNUENIQ0BGt7dvpAKhAAiXPPvO85enKVSttW/p5CT1zJyHNEnDJaCkJTKl+OWk+8BoO0ZMCq7/i665V+xmV0zNbc+bMgebZGLNrkVf1We2sPewIXHvtdTjl5JPQ3r4dkh+1a4whz8Bk7JgFxnS/n1vE2g6J0QAax8Uq8kLGLU1jcM0Nt+CTn/s/hAiYg+EQjBsiCBtAf28vIygTjE7kmPLQajU71Y899jwJvT3PoGXOnti+7RF09ozi4SfasWD+XEykurBxw/PQfxXwsfMhpawm2J7DFbyidqOj45yP6VIylLqS4W6sr4GciOakj2Bekc9AMGSBiowd7SrHJ9oaq2G0JoKmhjrcevMtuO7a660cnnrqyfCMi6uuuYkrzlE6Ss+25dDgr1qxFO8+53Qsmt+G7V09IkQT6sMTYXWCd6STPlfj73rL3jj7uD1QESdfDNiugevCHnlGRXzDm/xkwD9eU+QYFfPh8jrgOlafFCHzmFGiE163bRB/vulZaHs6ST2ro5MbGhq0ixjHcbj9X4O6+jpGE/uhZ/A0d9NjnukY23qllx2G3jiqNJ1GZ1cvQgRBSRpGYwz75MPhubFlJea27Yvs1ARqaudb2yDZUvIINlbvuS+dRgZajUu+BKI9ej2PYwmQnuZFz9NFKDf67we//O0V+Okvfodsuh+9XY+hv289KiobYaTzBMQFOjXw2nGDEGAQjWx2nCBpCG894Wg0z1mC559tp+0ZRYZAuMBojO+7IB5jKtAh55mK8LwcQVuO4yiSFSWUGHETj0rsczgcRYyOJxQOcp5cOrFxRrv77Rg9RueAEmA8AtBRDA5u5uLDsbIq5xMIBECi5JpOPs9KgMb4loMX4PPnH4GFrdXkHZDn3HM6kSkG8fVL7sVjz26BFhyWBl44NA1FAsAOOlUYw3GHaBNHyOs8GimzNTXTzsrW4BRPMPqYSo1THkbY9xza5rYQAFeyqrFFZr/JeSsqdsyRB7NMBZLJaiQqK6HnkHq4HSoAVUEHPrtO+XqE0RctuFWmmnJojOHQ2QEWkByWOFd93J7TA+4CIU2NjQS+nh17ZUVit/2ZYoS1nwuMow4/CO8993SEaUvEjzDlI0aAFQwGWc+H9CKkRV/Agc7RaBgRghrJejAUsmOo4liS1TWIxquwlhGxu+95ABGCOddxWT9g7ed4usg+gzTBw8A14OEzAdJlffa96c+6mZkq4WuXbsLz29P4wruWY9WCKsjWu8EE+Vdl6UzmAqig2zeU1yJ5EGa/yBq2Q1ngZI7R13ikuWwe5YaCmWM0LMxxin6ccldbW01bWcCRa8K4nbs4P/ifasxvcfCXm8bhOsCHzqzGgtYQNm7awAVNGuLPiuVLMDQ8AkVfZffGxsfYr7z9XCQ4qq5OIhKNsH8G+o1P8am8sGpsalbTryoZY+iHo4hxQSZ91thnV9Sc674xhoGWGa9u6AAAEABJREFUCjgOOzy7wL9xrXGKP2ozTUCoMZTJqd329nZG74exZMmSmbkwcDLI4Az+1aMe/4nDGMPIQRwhCp06JUQ4NTVF5uegiFiYk/+faNelB1HERMCsn6Cgu7sbajvD7SC1+dBDD3GiInQS9XQEPVY55jCSpZXRz372c4hh9TVR2zUJ+klHz8f9z1Tg7OOTVnipWxhP5yABrqYire8MIhYxNKpTkBIJ8CXCOSiaAx6Ua6hP2qKUco+MjtLxZ2D4N8Do3MjIqM133GmBMMbgnIvaMa/FZW2grdnFT372a1xx5VU48+zz7T29hakY6qsm2xiD5uZGbNvWDmMMJNRDg0NWyNauPdhO/rJly/C3v/2Nhi8L9VF1lTw6HNF7PckYAxmeMOdSYE8plUpxi6qLfahGPcPPGvvrob1rHcnMhR/8MLTdunLFctuGxiH+GkNuMjlUKs1BS0sLQYlvnStg8Mwzz1qel8faSWDy3g98ChMMF/f39rDcGPKMOBW4Qi7R80TjlXSY83HmmSeRX+NYsvRIAodF1uEWi3kCuO2oqNkfjz25BW89/kiOtQrt7Z1IcbWMXQ6NX//mKVlVYcGSwBm9306lIpxLPStWzeipHk7uYsSsrq4OI4wI9nMLQXM8XcHwZDivxq4oE/Eorr76Otx1191YzK32Nx17DDZt68Y/b7wDiraUOLceDaocwZp9V+OktxxtDWMvgR/YCdGl6UUiGsT7GBWrqYyQWz6MmArYa8cxtr1Q0FUVEDdAnqpAfGCMQYiOBjxEiyfIKZTbnZjM0RkXsL2jG5LzAJWngeOqplPsYwQrTYAs/jRz68IlcNnOSKYeiBat6SSKL52mu+nTpuS5BdrLucqjhjyc1iWOzFddnw7Lg+i5gRDmLzwERYKaOXP357lo+/fYU/dj1O3Bge/aB8d8fC2O/tihqJwXR2YqY+2Bz9W/2pJ8GZJctWoVuggCinRiTz2zDprbRMxHT9cjdKAhArshdHc8CAvEnAByU2kL6vNT3aipiWHTxm60b+lASs6IUQP4hkCpxL5k4XFrUW2VCGxKpSzbL9h7Jbal1bzPOTWkGaWj4QTBGNfmZ9LD9hEKj/IJAjHrZAuTGB7aCt/LwBdRphhlxhiOgteWPRwPM5FjRGJRSwU+++7DsOeSFo7DQZGyQ3XAVCmEn/ztUfziL/dQ1pPYFfiQFEn45Ekv53kMsotDQyPQYrGmOgmBsQCjRgDbBSzfFTHTeAoUpKbGBtqKWsqZw9ydX7Kj26hbstH77r0Kjz/VQX1NY6C/j4uhTYjReetnExznxXUFdKU/iobV19XAdXcuI90YZD8FrILBEG1oAxt3aDuKkG65LmWed2a/PPJ/gLb1TUcfive9+x1YuKANcsAh+rl4PIYwz2rFJUIKBoLMc+BSR5QvHgR4L0ywVV1TA6VINAH9x4ciAgjHomibPw/r161nX104M/09/vhj8YcbO6a7wUmz0zf9Cfxouerxs0Nd5QmX3dGNP9zchQtPWog37deMUCiMnpGitdUuafqU5xOPSMBxHIxMBLFyYdj6SNnuwaFhO5fimRYhK7ig294ftGX1GTwmuYCIB8dQX5HG8YdWoam2RF3xMafRxVc+lMQ9T0yif7iEyayH7b15xBid+8xnPgPZZS2a1a4xhmApaulKDoJaIFA8JhidHOfuj8N8lRNPs1M5ytIkTj75ZLb+2l6iUWG3jB0uVsbtONMESWpT9wNq97WRfFWljTEWD8QJXIU95Bv7+vrQ1dVl+dDc3GzHXibmrPRXwuVf+cZ/6uy6rhUEdUpMCAaDMMb8p5rbQVeM1jcZ1V6nnhujw9XkqICQvhTLwDCalrUCGGA/hZh/cNGh8jfgTfg0SEWuDr/4oTW4/MYpnHh4FIfsGRQJCOSlCfKSVdV01PVoZgRMYCAUCmKqEMD85gJBWYpGNm8NkNobTY3xumTrBwNFm9/T24e6ulp7T4LY0FCPrsEgugcdXPC/I9h/ZQgXnjyBX/7qF9jKsLwtyDefVrDIVUuMSpykExqg4y6Pq6qqEvrfbBIG0WRx7LnnKlx00UW23/r8RibxVWlgYADql/geomF6I9so0xJQ+cY3v40f/eiHkAHp58pWecZwNpnK18lkkkYtgNRYSrd2SnkCr23bOvDny/+OXG6KzpBzRAcYCkdRXd+EWFU9ohVJrNxjFYaH2+H5JSpPAAuXHIoVexyP5auORTAQQtvCw7FuSwk50nvzsUdYWdLvhsl5zm7QGEPlDKOVoDkaiUARPD2LOLuMDJCM4Nw5zTTqQYKYThqhKVRwha7y2hahUM5UMTwbBGhMGuprGRGZImD/G5599nms2XdvHHTwQbjj7ofw8CNPsu8ePMqxMQY13LJ+2wlvwhGHHmi3k7QdwwmD6ziQA/fhswkmUnccoyybjAEM/1zHAXjW9iTJQcmnHJZTic5K12pP5z2XNOJdJ+yF1voKgo8Jbkf0QIArRBug50XYBDo7uy3/JMetjBYXGfnpI2AsEYCIxnTCTgebZL98jqvESOIgQeYEktyiDc/I3HT7quJrREw+yxawecOd2LLpbjQ0LWdE63k6qgoc8M69cegF+2HJEQuRqIvDcR0YB1iydgEOPGdv5AiKpGfqB5nDdmF1SJ8zjMjJSTmOi4mJDEFyFR25A3IOwWCMdAKY5PakfvdrdGgbt6a34qknH8S991zFca+ztqBIAFWg7HmqRdb7ftH21RBU+ZQ7j3kcAHzyNhAIIkgZBW/oG5/6cdfe7mfstycL+UmoPOABrDc8vJ2yPSyqKJKG+Ou6DsuQL2Qgm+IFaJ+KqKkI4SNnHoAzjtkDcYJzlxNT4Dw4gSiuuHUjfvTnOxAORzi+ariua+vpjWRIz+dW0xgGCGzq6moIirPopx1IJGLQHEf0EJoKsydpAnBtQckO6pahPKlfwWBAH3dKii50EMiHQgEcdsgatpHGcCqKmtrFWLb8aNTWLaDdrLE6oLlQwswhO9jP6JVjjAWDYS54ZrJ2nMYY/dHOhXxSA6N3st35vIBYDCHK546Csy4U2YnT3p579qlWl9X3MGUuRnCs+q7jQLwLBF0CWiVDOQgg6Abgug7phqCIZpJ6WF1Ti6rqWkS4+HOCEVQyoltZVQNFjg455CAuEKfgkJ4xhuNdisGxPApEx8YBNC5DfmoONQfgNUUCj20aw9f/vAmHrKrF+09ciMpEhKDaYT0Xz2ydoDzkOD85GGPw7KYpgv2Snb9124qoSjiUO9/myXaHuMiuYp80vqWLF0FjnZ4n8rS6iP5RBx0DDmkAQ6M5jI57cB3m1Tj45Rdq8LVfDeET3+onfUA6/6Mf/QgKkjzz7HrW8XDcsceitrYGGeoQeESjERS52pO9E/9lS1RPtlq8a21txVe+8hWWfH2vYDBoZSVNMCZZCXN8r4/Sa6tljCFfPS7Y221FATHx136Y9eYIIAm1zbr3hl8WCRgEclwqcTWFsIJIVYZWbYspb3iDMwRFW4xX+/X19Vi4cCEVI8gI0jZGStIUiBIcCk+SQEYPxPf3D6GxqZ4CUcQBqxutUBpjICH35cxI9+JPHYYn1xehaNjHz6lDwGS5GhyFAJUmNxgMoTIyQeb7mOLKoKu/CK3QphjaThIgGWOQZHtHHbkWRxx+MOob5iAcMpDQqy6bIL0RCGB87B1xvPdtNbjmzimsOqPPhoNbG4yK2KQHZI0x7G+JSpa3SibFrKulkrOt3t5+O0YZmmeeec6OfZzbA8YYHHLIIbjxxhstnTfiTfPZzSik+D137lxonsV/zbFHJ/JGtLErDWMM9Ns0V111Fb7whc/TuXXZ1Y/adRyH8/dCjRKV/IVPL1wZY3Dp5VfjkUefgsu5q6quR0VdM2KVtXR6EeiLFyP9PYw60KkZ0XSscQm4EcTidRQNzgeZXplsxryFx+L5zTksWjgfxx69Fp2McOnbVruO3xgDRRdaCcwKBBxyGkWeX+iVT2PrEDgloefFHNexv9HksH3XdbGdEaSddZZ9gEGMxkzbmH0E93/7+9WU8QyOOOIwNDS34Iab7kR7RyflwWP/PbALlvZZZ7wNi7i6l8HTPRlAFuC4wOTbLhnqiMPkOg4Nu8/IgU+jZhDiit/l/XzBo7H3WE2Ax7dnzYF6Bb45JKykLS9tIXt0KH0EW+JPkfMiAKrIRyGXxQAXFCwOGf4aGurh0XH08940D1+gLfpKimwo0qexx6JRGPZR98e4wp6g0U2NjdkxcDCM+MkoluAGQnR8reyaQXXtPNTVL8bGO7dN95sLL17w5VsdTg9l8Mw/16N2bjU/e6TlM48nvhy25TjS3Urm+RgZTSFKRz3K7Tet5hWtjkZ8rH/uRvT1PIcAHe6CRYdi3oIDGAlaAtcNIp0ZQuf2R0gzANkYn1vGJa9AekWmAnldQomRPM1EiXkByqhDx54a3Y6tm+9inUlG+esonwPEX0UIjLFL1INepFLtHHMReUbfpm0T26Cs+uXEMUhvRf+0o5bj/Lfti9qqGGjqILCt8a3rzuIbl9yOFHcDFOEN0qGx2o6XaGUmM9ACROXzXJR0Ue5dyqmAmObWmB3FreMdY+SjSJ+gRYlyIrtxisoXHYGlU046FmECwY1bM0jWrOKiplLVZtIs4jN3JMOaC31ZSxExyZIxO5cTWOvrHyL/J2mPKyGbOTmZRSQcZAqRkg+HdYwxvJ5+jU9MQOltb30TTuR2s+x4gIuhCPUuwnl3XYd1fAQYBQxYMOYQ7Aes3XUdh+cAItEYKghwktU1lMFquCHy2wmihovxem6RBhjF6uvpQsfWLVi8sA2K1kvvpYPgEWX9YYIymVROIyjEbNNA3dzeP4WvX7aJW8s+/vuMpWiuTaDI7e9CKYCCFyK0j+BfD3UgGAzSV2Rt6howWDrP0IcQhCbi7G+QMuTblKfcaCEvGy6AqJ/zKVF3i9RZ3ZfexwhCg24Jq5dEbRRs3xUh2xfw2H9VCGceF0M2J3rgjlIJuWwW99xzD7fOByEQvGnzZjz73PRzzqe9/WTeH2JNWPuYoyxJvhrq66wMS+7vvfdeRKNRW+a1vmk8wiGhUAg1NTV25052VJG+10rrtZQvUta3bNlieaodKgUqNC7x1dNEziLmJBIJClAAcqSqOCvv375UY6IrpS+3I6LGGMhARBglEDPEFN1/I5O2RZUkMGrHGAmtgZ5jamtrs9uluj88PIpAMIBgIIiidYoOLjxzJQKugeOwDgDjwB6lko8kV5HvpOFKxIAHn87g1KMjEB0Jl0CZ6gyNBXHIXgFbp+hHcfi+Ia4OshA/kskqKLpz3/0PY4oGYO7cFrYfZb8qrCAPaFUZM9CkdfTl8Y3fDSAScjAyHuCWqcHmTh8VjJbIyKQZmZucnKISheC6rnXIuh+goxxiyLlIQ97ASNsgQ+tqW6t4RcwkDI7j4Be/+AXGuV1nO/o630RLz4jpPww0NDRYQTfGWGpSfPFf8/y9zP0AABAASURBVP+fmGPxXHMciURx9NFvwj9vuB4nnXgitm/vwHR7Bg7nMBwOzXzGiw71TTfvuf9xVNe3IkZAFk1U2qjlhueeRm/HNkylx+3c+TBUqiL4xiocoywi0+DAZnRvvxcBsx0jw1sYpjd45Mku6KHk/blF2M4V/uhLbGPWUB7kuEbpxEdTE9N0+c5G+O5buawnMKmpTiLNVWQ/5aO2ppqOPzYLqLCofRkY4zA6Q3migN5/3wO46cZbOCfVeNObjsbgyAT+efMdjCYNoFTyOCYfoWDA/mr46aeegPUbt7BZGk/SMoZv3EKzQIYfOExr6F1eO9QHn15bjk+l3ZnPWUYWiqSrPLC+re4DHX1juOymZxGNV6GSizF9a662JkkjW4C2rASqXM6T5Lqa/BgeHoa2uiTTtbXVSHLsAnDaCvbYEcmcIoU9XHAEKPdVpOm4LpSXJghLZ9KIRsIwhp3gMMovj0DHdQJc/DRjamqUQ/NRlWzmNuLTSPWkMTWes/dER3O86Z5tGNo6iiWHLEQoHtItm2TY5aBKtBfqC7uEKJ2y9MvKHcccoszJtrjUxcb6ShhMIRiKUj62o7vrafT3rUMkVoV4vBbGGALRdVD/PI994Halx+hWqVRgeyWUuLUUcIMIR2KYnBzG1k13YWRoM2qrqwjs6hGkE4/FIhxmiQ5vDIMDm2CQp8MrIsj5FeBRlEFzToIco6bZtzpx7AEL8MlzDsHStul+yMlq/Os7GY2/6jHc8eB6NDL6GiE/2cCOl8YsHvT0DtjIZigUwiBtTqGQRz3BRQ3n13UpGDtqAKKrfuiWgIz6pmslRcIUXfRJeGBwGNrelu5oG/OWO55GZorz6afwgQ+8Ce/7wJuxYmUF5SetqjslyUiKOxCVFXFUJytpF3fuQ5FgYnBwhH0doQ+IoYFRsSJBuE8eV1BnHAn3DEX1V5cCb3r2rIbBhAvOOxNtc1sRCAQhvkYJSEKhIPkNuI5j7wc456GAS90K8p47PQe0UYmKKiRJoypZjXCsEiUTQKKyCnX1jXBIbyyVQn9XB8ZTw/DyOTQy0likjGHmMMYgSf3IcQE0cwuazKlcCb+4bjs2dGXwoZMXQV/EMSaIfMllCqDgh9hWFPc8O4xgwEdd0kC811jlFza0lyxdlzqUL0WoH5XMD6KVkWrJeBWjzhtpG1yHi8SaJKPAaaxZ4WA0HYJ4M7fRwdq9Q/SHeRx/SJQAETAOQBbgv85OYF5zAGHKhwB4nHjD5xy3tjRDh751P8mtT/Xj29/5Plpa5+g25/kDVj71YWBgiHOVwJ133on58+fr1mtKoi0gZoyh76zgHAVsfY0/SnAX5oIgQ18qGbQZb+Cbvswme6Z+VxGIG2MsdbWpttWm2hZPlOHoLUCUH+ceZ5FITgZNk6D7rzeJuByljJPoqnFjpjsym6YEQPlqX+0WCoXZ2a/rWjREK8hVQIzKIqbvSkjt6p6Yod+lyjJ6FU/E0MKIRX9fLz5AQOa6hsrE5DoUMAN1X8kjKNtnRR0FZA6OWhPFw89M4sLTEnQ0UWji9e0Q1w1i3dYilaVAoFWJJzYa1FQ6dktl0cIF2Lp1GwU+gKeeeZ5lDPZcvQdXjhm2YbDHYgehcCUN7yTW7hPHtu6i3YNXX+UIApRyRduKNCxShhhXZkriuQ9YZRmlQUpwtSPeCphlszlrJB0qVJFzvGLFMpaE3cc+kQBGtO2N1/iWogHRT3gIbNfV1XFMwRdRMMbY+zLYWa6OlF5U6DXeEJ8lX6omoS7PZwWN24Uf/BD++pe/oJmrzf7+fgs8aghgjDEqvttkjMGTTz+H8UyORr6ALevXYfvm9RgfGWbkIY1RAqVoNAnDPxlA8XqakMHSxQ349rf+C5dd+lN8/lMX4Bc/uAhnvf0g0uFWQ2gJNm7uxYH7740oHVr79i6kuV0zXfeF9xBlVdGHioo4t3yGIbDxQq5mFYhzniWfSSp1X/+ABTICAIoADRBwv9An1TQQTwR6gpSX6677Jx5/4iluV6/GIYceik3bunD7XffR4OVQ4grNI7gS/blcqIC8gG8AMPGls6IlOgepE+BB3wU5K9WTMyt6JcqxzzYd6F6BOqKzyonEhu1DdgWuiNgYganksKqyEvPaWrmYCdvx6nfJUpTbUCgIAVA5xwFG0cSvQID3CPaN46Knpx/68d+pqRyNawIB8k59kVFTWTmPpsZ6RKNh9sUj32LCIOo1k4HHTlVUNaG5ZSU8jh1w7LZXlODI52ePztmjw9vywHZ0PtmDugW18Mkf6T0J0AFl+dnjWF3oN/B0T7yfpgVG9mIIc64zk1NwyfsCQaoAZ4ZOZ/niOhx60GJU18xFNFaDzMQggWEK8Yp6XvchleqARxBWKuVR4mKK3YHvOwhzezJXyGDblnvR0/UEKhIR6MtBkViUoKuA9MS4lashbocWC2MQSGZFxOMx9jePbC5P5+jaOfLZ4VwuhwVNFfj4WQdjv+UtCBFAeHSSJc9HyY3izzevwy0PboQbjKKqMgFjDGtNv1jM8m2QoGmIi9kY+5DJTGGcUa9a6pkAlOZwunT53SDFrcEx6REX4bprCMB1VkpzoeE4ATQ1txGIdaG2Jom1B++HDZv7EIosoJwsxXnvegsuveT7WNBcg31WLsSXvnwRfvf7/6NML7b905gE4gUc6wjig5QL0S4nj2MbYx/66dzB4TRSRsCLQoGRoXgUgUAAux4lgiHZz1WrVuAT//0xHPfm43HZX6+HMQYx8jZER85LVvNp41zScGwKBgNwSS/gugizTDxRAUXEklxYxSqS8ANhBCNRKCIWpo/KcAHR09GBgZ5OTHLx5xPUUhAQpPy4pFEoFjidmjnYo0AZtRec6ctv78IlN3bhxINacMTejYgyklj0A8h7LkoEYp6JwQtUoXPUxdbOTdhraZi+yBAkObRRecpPkbpZsgtQjVfjkX4aYzDBOQ0TSG3v6EIoFEQVd11K9B9L2hw8uxUcWwjzm4pYuTCKlnof2/tKmNvkAgbQ9DqkccuDOfz2S7UoSZgN2GYOxhhG/AegdhYvXgAdul7IHaxvfOMb1vf99yc/jUsvvRRXXHE5HnzoIQhQ7bPPPir6qpP0MkOgJb8pHxXcRSbKhMTjOPGPMcb6YfGhnPd6zwNcOHd2dhLwN6CRvkht7EpLY44SEEaoEwKlkmGnXMgYA2XEYjEyjUpM51nOey1nDV5M0OBFyxjOwisQkDKIIWJEmitcgYZXqPKibNVVu5oEMV80X1RolxsyJj09fXS4Y4jH4jZykKeCfv4HD+Enf34Wz2waRmffBBXDQTDo0gg7cOiU1Mbpxy/GzQ8ZrGsHHnmuiK99pBbN9SFUVycJvMYZ0fJRUVENx3GpjPVwQtU2UrFx02YkuXKTIXAcA4XAZUAzNEoVwQGs21KAgMWc+gJ+f82o/ZcZi+ZEEI2wbeMhS3AVoJLGYlHSdlBiRCJjnbyPAkO8Aj7auhFYk0LZVQnLpllmkI5b+/Vpht41BhklCYKiW3gNhwRHQMxlP1paWiCheqXqjuNY+dK8CEy9njlWn7OUS8mYZFUytrt2W+fMwY9+8lP7rJzGN0YQIJnYXVndU1+Urr36amx5/lmMDPTRMKa55ZyjLhRx970PobF5uTUkgIExDhbNT+LTn3wbPvLhtyJi8hgb7KbRCqChsQlvP/Wt+PiHz8TEWAfqm/dHd38A+tZaJZ3bFOdPW2yKLmDWYYyxEc5WLgrEq15up2TpSGcVgUN5EWib29rE2z4UXcoXSpAs6CcetEUHGmlm8mVsCtI5NHCl3d/biyuv/Kvd1tWzKUuXr8Atd95HoPYsZagEyaO2OlkJUFW+efQBcsBy2GyaTgGQ4/YIajwaWMmeJzDmga2yMN8pEnAdoEhQViIBvnDkmoV42+HLUVsZwfBoCt3cUhUfXMeFwJO+yKB+joyOQWPKcIEUZcRJ0QuPTrGvrx+anwQXGY1NjQjTOURpyMBDOj/B7ckK5jU11nEOQugnWEjR+UfonHLcdmEx9ox9ZL91bQfC8fEOLz2b53IRVcyXMNw+igf+9BhGu8cRToRgAZoGIUawpOTX47XP8Xd39xBQZadpcPiST49lHY6roiLBvoSRJfhJJumEWWdrezfe+uaj8H9fei/BXA088m5ivB+p0S64gRAmuX2Zz09yPopQ94Icp6G9GUt1YfvW+xBwi9a4x0nbY/sZ2sqxVIp9yCFMx+84PiRXsVgELidC/REN13XoEDnHdKaVURfvfuveOONNe6AqEeZ9H1zbIVs0uP3xLvzo0juRzfuoYfQtQECAWYfHsY3Rdkh+I2xD9IeGRxAKBtDCeYmwD7OK20vNsyJnmjtt4Ybo4JUhPqbTk7pEnnOUqKhgZHsTDj5wX4LIEtq7SgSuy6D/Hfqh9x+DD7/3FDQ3NaFtwVJOWxHb1z8Nx8/jm9/9X/zslz/BsmVLoGfXopQbS3TWW4bguI/gXrJQz2hfnLY+T6AcCYcQJXg2xgr8jhoa5wjlNBAM4R1nnYn9DzyAc+KhkpGis975Dvzhz//AFGkCHvnsTCcqSDAQQJA8k1yHAgFE6eQrOffVNTVIJKvhBKMwnOfaunpUViWRzxUw0NuDXkbF0mOjKFJW/FIRsuOSm23bOxFPVFCOQqD4sA8lSiDskUoX8cN/bMPqhUmcf8IC1FfHUfQCFogV/CA8J0ogVgE/VIt7nhnA9XfciQNXx5Av+KhKgP0Ejj04hqXzw7QrDun7kJ1Usl+8Yf/TAjMMkmiucrRFes5zgLrV0R+Eor1L5+Tx3pOrMJwioBvPwXXMDBADaObw/q+O4GfXVOET3/ewqNUwiBGHMYZy70FzDh5bt27fcS9IwHTKKafgq1/9qvUVuj7llFOxevVqlnxtL/kJ+Rn5CSVjdp7j3VELUTaFQ9Q3+Q3Po2HbXcGXuTc2NmYfiZI+zp07F9EZO/UyVeBSV9Wu4zhwdi2omyKiSZCxy1FIdi2zu88ymGkaCOXJ+am+rl9tMsbYSVDHFOUSQ19NXRkFMU/tCwCKqa+mnsqoDZ9G2qe0D3GbxKVAXf+TBfjw6T4O3mMQ3d1P4Kqb7sN/X3wjPvyV2/C57z2A3/x1HW65vwt3PNTNKNg4BZtbiU+m8M3f9eOo/cNYOT9nBbxER6JvUgrsyGFI2CpodAoEfMYYaOWpscoBpdMTOOmIGCM0QE1dE3rpsL7w/noKuocLTmnCH75KZaYqvv+0OjTUhBAlwBJNCYxWk8ZQ2HzQKIegMU3RoWneXBqHEI3OBMFYjKtA8WZ0NAV9u7COq7VBKpee8XjsscesQoonL5fE435Gnca5zSnUr/G8XPnd5UkupCDquxRG592V2/VeWSY0BtU3hmPetdCszxLyY489Dtdccw0u/MD7aQRKs3J3f9nX3c1IxTgkT1kaoDzTXfc9golskkYxaitV0Emfd85afPjDb0PEmUTvto1wjQ/9sGwljWy0xav+AAAQAElEQVQwFEIwGMbhaw/EO884wm4fxRh9GWY0Ye89V1nwtHjhfGiO+ugkJCeW8MybMYbOMIk5LY3cCspbcCG+z2Tbk+O6EMhqaWqgYctBRtJhvRINSD8jAHmtsFmSt/RuU5wyozobN2zE1Vdda+f7mGOORmV1La7912245/5HsHTJAiu7VAc6atBQOEyG9adfFogws0THrGQ/M4uix3fA8A80KcYYBFzHfhJgLBGcVdL5h8NBVHPLRTrQS5Cl54OK1IdwKIzW5iZIlmX4+8mXvr5B9tFDsqqCoK0OGdoWOQrf6iug55akA9bRN9Vbwzc2nubKexChQJD953w7BqIP6o5e4OGTRz7H4HNL0Ccg0mejiCDv6VmxTfe2Y2osi3lrWuEGXfbBh8/xMhtKjuNSFkIwpJ2jbdQ333RWG8qfpu2xrI8A9a+SUdsMF1sRghVFW377x6vxfxf/CPNorL3SJGnFObYh6nQSamd8rBcu+x9wQwA5GHADEF2HxjqZTEJngYEUo4njHK/jOgiHgnAdntmG2lH56X74lI8CDt97Lt570r444ZDFOP/k/TCnoZLs8KFIi882nusYx2+ufgybu0YJeupph8OYfYieQI3myyt5rGGgOVIb2s6sJFAx5AczdlSTzA4Njdp+6fnAikTc5hlj7LlEOhpnPE50wDtN9VVo4vbh+o0jnMMB2rEJZDIjOPaYfQli30z9BYyfhX55vrGxBY3NczCZGsLA9g1oYrTrhz//Kb769f9l/xtRPvJcoPYPDGMsNQ61X8WobJHoM8B5jUZCcMizctnyWXOVmZzEm998HM46+0zU1deR/77Nlu2KE2S95/zzcPlfriOgykPDDnKelee6Duc8QP5FEK+sgrYnK5M1cCNxeCaAqmQ17bvoGYwMD6Knsx2poUEU9R8iGBn1mGRzpANZ2p6773vI9lFyIVkKBoNsz7H3quIBfOCkhVg6N4kSI2IFRsSKPHsmQjCWgB+sRZS6/eAzTwD5dThs7yjE+v1XxRAKBlBbZchfD3svC+Pct1ZyezRk6WpOY7QVsoGyswHXg8YVooz5AAR6AwEXVZE01u4TwW+vTiE1UcInvj2CvZYGSQO2nU99bwwti0/iPGYJ9hPo7C8ixQWXxmaMgbZDPeriokULEAwGcMzRh0M23hiDiy++GD/4wQ8gXjucI+EK5eFVHHmCe+EW13Vpa2Psu/sqau1cRPhHY5cvVRJPdi7x4k9qd/v27Shy0bNgwQJUVVW9uNAr3Alqfl+qjASszBANUA3trqw6q8krEYCofIgOaXflXu09Y4w1ruqc2s3R6L1UXTFLbYt5QqTGTCv7S5Xf9b7nScRgBcincayu8BjOLSAacTGvtRJvXluDT7+7Hj/8TBK//GIlvnyhyxD/IOBtwbd++yRqa+vsVkGSTmbpvCBa6gzG0yWc9qYK0nAQ5WpNoVaBss7OLnR0dKKeCj4xkYEbCNDxT+HdJ1Xi2WfXc4ugABNqQIqG9sefbcBvrxpBe08O554UhUfnEQgYPPxsDrXVMcg5id9VNIQyyjkKoQTXpaIYY7iyTFIYo1YYp52YT0VxrGFRPTnFIa5sIwRrGa70vv3tb3NVmrMKgd0cvu+zXykME7TWcLVXX19v6e2m6ItuqV+SJc2nSyVRAWMMJCeaNyma5lhtKG/XJLkTcDNmWi5Eb9cyL/fZcVycceZZ+Pvf/47m5mbOSfQlixeoTJNc2mXJz86uATz05BimCm2sU4Vnn7qB6Vqse/5G/PWvf8KdN9+IoOOhknNfSUMbZjQmEAzBsL2R4SEMcltxv31WUY6C4E3MX3gQ6rilI5FL00G3tjRDz5iNcL5TY+PY9XDJq3qC5npGt1LcOlCaXcbnhyCNZDNBWZJbCeOMEqXoeKqrq2kEc9AzLxoPi828DOXcoWOKIcx699x9L2677XbUN9TjoIMOZFQ3jbraWhp3lqMRlLypovqrtko0nj7BkMezkk+ZmE6gc59OKq8rZlFmfStvJIW+4QlcftOzMIEYBLDmtDShsjLBCGQW2sYcJQ9UT/IsnlQnK6FnjTq7ejFCI25IuKYmCS0epEvZXJbjiENjVzRYUZg+gjgZRccxKDLKIABa5OqeVXe8fPYf7K3OGhNg+IngCUy8kR7OQGNzgy6ev3kTchM5yBn6HBBHYyMUhp0JUM8c41idefChh1Gkk4c9SIQUWRyq45F5OssOgBWrOE/6NW4t1K7lNnI8ESNAjVC+Ihge3AaPep5O90My6zgOvFKO25FD8Ga2rNLc2prgYmiMq3CP8xCjfXEF2Ni2z7H5vKceGMNO2ns+PnT6AThoz7loqk1g76XNXDwYFAmQWRTru9K49KbncOcjm9iPpOUpq+14aRy5fMECpClGpuWoR7igy+VzlJVq2qIkgnQias02yQv1S1EWLThaWhrpmCo5HmcHTUV49UE8y3A8bXOasHrVMmzeOoCunnFunXVxC3k+AoEwSoVenPOOk6D/MuEFKgh04ih5JUTcnI0ItcyZTzsXx+3/uh7nnvUuXPDeC7F1azujrP0Y4gJIC5VQKEAZr4NDPqld2bwAdcsYwykxumVTlnovndl77z3xoQ99AIuXLOZ8+PDsHMLOJyvAoXxFI1Gc8Na34IYb76BMeMwEAo6LMAFxnBGtKupgVXUNQrEKlEwAkViCfWhEgAuPMcpzT0c7BhkZy3L8fjEPj3Iq2c0xapdl1GyKPi/HNDaeYXuUA86tgYHLfsufsOv2vm9CKAOxIsgvE4cXSMKNN6B3pAv33n89ou4gqisdGPYbM8deSyOUhzCGxor2t8L+dus4zjw2jve8rRL7rKC/IY/j3JLNcs4N+x+LxezYZKvDbhaH7+PgxCPiuOWBScTCAYylHWzcXkR60uf8GNz9eBG3PjTFgEYPpNPz2uZiMuvPtD59KtDG6qpIm5unjN1x570EYDEEAwFUVCTwxS9+EcqTfMUJgn0KY4YRO0+Cq4q7pBLxh/JVTuVVb5cir+mj9E/jFs+FMfIz/d2ViPrT1dXFIEovWrhbVEsbumuZ1/LZeaXCGpg6JuYIqaoD5TpylEpyrBJGY0w5698+ixFirM5itNovE5Vg6J7yVEbMK+e92vOKFSsgA6nVAm0oFs2NY+WiKnziWyP431/24w/XDuHKmzO4/xkaxSnY1SRlBcsXxPDU+hK0xSAnOH/eXASDAQoicOejkzj2wDC0dbBsXhgLW4BoxKFxCdABVUwrNYDGGh8DjGRIeH7zjxE0MzoQ40oxMzGEiz+aYBsRPLkxj7ccVoe2xiK++8cJ/PYrNVi/LYMaKvuKxY2oq6ngdmeaaYIUgXnsh1atsg6KQGRpYEKhENuPQEZoiNEw8W3OnFZrZFSpZI2Nj7POOovGLqJbjNxMWUWwH/gmPmt7UrQUFQvSAPP2K76MMeRL0AIv1VWSnEQZwnVpWETAGGMVXTRlgGYLveRMsqWz6gTEfFV6namO2wSXXnopys/P7UpGc1CkY50gsHniqefxz5tuwWOP3Egg2o2x0W1obKzB/gfsbfl0330P4n+/8SP8/dpbGIZPMHwfprGNYGJiHP09PRi3vyuVRYGG5tyzT8bo8CYka+bK7ZPeGOQcssxT9GjhgnmkEUcf5SFNoLZrvyI08oqEJRjhFOhIM9q5axk5OYGcBB28nmHMTGbZpyDbGkeKzlty9kIdzUsAdbXVAA39tVdfC/23Cm0nqUwoaBBwjVRCH3mWU/KszHiSF3t357dprWcd2lzZS1uOZT0aUb6wtXuEjqsEPYSvMbquY525Hu4PhYL2kYHtHd3kWxoOZaKaIFdRlQijGKMEa9s7e8jbNMIs21BXi7mtzXTEUeqcR8c7glRqGtCq3VqC3joC2Wg0YuVYMsduzXTYwOOY/Znk+UWyoGTHSGbQ5RnEa+OI18WQS+dQKnrM5/h5Tg+mue1SxTnN2qiTHEBXV7ddHEl+1YDGqiRaL5xZn7wAb/hMkuksnW4sFoH0dGxswtqHUMjhmKoRCicwMd7PCOAoMhluYxWmrCN2HIf30wSxOcpgmFGOIPvNVknT0tYlk8cJUBJtbRFXVYR5F5Q5wy0tzyYnGMG/HunFTfevh3GCEM8cx9hy4pWSbIO2GrWgC4ZCmKRMCYwJ/DcRxMve2wqz3iSbmgvZVW03uzN6Xi5i2ESGMr5w0VIsWTQP+++3p/3duL6BIumnOM4QkskW1NS08TqI097+VuvUe3u6sGXj8+gZGEM4Vkv5DKFEsFoRLuLPV1yHL371+1i/fqPliUdev+O0k8gS30ZzotEYpIeRcBBB2mljDIwx5S6RTsnKn/KOZZTm4EMOgeO4tkyK4PPGf92IB+69B9cwqpwlQClXbJ3biki8AoODQyzvUP/DqKyqpp7XIl5ZDRMIIxiJsQ/1BBoJbkdPcmuyE33d2xmFT8EjqPUJtNW3LKNheUaKp88526d/XP0vvO/977XX4GEcY3UjzUhxwAG3lTWXLqaKQRQQhR+ogh+pxwPrRnDNzdcjNbIBFDHqjGFyEKZeh5gCLuCS1vyWEMbTPsLhEEKRSvz6H2N4amOOUXkPh+4VwMr5Hi46vxrHHBDGwavyePNBPj58RgRf+WAFwIXDo895CFEu9l3VBM/LIx51ccm1k7j4t+M4cr8g1q5pxOYt27B1WzseffxJ6AjQdwhwSQ+04JKMbN3aDi2s2ua2oLo6iTzBqWywQND73/9+VbNzobai9B05AlXliYYyddZnzY3yw7SXuv9GpSD7HCcgFL0MAaH0XtdqV4vD9vZ2ymsN/e88yldQWf9Wcl5NbWMMjUCEghW3DntiYoLGImM7ILDmOK+KzKtp6kVl5IjFkCKRtFaGaltM0T0x60UVXuWNpqYm7vW2Y+Wq1fjuZ5Zjr2UVmNMUwZJ5VfjAGUuwz8oWwERx8/0+/ucHOXzo62P41PeG8b0/DeG6u9PW2GuCBoaGkaLTePvRlfjaRxppJF0qeB5nv6UCc5sCOO7gBN53ahVWzIfln8pyKGhsbEBlRQWFDSjmJ7B2dRY3/rQVzfVB/L8f9yCdKeLj76xCJltiZCCAg1YHcdIRYdz36DY8ta4bQyMTVASuzgCsWrEMGzdt4RUgx6qwt0Oli1A4p2hEpOwhKp6eGbNOhIKlwuKj5q78Q3vipxyYR6M+zpV4N7fwVEbIX/OsOq+UjDFwaYilQFIO0ZOiqL5S+VptYeZQH1ROZzks8VXgTPVFZ6bYv32qqqrCr371G+iXkUVM9IOhIN517jsxxHmUTN165wNo394FrXTq6ysZnZDT7aWxrcR9996PDkY5VVcK+Yc//QXX/esOZGkk9O+WRkdGGDXJosgtwxLBXZgr6bZFSzB3bjW3N9I0ZNMyMDAwgAFG0FyCzKmpnNWtpYsXQOPXqj63m9VYjMaobU6LdTQD3IbJ0YirH0qGb5rvZGUFWpoboEjJwMCQNeZROqRBRjbTM3MOaMmleQAAEABJREFUe6gGrANr5DbR8NCQlR8931X0HMowu0pH7zHJMSv5ujtdzVLQmzEGhhc+E1hW5T2CHY9OcbqOUS3sv2oOjlyzAIlY0H67TcAyT0AacB20NDVCfZDMDI2MoodblVNaTNB5NlFHWhhlCdCLDA6NoLu3HzLkam6cUUNtoZVKHowxXFXHSafW8lB0RkbG7GKEIym/qC9FXnMk7CvYT80hP9l7mDkGNw9hjJGaZUctQjQZwcRQBlsf2Q7jOIwE5KHV/n57r4K+qHH6KW+GYxzOXxgiSUKkQopkiKXNc/keM3a8Kqzeu5SVPLcqowRiMStv+UIGeph/YrwPhVwGvkfASOeXz1N2WFt8iEbCMPybJm3fLY+ZbV/S13AAeMdxq7gVtSftRxGTuZJdUOa4rbW5L4fv/PFO9A2m0Fhfa3VVFUXJJr6Jt319AxxXBDAGqVQKmivNUzwWxa6H5HWAMqnt1dbWJkQJhl9UhvLaZX8Ow6GdraKNzDAiVkSp5FD3tOBZikRFHWrr5tuqU5N9eN8HPoT5S1bb/nf1dKOnux0b1j+PkYyHRKIef7jsGlx73fWcV8/WkTNPMdp8xd+utbZ1WsZcjiPMYZBrHIstyDfNzzi3fNMEiIriSCY30IYa2k2l6669Ac88/Qz7V8LBB+6D004+Fjfe8E9kKZvGGFIwOJ7bmrff/TBiiQrUMDISjMYZEQsCboi7FHVc8FeT7yVGy/vQ3bENYyNDKNFW0HnwVUCWPMlSD2SfdV3yShZw33bn/Xj/B98PyYnHe77vs//AXXffw3pFHLemDsvm1cG4UQTCVSgFarF5wMdPL78bV990P7d28+gbLqKjr4BOpk0dOWxkenpjFk+sz+KxdVO476lJdA8UIB7pMZZszuN1EYvnhrid6aCtOYQb78+ga6CI4bESKP7Y0pnH9y8dQXrKZ/Jw/Nq5ePS5cXz07CpQle08XPavDM774jD2XzaJgD9AmgWMcU5k78PhECTDjQ0NxBFZZNKTcFlRNm9beyckc4sWzoPKGWPw+9//nnx+4eWwE1HawbD82tQU0uk0MrRr+izbrfwXSr+xV/JDMUYK87TN+lUBfTtULeiLCLqv6zcivSYkJWWf3ahHxz3783/qWsoj2gJnruvqEuV79sPrfKusrMT999+PO9cvxR+v7cE/bh/Dn67rwXmffwZtBGd7L6vEorlRJBJRRCqXYe+D3oU1R30aBx64Bg1cJUphxBOtRpfOC1G4DE4+sgKff18jNmzLU7B9HLZPGFu7sjjlqASu+X4jfs9I1x//bx5OOayA954IXHByEBe9twq1SRcX/agX7/xsBx56ZtI+K7ZoroefXTmBs46PwvMNgV0c0YhhO65N4BEMBvDcug1UGAdV3BLx6KDkfLXaUERMQqp9fxkSJVZh3+ss/xwKveawsbFRt23S51QqRYWZQjKZpDGL2LI28xXejDG2H0GuKgSwpDxSlEQiQR4mrIHRtQRYSYqk/mHm0Jwqzb43k/WGni655BJuS3wIe+21F5o49ssuvZz9i0ORGPGs3JjG4Xs+jWs11j2/vnx7x9nn1Te//WNcceXfya9JyJkWuep1gyEk6xpQUdeMSKIaxxxzFLJTE5aPjmO4aq6jEU9A29iDBIIRGvJJArN6Rn9kkNI0VMMjXEVPe3m28sJL0Yzm5ga2l+W2ZAoCJC/kAkGCvIb6GmjVKQfV09sLOUrJ6QBX8y+Mz7CaoaE3qEjE0cCt0Wee24Sr79qCzsEp9tWztCUPHvvBF++Bx3QdVuTLgG8QIlAZj7yy5cCDsqC51GfNZ3NdJZIVUTrKhHVEAlcDBFklbi8KbLa2NKGSgDLLBYSAlh7MF6iNcJtH0bKa6iSkZ719g9BWZiYzZZuOxSJobKwjqIkiTefaNzAE13HYAaBIXRC489VBdsQnuPEJxNRhn5+ha06i8pVUqW5+NQznKDMyhUK2iInBCczfrw2xZBR1jc046rCDuI2awhwCj9qaJCMKOXjWDpICafJFMiSqNpmUl6UTV3tRguNy22E6J+mrwI/4w0qYygxD114pD/UVKFFuRjE5OWjbkO2zlNUIk71WRV6rHcPxrd1rDj7yjgNpv6rgug7i4QBpGjyzLYVf//1h3PXoZrQ2NyJMYFeur7PIZAkWevv6Ld+CXKj0DwxCEZyGujpUM2rpOtN8VVmlYrGEoeER63Tb2lpRXV2l2zulEreS+vuHINlbung+amtq8Nz6QVRWLWdqQkvras7fUlQlW6iDdbaueLV82Xx0tG9CJBLFyj0PQH3zAsr7GLoJzLo7t+Lue+/DV77+Q/Rzvm2lXd6i0QjCjOA4nMvZWaI9NZWl/uTw0Y99BFqcicbKlSuxZOky8soh6NuIo446AkcynfDWE/APRsIHhlI47ZTj8cuf/4pyZwjEDfsWxtLlyzE2MYlgNAFFxPSFrDjtXZG6MDo8hB4CseGBPhSmJsGVGhd4BQvEs4ySSj/zXLwVySPHceAEIohWVOPEt51oyxQZLZI9hz0Mbr/tDsxvimF9RwYrF7YCoWoMZ2P4w3WP4teX/wsTtBv6H5XhkE/dLaEiDiYfcxsdyoPDYIODPRa7TA42E6CJbJxbk8YYLGkL4biDK1ERcwjiStyCzFO2Pe7QuFi5IIQn1mUZnMhgc2cRk1MhnPu2hdi4bRzH7F9CU62Dg/eOW77QIuDZrUH84LI0BlMh1DBiLd2trEygyEiEHpExDmz/wpJBCp/mak5rs83fsnU7LC/YJ53Vx12TZF1J940xVjd0/Z9O6v8IF906N9JvxGciZ29ku2TNK5ObFuIpKl7eRnkquMJTZ3Rf4UJ18JWpvL4SQqRCwnKOalOOPECno3ZzNCCvjyrsJMo5if5vfvMbrD30EJx95ttx4fvfQ8MQx4/+kseV983DvH0/ju/97Fr84Y+X4nOf+xx+/vOf49FHn6DwwQKgGFeMKxdGCJQcSBhpG+E6BFqnUrEOT+KGeyYRDQObtmdw8ifa8eWf9+Pvt46ivbuAa++awLauIvpHfMxrjuHgPSsQZFjZ8wx++Jm5iIbyePiZLCMMLuQ75jYGccwBEYRoLMUHjV1OSmcJqMajlZ7mJUxjpGciark1JaMvnmXosFTWcdhBXuSp8B/72MesAqjOOKNi/f39VKIaGslGO9cuAbCiVq9mjo0x7H8QYa5gIhHyhKsZ9VPzVgZiytNcKoXYR53ZFRrIKZ3oWGOIsp7KaW40x+qbzXyD3tS3Cy64AD/96U9xxRVX4h9X/QP7r1nDFVo/DWEOHAaTZpNyQsa3z/rPCLt2Qbrwq99ejsnJKdZxUJmsQ7K+BbGqekRiCaRSo2ioTdIA5aG5knyIhuZHSq2+bN26lSAlx+0kn0Y1A4GyOQQog9xmFshQ+dnJdRw0MLpRSSOnbSR9aWNXHoUpI42MfikKO8Zokox1Nbe7FUGQE5Wj1DgBjdPAGIPqZCUc18WN923AAxvSMJFq2MPw3Sa9EXjwI3zxxqce+dw65LnkQ2PjbXDtAJ3B4jp39Y/hL7c8g7wfQjUdewsBgUCY5LGzuw/a+gdr1NKha+sikYhx5TuJLkZUlOd7HpJcbCivqqoCHhuKUe9EJ0GjmGeUQU5fcxBwHTqSPLdsA+CQ1FORJnWeWM/nfCrxE/PYQb7v6DivR7rG0Li0Dr3PUxYmcmhczIij6tHBDvR24W/X3AiP1wJj29q7UJmIoipqrG1kdb6m+cCLabKsK15L15YsWcTbhvdVRpwBdSzGugV7z3UNnVKO1x7lcJxb3duRzY5SdorUqRCBtQtmTo+FlOw1eSO9Xzo3iU++6xDakDaWAecE7CcwymjG7659Gvc8thW1tTXWtvmqOytJLgcJjse49Zugg1ZEI82t8RrORz2BepCLvnJx1fU5Js2L5KqRUcx6ymI5v3xWGdFRtHleWwv23WsVtycnGO2qRX3DIs6NeG9oLyIWjE3Xm76nb5oa10VtQwu3aVPo6dqGpqY5WLX3waiobkRPXx8+8JHPTFd5iXfPK9kcY4xtyxhj5WKEC53jjjsO11xzNU477Qz8+te/wcMPP4yf/OQn2Lp1G3kcgH6rsYpyKuCm5yzfec5ZuOFft9GuG7zjjJMwQhDqUAeNMdh3331w3Q23wg2GUdavrVu2oqt9C7q2b8NUmgsx2lmvVECB0RUbESMwyfNafPeoN+3bO7G9ZxAZLspKXETI5mlOSxyD+KiyP//ZrxAwRU05AqEImuctQ+OyI/CjP/wL+hkb0ZKM7bE4hCPWRHHMgVEctm8ER+wXw/57RG3ab2UcKxfF0NoQZdTLR4Q2OhQMIsmxzm0KIhgwmN8SYt0ETju6wv6bwFWLohjP+NjeW0S+SJaaIN554jwMjeYpmymWdVBdCXT15a0sO65rF0aVXFyBkqq+ZyYnKc95ynnezsXo6BgJUUYJ6D3Kr3yTdF119BiDR/0q8b4KyR/prOTx3iRplQhgEwS9SvIt5fs6q9wbnURXUbFu7hg1Eog1NzdzrHE7ljSjdJqrN6pN5+UISRgkHJmZsKCc6+zycppynmK6GKXys/P/nWsxXYM1xkBOz+VEl+lpAjURxhg6wkkaMUlKOfflz+qjwEWWK3GNS20o/YqKediRx6J17kLceONN+Nb3f4MvfelLWLt2LQ1iybajcsmknGsJw1TKXm6hyLEsmRcE9dMmw+YpTzSIPuY0BLiN2YBTj67CHY9MITPp4emNUxgc9agYcSxsjaKDgn7HIxk8uSEP142wLQetjWHsu7yIP/8zjY+clZhejXHVE4/5+PCZFSgV81SGKbYEKxTGqFXsEHiHq8IuOjNjDOTUJy1YwA4+Ka+trQ1//etf8e53v9uOraury9JqaWlhWDmA8iG+a94llAJmmpdyXvlsjLF1pODlJNnQtc4hAi/NWdmIleuJpuRL86E2gjQO5TxjjDUYuqd230ihlwxIZtW26M+ZMxdfv/gb+MEPvmcBoeZW7RljEItGEE/Eod8dKvdt9nmC2/f6/Ner/oWaplbEawhkucpVtGHzuufRsXEDV8dpmqbpOVLZ2Uk8qmMEQs9NdHX1wHGDSBFA5QgyFi5ooyMOMyrQD9GbXU/XcQJXRTs0hh5Gjia58veVMZMc9r+qMoHWlkZuTwbQ0dmFIo2ZdFbbk4rEzRTlydj5DwZcNDfWY4hbfr/7212Y9OPIFozNl4FlIV4DAkUeBV28tDccluFL+QbG3vKIzOhf8PzWQZR4IVnMMloUoC7XM4rXwn4FgwFGPkbZtx7K4RRcx7G/QyawFWCewGNHJ/O4ReFwPLUElW1zmqFxeTTQo6kxCExITvVZgK2BACERjyPHtkTfJ/fVoR19JZNU1vMKHEcJ0/d5k4UqGhLoYwQn0RBHpCIMlfM9UiAIOXD1XBy3fyuymVFc8scr0bl1Hd5z0l4449g9cOjqFhgvD8kyyZCm3pUMsrQ1rusgOCPfJUYFSZzfwBgAABAASURBVI5lfKs3km/1IcoIWqEwRT3OMDI2AuOoT8YuUIKBgC2vO9BBAnLC9dxWPf+UfXHKUSvtKDUvRTr5COX20c1pXPKPhyBHpyi5MdPzoupKHseVIgjTwi0UCFjAIl7GCXYlAzHKl8rNTrIlA4zqVtAhansyyDmana9rAZmt2zq4cAzhyMMOZBRrAh09HqXCQ0uzj4ULQwiGRuCVcio+k9S36dFpnpW6u7sQYISspr4RA/3dmBgbxsLFK3mvxi5cZiru9tTV3Ud+ByzPSpR5LUTmz5uPP136J3z6fz5DfU7sVK+SuyULFy6i/rlobW2GAw/RgIdTTjgKv/7Vb/CRj30Yz29sx8GHHYmrr74W6p8iuJLRCTplPYh/55334tvf/C4u+9NlFogZr4h8dopzyZTNI1fgZ4Iz2RZKFOoaGnHvg49ZWfrdb/+A559bh82bt1CGStSXEkZGRvH0M8/im9/4DoYHehi9cgmKSjj7nedhn2POweI9DrT9LcucAHAdd1pKnNfRcR9DKZ9RqhL6hgro6i9gW3eWuzVTeOi5LDzqjuRSC7px2pt5zUFY8aBcSZA0ExQj1Fa53B4NUU4NDDmW4zYryeOuR7px1ptDiIYD+OGfx/Gxs6th/ByMmfYFWmwZ6nKedkx1gpR9LaqYbeeEpKBIv8MyAqpaqKkfvX0DkF2ORMK2j3kCV+mG+io9ke2SzVT9cpKP0T3lTxKwqXw57985i844gxTt7e1cyCQwf/588iGwg6TGJFCochliJMnZjszXeeG8VD1NshpxaTzVqBi3u7LGGMS4typGiRllBu6u7Ku5J0Ep01G7GvRL1ZOjV7tqU3VU96XK6r7yy2UFrpTkUHXWZC5evBhHHnmkBQKaZNUpJ9WVIl1xxRVYunSxnRiBDK0Uly+I0pGAyVBBDM8A5QwwgA/f7ssHufqQ0IDH/dy/X7OqBp9//wL86KKl+N6nl+D9p7XiX/cMIxbx8fkLmhEJF/DXmye54g2xBmCMsTT3WuriqP1Dtn31UYZEAqE5kC5VVCSwZPFC6Dj66KPx8Y9/nOH3oyj8LdDncvorwdicOXMYFeqjI5yErisY+VS93SXxWv2X0Elh1KbKST7UD7VfTpoTJc2d5EZlVU/8k1wpid+aM+WLjyojersm5Yuu7quO6Oj69Sb1QXTUb41H9Mu09tprH/zxj3+CeCYDMDY2RqPgozqZtA/llsvt7nzjzXfBCWnV5GLb1s3Ysu5ZjA4NsF6a4GaUglCC2szlstbYzqZhjEGSbdRxy1IrQkUegowyTmULdMYRrFq5lGB+Cn3cQsrTwM2uq2ttOc4lSMkSgAwy0rFrGTkPRTvkZItclWorSqAoGAqir3/AAgbRmZ2U38zoxw13Pc1t/MexpS9LO003RWtcoqWW0Zfz92F4n8PzVZsCz5O95LlY9JCZKmDtPvNx0Oo2gkIH/dw27Wfkr0jnFHQDBH8NjNxUw3GVN4wBOvs8nVaYfSs/X2Ycw34OQr9/lcvnSBnIcJEh412ks2W25VNDQx15HEBqbJwLplFECSwc8tZ20L7RDdIReYySiYj0xWcUwl4zn7nIp/PgkNCyshFuyIXAGDhmyafHc0NNAmcdv6fdFnzLoUsZUTEs7mPPpY14z0n7YNX8GuQ5x75tw4cxhoCoEir16KOP4Zx3nQ2Bb3IMah88JJN5Op6JiXHScxHmAqbEKIqiF+KDz4I2YfqQDgQI1k5YuxjvJRirT8bYRZ9y5RNGOHhw3SC+9qtb8eTz29BC0GuMma446z3NCFgvtycdZzpPz925jsP5qEclbcisovYyx/7JeTssP69tDm1+xN6f/ZanbPb09GOcDv5NRx5CGxXG+k1jCIXrsHxpDX79s6/gUx99Dy767H/h95f+Ep/+7Lswb14TQO6IH7AHQWowgp7uHrRv24pNmzZhYGAAFckaROMJ9HVvw49//Atb8uXeAlxYKF+8jrPeNy7+On7045+gqamZfCop60XpxLe+lbq7BfvttRJBp4RoJMg247SbR9Aeh3E1o6N9BIlDQ0OQ3EmfI6Ew84/C4488hrvvvBOnnvo2C8A8bkWWKMclylueOid5nSIw17xGCLwPO+JNePf5H2Z0/lqO58e0z824/vp/4u9//Ru+cfG38fX/+yZ+8uOf4/prrsWS1gia68JIpUu4+Ds/w7Ennml/q1J2U9Eax3HI6wAq4w56h0r42y0Z3Pv4FO5jevDpAp7eXMLG7SV0D/i47MYs2la9Gzpkn1tbW3SJuY1Byp6h/hjSAkLcqUlPlnD9PRO46YEJTGQ8BMMxzGmM4qZ7exhBc9FY6+DWB3Norg/h0L2j0A+lFym34ovkVQuG8udqRuEGqPdaHETCIchnbNi4BVEuHLSQrKfugkeJixWeaJNydgejqamJ0fIMQtSJOBdZxhhlvyiJB8oXXfkV6dSLCr2GG/IRek5MdBYuXMh+Rl+ytvoW5eIlxx07ta2xv2ThV8h4ESDzKEACYmKkAJEm/RVo2GxjzI4wXrm+zXiVbxpElgIrRsgBa4CvpqoxhsYhZhmmunkaDtGaXVefNR7RV9/KKc2VjRiozxOMdEiQ1PbsurteX3jhhShSwVpamrnaa0SGhq22KoShUZdGERRqwKHRGk97eJz77r+7OoV3/3/dVIi8FULR23d5Ai0NIdLxMZVlynn49Lc3MPoVwnCqiG9d0okN7Xmcf2qcAM2oCta3F3H7wznc92QO//XOuBVYzY2EIJmsslt+JTonGcP1GzbbOj09PTj33HPxrW99C//4xz/sWdff/OY3kUqlMML98IaGBvtMkzHT7diKL/FmjLGKIQEUn1VM/JIizE6aO/VNSqIyRSppmc9qd3h4GBJ0YwwkbyrzSknGQ3Q1Rs2z5vSV6szOVzvleuqz5np2fvlafX7rW0+0/Dri8MPQ19dnDbgxL88fYwy2b2vH+mefwBCN9iTlSe1l6aRuuf0ezn2FbUL96O3ptfzf3RgULdPX6rds2YY8jXplVTXGxtNYvGghli1ZiBFGhFKManh00pbgzJvrOGikUWtqrLcRtlGVIYCYybanUChIh1tntzu1kOhkRC4ai0I/jzFk56S4AyTYCnyroBGcw4jBPY9uwnX3bcUE5bXctjEGxmEho2QIaWDrlwjYJiaLNkpcEQsiHApg0dw6tDZUIUYDLJntYXRZDl4OK8EFnSJiFQQCk5NZGxEUQPAIllR+Lp2GDHmWgLObDl/P+gm0slUE6XgbCRwj0TB1KYd+PVPkAS7vyyEISKicOucTJE2nEvupxIJwmOWz4yzFk8NtwxAd8aa7tiIzPAmfPPRZgrnY1jNCXpVQpJ4VGfFTKnGsNJmM9oCyDBy651ycdexKxEM+FCUA6wocOK4D6UE3tz10Fj3l+ZxH13UJ0ibImyjEW/U9GouwJkswX2XYNejscetr/xXN+NR5hxIENrGAISlNgouOwSn85IqH8OT6LrTNbeWqPs68nV+KVvT2DthxyHnJSepeY30damuq4VCOZtcocZyjXJioTAu30aurk7Oz7bVkeogLgRRls0jerF61DLfccR/C0UUIBqM4iFHFX/3wi1i1x2o0z5mH9MgA+rdtwOpVS/HN734Kn/jEGWhqrLa0YMEZuO3lYvPGTZgYHSFI2srtRM4HQXhNYwuefPJJvNIR5XacQNB5552Ly6+4Egcfstbargjvi/9Z+hrxU3T0+dprr8UDD9yLhXMbEODiORgMoLqhBamxDB595HE4rotF1MEh2oNAIADRAQ9FsAa5UHr26acxp6UJo6MpK4dZyuoUo0l56r9snYblOC7mLViK097xHqxYtTfy9FUkgQsuuAACnl/96lexfMUqNFaHsefCSuy5qMo+xrClN49IcgH+9o9rscfqvcjToKrZdN5559H/RaxsXXh6Nc55SxXecVwl3n1yEu89pRrnnVSJs4+vxJsPrWCkrIT3Xfg/dlfk61//uqXTzwWZ9JPqAg4ZQQIxydr1d6dxA8HYqUdHcOHpCSt7IYIiLbDmNkxh72Uu0lMGdz2ewyfPrYVDn3fYvjECOtf6IvkD6bl45ZJ32pZVh+tqariYmoQWkOK/dN4Yw/FvVTbbgV0QhLkg1ZfNVEY4xHEk47bIy76pLbXtUSnl30uUx5etsEum5kq7RQLdAmK1tbW7lNj9R/UvRjsmuVC75bndfend3xW/doxSA89SSJU0IBHefbWXvxsMBmkIElZABHReDUPEBA1Ck6e2X76F3ecaYywgFGNESzQ1Jk2MmDPJUKb6o6R8Jd0bZ0hSZdSuJnP31He+u2XLVmzYsAk9vX0wFJSD9gjQ6RRx56N5/PJvE/ivb/bh4t8OULgK+Pg7o/jkuxJYtmwZGhsbLaHlC+I0iAbEdVDbp/33U/jDVyuxZmWAKzGDLV0FHHHBAI7eP8wQtc/9+xKO+/A4vvuXufjkDyP4173AXkvVZpAKFLArUo1b/NMYlFYsX4LdHRq3BK6qqsr2R/V2V+6l7hlj2GbQPmem6JzKSVEljAJMmn+1L7riv+RJPBef+/v7rePRfc2Jxq76ryWpLcmm6EqARevl6itf5ZRUT/Vfrnw5L8SV72c/93lcddVVaOP2rjFmhxEul5l9jhJorHv6SWQoT5OTGVhjzCjQ8+s2YXQ8gmi8xhYXKGpoqLXz3tXVTWCdtfdnv4mHrQQhRQrIM9yyEGBKE/iPjWewcvli1NRWEygOQitLGc/ZdV3HgbYx9RyWok16dkw8mF0mwhVqa3MDt/0qCMpTFvDFaUy0dTXErXjpLHHA7CoEcXUwThB/veVpPN1VBNwIHOPQzxiWIxhjBY/gZSpbRL7goZJALMIIE1iib2gCl9/4JMY5VDl9PYQfJDic4Ji6e/o4jinqio+aZBVa6dRkjCcmMtC2kx0jgVRtdRX0LdN4PAZjDMLhEPTFBQG1ElfV2g5Ns46iSlOMUKlXgYALHQJU4pP4wF1UtuVZ/nsEfB63lfiBxXxLN5QIIcytyhKje47rQKjIK/qYTGWxYfsoHnqmi/V5m2O19HguFBhx8YFQwKFDclBTFcU5b94LZx+3CmkCc9kiyxtuKd926x0EBsFpGqxDtrFtIEgnLzBWHp9PupY+c306l2KxgDn1MdqSQ3HMgQttl1WXeAnpvMGvr3ka19z+LBoIymuqk6y186vIRZFA0zDnV22kCJ4mGMlS5EJgrMyrci31RfMzynKaM9Et55XP6t/ERNoCaG0V66F+gZZHHn+GtjjJPhZRX+fhJ9/5X177CJkp1JC3rW0LUV1dg6GuLRjq2IK9912BH/zkIrz97YdRxwJcrGWRqGDE6J8PYsuW7ShwPvWL9vpRY/2Om0MZL/dhd2eH4GDt2sMYcboe7z3/fZhd3hhD2QlzDkJW92SHBJL//OdLce99D+Ce+x9GdW0DnGAc7Zu3IFGZxIUfupB9KmCQ0d0+RutOO/3tVlb+9yvg5womAAAQAElEQVRfw+8v+SNuv+029FKO45EwF28e8xy7PZkjGMsXChAv6xuacfSxJ2LPfQ7AGAGunklKMyAgO6Y+aBz/8z//gyeffBJPPLcNF//4cvzXRd+1z7g+//zzuOGGG6AdHNl4lS0nPQ+XiFcQRAZQEXfwqe/147M/HMAHv9qLddtyGJvw2BfP+qNYw5E4/vjj2ccSPv/5z0P+T3KRIzAMEoQ6rmEQYQp/vHYUbzsyjE+dW4mW+gBqk1GOyTDqPILWegfnvjWMMHX7u38Yx5c/WD8ThAD23yMC0dO/FJPNl3/Q2CT/YQKsILHB5q3tqK+vx+Yt7dQVl3ZswC5EgsFAeUhUOcrzr3+N1tZWO087Ml7DhdpLcFtd7Wth7FGHXq66ZHmAc9vV1WX7N3fu3Jcr/pJ5krWKmZ0mBXnEj5csPJOhMuKX6jq6p05LOIJkmByr7v27Sc5PtOQIxRANeFeaJaJXdVp5GsSuwrZr+VfzWTRES7RTjAJpXEoasM5Kuh6n45QyqI+hUOjVkLZlfvnLX+Lwww61CqB+x8JFXPi1Hvzvr/pQW5XFR84M46sfqeM2ZC3edFCM5SIYnQhBYGzjxo1WsBtrI4hHDcYzBVzw5efw6GWNSFCZgsEKJGIuAcAc1gvg+a1FGnmDz/94DF/98kX4+U++g5/++NtcBQ8TkAWt8Bfo9F3XtUrmOIaG3rfX69Zvsv0tv2keJGwSTAmb+FTOe7VnCYzqSdiVJPC1tbVWaaR0xhirZMYYa8Ay3FfX/Gq1McwIjNpWOQkg/o3DGGMjopJXydZL0dN9GR3Nb5QhZWPMa261pqaWofOf4ZJLfmvH9lIEFNl6+JEnoJ9lEBgbHZ3A3Q+OEFzHkKxZAJdzw8nZUT1BYCFgJuOs7RnxZUfmzIV43NLSTBCbwbb2DhjSGBwetfO7dMkCBGjEBGgkAzNVdpxiHK9+rytAUNI/MIwcncOOTF4YY5CsqrCrepeGuEfPbrCMAM7A4AjHweiQD9tlFqXcgmNwoW3Ejo4e/P6ah/HUtnEU9DMZRAbZfAkTkwUa6gCiYZdGdbousxjdHYDmXg9Uq69BblUKBOj3rBzHsc+AaatLdsh1HEZL6izYMrzuZ8Srs6uX/c/DcQz0bdA5rU3seyVp+lCkrJ/jC5Cm/udfPB5FQ30dNI4sAZDL++XO+AR2Pm2Oz075vAYPnadBGgfLz6OdY5gYSGPBgW2IVEUwOT6F7Y93IkDQU1WZwBMb+zEyNkV+GNu+R+AUDLoQD40DOJyjgOva/C1dI4w+1+LgA/bBvLZWnPfOt9v8yspKtqSX2lQSr3zy2idNTx9AAvYsGa6pCOG93A49+y17IRQkb1mlQMAIE8STW8bwsyvuIZAJWTCGXQ6fY5UOaHs3EgmTjwQWQ8OIMzLa3NTIc4w1SJDv5VeWWy+DLFNRkcAcboVLf8p55bPsiWRP/WxpbmBfgXAkwjGAfalEa+ve6O56Ev/z8QuwvW8U4UQdgtyK9AiAE6EC7DzOX8x7DjY99Si+c/E3cPHXv4Jnnr4V27Y+SEf9POKJZtx17zZcdfX9GKH9yE2l0dvVMc2jckd2OUueLv3Tn/DVr32NNkJj26XAzEeVk02Q7YzH43AJiM98x+l48OEn0b5lCwYGB1HXPAdXXvl3gsKt6GFUO0z+HXjo4dhzz9X43nd/iEaC3zCBRpj+Y4h6mRqbQB8X6fl8ltvWOdvPeLwCBxx8BPY/6AiEIzFrs+WblMp2UXZSdkzyLzsgWyKgdfrpp+Okk07ivDZAtlb9VV81H8aYmZEAV1x5Jd7K7daLL0lzOqbvewjgO39M4cqbxnDRj4YQr16OL3/5y+RJ1NoP+QBFEdu4/SxSmzry+NmVw1g2z8EXP5DEgtYgGmqjiDJafP9TGcpBKxoZfV+xwKV+O/jDdZM48fAKNNcFbJuuY9BUG8CKhSF0dHTYNiQUdXW1lAnfRs0cx0FLSwsGGFEED/GAJ6TpJ/K0PcIMJ554IlKpFLSzo7x/N4lnYc6ReCyZlT7sSlOYQNuTsVgMCxYsgMrvWua1ftYcVRCYaT6lf95uAKHuKU86rnkNEn85cphilCq7NCSvteGXK2+MYTg1ZgcohuSJxMUQJTFBDFK76vzL0XkteaKtdjRIDXiYiqzViACYxlpOYroE4LXQVlkJi7b6Vq9exY8Gn+Qq4h/frcElX67B0QdEOd4I5rWE4ZsAtnS76Ogr4tu/H5wW2hn+7r0shm1dU/js99bjtl/U0cg6NNQVOPf/dWIsXaJAd1nFPf9LI2wDCIcMV3M50nAQoXDp5t9vnYJLI6Ixuq6jW/DpHBwKvct2jDH2yxDiwwCRv37Ebs6cOXRUlbbsa30TXSXRVhIwU5IQSZjkZMR3zavmWmfxSm1LKNVPnV9ruy9XXv2REmnOJdhqQ+V1Vh+MMVDfjDG6/W+lVatWQ2D8pWS1s7MLNTXVmOKW23OMiv3yt3/EhvUPTbdJZSxy+3H6g/rCpBf7paiCUi8NuWRVfZ8uN/1ujGE0IYlWRsz00H8mk0VNbR0Uvaikwu+5xwqMMQrTR+BSUrhkutqO98qKBFpbGu32Wf/gMIoEJDsyeUHy9iH65qYGyo+HTm5jVrCO47iMfPQy2pUHfbpNKqsUjUYwh5GsTR0D+N3VD6M/E6CMhlAZD1FGZYZJmC9jjP181JpFXEC08I5nn4OTs9dWZTAYgNoVMFQUQc+IKapXYmQwFAqilf2ura2B4EJP7wC0vVZgnvojgNnH7RaVNaQcZHk5jCCNWobR8EFuoamfAeqC5EM0PEbEfFLzCcZeSCV22COF6Vfzikb22aDEKJ9Pfg5tGEJFJG7vqYTk/JHnurhF6SNEsBtkoi+i/hq4jgPXZeKN4fFJjOXDOOPUt+CW2+/FYYesQXWyknQceNRTzBwai6+3mc9itD5Lb9kLvO3wZdwyOgBNdQnWNYyscwTGwdPtaXzr93fikWe3Y05rM9t1yxR2nPN0cvqWY5E8k0Pv6x9EgP1t5hZvJWVnR0GIg+BcFzDICJrKz6OjjhCAvFBm+kqAWt9oHSP4ULsRghHHcRkBTqCrq5fdn+ZliVuraw/Zh3I6gYG+Tqx79qnp3w+rqCEhF76XRTLCWTEhvOfCT+PPl/0NSxcvhObsiLUHolhMY2K8HYMDG7Bx0yO48q9X447b70KW25bGGCxfuph0Xvz67ne/i6XLlr844yXuuJSPuro6vO+C9+GKy/+KvfbcC2877RzcdvvdnCcP573nXLvgTDMS+OlP//c0Fc5XT08PxFv5sAkCCodzPpJK4c477sCqFUsRDIWweq99ccQxb0VdfdN0vZl3za9soc6qLxsp/yQbpiT/omCB5qzsp+SrlKJcaCnpWvbXcRxr4774xS/innvusduRh609GA0N9Zg/fwGal5yE3/7hKi4oL5lpHXY8v/jFLwjO83bhLHmMRTx89cNJrFocskCsMh7ChvYsPvz1ftz2UIZz240B2ph/3TeFpzaV0Dvk4cQjKsDmwaHDpQtyubA76/gqguwQ7zuY5FxpLGv228u23dbWBkUj+7lTouDEZz/7Wfvt1h/84Afc5RmHfMZ1111n69oKb9Cbw05WUN5lG9RGGQhqDtrb29nPSWh7Uvx+g5rcQUZzpTRJm6S51pwraX51T3may3IFRx3VxJZv/CfOYogGa4yBVgUSPjlKOdM3sj2Pjk+D1mpDDllJTM8TCEro5fDEDLVrzLQReq3tJ5NJPPPs83jiiafslo+hQTFOBfRvLDJZBz2DOa5KRvCp7/Tjvy7uwld+kYIbSuJrXLGpbcDHc1sy+O0/2vHPn9ZReIPw/ATO/lw7PnhGEkeuiVmFMcZgeMzDyZ8YxoWnxfGNb16Md577Ppz2jnfbLk/mDJXAYdmgBWsyLAVuSxSZJHD6/IUvfIErux40NDSgqakJ/84x3fedKagd8VdtKmme9VnGSqsk8V81NCe7q6+8NyJJ0TSnmmcZAPVF8iUevBH0yzSWL1+Oq6++GrVc9ZXvqY3lK5bDGINkTRWu+edteH79Zsyb10ZDNU5HdAM6Ox7DM09dy5nnSpFGSnJarm94ISfZ1FSPcDhEMN5pn0Ph7Z1exhi0MoQfi0Wt7AWCYUYQKjE0PIJlSxZh8cI2DHBLRUBtV15rXhq5mm8h6BogKBsdG6fM0RnOaiEUDEAAqInOup8r2K7uXlRVVUFbhnLSJW4L0g+hnFQ1EYujbU4rbrn7Sdxw/xaMTXqkC1ANbTl2mXxRSWDvZc1YNr8BIQKmbC4PRWwEJH2CI9mGVv0UBsemqFYXt3+0feoTuCR4T8+baNzqi/ol0DiWGp8mzHcBsTjLWbDAvhcZNRagm8rmoGiPHelMx9Wez2uf7U4nAhz7mYT4Gtg8iOq2JHqe7UVuIs8FVszOmxY/gVCY+hZC31Ca43BZmi9OoOMYOhFDfTScc9jrlroK1MUKuOwv1xA8LERtdZIAtw+G1Lz8JBRFYbMAP/Nt+p03fCbxevWiOnzuPUdgr8UNdJoe8gSI4utkweAHlz2Eex7ZYIFYnJFW1Z+digRgil5NZaeo+3WUi2GkCBYa6aQbKLuSh9nlJY/ampTstBJo19UJNM0uAc6pZ7e3ByhjklUtIgTuI4wqjIymGNXaBgus1UlW7etbj4u+8EU0ty3BwNAoenp70N2xBc89vw55k+BOQCWeeGY9jj7uFNL2WQPYuHmrXTjc/9Dj2Gf1Sqxe2YapqVHoSyslLiSefnYdLvnDn1HLhU9qfIxAJIZ69lWLpEgkAv0k0WGHHYbXc+jLTvqi09cvvhiyI5/9zOfw29/8nvMFSJdXrlphyfocn+ZIW7O6MX/+PHzms5/GwgXz9BHnnXMGjjzyCJzwtndg3oJl9t5LvYnvspfKH+eOzfbt2yE/ZYyxEaYcI5Xqi8oFqTcaY4z8ls9Wkt7oc5iLdCXN60c/+lF8/wc/xjXXXIvLL78c2gZtnHlURu2Uk2iLbm9vPxqqg9hnZZgyGkENo8KbO/M4/8u96BvO4Y9fq0UsQqmlXGrc4xmPIG0I//vh+mlZZ1/5smR7BkvU8wjnbMr6NW1jq8+PPvaUzX/Pe95jzwLAS5Yswfvf/3686U1vwvve9z5oPLKltsB/6E38UTvi6RZGQbu4PTlv3jzqSMN/qMVpssYYG+HUHEoPlSSzmj9jzHShmXdHEzNz/R89FQkUBJSqq6utUZOz1gS/UY2KltrQeIQ8hYTL0TCdBTrjDE1ns1kr7P9OuxIm1e/jCj01UcCfbhjCORf14rgPduH7fxymUAbw7U8yavbVBhhTghx5WWEAgyfX9+E3X6qE64aRzUew4pSN+P3/NuMA7sGvXhyyBqEsnPqRvbcRlEXCDnp7tnMVkWE9F3PntlpnIz6Ch8avOhI6ndesWYNabic2EYiJH8pnsdf9Un0ZRaUynyXY4rf6IB7LqCgaKUUXvyV4Kvu6G30NcwYrpwAAEABJREFUFdUP9TFJwFzu12uo/qqLNjQ04Oqrroaeg1i9eg/sf8AaRsI2cJt5Lh548Alo7GViUv62uS0oFUdhjMFd9z3ECEeBzqkfUwRm6q9ckZLqCEToW3EewY+MhcZhy8wYQ5URX+UExsbGCMzUHhghyyCdmcJKrswl4+Vnr1R+dpJszKPcyMH1MOIkB0zMMw0GZgqGQwGCrGZUJ6sgYDY+nkYF9aarpx9yvD6BzExRe+Kw0EiwFwiGcNXtT2PjkIsSpo2M3h0WGExl8MfrH0ffaB5y9nKixhiuitPkxYCVd/FAoKWJoFHym05PWgCj58F8jr+ekTIBxnA4ZNt1XAcCj0lGnTz2SUBhjCAtQuck4FZidCvMa2h0rC/6Sp6iZH5p5rbAGCM6zIdRLhBOhDHakUIsHEN1dRXBlYMAwW8gELTbUGlGIwtkmiJ8qqHxGY5XoMwYXjGBhzEGR+63EBeeshfGRwfxw59dggcfuB8XvfdwfOysg/H+k/dGPpthJKhE8CpK4HUR8YiLT5x9EN566FLe92B3JknLg4srb9uCn195H8S/2tpqtrLzS3waHByGHtSurEhgkFvPfdyKrqqssFvNoWAAsw+V13aRQL3oCYw5jjO7CPvgI53OoKOzh04zjgZuB+cZeYtRJgoEfps2bUGY0UnVH+a2nc+5EHOz2TGMDvWgvrEVe+5zCOLJRkZZegg4etG+5Tk8t2ELPvjxL+2kL5g5BFKefm49pDuKIMzctifNa4BRPkXp7JwUSli5ciVuu+027L///rbM63nzKQOyIaqrhYgWP/ptsp/+5Od2XnR/dvrQhy/E9773LXzykx/HvffcR0DWhjcfdyxOf8d5OOSwN80u+orX8knSZ4GXPIMHClqk02nIbqtPuieeGGMs0FE52RbZunIqfxZAM2ZaDo0xL9m2dEw2LMpo9+hECbVVUWzqKOGdF3Xj+S2TuOp7DTjtTXEEAgapCY+6kMShhxwIYwwiIQfyR45jGDQocWt0GItO3IxP/KgCf7t1nHVc9jMAycMk7Zw6IfCh59Z0LV4LC8g3LVy4kHLRRVswbmVN+f+ppHblowR858+fb4GY+qH7/6k2y3TlNzWnss9Kuta9cn75TP1zIGeqCS/ffCPPclBqXOfKykpOVoBh6ShXN3GIGRJGvEGHGKtBSoBFV+NSGxLgEEPIEkIJhspMMoSo8q+naQmytqdE74n1Uzhk7xB+/oU63PizJnzpQ9VoqA1iktEy/fjrA09NQtEiCZ94MLe1Hp+7oIKgKsrtySDWvHMz1l+zgCtuQ+MPNNYFrdCDh/o8QcWsokEdSxvEEjWQwwpzLCMjo8gyAhDhypBFrWETfdXR1uRPfvITyCHps5RUfBBfVPb1JvFLAEt0ZCjEQ6UMQ/bD3BoeGRmxfVe++qJ2JVfKV93X2+7L1VN/RF9jjTKcT4HesRpR3zTXL1f/9eSpnX/+85/48Y9/gu999/v43W9/ZaNag4weaNzGGPLhBcqSF4EoAQXJXwujQfol/u7uPhTo3F4oOX1VUZlAfX0t9L/0Ojs7dxiq2TwUHW0BpDOT6GFEKUjQMDY+YVet2sYUH7p4v8jIwjTVF9717MiCeXPsjd6+foLEomDLTqmSfZhHMKlCXT29XEQF0cjoWTeBWcFuv/rKYt/sCa7jQFGudes24g/XPoJ1XRnSM0zAkxt6WM5HSpE5RhiCgQDBVD0ELFR7gCBCwEEgR1uMiuS1NDfYOgMDw9zm6EO+WKB+OBD4m9PaBD247tP5Zzj+/r5B6k8QefYrTMCmMgJqOS6+xAdfvWB3fYIxEmWT6hfvsr79zPmaLsJCWd/SFngJMioRDIWoW6VpG0lnqYmtjCmqDZRKLC9qdEw8waNT11nJI2grkveUBLzv5DX4/PlH4IKT92OWseNIxML4zLsPw5H7tMLziiix7x86fX985MwDEQkF2S3DLSUPOSKyx7ek8O3f34GpXAEtlB3s5pik4+vo6IZkR/+Kp5/bS1FuOc5hxEvgbNcqBS6Q+xhNjMYiXEy0cn5Duxbh+Ercwu61/RU4UoEQQW4kGsPGjVuQoW1qJoAWj5WnVL5euXIF5s5fhJ6ubRgc6MbSFXthj30OgQnGaQ878f++9HUYMV2VdpPy1Isr/nodYgQMxhjbB5/8HecCQeO76647LAgTEPvNb35jbR1e51EoFCz4kS2NzrIhjYwsfec738XPfvoLKHJbJj97ntXPp556Gu8673wcdexbEQpHysVe8exRF+QbVVBOWv1Qkk0bGBiAgJkAhPzYJP1VlvKsPJUXn8OcCwGxmpoaKAlIahGus/LLyRijKjuS+Khystn6zbgCo6/v+J9OrN+WxrU/bMS7Tqygn4a1JS7x+diEjxyj2vfd/5Cdh7F0CdfcOW1rvvD7+fjl38aweNFCbNm6FY9vjsMYh3Ud0gigfAgAqf8ah8YkPmvM0rFly5bZYvqmqcrYD2/wm/yfvhzh0E4pQCLfrfbVD82B/Nkb3KQlJ15r/vK0HZXEP/LHSrrWPfFDZWxhvjliiCaV1xalSkh0/UakDB21GCznoU7MpmmMsdsBuq8JUudm57+ea2MMxHA5YU2ABDbGEC92OdSm7qtNldsl+1V9HCEgEiPfcXwC9dUuV1E+o10+QRYlmBTiUY8RgwyMMfbbMalUiobXQ0fXAB56NoBH1gVwxPlb8fRf57M0WG46tdS5NMY+JDCJRNyuNOTI1JaMgk9Dn+Pk6ttNUk4pVJRGqzzWeQzB/v3vf8euh8YboCOUcIg/u+a/2s/qh9qVACuJnhS7XF/zXb7WWbyW4Ou+yuveG5Ekp1Ik0RJ9nWcnyYHGrHKSQ/V7dv7rvRYdyYzGU5br1XvuY53D+e99N51NhzXu9B2cU7OjGc3nHG45StcGh4bpWJugKJS27gQ6RHdHYV4YY5CsrkRDfR1pdlrAt2sZFkMyWUVjXI1t7e1IjU2gurYeA6SvbQF9I3OIUQu1sbu6AjXz5rYyAjKJvv4hK3eiWU6CG83cSlXkRHK2bv1GVHO7KM8twe10/iVG8lRWY9VZKU590zbm+q29+MMNTyFaWYs3H7wMey1tpo4U2c4ghkZSti3Joxx6IhGDwEsPt08EVOXwHMflFmqTHZ+AWi8jevpSgEf5V3tqu5dArMgojfrpMmrSRHAgectyq2dwcJgLvwj0sL/K+3T+PgGYzrxkEIe1mOExWubzrL7rvgBHIBhAMBTmLUPepO3CkR8Y3atj5CyA8966D8JBlyDQYQTLZ9896HA4ZzqXk4GhPTLgCcaYGSflULcNQuyvyu+7vAVf/sAx+ML7jkKS0Tn1JV8o2fK9mSC+ecldeOz5LsyfN9faAuxyCNBv3bYd4lFlVSWjDb1wHYO5rc2oY1Rxl+KW772M7Ge5mFswfy40X7sr00PgPTKagoCY5skYwy3yCoLjHrS3b7eAWnXV33J9YzjWmQ9hAuOenm4k6xqQrKnH1o3P0qlPYu/9DsXCZXuhvaMHA1zAzBR/0UnApKqqwt5XG1mCEcn3t7/zLdx88y30HQmb9++8lQiYZUOM4dgY8duVluu69iHvyy+/guBo1P4+mHTfJ5BSUh+//OWvcnvwOtTUNuxa/SU/azyiI/8jGyIfPLuw6Oqz7KUe/9Dzv/KR6qscuO6rjJLGoLICk5WVlfYZ4QZG8dva2tDS0gItBo0xVp5UTnXUtsrrsxKzcePPG3H+KQlEKfaRkM/FgMOFmqHMGmSmvB06sHbtWuj49u9HocjaQM+ziHPb/J1nncZFSwbtnWOcmyh1omgBvcqGCRz1bJgiUxqDMcbSK/ddZdT3pUuXQra6nbZsdp7yX2/yOFcbNmxg3yawatUqu1ifTcsYw8hvBTTX4vEb1a7akMzKP8rmRwn0dW920j0ljVlzojxHb0oSClVUhpime683SdDGuKUih6j0cnQcIlZNhs6q8//z9iYAlh1V/f859y2973vPnmSykUBIiBD2TYiorCoqm4jyE1H8KyAIyA9ZFVEBf6iAGHZBQDBsCSAQdgiCBLJvM5PZuqd7pve9+/2/n3pdPbff9Ot+3f2Gnq6ue6tOna1OnTr31H1vUOB68OX63F3OLwkT3aDFxdMNtKMzsTV+MBQME4VgqGuArNn01295i5HxovPyi/L2dx8YtUf+7qD98h9P2ONfeNh+cNO0HTq2YNd/ZyE4wLe97W2GThgDzdf90zF7zTsP2vX/ss8OHM+AJpRsxq2/J6tNJBPgCfrmtflhSBjKuJ5IB/RUyzUDcto4wMd+wiJlsXzkIx+ha82CjpljOpGZeqsFHkYUZFLnlEnA+NbTIYYHHLa1oKfzrdLFmcE7OHBmzO96uKCJPaAfynqwG/UxnvWBLJRS+N9+1nPs61/7uvG0ilNBHzLLFWcIfK0ymrt27ZLDWrQxHX/tUaYqm03sPh0J8bUEwKSLa3PtU7aorjYXPu0F/XQ/1+iArCj2/qMf/diymo8kk9ER46hdeP45enrdaxxj8vIx8Oni7tajbBzZLYKe8fHJdHe4zmYzxntcZLSOK6N2TMdg7e2tctSzNhA2VYU5hQC68qeRNdjdYf/0ka/Yf95wh11w3i570MU7DBtkLRwfOGGTyuown82NjUbmh2CKT6keUWZvdGxM8VHBGhvqbaeCC7LCE8qG8Q4Z5eSpMenV5PSXrLenywgO8B2DyrbNKZNUq00AeB5etAgDXwUCMi2WUINd96rMVBfUzrwReCZJNgTVk5OT4SGKub5k/w77zUfvsRf86v3lvJOVUqPALCf9zC8UNKdLRjAJrkDQ+VtUjNQsfj2URDe0ApdN3OBb5G1eGTfqrt4+e+uHvmP/ed33bZ+Cpjo9cIEpXZYUmBI0EXz29fbYgPR5UhnqPgWlPd1dARRcXMSa9/LQ+17ZXFdXO11nlJGRUTuqwHiHspCtLS3GOmvSRj+q7Osdd9wZHiI61zguBVE2l6UK5e6777W77rzT7r7rnvA1Dz079xjze/cdP7X3vveaMG8BsMwfNki68C/Y2yMe/ojw0voVV1wZNlfa6d9KQe8ENshWiQ/Bx/KpP77LcceOPfbFL37Zrr32C3rQvtC+/vWvb4oFfAi+sk4bNL6g3OAlBRLwh/9iUx8YGLAR+VuCBu6xTXBRWE/4GuSCV/wdBfzonGwY9PC96BU/Ad3vf//7yizmw36Tz5nldDwp05SNmtXVLmm+CjYzn9jJMa5z4R09PjTBPja/WGOP+/1D9tJnNWouF+0GHdvW19eFgKqjo90yScbgBzqveMUrDNtEJnhnn6eGH3RBuy3/dHR02N69e/UQesh4bWO5eUvVsWPHjHfFyMB1K0hdDwk+lDgEu0LHkff1xpTrQx7mCv2Dsxwc7e4egkTmCboJjbG4uzGRFJTFRMe+SmqEQdkZbQakTd29kmEBJiqECWKyQuMm/jAGA0bxKIGFRvBBjTGyEayFzr0oM/3IjLhVOPYAABAASURBVDLXgku38f4EaU93t/d8csKu/37WXvQHv2vv+Zd/sPtferG946Nj9qHPTRjOmWAqjn3MYx6jp8RZOzW2aJ//fzutu23J9vQs2oFjGZ3FF6diR1dW4EtK1dfZ+eefq2szDJrF8+1vfzt8GoRGdJzL5Q3Z/vZv/9a+973v2Zve9Ca6NiyMZY6ZXxb2hgNSABgqY5hrdOte3FBSIGUv0XEcAw5wlQVeowPboMB7Pp9fA6J8E4sD5wZdnFd5yDN7kBXbYHx0ZmdCFVtqFHBdc8377Wtf/aphS4MKWJDT3YOjK0JZWIS79RQ7MjJmuVxNyAZNKUA5fPiYTU1ORzCNSSzR2CSTMb46ge+O4kkTnABRx8K87t27x8Z0rHPTTT+1JJO1ufmCNrBJe+Bll1pTY5Pdc+BQOOpmbLpkMomxUTc01NkhBYezs/Pp7nBdJ4e7S8eYbcrKDehIbESbN9ccjZ7SNXwEwOU/mSSxfgULdTriuvarP7HJQqPuuxWwtkouF5/jIWNGdoyxbPTdCg7dPfB8RFmaeR1Vgq5L7QQbWQU/rgZXJNXd1WktrU3B8ZMJJINWq2M6grpFHU9yLdDVv4pOCiErthTGKZQUpoJgCtahbA4+ZGJi3Bb10JCI/x0Khp/1hAvtkZd2myeizK97cU5UZ9SmJmXMivNEYJZ4YplMhEksEUySFGt3cS4e9NdE2BRXKbtltqSLXDZn//nNg/aad/yX9SozSdBrJT8aGnR27NhxI4M6qAD0iALYVmXHdvb3hc21ZEjI8hHEFj95tyvovhRmUjZ34MB98v/11tPdKT81Z/UKqgvmduutt1uiumc50ItjmTOu5/XQSNBUk8+Zu9Nk89rIh2X7J08M2O233W4HDx6weQUZO/futx//703KOA0HuHJ/2A94QOnp7bXvfOfb9uq/fG0ARY/4dW5Yy9SbKTzQ4ENYxzU1NZsZaozhfbXXvva1hs/do9OIShEU7WpCaz0XfHal45aks0wmo8CpRutlLAQ2+CJkn9IxJvJQkIlCgMa84KsojAXO9EPWnDZdht9BHYvO6ijSPGM5BWPPeuUJ+7VXZuzK3z5mD/qtY0oynLIZ+QF0bub28Y9/3Pjhw2IkB+oaOuy5r75XNpe17//gR9qz6m3fvt12TAE9/YxDV09+8pPDWoNPeGevpsAXPLMPwTO4Y9m3b5+RVOEYk0AltldSg/fWW2/VGuq1+L53JeOAyWtfIX6AV/DQVmlBBuIf5qy1tbXSYQGOeYJuEu5K/rgXozYUCoGNNjAYQGkYXUtLi4G8BGVFt+4ejJ5Nm4mb1dHDRgOj4hhTq80Q2tQsHhZuuvD0UA4f48CBrJVMxF/91V8FXj/3zYXwfsHOHf16osgbLz4eOLpgn71h2p72tKet+rgx3ysD/cnpAlUoT/ijSXvLx3bar/7puN3/N44bCYraGrdsLmt36ekSoMsuu8yQieCL/7qJJ7Wvfe1rdsMNN9hXvvIVu+qqqwwHBuxmCsaHnpC3Ul2zgBiTXtiboQksuiaoQtc4FgyZ9nIFuwIOftFBObiN2rFn6EIffNjtemPgC90Ah20wfj34dF9dfYN9SkfHb1GQzJPeyMiInJKFzdndA6i7hyOFFm2mIzpuZAPevXuXDQ2fNLIfyG3L2ZviCLNWBSBkhA4fPmKHDh0yeAzIUn+amxsNPAQoh48csVodI/LJykSBwS9c8QDxkNhRZblSQ1Yua5VZOldOdWZ2xo7pSHClQxeRB95T2qXAjPtD9wm/1h3B0X0KJmfCmi3aN8GDhgV6BAsjp04Z7y3t3bfXyLbx0jz8E1QM6WiVACWjILJPWR4CM8by8jbZH4LiJJMYn6jsUX+7jk7pn5metQEFh7lsVkHAgjaHjI4W23V002R82tLdQWtSlH4VhOkO7qDLeI6e1KnLgp7IDykwWtLWYwpMGuzXH3ex/eqDd1iNNit3pBWYermkcIeM8Toj/mrziS2pkcBMoObSuXtijIZmQYEX/YvKhi0sLtncwpJ4drvhZ0P25n/7mo1Nzlqv5HNnBBROlykF7Oibd8KQARupyedsZ3+vgu2G04DLVwSlRxS41SrDdu65e+UjMss9p6tFHdsd1PEzvO/etSN05HJ5q1UG5+6771EQMG69CsTS6z3IIRmpjyszh+/YtbNfOqsP403S9vVfbP/4rvfbKWXt5man7Mihg3b7rbfpyPM+6fmIbfSDj/n3j37I3ve+awx+SuEzmYzoNRib+dTUVGn3GfesJdY8e8B2fUj0BdBFB2cQSzXQDxxNcRzXmy3ggW/mYVSnTxT2SHCzB1LwzRSuKfSjnxbtycjt7uZeLNDvXs4a5fJ5+81XnLCDxxfDWtq//5zwwvue3TvtJX9zytA1vvrxj3+8AvVZe/CDH2xvf/vb9WAwqAx2g2W1V+FbZuQzyLBjD8zfBz7wASMYgxYFGZgHeAIGHuGXwj22CFwsyEpAxRiOHZE19q1VwyOBGP76oosuCrKuBVdJG/zXyq9FHW40BjhkIKjayl4c8SfxYq0axEwmfRCkLi0oCYUS+DDppf1buXcvBoQYAoaHokvxMKkEgdBEee6+AuLu4YkCA2YRpEvckN1Pw68M1AX4GIdMKFhNq34xKhY2k0VQ9M/v/ag96Mor7S9e/Xp75m//rv3zu6+xHTt2Gsb453/+55Ykycr4+ETlnlEW7ZSObJbs4OGT9uI/eIH923v/URtJp734LUNyNI3m+rck5833xSAf9HjJ85Q2tV068qLN3Vdwb/XCvRgEM9fIVboowIv+6Yu6cd8+XfDm5QiQYyNdo3PmLa1Lxm+1gAe6yIpc4E/j4j7yBByOId1f6bV7Yr/w4IfY13SM+cxf/zVtRkdsZmY2DHc/rUN039fXq4C+VkdPA0aWq6mxQU+ag8FBhgGpP+5uPToO5B2wgwcP6qn51HJvQTXFzN2tQ0dL2P499xywEWWw6usbFRANW1tbq+3XBs27XAQzVvLj7uG7yXbt6BXuETneEwpmingjqLt4UBaHo8aJ8Qm7/c67ram5ydDpQQVpS8pQRVhqgVuDMmx7du20owom5+cX7WI5TQIzjjpwusd0HDo2PhZosfZ7dBTZ1NRg88pWHVMAyXdfKZ6SbBboEMjN8oQfCJh1KYtWW1sTNmmC0Xw+Z3kd37pL1xRTrUDCQEKgS+0F0VOL2gvKRjD3j3/o/eyZjzvPWhtypik0d40zioW/XIXCHzOjO1HglegC28pmE6vJZxSYuUqxv6C1TCAmSuZmkmnJEmXRZpIWe/P7v2V3HRq0nTt3KPjIqnf177wyUPcdPhrkQj6CIPS1o6/Hujo7zB2Mp8cgw1HpkuPXvXt2KRvbcLozdUXWbFjBP0fCmUxinsjvNjXbkaPHFDQdNf6bm3ptSu6l+M3GNOccgfYom8YcMe/4q0LEr4u+vvvbJz/9Y/vPz9xo0zpunpwYtbt1jAlse3trhDyjfv7zn69jwS/ann3nnSFbKTA+BH/NPsSeUNq/pDmlz92t2j4EuvhG8KPzNG3uCTjgqV4PRKzxdP9Wr5MkWZGDvZF9GfqxQHNED3/sFdDIKHCFF3c/Q5fuHo6BJycmbHCkxrraEqvT+hkeOml8QIn/gu+OA/OWCO5d73qXXX311bLPXHgtiE+0fuMb37CnPPWp8hGn1DajTOykArY54zvRrrvuOrtI6xseSgvzPzMzI9jZ8GoAMrCXU8M/tg3PcRyvEhCYkVXD3zE+9lEzx3yxK/rgeLKxsZHmbRd0HXFBG75KkcIvfGNb7NHuXgqyqfukEmg2JAhG4owhWIFJmMDg3LfHCDhLC0ZMQOjumuyJ0I3ymTwMjWgUpYWONf4wPvIH/yiXQvDIYkKutca7uzGO8WzYLCrQY/RcIy/0aePdHZ4WbrzxRvvud79nP/zhD+0zn/lM+Cg2/aXlPe95D9uAvedTI1oEi+ouhA2yoaHefuFBl9uPb5uwhqZ2bc45IwB64AMfKGOfXt6o99q5554bFiS8a3DVfpGnQUcU6Bc5qTF85HevrjNLM+3uxlyga+ji4FiMLFh0DU/VlhX67h6cC3OJLVNohyZ2ju6xAdq2W+D/ec9/gZHZ3KdU/MGDh8K7OWJhlZNsamo0XsSF/pSyITt0BAUMR4jDwyNnsEHAsUPZkXwuE160ZkwpUC6XtR07+mRPebv9jjstowwUOSA21L16At6zZ4cd0mY/PjFZOtRYG2Tj2PQ5FuMo1EugssLfr8CtRcHY0NCwsnun9GDRoUzvlBEwEYBQFO+EkUni4am6pbnRfvqzmxVYLRkfLOhUxgtckzo6I0ic0AbOgEbZJJs+sk6IR95vGhwctlM66oWXJQVWHdrcG7V+sBsybbMKepF7alpOf25OAZeig8CAJHdcnkZKsW4uEpTAoYLlGfvNJ97f9nRmlbVKTCAq9Ls2JTOuTD+gori7ZRRUJcLp7uaSzV1tSSJ4t7wCMzXZrAIqXroXRMiILSg7NjKb2D998of2b5/4qpERxN401NI/rMHjylKOjo6FjB/HwuiAQLxX2Q3mJw3PNXpB77sU3HV2tttaMCPS3X3KZvbpOLldekdvjQrERnXUTVasuanJ2lqazd1Buarwf43yoZSmxnoji1nE7wEGPOFCfxYXF8L4ifFB+9nPvmnv+dcP2I9u/LHNzUyHdUeAKrBVv016CHniE59oL37xiw1/sKpznRt3D6cV+LDJyUnZ1GKY8yllzthEWeP0rYNiS13umuN8Pvgv/FX0IdTc4z+Y1y0h32AQ8uA38Ve8nzWhoGpsbMyOHz8e7NjdQ8ADL8AsKhPKXOX0gAJP1OiY/fCLCp4mtbaODC5q7KzW1qgxo8C5u/2ljmgJwGAJHOiT8dy/5CUvMb6Q9ktf+pIePL9mX/3qV8P/LgBv9Jcr2ArzQxAF79QkGyhcE1ugQ/gGB3Q5wuT9tUM6GeD9MNqP6ASAe5IUHMkCR3s1C0E/eoIXeIV37Aoe0RF97mhs+1STSlG4ezA8jAxl4CyatHDPhgJKecJw2JgHdeaN8UE3k8mUgq157+5hM8JAwMHY5ubm8KWX1CiTdhRbigCjpw/lQ5eJAc5968rn3TPw1da12NUvOmzn7G615//eH9mf/8Xr9DR5rXV19SqTctR4+nzHO95hB5UBwQjOO+88Pek2hiCNBQFfyASPpXxv556FxhxjbDg3aKH/7eCsZCxyQAvnga6hia4rGbsdGHcPwbe729DQUHDm8OG+9Tleix9319x229ve9nf2wQ+8XyAFG9RRG4vb3c3dwybi7oaN9usIfHRsXJtXXkFaj01oo+HF/Ak5Tg1e9VtTkw+b+hQwCq7IqKwC0A0BTZ8yKgRivJxd39BonmQV7M/a5Q+8v2yr3g4cPGzhJXjBp395at6nTAuZLAKzGQU66X6umxRMkmmprc1rUxi0MW3ujWo7oaftYrBXkHxAmmQ1y2YzxpeUNgvmviNsg6FjAAAQAElEQVTH9BDSYG2tLSrNhm8ZVwbmxIlhZZIWQlDRocCBkijYoR9krYJvUSDo7jaqI18CjZp8Tpmk+RDw1upp3/gheqIWXKGwoKsl46lIHAmNgjW18PvCpz/I+ruaAn/cC1zXmhvdBFgNKs6XmScWgq7E3ZKEkgTYRPdgBG5RR5LUuSSxhUWzyZl5wWTso1++1d73qW9bXUOzERAhky3/wCplWEe4A7IPdD6h4BRdNMvfEkTV6lgZcOAoXANzTMeHHR2ttnv3jqBf2tNlfHzS7rvvqPx4rfX3dUvPi1ZTWyfeluyOO+6ygrJJ7a2tlkmS9LBwPTc/H7K1BVsyAmTWK3KGzuU/k+ITeWdnJ+S3vi/7vknHyCesualOtJbsa9/4tv3HJz9je/fstEc87Bdksz3LI4vVwx/xyIrfgy2OWP0XnhoUwLPR40NqpKe8AqbVUNW/c3fptC4g5nsY0UGdjnzdPbSdrT/uHvY2/DW+i2DGvRiI8VBHQENAxn4DD/h2fFuT7KhZeyA1+tqzZ48ejn5mfBLy3665Jsjy9Gc8w97//veHd5PJjDE+XbBZcKFraIGPvdR9czKzlifltwgm4Z95o5DlIzCbUKAJfoIh6DOnPNQy15xQIfvevXtl71m6z1px97D3Qm9gYED+bUw+s1FrP6kqzYqxYWRs0iiQKJUNEyXGya4qVyXImBAmngi4vb09pDkxtBKwdW/hF2ViNBgPmbdWOZ+2tjajpnCdRoJs0MUI6EN2eEEXabjNXGPE3/3ud+0xj3mMJrjB7j5wyg4dOmw/uelnctbaWLQJL8mR8396XXHFFfaQhzzEeDLgKQDa0GIx4GjAxYJCLtroi8XdA754X2mNXgmK0BG4ocl9peO3CoeuWZjIwhxXQ9eV8MJcMsfuHr5IF6eFzNEBVIJjMzDubuftP98+8uGP2stf/jJlPgeV8j9p8KGulTnD4fT0dBt2R3aMF7L3n3eOAvURI0uEviz1kySuh4wm46sOhoeHtBme0Ca4est0d2VaGhXg9ek49Lgd1JNmrTZkvt6gpqbWrnjgJQrI5u2YjgdTqMOlu1t9Xa3tVuaFI0SCyRUdLZPBBtu0psiqIc+xY8ctk80GZ3lUOHnZnnaCCIpQhj7+X8u52VkbVRB3v0suNTIvLS3NITgmMIE/vg4DO2xtaVKGrd6WhGBSGZAZjaPP3QO8FGgtrc2Ss0kZgjluA/9mblKyqoxqXQteF1b8WRZAbe5u7irmxS4FYStwy2AirT5XsLho1333Tnv3f95o//SJG+1fr/2pvf9z/2v/+ukb7ad3DSjQWRTMUsiKkUn70g+P2N99+NumuMzIbBKUClH4BScFW+TIsEZBNroaPDFk+Vw2BC9kARPxFgYs/2Eu+G+zCLj50Af2u9y1Ui0qGjysoJeGfmVUwZHN5iybq1HgdJ+NjY6GI+paBTDuUW6gzViH/E8N0zpi6upqV3a+3lDNsirCNfNyfGDQRpTJO6LjanjBd9TWZKwmn9VDRc4yGendTA+bx2xEx+dfuP5r4SGDIPyiCy8wNv83vOENgtj6L2sCH4JfxIdgnwQl6HHrWOPI8jX4oYuM7FHU+BB0V35UdXqgw6kCfqJWx8sEMOzTyI0vRydQgqes1mJeASpw7INxz6PG319yySV2+eWXh4zXK17xivBCPOMYX1qgCW3mGdrQgV4p3Gbu0Rc44H9kZER2MqIHrVFDJuSBBjTvuuuuEAg98pGPNHc3XvzHBjdDa7OwzDFrEzo9PT3ytS3hE6XoYbO41oOvKCCDERSC8plQdw+LjEnE6DFGGF6P0Fb6mBwmA5rQxuFTuMZQmLjNKMTdg2OokeNh0fKEgAwtLS1BwRgmqU8CTgyWvkjL3VeeRuCLibEt/uSUNn75y//c6url3ITDEw9P9e6uo8772Xve+17jkyw8ZaF7DLVbRxRjSkkTmGGY7m4sMBYXslDQE/pBN+nivtrJiuQZv+BkHiNOdw+6Ai+44AMYq/IPsoEbtJGWe1HXzBO6ptBf7YJNgxs9Myfup3WKXbP4z4ZdY7McYT3hCU/UU+m19tSnPEUb1REt8GnFDIXgZMRKEBe+eLeIeT2go85du3Yq49CooGzQyD4tLRUCXPyTyXj4YtO6uhrjO4xOnjwVu1ZqcLW1tYZjnoN6GDh1alQbr9ng0KmwMe9RNmz45KiCxRMrY+JFJpMYx4t8Sz5ZKT4JV6ojeCYo6+nulEMdC5kVbJOMEYEZL5ubAh0CEPC6u4K9euPl9Ntuu9UQ6ZL7XWR86jJmuZ78y4+z33jGr9gznvJL9qxnPtV+73nPtGc8+eqQbVlSZgc8rQrEgMdOx/Rgk1cgk9Mm5I79F6TXjPS7ZKdOHrLRU4d1XVBR6orBKvADpC71K3jz8E9/DBSJ/hD4sl6v+86d9vGv3WN7zr/MnvLUp9jTnvYrdvUTH2uPefzj7SEPe7h96qu32Df+56DB2+h8rf3zp//Xjp0YVTDco4xsjfAXfwsFaUJlaWkxvLeFbWQyGRtUdhA5eKG+Q9nBTJKEAWIh1Es6qh3ihXkdyRLcNTUp4xk7A0TxDx+KINvOfJHphPfG5uYQdGMfLcowNjWeOZY5HR0ft5PaGNvamuUfmyxZ5iFgFs8EeicGh4Md1ilY552/rHwbgXtjQ90KPGsJfNjF3Ny84IftJS/5I/v4x//DPvNf19qHPvwRIxgIeLfwB9z4LoaW+mvsjnU+Jz3RX+0SceO78J3uHvZG/DLzd7Z8CPJAGx9Jcffgr+uUmTP9sDdCG3uCD+xQzbJj2bRg4ZVx7HPsexSu0V+z7AMbBL60MJfRX0MLm3B3Axc4oQlvpeM2c898wjd0kIO5peYrLMgEkiGLgW+7EjR82/+Y9sYjOr7cDJ1KYdkj4AUZmWd3D7pGX/AKb+jFqvCTrIcDRmJAFJVfCg+T9GEcKK60fyv3GA903T2kBdcyDia/SalX8EOXMVxXWtw9KJUFy+LBEMHnXmxvU+YMw8RQkc+Wf9xdDrU2OBsmCWNf7tpUhXPi296/9/3va1P+nF1//fX2ute9zviel0svvTQsHHQKDXSBocMfwSKpXQo6AA/8YxwElvDLNTzTHgtw7n4Gj+gNGnSgg7V0TRv4Imy1jA+ZWHjgRhb31fyx2OGfPmC3qmtkSxdogi/Ovftquu4egm9smzVASY/f6jV6Q9fuHo4FkK+xscn+4EV/aB/+0Ifs/pp3nApwbNTup/lq1KbZ39+vrM9syGL19naFjNBhZT7ITAAf+XJ3I9tBpimTeMjATk1Nx+6VuqYmb2yi2Mah++4zGZ1lsrmQgSbbsmNHn/GVFmM6PrSSn5yOHAkW2pTJOjE0bONrwKDffh2T8m7QiLIip1S6ujrD13oMDZ8URu3qCswUkujatKY8vLvUWF9nP/vZLUbQunvXDnvUox5ht9x+r33lq9+S7HNqLwZRLcqWPeKqK+3Xnvok+Yl68T0d+JiZmbVsJmtz8ws6MltQ0AWdZSq6dE+sqbEl0FQnv+H4cWmxINwCQJmh0h9BfeFbd9h/f/en9tHrb7Kf3HncPvql22zvhQ+wJz7hMcqqtmp8QYFXIWTEvvXtG+0b3/qBPfjKy+zA4Lhd+6177IOf/qb4awhF6FZ+IQNXA8ouETS1tbcqgB3XMfK08TUW3Z2d4aGrCFccxgYwpkCJILqrs0P02wSTKXam/jIfhw4dsc7OtgADnYamJuGetbvuvNsIztpaW+QDk9So4iWZzEHNaa3so6uz3UJQqy5fLkzZiLJqx3VE6rKv/r5ey+XyVlAkTSCWlW0I1NwZwZWFeRgQ/MMf/jB7rx44f/3Xnxk+yYfPKUJs7e+UsqSsZzZK/EQplkRBJP6FmjXP2iqF2co9vpDSqHWJDBkF0Wk87r7Kh2w3SIm44R+ZkQffSB37Ys16pg+9jGqekHtGGU54wIeCA96psSd4R0fIEgt7CTgiTuDAw3hgoRH7Yh3xUMMj+GPfVmp4RIaDBw8aWTF4IxArlRl6tBOcHVLWn/fotkKvdAyysveCf605Bj6vjCN8AYvMtG2nJGsNRpEw4u5yIo1a8Nm1wFbaUBCTxAQSHG11A2PSGY/xoACEXSFS5gLDgDY0GQuOMqBlm93dUCg4WltbrVWlRlk0FjiyUeDF/bSDoQ8nAFIMFePherMFmvCNHJzVo8M0DvBG3phw5qZb2TKCRd7low350RdtLCT4pxDAYSz0UcMvfIMfPcE3Bp9up2+t4u7BwUCLMfC9FlwlbTgGaKNjivtpva41ngUBXXSBvOhgLbiN2hgHXXc38DGv642hn/lAZ4xD7vXgy/VFXcM/dMGXhnV327N3n73hjW+0N7/5zdrcl2x4eNgYB5x7UT/wwxzjfCYnZ8J8dGlTnpiYMo4xJ0reL3N3a9CG0dfbrSBo0o4ePRYCOnCmS52yG9jUmLJKd951j3V0dpm5Nnl3e+ADLpGuakNgxvGYpX7UrSxbnZHZIjPFO0/hHbQiuwHS3a2pqdHi+2WHlJEbE59kh4eVmZuYjF9ZUJC8YYg296whV4MCs2PHlAnUsd2VV15uV1x5hX37+z+2m352mwKnRQWkS6qXdMTZbr/2tCfZEx73CKuRgwQRXz9Ro4CiIJStTbV29VXn2sMurrWe9rzV1jXbxOS4evTricEuQc+8jvbm55cYTsxhB4+N2Ge++hP7vSe02dteuN9e/5yddujIUemnWzQ7NNg0VwXBL9mPf3Kzff6L/y3f0WwPuvwBygKdshOnJm1sWvwpU8jchQH6Ay3KiI74CGoaFSjNKXN0XMe6vDPWqyOR+uVMh8BXfqemp21AumhsarAdO3oN+VY6ly9mFIzyIRD8yc6dfdLRovSZN8VKdvfd99iMcHR0tKktuzzidIV9DylQxk75FC9zerq3eIWtHVcAyZfvdnV0WK2OvHlHsCaf0z6RCUDubu4ersFF8NiswP2aa/7NXvOX/9fOP/8CO6nsHg+V0cYD8Cb+4H9mFGTU6pgurzl3L9Irh4I1VyedRh8AX+Vg12uP/OJT8bH1OuWIPEDDfTUfzDv91PCLL18Pf7k+6OKD4Bua0CoHS7u7B/9Qo30MnzmmDBI1BTyUqENq+Ip+Fj0xLpY5ZRfhPd67r5YReukS8aBr6MF7ur/Sa3g8fPiw7LxGDxadYRh8ooNwU/IHvnfv3i1/02T33HNPeM+rBKSiW/BPTk6GtcM8V6JrdMM8Iy98V0SoBAg9Jem2yAgTACMYerp/o2smAmNxL34qkgnZaEzsxygQBqVGHLFvoxpjZ1xUCLhWjyl/xwRPTEwEB0LQgiNjAihcU7guh4E+JgNnxkSg1HKw6XZ0Q0DFxGNE6DvdX3rN3FDgF1rQJHXLuMHBQaOPNnTXJAffrLQzWb5WBZcEacgWC/MUcTCmlNZ69+4uJ1wr55vV0/a0nnzn1wNf1Qfv6CjOF/UqgA1usEfmGTzMcaW6Bg663ogvHwAAEABJREFU6AgbYc42ILWqG31BFzzYKHO3CmCdGxwZBT1jS+7lnZm72yMe8Uj7iI5wXvSiFxnzSjocuuoKNgop+O/WJt+mY8cJOQ4yFJ3aZE8qwBnQERIv9bu78cWwihbMFF60KJvUqiO9IWU+hpc3XXWs/CbKdLS2tlhPT7eeRu+2g3rSNE90jHlSR6RNdsnF54cjVY7S0OPKQF24e3ivq09ZO3zH0ImTsosF9Zz+Za5D1qerwwo6YuQdNORaUBDES/0zCiTgkzaCFUbWajNBrsPK3n32s9cZQcVVVz3Y6hqa7LNf+G+78+4D4bvGwAH8LmX0fus3nmyXX3aJ5XOJtdRn7LFX7rNfUjDW1Vpv3a05u+rienvsFX3W2bXTkiQTihQrfmeUVcxyacOj0/b5b95iO1vG7V1/vN8uO68J9La3t87+4Q8usKdeNmXf+MoX7d57DylwPmmf+8JXbU4B1ZUPukwBYsG+9o3v2ISCTo5tczrCC4P1B7ko2BDv1yFvkiQ6Gh405O7VnJJNTKRPga/8slZPKEBf0uBdO/t1vFu30hcv+M61Y8cGjHe9dipYyySJJZmM5Wpqw9dYjJwaMTJidQq+45hi7dJrIRxNTi4Ha01NDdKDF7uX/yIfx5+jCtpbFFxhK7y/V6ugt6mx3pDD3VeNI7MK/F+9/q/swx/+qO1XIAY67LdHQSdrAh9IsEB7JWVhYSH4nYxkYy1Dt5JxEQYfwrg5BRmb9SHQxr/yQNTS0mL4Xu4p4EQe8K/FEzIDw9qZUSC5GR+C72IM+NP2FGVar4YX6KIvfMmoMmbsOdggBbzogZqCrQELLcaiJ8YjI/fr0Ur3uXsICOsUBIOfku5f7xo9Hz9+XGtqzjgRQs/Qprj7ekNDH/B79uwJD59k1iqlzRqMukZedOC+Mb1AVH/gj3HYwIRiCnSp5op+0TPzkgANIzDNhKBAinvljIAjFncPE4FSYIhJxwhjf2mN8gMjciCMQahSmErvMSRwuLs2j8mQ9So3Fp6gC30ClbShgwelUpgUSq2exKhZWKU8ck8fBR2i3HJ0aR8aGjI+jUOKlUJbJQVemSd45xr9whdGi56PLJ+hIwvtzCP6iAV5oEOwhlPBeOCdts0WdAR+dw8Ocj0Hg31h6NSMQYebpRfh3T08MYEDXWyka+YDOOYGvbhvza6hj/7gH92DF3loX6sAw5xAkzGb0XONbO3pT3+Gffbaz9qjH/XIkNmaVCYJeu6uTa9IEX6Ye7JSE5PTytp0Wp3GEphRFubntNEvFYH1l6OnbgVEHDcePz5gIzpCBCdF3YItaGN1HXG1GzwfPnxEmbUpm56dM94p69LYnQp6hoZP2amRsQDPuFjAz/tlXV3t4ek04ifwKBbT3OV1VNVh7W0tghkXnlFrUJZhYXFJWaWTwgm2An9UJGvi4QX9luYGu+FrN9i3v/1d69Kx5+Me/1gbU5bwy1/9lg0r2EDfvKOW05Hrgy6/v/3KrzzJuvt22vDIlOWyiQK0rErGanIZ623L2S8+sMEu3FVj01Mj1tG4YE9+5LnGuvr6D++xwuyAArFz7emP7LW8xkrlKzrPZtwedf82+4cX7rFz6w8oK/Zl27mzz1oV7P7ghz9RFuqA9Siwqq+vNTM3xiqOCnItLi4aemfdYhd8VxrrIuisoz085DDGln+Yl5OSjUCpr7fHOtrbND/Jcm+xAoZPYJ5UMN4hHE2NDepw4z0xMlNHNIcN0m+j2t1dfat/w/HnyIiC7kbNSauxrs1Ow6FT5ptAnIwZNAqFYj+BWyZT5Me92Gb6IVAD/nd+53nhVYzHPOaxy3jVmfrF//T19QWZji9vwKnuVZfMDbqiEdtk/XO9leLuKw+VrGPmYz082FZGAWBXV5e1traGUyN8aJMefJEB34K/pWZes9lskGktnKxZ4MAJbeZvLTja4AsfwhhkTrRH0r6VAv/wiA0SlFEm9TAXC7zgJ6GJT0XXyNLe3h58wVZpu3vFumaO2RdHZI/dOgVqa2uTv6gJ4xsaGkINT5XwgrzMF0mLYT3MHD16VGsw+pUzNYjs6AL8zKn7aXs+E3r9FmjDL/IQBKPzciPoI3jDDohDEiaASQcJjFQibDnk6Xb34kRgBEw2BaIRBkZQAEzDPIqIfdutMWBwQgPZqCNOeMDY4AfeKLEv1u5u8MPCoR+9sPhYhCiNexYIMHEMNbqjnRoaLDraY2FyMAzGs5GCP/ZVWiMLEwh+jAj5qJG3Q0cIh5XixbkBh6zuHpwheoYuhs7THXIwhoK+3LdmgDhGdAQ9eIKmpX7QM/wBU6qvFNimL7FXcFJDF/ppJNg17dAEjjlJ92/12t2Dk0BnyIXzSuOCD+hGfcNfun8z1w2NjfbyP3+FffCDH7Ddu3aFzRybKsivuBfnK1kOWLq7u4wMirqMIykyJkeODoRMTSnNOmVJ+DTmkgKEo0ePh+8eKoVh8404B3RElWQyllGwQwaGT3s2NzeEb/vnuKp0bF5ZoT4dk9bryHFYwRvHXKUw8ABMg2BOKuggk4ID5l0qAhUdBCqvhzTI6WGDa29vNT6Ned0Xv2Q//enNdsEF++0BD3yA3XTzHfbfX/uOEQig/yWl0up0lPaIh/6C7bvg/nbdD+6zn951XOsgsZzkyGUzVl+btYt319qjH9BmT3rYfjs+NGH/e+td9urf6rX/8ys7rUaBWEF4UrGJZaRr9I3+c8rAPf0RXfavf3aR9eWOGu+NgbdVgZmFQfCtMFQisCYGT5ywYR3TNTU3hU+TorcWXfdo3mqUZbKSnzE9YaMXZCbTFt/LSoONjU3IJgZ1RNMY5hze6hR8EaDzNRaYSHtbqwK9THpYuOZLY3n3ryafCx/kyKuGTwrjTDKMKht2fOCELSmjyVem5PI6+lTgXFebl3/MmruvFNMPcOB81CMfqYeJz9jznvd8beb16in/667gUXbO5ol/jL4rjoAffAjrjHWczWZj17brjGyhThkc97UfKpEHIgQl3QoQmpubQzCG76xR9jYvfVDwMUmSALqy6bt7uF/rj7uv+JAoWxoOuvgQ2uo1n/DJdTUK/MI7+uTImL2EfRg+8JlcUyNjg4Ig9AMPFMZGOTfLCzIwf4xDNtYp17EQhDH36BhbQKfwCR/svdSRB/fyuo34Yg1d3r0lkL5PmXYCvthHjT9FB+5FO6yWfbkX5xi+2SeQGVuGJoVr9m50jZ6RlfaEDhqqxQhI04UJRJEoBgZgLtZMNpOchq/mNUJiBNDE4KihzWRHntajF+EwCArGwsRSCGoobCKluuMe2VhY0KUQiEEL44A211stGBFpfiJ/DIyadzKQDT5ZbLfeemv45B6GTjtzDF0K16WFdvjeCk/uHrKi6BsdQ5+C3OiQOXCvfBFthgfsCl2zwJETA8f4wUE7/VxXu2DXyAV+6DInyA592qtn12579+6zf/x/77JXvvIVK+/eYFvuvrIhsmG3trZoc24IL7azwRKYjWnTPspRVsl3h2logO1oJ1M1Zhx3Lej40Ep+Ghrqtdm3h6O5Y8eOW1Nzq00KV11dg1184X5t9llj0+aYND3U3Y1sTX9ft7kCmUEdpc7pWM/MLf5kMom16PhrR3+vWgt24OAhW9CGn1eAQtZnUlk/hTQCV1Sjv/zWqK+zs8OOHztm1177+XDcd9VVv2AXXnyh3fCtHyg4u80WdKy1qGCT7A5B35OufrzVd+61L3z3Hrvl3hOWiJ+MSlZBV0YZr2tvuNme+fAGe8cfXmi7umohYy42Qwl3Zro1At4lgjQzS1QyAtjRUWt/8vTd9u4/ucha89Mh66dmowhEwdeYsuFDxvpakH55TwwZ+nQ03Cjdujlgy8VDUMmnJ+tqa433xAiMlztXqlllLI9pTjNJYr0KfNFjce0mdo+OcSd1XNrV2W55BcYrg5Yv+D6x4ZMjhm66OzutToErLBBkwjNlfHzSBgZPKPidNwJ3/N701IzwZa2ursbcPRRL/YwoY0pm9x/f+U571av/UkfCPanejS8zmYzsrMPI3OPL8FtzOlZkLbOWaqUPd98Y0RYg0B34F2Q30MN22BfZTAnEWnQ8yXWDAhTg3HXMqyAVuFgYy/WS2mPZiJVE84ePoo4+BJ+JD6Ed37kRjq30u/tKQAhdaOK7kB35kBOd1yjohA9kxwbQA/sLbehsK7SRCRroC7rQJ4kAvv7+/rBOgIEHaFKgyT08uW/NBlh/vBoEjoMHD2qdjq2cokXcW5FnozHuHmSCLvpFZgrX6BdduJ+WKUERGyGtRj90KETgTAbMYIjVwL0eDmhAC4Nj8pls+FhvTLqP8SiTCU0bJsZJwWB4H4LADBgUHPHjZEgNEzDRz/g07u1eo0cWLzodUZp3cHDQqGlHZp44+KgwTwDIj6OI8rCoMEQKfMWadvjeCm/gRnZoYXTgoWwF12bHMK/Qx9Cpud8sjq3AIx+00DFzga24n15gW8G51hh3t6uv/iUdAX3JnvPsZyuAOh4+VeiemHtxg2ATYd7JbNVr85iZmbW+vt5wJMgR0omhkyFYSeOHf44PW1ubFNwMyH5G093hGn2267isqalRR3L32NCJIeFZtDFt3G0KAs/Zt8cmdKQKfjalMGj5j7tbu2B6e7uMb84fHoaH4qckA4hUBf4OHbd160h0YX7e4BW+FhYXjGCSACTALv8RSmUqGgy+77jjTvviF7+sHreHPuwqsyRn1/33N43/w5F1sKDAjGCD/5+Tb4FPmvrtyz8+Yf95w5328S/91Ha1TtrHXnWJXXlhi3AUfzMK1kIIGP4U27gED7RDi5sliUn3ZtlMYhftadAx5wX2kl/psIlTgwqKJxWoDhpZSHeXbk8Y66+3p8talRlTk6V/sB0yYuiPdwKbmjh6TENY0Png4JA2kikd+3ZZviYn+m41CqoGFECd0Ly0t7dqA6hbPVB32Mbo6HgY29HWGo4o3V3j1alfXRp6HhD+UWXG+FBBm+Z8QUFkTlmphoY6Y04Euup3UvM+Nj5hL33pS+2Tn/xPu+JBV67q3+wN/qO1tVWyLkhnAwocF6XnZLNoNg3v7sbapSSaWHx79Nn4xugX0SNztKDgbWZmxthTKPg8CkEkfcBVygQyU/Ah4M6tEUhXiqtSOHcPR4DI6e5Bz8hZoyAMHVAjM3sDhX0OWOaGuknHtex16KpSmhHO3Q0Z2RdJLHTpKBh80GUPhQYFmtCGD/Tj7hHFlmt4j0E/9LFp9+3j3Ygh6CAzNkLhmrbScQkbGEZU2lHNewx0UufV7m6kf1E+TGHIOKlq0krjAjc0kI/JZYHRDy/wxPUZpUyDuweHhCIxRIwXY0EWagwI/NxjVOiVCad9x44d4YmEBYzjtbP0g7wjCszImmHokUdStXfccYex4NGFu4fMRpQDuFiQhWsW5GYWG7SRD4eCDtA3Tim2nSWRA1pkgg4LGrosXvR/NnUNYWTFvtBTqzYR9AZNbBvZgal2QRZSIaAAABAASURBVLbf/K3ftn973/vsQVdcYYcPH9GmMB3IuJ92LBwXdnV1Gl+euqisTjGTklGAM6ijs5EQHIRBy3/YdHu6O7X5mTKrR21MmzIypIt7EgKBXL7GDh66z2YU8C0oozWhtd3f12M7lOki+8Jx3DLalQr83Qq4OpS5GRkZlS1Ohj44jmxjc12CaVXWjKCAo0u+I4tPP3K9KFph0PIf9N6iY6QaHbd98xvfsu9+9wfW29tjj3jEw+zQkRP2je/8ILyXtqDAblGZC4ads3d3yPJcstPtQ39+kf3mY/pM+6+OmsyKfLh0U7DAlwIzS/3QdvrWje7imILxk824PfaB7fahV97PHn5BEja5k6ckq4KWLgWclKwyQcDGgn6RdUIwPQrWyGomII4AqoE5JZ2d0tFuG8FUc6PBYF19g42NT9khzQUZUT644b6aS9PPuAIm9FdXW2MdbW2SN1Hr8q/A8YV8+TCBcE0+H95F9ET8zy9YvY63E+F0d3P35UFmM7OzNjI6Zk958pPt+uuusyc/5SkrfVu9iD4Eedk0+W/paOPBkjW1VbyVjIMOGyR0+5WpwY+4F/1kXjqBp0UF96zvmVQgxvqPhXZgKqEXYdA946Hd2tqqYLo+vMyOT4sw1a7xIaw1ZKLm9RkKPECXdcU1NQX52dPYG6JvjzVt9Lufto31+IUm++Kgkgd9fX16YOzTeqwLNgkNdIDuwY8/BTc8rIez0j7mblK+Cpx79+419mVsi/1ys/NWKU3gwM0cUxMQIh/XtGF3wMSSIDQ3MIpxcF2tAjGIogjooAhwuxfTeLVKQ7NxYgS0V7OwgFkg0CDCdi8aDDww8dCENxSzFbruxcWKQYMP+aihi7FBF4dCDX6MKvKBzFulC661CrpGXvAiIzDQoUTj5hMnHJ3SBhw8sTjhEf4pyEDNQuOaANS9qDtwlhYWGLpEbnRBiTDwwT3zD2/Axr5q1MjAHOI80C3ygDfecx1l5bpaBV1HvOgIeuB29xB4o1PkRS+0V6tAl+McHMi55+23v3zt/7UPfOD9CpK6dZR5KgQA7r6ycaIPNvAuBWYzM3PK5GSM7Mu8jg55v2xSQUApb/V1deGldPg/evSYzSjoOg1D4FHQk3Xe+vv7QrDHt8pnc3mbUyaFwOn8/edYrZ6y+W98yIgVR5hRg4djtPA+ksYMDZ1SMDlDs5nbyk+DjvL6dBRXr2CAd5KmpqaNY8yTJ0/ZKQU4Swowi8BuEldP21kddXXY7My0XXfdl+zAgUN2//vfzy686GL70U9usRv/5yab1THfLbfdad/92n/Z8x62ZK99zrnW3JAtoln+S+DBZeQ12uuZ7UWogrku3Nxd9enfuprE/vQZe+3f/+Jie9zlHSEbVaOj1tMQxSsC12HJFORVQJvJJMWO1F+CKY6ECZTaO9pEy2RjtTY/v2j8n6jzc7PKFLbqODGXGlW8ROYhZUWTTMa6dMzLOi/2xL8FBcZTyuQNBdvpVkCey+dtXtmfBtlBXoHuCqTSg+gD3RNA3v/S+9unPvkJ++M/+f80N7URbEs1eOd0PEmpke3kxQOI3F1H2i2a204bGRkxNs+l5cCa/moUfAgFH0kwRo3vY+MkeZAoMB0bG5P9zIZAiXU/NTWlTOPkSqENH7cZfpCDcdSlPoR5ymjO6N8s3vV4AGfEzTXytilAb1A2HR64pkBzRkEn85LGxxjmB1j0RGEsvjenrJ776nWQHss17wgeOXIkBGAEvYwDB3xwj97RNzxCB3ru6+ME70aFuIb4Bl3DL7wyBvy7du0KQfChQ4eCjZXKDNxWC7iYQ/ZGZEUucLm7fGht0AN6psAbfcEDsABQMoYJgtgJwFYKjMAEhGACZtzPVCzKR0HuLscwISczvxVyq8awqFE+uJGJehWAbtw9TAK8wSO8wrO6tvQLDXRHIMY13xyMYTPhFPfTsrNZo49o9NXQNTIjA0ZMiUIgE3yhD+a1VU9gyMv7ZXzSkzHAwGO0ARYFcxIL9/AL3xFvrDF08DIeGPfTckYY96LxwRf0kDv2bbVGZ8iBbMwx9NfCxcJjjqEJn4xbC67SNnSFDOgbedHZWmPhh35sAbrwuRbcZtrIbuLM0CNPlu5FXe/bd469613/ZH/04hdrg5hSwDKiDM+SNm4PBRpJ4kbmpVHHDGQ1GnX02KVM1amRMSMwm1kVdDHCtMm3WKcCgNHREW2Eg+EIqdgT/xa0WTaHjDcv/Q8Pn9LGXGMjOhZraKy3/efuUdapYEPhiHIhDgq1uxtHcv39PTY3PxeyWASJoXP5D7pra2ux/r5um1PQMTBwIgR1uXw+yDilIM1CCwOQlUAlbxwJ3qls8Gc+87ngUx75yIdbXkd6X/jc5+yyrmP2rpdcZA86n+PJYibMzM1CsfCVFWLNTPfozFWbfgoq7q6/xd94qRhFLBSCnOG62B1GAdPVkrfXP+88e+Nzd1hDdtJ4kR4QXrof0PFiJpsxPrXKJyBpTxeCKd43W1LwiUzYMmuQrzI5fOSoESS06Si4TkFrehzXi8oknlQ2Dbsn69mkDRd+KPRTZqVT/teECQXl2AYb49zcgpHJrFNQBEy6LCkQGhubCBvJq171F/b6N7zR2to70yBbusaHzGjzRzbWqvtpPUeE9PFaCBs3PhbZY99Wa+RhLYOb4Ava6Jg1Ha+xwXhPMIHPnFSGZUoBGYW1jS8AV6V84EOQl3HQAf9aY6MPcV/7AwdrjSnXhhz4DeQDhgxNR0eH4ePxn3UKvumHpruHQAFYZERHjEkX4IBnLPsDtkNBHmilYblGTwMDA8Ev8R5Xq/Yh4Kkp8EOBp/b29gCHjtAV47daGA9tdI2s8LwWLvr4NCa2yPtl+Nq14DbTht7Aw/yiJ/cz7dq9GIdEXcNnEom4u568agwEKANBECj2V1qDlInE0GFkrQkqxQVDTCyGzVjqUpiN7tn0WCzwjILBudEYeAOWmrE4sI3GlPYzhu/SIWtBtE2kjw4p6MDdzd1LhwXHhoEwcegMvs8A2qABA2KeoMOicj+TTkQBjdHR0XBLsHhETyocY/JJG/C4eziShSfmDb2UlrjgmB/owjOwLFDb4Mfdg8zuRQcDzQ2GnNENvagveEHHZwCVNLgX6QKPDpgv8JSAbXjLOGRG1+DacIAAIiyyMha9qXlTv6xF7Asc2BdzUooAW3/yU55q1157bThCIjgi+xXpRXnzynj0KvOE3ianZnQ01RGOpDiqYgw00rgz2WzIrDQ3NRj2PaojqogrwhG4tLe3aW7zdu+9B8JL7O5Zm5icsc7Odtu1oz98+zyBWeQnjqXuVvaOgCNkixTUsY5pLxYPRxndOsbsUoZnRoHj0NCwZcQX14ODQ3qII9gjZLLw4+6GL+noaLUbb/yhfeGzn7VzG47Yh195sT35qi5bWiSGKsILlBuNK2iNFi+Rj7KkQEihlrGiCLb4xCW1hRYr/tAAgO7cly90XfzVvX4BuezcZnvfn11sf/a0LlucG7eJiSnbvWuHgt5WS6Mz/TAHZLVGFCyTsaqvrw1hZ41OE06cGLajylo2NzWG730T+KpfeJ6YmAxzwKcrW5qbQn+atQUd354YHlagfCrMfYfmbkHZNsXs1qDgLqvMTBi0/KegmkzntDKsz33ec+wTn/yUPeEJV4dNG15Zj0sK1gS2qV/mGV+PrvFd+OCNELCeent7g00cPXpU2dWpjYac0Q+9GQWArGd8F2vB3c39dAHG3cNY+EROaMMj/pJsHTjoC0AV/sH/MI71ig9xL9JYbzh0gYXfzfoQdzdoUdw9zFnX8vtayE4BNzTcV/OSkR3ga6jZG9FBmk93D7ECOFhvTU1NekBrsebm5kAHnNjFsGwNmXmIhDawMQhjDIU29h3GoGPsgXnBPrAv5iNNu5Jrxk1MTISYBh4rGUPAT8BI8I19ofNKxqVh0BPjkQPZ0F+6f61rYNABfQl/0oVOBEAhTESlTGGcwIMrTiTXmylMCpPBBDIZlUwEk46hMga+wbEZmsBisCgEekwistC+XgGWAOfw4cMhS7Bnz54w+RgVuoMPCtdMjvtqgwe3e3GRoHP4ZzJp36hEmeEBmcG/0ZjYj14xGOSlkKrlqQADBsa9uIhZqMwjBThqaCGfu4cMI3pjzGYK45ljZEBm6krGY4fMM+PhrZIxaRh3V9BQG5w5dCvVNbYA3ahr5iqNd6Nrdw92Ac84ZAq4NhoH3aGhIW3eE+E9C5zYRmMymay96A9fbB/64Ads7969ymwN6KhlbmWziePr6+t0zNlpc/ML4XiqX8dlSZIJ2bIRBV3A8Q6RUj/6LYj/vIK3TsskFt4vI9hDhnRhXrq7uywjHg6ET0suKuNkxrfL89L/jt4eI4BiLPjTJSPnzxElGTGCEd57O91fXDe1tXnr7enUU329MmSnwnFpa2vxE6Kjysqhr+IYF89LNjk+bud1J3bNn+233//lnZbJuOZeRbV7EaeZav2GWtcEl1y7h0bjx4lUCIlWmgqCpEdFcL58R/CmltTvaTiBGWge/YB2+8RrLrHHPqBp5YMRcQC6nFAwRXCMHjqUnaStRtk9PuF4UMewZK8ItNw9Dlupyb5xpEvQ3aksQ+KarJVeC1mHkzruPa5Mo7sb76tlsjnZwLw1yB7WWsuzOkbke8quuuoh9sUvft6e//wXpDCa7KImbPisp0rtGplYT8xXfX19GL8KaQU3+CMefKFLxgzaFQwz4BiDT8Y3wwN+oLTQDhy+khrfSMEHYavQQgbGcb1RAQ54dw/BSsSx0bjY7+7Bd+FD4Ac50GPsX6uGBjLGmuwTPgSdU/DBzLn7mbaUxse6Bh7Z2d9L/TX94CL4AD8P+9Twh/54T2uXjgXpJxNJIWijsKdEHt1X8wHf9FODBx2m+Sp3DRz7W5IkysI3GXU52LXagSd4JDgjKONBFHtYCzbdhl7gEz0hK7pN91dyjV2uXrWpUSgCw4fQhCJNBE11r1zSj7FhKEwcSFc6t3Dh7mGzx/gwAAQsh4Y+lMCkMnnuqye13Lhy7fCOzMgCXoxqLVj6+K8Z6CPVCX2uKegNPPCPocIXhXsmiX731XzSBizjwY1OuS4t8ANvyA08+EphKrnHwOKctct5wy/y8OQXaWOYtDOnFGjRxmJjcSMTbe6rZamEPjDgRm84F5wdstFeWuAVndAOH+iK660WxqM76KHLKG8pvtiP3QMPv6Uwm7l3LzpV6KN75nCt8dAdVSZzQCl+5gbHsBbcem19/Tvsne/8R3vHO94eNs3hcGy4aO4eCmPd3VoV0HAUNKKAhne0dvT3hgDu6LFBm5meAWxVQQ9k2KZ0bDM4eEIb3OpXDMgG1dbW6Hi0XUHTqB06dNiSTM5GxsZtQRmn/fvPUWCUsWPCz5yvQq6bOmVodu/eEd6HGhD+mdlZtfLr/AmlpbnR+hTcYXuHjxwLQR86HVC2jMwTwVxm/qS94TnSwR9dZK2NOctlEsu4iWSlAAAQAElEQVTKQbsTrNmqH3eXTopN8G8KvtSkoM7U7ra4WDAzV0B1Gs4E4O7GT0Hw1FSMd0/TcEBDNxfuHq5f9dvn2EdfeaH1NYzbuHRDMHXkyHFLxGNvj7J40hVrQyeP4T0x7IUALZfLhvHpP/MKqglisVOyjXXKpCVEfwKCH+yJL5Y9enwg/D+gZBpbWlrD8Snv6NWucTzJmhtVQNvX328f/9jHwvFkLlcjjGf+wjPrko0ZPhl7JlSxhTlnzSHbdtcTGFkf+CIeXE6ePBmCTtpLC7rBh8BrnY7nqCMM/MJTLMBxJMqex/5DoQ3eWbPoE3sDD76DcdQRX7qmPfYDn8vl0t2bvnb3sDfCP7qGn1Ik9KFf5sPdjQCJwhxR4APdA1c6tty9u4dAkvHQRSb0EOHBBU5wu7uxjxCIXX755bZz507Dx5AdY66alUFjj03zGPGsVSMHew2yMhfM11pw6Jp+4LYaEKXxIs8eJVmgffDgwfBgnO6P1+gB20Av6AcdxL6t1GUDsogMxaFABIUogsc+GEEJBBsw7l50OLF/OzWTDF0EJuJlUUV8XNPGPTDAcl2tgiwoFtkIGCJedHDfffeFyTn33HONaD/2xRpemEzGM0HwhxECS809fegM2DiOGuNjDDTTRo8OYhu4mRPgt1rAxzyiRwr4MD7w8TUZ0OaaAhxyY+Tdy1+OiH5iQRYcFLCbLe4envxwVNCEDryBB7rYG/yhE2Bor1YBH3JHvUa61LGNfkq1aIIHXSEP18iMnFxTcPw8lcFbvzbDUvsAZjPlsssutw9/+CP2vOc+17DlkZFRBRoFxQan12kmkxhBFjyRQeFTiy066iLAOawggSxaQURj0aW1tbdaW2uLgq6T4fvJcJLozRSVUGtaraW1OcDxIvaYgo4kyRiZLL6bbP95e21KR6bDOqJcWFgE5arCO1W7daRHUHjy5Knl99fgmWIKXFzHfS3W092pAHLGCN4ymYzZ4ow948G19v4/v9Qu2dtkLqzwosqouec6XYpBS7rFpSMTvGuDL4Ta9LOoIAlYMw/9xWskVimY1eSSwNeSOqCjSkGchbZsxgOuqBuBW2tj1t72fy6wP/6VdvP5kaCrnAKuJJMxsmL3HT5iJxVkdOhIkYymlfygcz7ROqHgmECMeQMEukvi1d1tYXHBjhwbMI4/OzrajawYL+y7F0JWTCAMWSnwFwJaBQ6v/6u/smuueb/19Pat9K93kSRJCBYCDvG0lDrGXFhY0HxPGf4NfwHserg208e8s1ZaWloU6B8LdOABHPDAmqLGvqFPe2kBnrXIGiEQi4Wx+CD62OvwT8gCPDiiL6aPEtup8SG01SjgBQ74bZaV4ciBPNCBN+Rz93CECC13D0eHBEH4aWAp8IK+3H0F12Yu3N3AB310hIxxPLritAUdXXzxxQZt9oxmBWDMDTVja/XAsBUesBtkQKfIjOzQpuaeeQI/cLRXq0CTd8Khce+998rfxIdEM2RFD+gD2tWgmVSKBEGZUIyWYGhUT/EoFqW7b22CK6GNgUED4SNtnBFtOTmOSnBsBcbdw7sojEXWI0eOGMeTRP7dCkxoL1fcPaTimSQCMIwRo6RwTYl9THgpHowWXWNkGALGzqQzB9VwZu4eMhXoFh0yj+7FRbx///6wERw4cEAb7inDAaFr+IEv+IV3CrJRU+jbKm+MQzZ3Dw41yg1O6NpZ+nEvBoTQiDSp0Ufk5yyRDvYBXex6bGzMCMSgjX2h42rRxW6e/Zzn2uc//3l71KMeZUNDwyE7An730+s2m80Yn34kWOCdoW4FO5lMok1uwE4qcFosCZwSbcCdHR1WW5OzgYFBBXxTCjqWFKwUjKCEwMBdgZMCAXi4+557NbfTVlvXYGPjk7Znz27bvatfx5gnZGejYRw8pQsBBHwQyI0pqGPjSfeDt1P4mxrr7DGXNtinXnux/eajiwGESCs8NKOmmH5irUsFShZKbKOWSKv4cPcwHnj34rXUxO1KUatg3Gbnkd3MTT+CzWU94F9ScITq1CTcZu5u0em6uz3msnb7l//vYqspjBky8vUUBw4cDJ/M5F0xK/lhA5rQ0ebJUwriFPTyNRYlIMrqLRrviRFUNzY2FI+n5xZsfm4+vDeWiK6lfpjzWfWNjU/Y8573XPuv/7rWHvmoR6cgKr9kTvAHbJz4rQmdriwpOMOmMwo2K8e0OUhws3agxUMzexQ81Ckjhp+rBNv8/LxsdErrY3ql4H/BQ/DBvlOKx91D9ggarF/gkRs9QNs9WETpsKrcQxMficzYBYV7sur4bHQOD7TBj3t1eAEX+BFibNl38a4Yr0mU7o3uHmze3QHfVnH3EPRDH7uiMM/oAZvbFvINBqPTPXv2hL2RWGBkZCSMQA/YXripwp/oGypG5V4MNnDI7ttXciWEMTTgMDxq7ilcn80CDRYiT/mkfUuNbSPa7kVdsSAwGCaPoIxCUEZAQx+6LMUFbQpOwJ0n7KVSkE3fu7s2icSgCW0KfBEY5BTcwgc0kbVdR5ksNoLgqHf3ojwscsbFEvHgAFgc7lu3C/fiWPdibT+HH+Rzd22YhVB+DiQDCehGHbe2toanWvQfOqv8J0ky9hd/8Sr70Ac/pM2+KQRRBNulZNjAe3q6bX5+UU/cNbZ//7m6XrAjR4/reG3CeLk9Paa2ts56FLzxBahHjx7TE+SchUhIERmyUHL5nPX29arZ7Y4771RtNjM7ZxOTU3b/Sy6yvt4uO6ZjTDbENG6uM9rE+TQmWaIhBYYzM7MGTsrM9LQ1ZibsI6+4yF7xzHNE14PzDwQYTFG0oamV3atb1zRRuFScYM6Niti1cA+w7mmHBu26NZrd3QiuuE8XNS/30xpGBrgiLPcmni3AgNMT17ULpmA/vmvMXvj3N9vl+5uMzSWniI9PtyZEh7b6B9kJsmryeevp6rJsJrsKANwnR0bsmAJk/MaO/h5LPAnz19zUoAxVZhU8N8AN6Uj7fve72L7wxc/bc577OzRvq8AH/Lu7xdp+Tj+1ysCQnZlUlo61hXybIQ3v+PxZHZezPrBJatrXw8Napj/CxZq2s1VYG8gb/XCs8cMU+vDHzEG1eUA+dMzeCF32C9qqTWctfO4empGf8vOky77N/kf2mg94xHkPDFXhT1IJDgQm6ucJgM2XiW5qajIMFSdSbabSPEUaKAGaFAIIjGGziy2Nd6NrFuJtt90mZzZvF1xwQYjMMXL0QEEnG+FI97u7HGI2vNMDHgoyUQjQuHcvBgUzMzPa2GZDehhjpw960N2qrjFc9Ib+MCoKcwlueOCpA0fEUwdw9PNEwDXvl5ElhAdkYoGz0BkHfxRwUbgGJ/iAraQwj8gGLGPBi43hFCm0n42CPOiauYYmBf7hB1un/2zRZbPgSYvgl5dIkRu9ogds/mzQBWdvX5/9y7vfY+94+9ttRsHNiI4xF4qRA90KHAhVCjqOb7K2ttbwHlhrW5uRrSKDclRHYHMKpgJwiHyAN6tvqAsw2MmJE0O2sLgYcKHDUJQpqqnJhw/AcFTJexmKSuzY4JBsXWvs/H3K7BTsvvuOhrFF/Kf/NjTU266dZL/ceMdteuKU/f0Ld9s1L7/UOprzoFLwYaHWMrL4A3cEWmInNBFgURYWCsYx5PxisRZ7oT/+YZx70fHTxhjuFC9xa1xzAQh9sdDGNTV9Jh0hP9euUe6uwK9gR4Z0vPq6H9v3bjll0H7k/Tvsoj2NIXPN2HRZ0JEf31e2sDBv/b3d8iH5dHe45v8YPXLsuHQ5ZwTIHcpejo5NyofUWY0CYvyGuzhQYUBBTI6MjIWHs498+EP2d3//D1Zf30jXtgq8snbyChpZT2m7Zl1tC/k6g8HNngAIdPk0JoHZ4OCgjmxHgi3SV2lBP8iC3tYbAxzyAous0G5oaDDuZ+TH6V9v/Fb68BM1OgrlIZrxbVqfZHCQN9LG31Por2ZBHuTiOy3x0eeff758RYtspz5kF9lDgKkmzYgLvOxP0GAfQ9fonHva6Y+w1azByz4EDfRL8MkxZmNjo92pB0zmv1r0ko0QsVnBCILDTBoeo0AxMESB8XT/dq5ZCDh3cBIcpHG5ezhOZBGOjY0ZsOn+7VyDk/eojh49ahdddJE2pbYVdO5FuhgCi59Ft9K5/sWq3rigwINRU6NLdx196MmMa9rSg1h8tGEYLAj0ku5f7zqOxYCYL2rmkjmFPmPRI3zRT00bBdjzzjsvODQCM4yfdgoLnvHgAR8F+FjDLzDArlWQAbtBj+BIB3HuHjYLeCdIwQ7XwrHVNvCBF10jQxoPmwltUdfpvu1eQ5cjFWjwEeu0zOgK3WHP8IZ+tksvjgcXuoY+NB5w2QPD12Q861nPMgKoSM/d4xA9QGSsv79XmbKcEUS1tbbI+Sq7piCKjNkib50LmuBFlQKixDhC7GhvsaETOoo8qY2QaCMAFIINAdfS0hwCs6NHB2xWQWFWm/fwydEQPNzv4vPFz7COVk+esa6hNzM1YX/6jD127esfaOf21YMulMD2adZDG39INIU+3SgGCUeLP7xj1P6/d91qv/76H9vvvPWn9s5PHbQFyULgJrDwG1FRM45GAjiBcakwi1BLpRBuw5946c6oYp+7K0vkkl33ZjY5s2gve/ft9tH/PmIc7TLnf/P7F1h7Y17hmgBSv8zZyOiYMmeT1qWj2WY9BFuAKuI3/SwsLigjpmNlHWHywv4OzRdfaQJEU+Np/QhUPBRsSfPBhwimpfc3vfH19qn//LTtO+dcurdVFhXxsk/gO1jL7nBQRImMtCEPNkhd7Nn+X3Bhu9DHrtPrCV76+/vDkSKvm+Czt0/xNAZ8IfLgK/Ajp3vMuKfgqynpvu1c4zfAi9zsizEIQ7/4W/wvARr6YD6A2w699FhwEoiNjo4qc74/6DX2u7vWb4NsPZG9jhs+PfZtt0YGdMj8IR9yRpzuHvhg7rEDfDbwsX+7Nf5yfHw8PCixN6bxoXMCUvSBXqohc9mADOVDCAZKGaEtXVAGRgLjKCTdt9lrlAkejL2lpSW8a1MOB8aJUUKTyWBsOdiN2hlLEMaLe7ywv0fnxeXGuHsICBlDILOU9uTlBpW0u7s2unwIOpCDyUTPRN84sBLwcOteND50jSPAWEJHmT84J5wF84MhUzAiCkZNP4sWPOiR+zKojCM13hHgO7EOHDggx760Asq4SCfSoo4Fft1PO2gGMr/MGePop22tglOFX2oW5FZ0ncbLeGRGx/DnvpqvCOvuYW7gDT7RUezbSg1dAjFoE4ghdzk82AMyRx2Vg6u0nfWBQ2POkSeOS5KMPfe5z7Prr7/ezt+/347qWJJ1X+wv6oVgJKNjw507d5j2cuOTjByF0UZQxn+5E44xC8VR/HX3kKWpq6sx7GVSR5PgKZZCCAyA4z8J9yRjt99+p+Vraq21rcM4Prv0kvvZnt077PCRYzY2NhHgCRofsGPWrnvLA+1pD+ux9E8mUbCz1+QxIAAAEABJREFUTB+uRX6lm6VJEEUm7MDAtP3yq39o7/n8QfvpgXGbmF60wZFZ82TJnvyaH9n0HFm94lBk5Qord5Dqxr0YWOky/C43h2v+xHudSHIbQqeizBaycf/yuUP2/L+9SUHhog2PLdjfv+hie/wVnebu0i16CcMkrynbMG38LwXNjQ3W0d5a7LBIwQx7Gj51yo4PnDDsZYcCsanpmZD1bNbxpFAujzldLSgTin6vvvoJmvMv2eUP+oVtb5z4wLgu8S8JEfBpkquuop/AFimrOrdww/rAD7JW0EE5FNj8rl27QjeB2YIyjuFmi39YI6xjHhah7X56XtIo3T0EC/CGjrZDF92xfpl3fEd3d3cIgKBPoQ1+3OHFQkCIf0M/0E7ztdlr5vjIkSNhLfOOcU/P6vWXxgef7CWMQUfU6f7NXjPHxAPIhn2VG+9eDAihP6YkzXZ0DQ30DP/UyANe2kuLuxvZWGIGbGtgYCCszVK4Su+TUkAUiAIwuo0CovRYFmJkHIUwPt1fyTUbH0po0pNgbW1tJUMCDIZKYexWFjpGe8stt4RPhpANCkgr+IORIDOb9VaNns2SycbIkRujo8aJuBcXVykr7h5SxO6uDXJCRz2Lq0DcPQSy4ABfLCxQCg4CuswztCrVdUYbM4EqAQWBK+fokbB7kSbOARoU6KZr9IWBM09c0+e+towRb6yhDW50jZ3E9s3UzBF2CV/YayVj3Yu6Bh6+4b+ScWmYoaEh4+iETaGt7XTGNQ2z1jXzh13DN45pLZj12nBK8IyuwVMOlr6//4d3hIzZlIKnIwqEVstJtFOw5ubGkDEbGZ1QsJq3Cy883/jG98OCn1r55nxgRckTq9WxCl9RofDBeNdkUdkc9YRf/AyFed2xoz98KOBHP/qxsnK58MWmfFHsFZddEmx7cuS4ffgVF9jLf2NfCEk0Jca+7wGThQCGyxD86IJaVfglsJqaWbD/8/c/tX/89L22oCPKvvY6e9sLz1dAdIF98NWX2SMvF/3ZxZC9YhDjM/KMHE/G4Io2SqArwvBAAZ7i7sYY0w80dVvMomnQ7fdN2BNe8cPgqOcXzF70q3vtBU/aLcZN8qki6tM4frHv4wODWr9Z6+3ukj6yNK8qYxPjxtdYzM3NG18Tgp1MT89ai+YnC9OroIs3xxW4dXf32A03fN1e+rJXGHpn/TEH2MiiMlxFyMr+Mg4fgu8EDzZWyUj3YpACz9g18lYyLg0Dr/gu/Bg+Id233jV87ty501iPPCggw3rwa/WhK8bhQ9xlCGsBlbQlMhpo08z41WuL1vKFeWJ9giPuE+zLyE2hDz3QX4rF3cM+AQx78tzcXCnIhvfDw8N6YLo97I3obsMBywDYAzpiP0bm5eaKK3QEz+4uv9Mc7LWSwegL/bh7yNRVMqYUZmpqSg82MyHpgp2W9q917+5GwoLEBbHEVmRmLcjtnEbPAqGwSTPJp3sqv0Ihzc3NcjSLRoYN491oNBsHsAQG0N4Ifq1+dw9fBIchMJHgXAsu3cak33777doMJu1+97ufnGAu3V3xNZPG4mAScFCVDAQOeIyHwngMOBb0wPV688ACBQY5wAdddw9PzDgAcFCDmwKfwI6MjGhDrQ2GzpjNFhY/TwTwdvPNN4egMOJwL9KHHrThL9bYAnOM0bpX5swiXmp3D09+OBjkZUOgfaMSYeED+9gIfq1+7BpZWDQs2LVgStvYNMgmIm9vb29pd0X37h6ehJlr8DF/Gw1Ez9iWuwenwnxtNIZ+3jv64nXX2zXve68d0RMx/29kobBEVygFBReUjo422U6L3XXXPdba2mZ8dxbvOB3RESRfk2EKmwpKTQFr+qmvq7Pu7g4bld3xRYu0F4s6FbZwjX57e3vCf3wO3oIl4f+hfPiFefv3Vz/A2hqyIfAi3GMU8UO8JgCiLV1iILWkzqtf+UNrbcza/KLbX+t48BGXtiszNmdv/I+T9oy//JF94yfDdtGuBmtvOr3+NUzwCpaWiUiVRpFYgQ9oSR1UxSI4JaDUpwt+VUYnF+zRL/2BffyGYyEQfOB5bfbWF15oNblEcMKN7IwOSyH8sWlluXYq28WL+3SlC9/LdvjoMa23yXA03NbWaqMKjuvrarUuTvOeHkNgO6yj4y984XP2/g98QL6hJt0dfB52jb9k81zVWeYG2MnJSdGsCRt+GbB1m92Ldu3ukmci7BfrDlAndsIa0GXw9dRbKaxFHoCxcfadSnCw5glo0BVrsZIxpTCMYzw+BJ9U2p++d/egX8Ysyeja29vD6zP4PnwrNb6UdZMet9Y16589mRp5wbcWXLoNHgks2DMuvPBC2U0+3V3xNXzid9mTK/XXzDG2CM/b8dfsf+gZ2pUwzPxCG57RcSVjSmHQ1yWXXBL0RWxRia6BYV7cXV7PLLy4DtMwgsGoadu/bNYEGhgyZS2EkRFqYDGYteA204aBMpHgREjq0vG0sRg5ouQMmBciS2E2e+/uYfNjkaBLDHotHEw6fAGHwUQYDA8jwHiZA/qQg8I1+oywpXUci6NEh8BHPOACL+3wxdjW1laqbRdwE8jyxMr7ZWmEzAMyQpt26OMIoQ1v2Bow9G22uHs4CsBZEXiU0zXtbBzwwULZLJ214MED7ziMcg4GfZBBBJanJvhcC9dm2tAf8wpuZCo3lj74Ym62qt8LLrqfffvb37Hfed5zw0v9s7NzIbsDTTZFSqKIp7+/T44nZydPjeoJutPa29tsQJkYvheskArkCD0SzVl7e6tgWkO2bGxsXOgKCkwoglB0U1BpampU8NYdAkLkGB6bDe96ffa7g+HYj/e4BBaCo2IIIzTLv4Xlmoprgqr/uWPULtzTYhMzS/bbj+uz+wan7Y0fucve9NF77bCOaIH9rUd12j/+8cUBJ/diVXyZleI3/dCnKvRTx3uAuXZ3m19Yshe942Z73QfuUCbPrbEuZ+996aXW1ZoP4+BLYBrulkAEZq3409rSLBiFo0lSbNBf3jXjk5NDwyeN/l4dGc3NzyuYylpDfa0gzvydU/ZscHDI/vatf23f+ta3rLOz+0ygVAu2SsFXo/dU18olfpP15u7B1610bOOCtYGtYtdsntjAWujgC//WpNOTrdp1Gi/raaeyZfhO1ipypfvj9ZyyStCur6+XrW8tKIm4Yo2e8Un4EPDH9ljDEz4GnbAvdq9xPIneInylNWPAB00Cj3Lj+L+OeXDiHWrmphxcpe3urge45pDtJRmAHa01FruDL2ii77VgNtuGHrGZMR1jou+1xqNn9mTsClh3XwtsU23s18QWZGP5LwrXkhlbx+6YD+aF+UlgFEps/Bgp19UsbL4YH4TZIMENIxg5EwAjME97NQs4kYlJYJOKuIeVguUFPIIDFqT79pUfcVO7F42Pa3TLZHNNzaSjY2R2P5Ouu1s+nzd0hmGUFgyVxYrhuLucfRIK9xgeC5eXPE0/LHraqHF06B59MOnqruov8nCUyRk6GaGIHN1Dm8wLQS/8I1usWXTw536mLiKO9WrkBpe7G/YUjZ4ae0NW6LlvDX852u4eMozghw4LKsLy6UGOcgnEsMHYXq2a+UcmaKLfiJd77Bydst5i+1ZrdPvs5zxXR1w3GJmr48cHQhaDYMgUfVCzjoHr6elW35KNjIwaR5T8f4h8EvLkyVOmUEvl9C/23yv4mnzOjh07HuatCENgVizcd3V12xUXtNuTrtoVbJxjv9956012aGAmBGYENTGOibFLepaJB7l/wLnNduvBUQVki/aX19xp13xlOAR8mSSxZz223/77b68Mn9JMFBklmlf9BmapEyGgDg3Lf5B7+TJUpfd/98kD9sK3/8x2ddWYeWLv+uP72ZOv6rGMC5khWZFrxtFETcClrlW/2LC726mRMTt2fNDImKFbAtI5BVuNDfWahVVDwg1BC8eTD3rQ5SEQe9CVDzH3Iu0AsM4fdw8ZL2yM9YTPApx5jvesN+ac9mqWfD4f1hQ2TYm42SPwIfgy+Irt1apZL6xVZOQBPcpMzdqGJjDVohfxuBd1jQ9Bt/hnrpGTuee6R4E3ax36tFPgx72y+Yy0Suva2toQUKNXSuwnCOMDbQQS/f39FdtNHL9Rjd3wQI6sBF4RHl1zj2zsee7bky/ijbV7cU8GP3sw9OlDz9BlzbCHwR/t1SruHnwNr0GxLxw/fnwFNXNOYX6Zj9iRsEnDaGw4GzVOmIXs7uH8nkAF46KcDXoRp3vR6KHDOzw33XRTWPQYXLWVH2nGGp1iXDgUJoJJR9cstAhTrnZ3Pf3mgnNEb+BhLEZDYRKRiWCGa9roj3AEmyxivicFXQPDpLtX19At9YM+CXApBLwYIE4Wnph/9AHP8EJBLgrXFPpT6DZ1iU7BzULDqaBrcLufPXlhEJmhQ00wykv7yE9Q7H52aaNbdIaDYZ7RAXp0ry5d7Og97/lX++QnPxmCLoIsHBlk3D1kcxRGWX342otum5yatmwuH44xZ5VdOHps0KZnZlDX6SIWa2qKMIsLC8qYFYM9ANgYi2UpZI86W2vsjb93qfV0NtmCjm4+9a0j9pL/d4tNTi+sBGYcXzJ2VRENsWe5rNv1f3Ol/eWzzrWrLm61q86vtT/+5Rb74luusD98ym4FOollM1pvKsDb8g/XfBiAgGm5SRuUhWIlP8DcfHDCnvnG/7VcUlCv2xOv7LYXP2WP6Ce6N1tShLgo/pEN3GJPbRYPLVfwMpoB4zoSJIM3Jx3yf43W1NYZXzdCIJbPZwFZVcB7Yuik/FudfelLX7I3vumvNQ+5VTCV3rBemXfmmQdYNm3WVy63NXyV0nX3kPnOKzhjo8R3cQ1tdzRWKabNwbl7OAIlAMJ/kO0nSGBtu1eXrrtbNpsN2TZkQ88cR0ILPcM5fLS1tRl9FOSvqakx5oX+ahT3oq5zmlP2J149IVjiVRT8WTVolMOBLMhLQMK+jK7jPlFuTDXakYu9krUyMDBg6Bs+4Kca+MvhYN4I+qGNng8dOmTQbGho0LpfbV8JR3flEFWznU2SCWDSMTCe5lFMNWmshQunQtTPIuAsnHs27rVgq93Gkx4yskFjdBjAZmi4e1i4TBwBF7pj8ZJtIhtG4ZrFSx9GzQLG8HDk0CUQQ9ebobtVWGRljglKyIpxhp6WGcPEEOGRglwsiFjTxjxthT66RsfQxdZ+XnOMbnmyZi4oBODoYSsybGYMdozM6AzbQM/IvxkclcK6u/X377Brr/2sveXNb9BD1bCN6ciRAMPkTwgigsyCa25u0kZSFzI7DfUN4ROCfBLzuI4y55TZCTQZoAt310bYoOPOdhsfHzM2fzUXgzxFOXwycnFpUU0Fu/z8NnvFsy62bK5WG1PBXnPN7fbOTx8swhLWLOMUcPgV6lAnumioydjFexrtDb+z3177nPPskZe2W0NtRmMFonECMYruQnBWk3fLJGbaNy39I5ZMMdVKE/cjk/M6nvyZfeKGozY9u2g7uvOh+nMAABAASURBVOrtVb99rjXXZ4VfoaqAmCt3N9dISkHpvaA79blayc6pK/zOzMyGjBj/O0FnR5s16ohuYnLKapRRrK1jU/YAF/+gd74fjk+/8n1ifI0FviD2b7Vm/bCO8C2sSex6q7g2Mw5dYcv4CfYJ/Altm8GxFVj0iMxsmnxoiUBhfJxj9a1gW3sMAS3+GLnqdQRKwWfj/2hn045zRx8FPeDP18a4vVbmlL0RH8x3baL3n4eu4XpSDxzubvhr+JgpfWgD6CyUOT3gQI99E71iX2eBzJoosS/0jL8+cOCAwUcpYMIGzxNBtY0vEmKCwU2N8bG483oCwthQBiXCVrsma8FmyX8AjpzQxfhYfKSjqatNE3woHvwsJhYbE4+83KMLjAK4Sot78amKRQv/OA0cJYVrJhj86BZ9Ihe6TpLEoEkf7SyCSmluFg7cLCroRj4JgFnkvKMBTxEn+gAG3VCQKV3TB+8Rfr0aXSJblJNxyOvu4cMaZytIYbPiScfdjU9PYlvwgLNFD/C1Ht/b6UOn4EdOnDz65BpZ0UVa19uhUzoWmR9w2RX2uc99zq5+4hNscGDQZhVAmAIMU2ChCES/BYOfjo52q6mtsdGxCevt7bbmpkYbPDFsJ0+OWvFHkRCBlG4ST6yluTnADAhn/JoMddn8fCF8HcXM3CIU7HFXdNtTH7nHTk4s2p2HJ+xP//kW++ZNp5Q9KwQ2Alb9UazDcNP0mLmJkorabY0fYCl0LUqW2bmC8Jmlgy/6shmTbFxZCL7e9ol77R8+ea+NTi5YR3ONvel3L7D7n9MUACAVcZ6+dmX1TLiXzAJjFn6WAARId3w4ol7HkehsdnZeGbaM1dfVWZJ40K1AdJ1ouNvs7JyC2FP2mlf9hX3py1+yc849L7QDs9WCDU0ub5bYMusJ26Zg12ttIlullR6HzYI/2jX0sO1o19h8Gr6a19CENjSRGT/KQyV2fKDMxrkZ+uABL7Lg6/CR+Gyu6SMI27FjR3hpn0CBwjxQ3H0zpCqCZS/GJ588edI4ToMPZIYv5pe9i/moCNkmgcDPHogu0AnyQxf6tCPzJlFWBI7MY2NjWr8ZPQQ2hbpWR7fwgL0z/xUh2gIQcmFjUU7me+/evcbpBgExvEW0CQzRyQCOmqpl+EwogjIBTDjG7n7auFjobMI1SsXCMEFMZGq7NUc4GBwZIhYWkx1xuvtK1glZ2cBi33ZrjAlZwIPMyMh1LBgf7dwDh4643kxx9+CQwQ0+invxHSo2TPDjyCz1AywLAAOELnOd6t7WJYbMAgY3tuR+eo7d3QiEmQM+Zs4xZpTZ3ZWByBrj4A1biAUZuC61GUv9YMTMXZSNOtUdcIMDeswzdbp/q9fgQRZsDLngPY3L3cOxC/MCf8xJun8716wR1hQ6o7iv1jX6Yg5Yc9WcY3QNXXSMTnEoL3v5K+xjH/t36+vrVcZsyOaV/SKuQD50RMEOCcxmFLRNTE5bZ2e7ZRRY8G3/I6PjCjAEvRyI6CrMWXeXYDJuHB2RSZpXgDQ/v2SqjIzZ/ELBunWM+YpnXWRPeuhOGxpdsC/8YND+9J9utZvuHtOxamEl+AJ1klg4+swJJ+qiQEtsKHjhylZq00+UASQxIAOPuoTbQkD18a8fsxe982Y7OjStYGzR/uzX9tkTr+yympxLJkFDRFUiIu4u+m5uFgKx+YUl++z3ToQj1wURQ0+JYAQuCFMmsjesb/TZ0FBn2JG6Qx9/gOeF/hNDw3bVVVfZZz/3WXv8E662XC5P95YLeFkn+DBsOu0zQZokSVirtFfbrrHXGWVI8npQX8uuczpWY58AhgI/1SjIiizomHWDjGm86GHPnj3GumPNp/squQYffIOntNAHTV4v4aGaa2DRAfKyeQNDEFEtH8Ick/kjyMR39fX1BfuKsrgXfRe8ohfmJfZtt0bXyIL9RNnSOGM7umY/week+7dzzZ4HXugy12lc6BifBn3oVkvX0GA9oUfwM7fueAF6LOidE5Xdu3cbiaMBHaHSk4Q/WmwdHR1GJgnmySrRvtXCRMIIiwtDc/eyqFAQisJYoL0dhUzqyY6IE+USZKKEcoTdXUcr9SGDxDh4Lge7UTu8gwPeCSZYUOXGuHsICIGLE1YOdsN2AUQc6Bp53dfXNXQ1TEdE47Ydo0dWDJj5Ayc1eNcq6KO/v994NwJnEI+mgGVB4ISwExwBuDBgagptjAeWgq6RmQXGGOaa9nKFfnRDgMI4xpeDXa+dcSMjI8ba6Orq0jFbV9g4y41BH/BOP3S3o2ucGfaFrtCNe/k5dvewcUKfNYie4GGrBRzMNbKAM41nz5699r73XWPvfve7pQuXTY0paFlSUGLLpRhmME9kc6enZwWXMT4pOKMgbWBwKHzfTxEnsCqB/xrr7u60gsRcUACWUTBF5mpxsRC+PmJGARpB2u6eenv5b11oO7obFZjN2ie/ecxe+/47bWxq3sg6Kd6xlaCKGxFarowAjz7uKeoykaYy3jsTJ+GavkR8mMoP7xyz57/1JrvryISONhP71Yf22h8+ebe1hq/kKAASShBe8NiMNBHwwA/vuv3hO262628ctvd/6bBxGgv+WJJMzqanZ6xOmcV8PqdxbpEn3Qhtwfgqkn6tpX//94/Z/33dX1ljY5MyZbN0b7nMKBii4D9Yi+5eFhc2wHwiGzZJXRZ4gw7sGvtijYIT+y43hD7WMb6AMdhkOdiN2uGZNQn9tew6Pd7dpeNGPUx0hocENk7Gp2FKr93d4BOZWK+xQAs5GM96aGxsDBuz+9r6BgeZNOC3q2t8NQkX9tpzzjkn8FfKd7yHR3hmrtmT8Z2xb7M1vEOb+UIWcK6HgzlGT8wPNsn49eDX6wMHBVmwbfe19QwObJD5gE90jW3QvpWCvpCZ+UMW9FkODzCcsMDjAWVjkzQgyuru7g5ZDbIZGF+6f6NrnD+MwAAEwLfRmNiPI0AhKIIFF9srqRmDMChi7969ISXpXl75aZzwCK/ubCjj4Wko3b/RNRNOwZA2mvQ0LvdiQMg4DGCzASGGw2JhQuEfOdL4y127+0pAiL7Q9WaMnsCCOYY+dKFfjlZpO7LyxAmvBM7oLcLQhv5KnRg2AR3amWcWKXiAda9sjt09BN6MYTxyR7qV1OiIpxjocrTA4q1kHDDAMg59Ie9mdQ1t5EYH6AiclRRgcQburk1+2pi3SsZFGOwRXcE7a9N9bV27u11yyaX26U9/xp797GcrYDgVjooLhSUFEApHFG0UVASmddlouXzeZnTU1lBfZ+1trcZXZnCUOb+waAUzc/2bmJi0+BMCMUVPSyoLCsgIyrimfU6BGXgfe3m3vfQ3L9Qmk7dJHfO94UN32r989j5lswqSm2K6jhhP14yl0CIWqUKBjusqHFEmZuOTi/aHb7/ZPv+9gZCl29PbYC//9X22s7PG+CnyLVl1o8NIyV2QFLoXUmSn3Ht82l71gcPW11Frve019uO7xsWTdKQxo1NmI9MFW1xYsNqavLmLqLlF3gRivCe2sLhkb33rX9t73/s+Yx25e7BrbIy5wv8CW2nBJrEv1jDrC79dyVj3YsBRX19vrCVoVzIuwqAP1sKSImJwYKuxb6MaWHgFB34THBuNif2MmZ2dDQFstOvYt1GNjngQI5DioYxsz1pjmAv4Y71SkI9CO7wSELW2tlqluoYGtMGJnpEZOWivpDA/vJJEzfEkeCoZBww8w6+7hzUN/7RXWphjeEZ+fG+l49ANuoM+8sJ7pWOBY44nJibkD3KGvOCjvZKCXTAGmqyNzega/UDX3UMQD/+V0HQvwrOmk7UGwBSpNCaDwIyNfy242AbTKI4aRWJAsW8ztbsHB8PkoQwmdKPxbJSkk9koWSws2I3GrNXPptOoJxaUCm1kWQsutjFhKB9ZMbit0sVY0Jm7K8MwHhxcpLFWvajHbHRNDb+VTnopLncPmRTmmkVDKYVJ36MPYCjIyzh3T4NUdI28OCSyseiP+YsbibuHYytwQwO9ULAHxpHa384cg4PF5u4hSGFDWo9p5pgPvcAfTzHwtR58uT53D0EwcuAswFsONrajZ+hCE9uM7ZutsQ9wICvriXlcDwc0gYvj0Nl68LGPdfCCF/yefeYzn7En/dLVCsxGwsMN9BSXhCCFa/C2tDRbJpuzickJa21tMXg7cWLYjh8/EV5oHx+f1PWg8Q37St7bvLJkBGAFhWxJUjCyTQsK0PQb+mZ1DJjLJvZrj95pT/yFnTY9Z3bPsYnwaczv3zaqwKewTD9ye2atKbKsMnH0KE6g0jizv/74vfY3/3GXLSgY6mypsZfqePLKC1pWgiVkC8DxT8HEpYo63IvrQ5f29v88WNwgarO2u6feOppzNjPvNjRRsLp8wdobXDg12DxiEs9mM8okjoyM2u///u+HoPeqhz7c3E/DAJzJZMJa5pq5Q59clyv4OOCYD9YZ48vBrtfu7sFfY58zyrJhO+vBQw847B+bxGbWgy/X5+5Bl/AOTXCWg43tEQ77g7b7ah1GuI1qZO1XhhI4PlWNHrlGh+CFJ3xWLKx59E0fvmurMrMO8V0U9if8CHTLFWjiW3lPDN/V3t5+ht2UG1vaDs/IBU32HuaxFCZ9H+HQFfzCe7q/0mvmij3OvRgQLmrvW28s/ewp0GMc49eDL9fHePiGf+TdyL7QR4Rj3tFXOdzrtbu7JVbmx93DkR5nzSiYjAYLqRQc44BhJgwB3Ldm6Gm8GHfEh6AspnQ/1xgaWTEMDR63qgRwxeLuwcGweFholNgXa5wdk84koPytTnrEF2t0hxGBF5lZULGPmnb4YQ7QDQvdffu6jsaHzpEL/NBLF9qYZ3QMbcak+7dyDQ6eOCm8L0Q2FhnB5V50uOiENmgCR8obnVPoc9+a/MjBgkPH2C41dGOBJvzwFEzGuKWlJXZtq0ZmbIuaucSWShFi6/TBI3MMbCnMZu/dfcOAEB1A193DUyX2sFk6wDNPf/bSl9m/ve9flWlvsxEd8+IoCUrohwZyj46O2pIiqtHRMTtn356VjEGDsi78J9nMwT1HJu3me8fsprtHFSwlltXZISELuMiULShIMi/YggK24vtlS7aru87++Nf226Mu7zPeG/vEN46FwOz2w5NGIGepH/DE20LBQnAn8bVxmX3h+yfspf9yq912aFwgiT33CTvtcZd3WGNtRtGWfsVIHE8tUUIAZSmThF4ihLPK5E3OLNrA4AnhYmzBMtl84IdALJ8Nzav+zC/M26mREbvqqofYxz72MXvWs569EnStAkzdYDPY15IiSvSMDlPd4q+gAG8mBMrAAZ/u3+o1Ngo+xkOX+eU6XfAhrDVoYtfuKUWlATdx7e7BX+MLwA2N0uGL2sTxXe7bs+s0XncPX3TKvsPeyPukyIRfouCv8C/oH3kJxLh3377M6Br87m746/n5+TRr4XpwcDB8sTIfDuAdNXgIHdv4417UH3Iwx8hdio55Z+/K6AH2vO+uAAAQAElEQVQBPVCXwmzlHv6RGVnBj17TeLB32uEJusCn+7d6nc1mQ6YLOcCPfKW4oIl9Yf/w6L69OU5KCZTewwwTy1Hg0NCQkY0CJjKCITJJ7ttjBJylBdoIicLJ0rG4MEICMWD37NkTgkauq1mi0bPQmQgMASPAELlm0pHbvboyu3twMOgTBwM96EZdww997tWli+4wYuTiGh2j86hv2uhjPriuZkGPPHGCn08tEmgjM3pnAZBNIyCin0LQGmtsg0WzVX7QJ4U5RcfQJYAgGIMmdo9etoq/3Dh4Zh7RMfNMja6Zb/ei4zsbusaucRzU0EJuZI7X9MFbOb4rbQf/vQcOhqPM5z//+YZ8zCv+A9uCLriWFMXU1tbYkaPHbUd/r+3c2WednW12YmjYanS0SUDT0jZu//6VQ/bfP5m0wZFZBRWMLBh9CzrCpCg2MnBRuJ+fL9i5/Y323F/aZzu6Gm1sasE++OXD4RhzXkEcwRxjpGqQhcI1gdX/3DFmL3v3bfal/zlhYi98qeuzH9dv3a15RVLh15Y0IhZdht8kLkkhjtc0wSfZPfC3tTbb7IJrfKLjyTmrzTG0EGSCdrjTUS9BandXt/3zP/+z/dXr32j9O3bSVVFx9xB8M5fYNIWBBCvYGvbOmnOHO3qqV1gr0F1aDgipF5cDImwCm/952DV+I9o19KFbDbtOa8q9qGdOZgjM8FfYNrSQFVh8CL4q3tNWjeJepA1u5CMgQNfskfhQeCArxlxUg14aB7Lgd6mRl7UMbeTnmr5q6xr67h4eSJANO452zTX+i3Zou58duwY3doWcyMs18qMH5qFadp0gbCUFgv1K1cLYbbfdZmQ1uKa9kvFbhXF3w4GgcAIx6O7evVtP31tPwVbKC7KhbCacTZp7+HCv/qSneWKS0S01TztMPnxAPw23metKYN09OHNkZAMliwEfOPFKxm8HhkALJ8JCw75wqPCBDpAbG4AXCrqgMIYCHDBboQ9+cONM+GQuOHiqPBvODNzpgl7ZxMjEsdCheTacWZom19CAFromAOUeHbhv3655cfjLX/6yveY1r9ER26ftX/7l3eF4CSfG5sV7Y02Njdbd1Wnn7tutI/p5m+e7gVTm5xZsaOiUXXLxBbZPWTN4bWvOWD7nduOtw/axrx6zJQVhBFQLOqZcUsRE4dOY1PPqm1fANau+WWWlanIZu/rBvcqYnW9mWbvjvnF79fvusI8u42FMDITGFbS94cN32ae+eUxHnou2r7feXvBLu+yi3Y0aa6YknC3qakklaCn80Y1+UVvEo9sQYFGnC3M9N79o+/tydtd9YwZtd1dmMIXIREf8v+xlf2bv/8AH7dJL76+Wrf26e9jA3HUsqgfp9HraGsbKRrl78CHYE/4D38n6xMYqw7B1KGhg19CENmsLvbuv1vHWKRRHRjr4IAoZsHPPPdeoOSacV9aKYAy44oiz89e9OMdgv/POO214eFgPNTutqamJprNa0C2yT01NBbromXl2r66uS4XAX0OHPZE9eUnBP3zQXgpbzXv3oq6xazKiyM3egx6qSSepFBmCs2nAEN8vBTOVvF9WKf714PgmYc7r2bAJxlhwRMbrjalGH5NOFEwQwCcE0QG0cW7VwF8OB3TQNXQ4MmPS4QN+yo2pRjv00CuFo2CcCvLydF0N/OvhwIlh5GSlzj//fCNIwbkRNDDO3cP7ZSxG5oNFGAu2yDW2udmFCV0WNjXvtYEHmXnyhO7ZKuga2ZhTjmKRgXv4OFs0I15oMMdsXmQgsTfu4SnCbKX++te/bi984QvtrW/9mzB8z+5dtn//OQq6Zq2pscEW5udsQRmTk6dO6SigwYaGT9nePbvs4ovPD5v4+MSEPfRhD7U77rrXjh0fCMHKR74wYrt6ssb3cy16TXiva16Bl2KxcMS4oOtQ1EBNNgo5lsL9kuCXrLkha8954h579BV9ylCZ/eSeUfuTd91iP7xjVMFTwd7+qQP26n+73eYWFi2TJPZ/fnm3XX1lVzjyRJACf1TiVhPu9YcgTGapntO/ahbOeO8K7syGJk0nma7jwml79i/usYLupueW9LdQTLnZ6Z9Pf/oz9uSnPE2yV+yaTw9OXS1po2I9ubuyjp3m7uG/qVqU/lNgZ+USO8Zn4D9Yq6wn7PysEEshjXYNTWhDE16whxTYli/xLawZ8OMnqCn4HWiwli6++OLgp8hUsaa2TKyCgcwxJ1Y8VJ1zzjkhGIMmuq9g+LZA0Ct7FHrgGxrQPfaGHsxsW7jXG4z9Qpdglz2Zmnva1xu33T7kwo7RLXsj8w5d7reLOz1+w1UPI0wyymYzxCBBgPGRqiVQIDBjQmivZgE3nxBhs2KzJAonE4IRUKOQs0EXQ4c2CxraTLp7MUKGB3SBTtBNNeUFH3iZeCYcXbt72KyQGaOjD/6qSRdc6BF9oldo4XziNf1RH1xXsyAT+qRG1wSf0CUby/tIBONk66LM7kV9YIvoCF4pjKXQxhy5x+1zbW7R9bCeKHmSxqHwdOvuIZsDbuaeuYh018aytVZ0DW7kxJmja0qcb/rQx9awlx+FLNgPsiNjtGt4QGc4WXgrj2Htnp/85Cf2ute9zl72spdZU1NjeKGfeRgbH7cjR46FL3zt7OwIn6rM57LhnbFD9x025GfO+CZ/ZH/sYx5tQycGrbWlWUHcXJiLew7zjowCF5HubV5UQLekontFQ5mMKeAqFAMgNRHd6MQv9BOYKVEWgraZ2aXQdtGeZnvx08+zS89tN8Vr9v7rD9uTXvU/dueRSZucLdjjHthlz9LxZD6XhP4l0YwlWhNkYpG5BDixoiBLwPoNcPozv+g2PFkImbWW2oLx30j90ZN365hy0c7pzRv/80Bh+RVe5kNDwy/zEi628Qf7YaMAVy6XC5iYX+6xa+Y5TTMAVOEPtsNaxq6YT2yagi1E2zsbdg1OZEYmZMSu3D1kCJGfPnjbqojIgP6Qg4K/oUDL3UMAxn5IG7TxJ+yN+C0CJuZiq7TLjeOkiH2Xhzl8JXKid3hiDL4cvXBdzQJOcLu7Hqoag+zoB73gR/Av2Fc1aYKLuY24Iy3amRdkhiZ8YWe0V7Mwf+CGFrTdi3POfLt7+AQqeqkGzWQ9JBgxjDDROE4Un4bH+PhyOYyPozXeEamGQlAuxsZCIvKHdpou1xggykER8FgNunHSmXho4lSglS7IzERQQxcdpfu3eh0nHbzgd5dXTyFz93B0i1GgF3iE3xTIli7T+kNm9FqKCJrwBCx0q6lr5GZBraVrFjjvCaITnjjJmkXesEX6GQtv2AI1MlDTjt1G+HRNEEagBwwZubXgwI3c2CI8VkvX6A9eoL0WXdrQBRsn81wtXUc5wI1c8JAu6JM+dw+fQGWu0/1rXX/nO9+xD3/4w+ETgN/61rfs/PPPVUy0pIBrtzJfO21xYcEWdQSHLMcHTtiddx+wnp7ukK3Zu2d3CMigM6ljj3vuOWC33HKL3XrbHYbM/Afk/X19AfaS8/K2u6/OTowv2vD4nGUzCsSIipaZKigcIihaUpTFdXyHi6CMVUQd3+VaUEbtUZd12R88bb9NK9bL6Tj0YZe228t/Y5/1dtTYknCCOhbdLodNugKZqkS1fnUlcfU3HmUydtHcxqbNJufM2urMGvICEHBfe531djXYn/7TbXbs5Kz9xiO6gxxKlJlYEhAUVW3jF1+EfbGG41ym0bkXfQj90R7S/Vu9XlTWDVtlPOuQ9cp1umBz8BRhq7GewIEc4AQ3NNI0ucauWWtcoxtsketKiruHhwLG41NiQUbwQr9Jx4P4HO7TOLknUOJBj6CsWnsjew6v7uAnSFLAU5quu688wOO3kHlJ2dI0zFaukRVc4ET+tXTNvNPnXgxSNqPrcjxBF5oE+vjkiD8Nj65pZ56wQ2wi3b/Va/gnEcF45hj5uE4X1hJ0ocncbFfXSRp5vMbAI3IYYfJj31o1jPJ+CIxxtMiGhyLXgl2vDQVgvET/bMRsluvBu3t4CmIy4kRshS40mHRkRsGlRk5/aYlwUVfUpTCV3DOOSYdvdA3e9caha+QFDiPFCa8HX64PeukFhrGXg6Xd3asWEEbjZVFjM+7asSBSprS0tBj2gKx8DQXjbfkH24R3dMK8UdAjhWvws2ABR17sy92NBwnG0F6uMC6Ox76wz3Kw67WzSOEZ/tk4mLv14OlDJvTDOArzRftmCmOgCe/QhLb7+rpGn8iMrIzDPktpfvvb37ZPfOIT9pKXvMQ++IH3hwCKIOjAgfuKR4sKwk6NjFpXV4ftP2+f1dbV2cLCfPj+J77e4qc/uzVcHz123G6+5TYbGxsPONi8mKOMIq57Dxyyew8cDEd3//X1KTsxYnbo6KjdfrRgr33fLfbJG47a9285aTfeesoODUzZd28etlsPgUfBmiKjJQVnmUTXitTQw4KinhlFP7PzSzY1s2i8X3bJvhbracvbRbsbjIANOGrGcl1MvVkI0oIOFDMJZWjWZWhCnc6VGvi6jRFlxXhZv7mmYPTxp1YZt3P7a+2a6w7Zsx/Xay/79XOtoT4TjkRrMsJfcB2XmsJKszvuuANsmyqLqYCIucNHrIcg0bEstgAc+mau14Mv14eOsE3ogw8bKwdLu7uHYCHa9dzcnHRZoGvTBbrwDk3wbYQAOHhcUnCCXcP7emPQDfD4iHSBFvLiW7BX8K6HBxz4LuBKHyrXG1faxxzxCsfY2Jjt3r07vK9WClN6jy3gR9BTJTKXjucePaFr9hpkAae701W2oCP0A8+MQ19lgdfpYPzk5KSWkBv4sNt1wIOvYK7ciwHh/Pz8euBl+7AR6DIeushTFlgd8AVddIO86EvNW/pN0qNghMljocAIk5nu3+iaMRgfgpDhQqiNxtDPpHN8hMGS+iXjRnulxd3Dpy1ZRCgE/isdy6SnAyI2pErHup8OCKGJ0aPDSsYjc+SV4GGzuoZPjABjR8/IUQldYDAYaEMTI3JftcAAKVvQMXQxUnAgd1ngkg54RNfuxXQ3uEpAyt66u3EUwAv3BOw4J2RngLuvPMnCGwVbRK/UOEPes0BPPT094SPrjKu0oGv0xJyxPjYzx6wF9I2+cGjuleuahQ5d9IRtob9KeUY3jHH38DUW4Kp0LHDYBoX5hX9kZ31ee+219tKXvtSuuebfrKe7S0F63u538QXW19cTXtTnaHJqatqmJqfs7nsOhk9Q3n33vYbs4J2antGmnLOp6engaN3drnjg/a2lpdmYo7q6WhtQNm1Hf1/ACd/ov6W5KcDcfmQhON7RuXr72v+O2tduGrP/vjWxz37nmP3Xd0ftle/+qf3r5+61N3/oNvvuz04q0DJTfKhSCEX7sQIsgoDiveI1W1LwRg1/zA7BpXGhBuR2hUrUutXYYuBEt1hXQGEhmBqZMuO+rcEsnylem35ciPMKMJ/9+D572a/tsQv3tlhtjSvr5uZmoQCf0xju3vnOv7f44RLb4GdJYcSzSgAAEABJREFUwjA3zDX6xc43GLKqG7tiHOM3Y9cggS72hV1TaKu0MKfQhT44NmPXwLKOGcs6B1eldN1dtpeXzdaEBwJkiPMacYAP3sCN74ilTg8VwGCL+CHWBveVlpaWFiOQYj2xN0LbKvhhjsmu8SDa39+vNdEX7L+CoQEEeZABfaE3/FHoqOAPsPjriMMdi61g4DIIeqQwx5RSXS+DnVEhM7wy1/jwzdo19ojM2PWUsu/UZxBZowH+WAfwynxT3CuXGT3BLzV6Y67XILNmE7pG5oReGMFAYB5hYIT2rRYyW7yAT6aMjRNia+GCLozznhhK53hyO7RZLEyEu4dzXSZ0Lbq0lU76ZhcYOGJx97DpIQMTutFERF0jKyXi2Wzt7mGjw3mgY2gjVzk86AN9YzDoiboc7EbtLHBwxDkEd7kxLAhsC71gsNhYOdiN2qFLwN7d3W1kY9nE4xh3Dw4XncIbNXrB0PnaFgrz7F75Iou4qZlfcCIHixbZaV+rIDPzgY4Z4741muDGrsHBNbKsN8f0QRf6jGEs47ZS3D3YNfg+97nP2dOf/nR7xzvebonaC4WlsKkNDA6FDNddOo6sqcmH/wgb2tMzM+buerKtD++VNTTUh40kk0kUWLdbPpezxsaGUI4cPaYM2oIxV/lc3i44/zw7cWLI+PoHPpVZX1+ngDsb3iubnpkOY/mIf3NzozXU19vh+w7r+C8j/Ar0RWd4Kmcjkwv2mW8P2uCpWfFhCrpMGSkTTCG8V7aojJlipaAWN0KucKnQy0Jx3RK2qQpBF3VpUWLKxqfN5hfNCMTq826JFX+KY4t4+ZsIYUZ/+O7ZjCcm1RRLEVw4lmxyZsGedPXj7C1vfqPxvY+mn9tvv81++tOf6ur0b0GMY4P4kXw+H2z+dO/mrtw9BChsnOADL/jLYWGds5axK+zLXYKVA96gPZPJBP+VttlyQ7Ap1hx1Q0ODQb8c7Ebt7h7osp7BiUzuHvSIL6VAgxoZ4ROcZMTwX1xvpSTKTLI3cpo0ODgY/hs2bL4cLmwcO4AXEh2MLwe7UTuywju6Zg+gLjcGHQODHXAky9hysBu1wzP8gwPfdaa8pzFAD1/DnKB3bPJ07+avGE8BHwX85bBg99g1fDLv8F0OdqN2cERdgxN9lhtDHzDMB3pKMEYUhdGBhLrc4M20g4eInhezie6J8iEecTAxBw4cCIETHxlubm6OXduuUQhKhUYUNiJlUnA8TDwwTFjs226NzEGpWnjoFN2mccIPhs5kA+e+dWeWxuvuYePEOSMvxpfuR++0Q585Rj/p/u1c19TUaFNtDJspOsWwIj50jaHTjq4psW+7NbLipJCNgB59R5zMA3PM8SROlE8FY1/oHPlZ7MBE+M3W2Az0kQudpscjP+3UyLsdOmm8XLMJIQM6ZY7RL+0UrpGZEvmjfbvlxhtvtKc85Sn2z//0Luvt6Tb0zbtizY2NweZ279qpQGne+N6woaHh8B1iI6NjgWxtbY0ND58M17Ozc3bhBedZqzJdU8qg8d8l7d7Zb7t29BnfzJ/JJMYx586dvdpsM8bRIf+vY2tbi+0S3MzMbHjnjMwbX4nR19tr0JnQkUaP+Nq3b7dlkkRBjtuSIiV0pWVhP7tnVO2mdgKnYjCmxJIyXYXQZvpZVICj+DIEXm6uFg/XITLTXfwVmCV0F8wmZ83GZ8waa8yaVBKAANB4d4AU2IV7Oor3yXK7egwe6FZsZt+/bcTe9PHj9itPe6YtLczZ1Y9/uL3iz19un//sZ+xbN1xv7/iHv7Wbb74ZRCFwnVGwm1Ewgx27F3GHzm38cS/6EPBiv9hYGh3zDt1q27W7h0AIm8VfYr/YcqTNNbxQgMHfxL7t1onsBR0iM7jAzZqNBT+J3PgMMlzu1dE1tknCgkwbeyPHkNCPBT3z9THQ3r9/f1hnsW+7NTLiQ5jjKWWPmM+IE13TxhwAg4+Lfdut0TF6hAaBZpouuJlffDg00T9zQ/t2C3iQBbnBX+qv0THt8AUcc7NdmnE89op9MZ8UaMQ+5GcOaAcG/ugLARmKqiYjII4FQmQmIEoqnskYGBgITwekcHt0hBRhq1m7Fx0MdKPgcdIxDpTvXp0FVso3usSocDBMNkZAzeSjaxZ66Zhq3CNXxA896DPhFPhBF9WgsxYOcDPXLGjoITNzHXlaa8x229xd2ZYO4+XW0dFR40iNgJcADdkJxOJHlJGfOaegIwoLhgW7FT4YB053N2SGHnJjY+A9W3MMr+BH15EeusbGcWbMg3t17PpJT3qSvfjFLw7y8eL9zOysHqCm7J57D9mgMlhJ4gYpAq+6+lrjuHJ3d8a6Ohqto73dujs7QsYMneR0bHfPvQfNkyRks/bt3RUCqkOHjxrXrTrS6VNgdfjIcQVoEyF44yj0Xo25+54D1tHZbq2tLcZ/On7w0OHwSU6yZw3Kns2JryNHB5T1qLFpBSvovkfHqczx6MScDU/MWi7rJnbN3PRTEA9uOqnU9Zm/acdJ0BSLKYqam1oyjidrsmYt9WYZpbzcfQVJvEx0kSRuBHUF/eEePC4GFM+Zuu34yVl7+6eP2KGF/fZ7v/d861DwaYKtqcnZLz72Kvv85z8XPqH65F+92j7ykY+ED1vgyJlj1tUK0SpegLdeWUfsG5vCrtmgsTHsDhurIrkVVO5u2DS+E7qRJte0IfMKcJUukBW8ra2tst3OEBgiN3xEPRM0Qb9KJFehgQ57I7TwWfjLQ4cO2dDQkJ13nh5exNeqAVW6cXfDDzKf+C7mljWK76SN+Xf3KlFbjQb7IevGvEbayA0U65U54braxd1D4gC80ENmeMDO0AVzQV+1i3tR1+BnT0bP0ER22qDtflrXCY3VZmItfExyt46Z+NJPPg7Mu0BnS/lp+u4uR12rp/g5Ha2MrSz6NMzZuHYvOhgWOMdqyIoxng1apTihmcvltGmdCnLjdEphzsY9dJlnjI7FjbEh99mglcbp7kZgj2PjKxiQHScLjLsb9+gAftIFB8A98+J+elEwrtKCswY/8rKRbwdXpTSBcy/aF06FhV5tujitEycGFXBkwhe1dnV2Wp0yXvv2FjNRk8pymbnxYj5HjtA/qEBpdHzMBk6M2cTEpIKjWduxo1/B1X6twTrjk5V8n9gFF+y3rq7uEJDV1dbZox/zWPud5z/fLr7fJXblg65UtnXRHvKQq+z88y8Q/WxYs7lsznoUZE0rU9bS0mQnT42Er9Ho6uq0kZExOdt6m1HfBTruxKehkzFl6r53y0n750/faR/7yn1i1y0xQh5TpomwSKGSqiUiM02/LpUBLBB3FTNkwNKovrlFs6mRJdt997jtXJy3LIjoVwkZNtWAgovsnm6Fo2AEZS49FYMxM02bTU4v2ke/NmAf+NaiPeU3nmu/cPmltrgwb3CWySSy16yds2+XLS7qGHcp0dHtuBF0Rluzn8NPJpNRpjKr4HhcfCyGOfg5kNV8ZwItfMiMgmvsKkmWlW3V+QEfNoKvShd8BvSgSzvX1aG4PhaybxQ+0LGo7C6+bP0R1elFD/hFMnSsd65pqw729bFAC385MjIS5vvnpWt8NXPPl7uiawLQ9TmtTq+7BzknJib0UDspf1gr35CcgTzBcRGxndFTxQaiQY4nl/SEeeWVV9oFF1ygo4xhI1OGUqpIahUqJhzayMeRFef38IBSqFcBV/EGutCEDpPf1dUlJ5sLE0FkXkVSZ6BCn8ypu2vT6wovsKMDNu7qy3yaPDJDB2eGrjkq5OmahX426YKbRU32de/evfawhz3MCPaxN/iBL7jE0bDocQQ4WwIxCte0MU9sQsBWWqDNHAOPM6+trVVQMBNKpEtftQu40TObFo4c2rRVe44JIrDXO++61yanJm1EAQ5z2tzSbHv27JSDySvASORYMgo+CHIW7IXPaCmK6zrSU1A2MDBoP7v5Nm3uGbtP2bBeZcFu/OGP7Mf/e1MI1rq62pUJ+oK96U1vsVtvudmOHz9i7e2t9oEPfsi+9OWvhOzZTh1rzsxM200/vVl4sqLptv+8c+zQfUeNDFq3ArUpBYgt4uv2O+5Wv4nfKeWaCtbekthjrmywW48smuJE8SbGJBjvkOlK9xbgESAxNy2b5eLGz5L+jE5aeHG/rj1jR+/XbDUT87bz3nHLzy5ZDL5EzJx/bvwVOsIzU617L17PK/D737vH7M2fPGEP+cXftN94xi8bNiQog242l7VM4iFozGay9oyn/pJdd91X7DGP+yV729/9nfSchGwlc2Bn8Qcfgi0lCoRYx6yPaG/Y2dkiDW7oIh9ZFAr6oY16u3TdPWTBkCeu/VjHtc8egf/AV+BH4WW7dNcbj/+44447gl1fccUVWhM7DN/FUWY1ZC5HG9xTOrLEh5AFpNCGzNTlxm23nTlmb2RO0T17I3bGPnG2dY0vI/iEXreSQ9BHB/ADX9uVrdx49IleWVec2FDghTb60uMSsgQwiEIYkO7c7jUK5sXrUR0ncazExgFO6PF+Gfd84uTEiRNyXEWnRf92C8pFyRg7mySbbsTJxovMGCKTAWzsq0aNDqHLAsehICt44z306C+dCGC2U8DLBCMX8vEkEPFxj9zQpT+2V6OGLrqGNnqmRLzQRAc4cxYgsLGvGjXzhzMDLyn+iBPZ+YAIdHkXA/5iH/MAX/BJjeMFPtZkIdy1q8YBa9TQQx50iW4ZD5i7h0/7gpd+7J/2ahYWMnJh15SIGx64R1b64TH2baUmi824887dZzt37rCTJ0esu6vbhlWzXhcXFm1hccl2qe+cfXt0BFIPuHmmJ9S8bN/d3RneC2tVoDQwcEIZrk7jy2LRD3IsLiwoeJ0NWba+3m47PjioY7nZ0FZXVwxup6YIcOdsYHAoHCsNqq5T4Iuc4EiSTMgCk8E7NTJqfb09ygyPWn9fr7W1toqXjHlSa4t6GPyPL9+luqBiRiCl+CgEQtQUYBSrGcEVsvGe2MikWVOdhXfF6ANuqK/OjuxptNaBaes5NGEJHxBw2Qy/1KLqrhujCF3B7ejwrP3pu++2qdaH2gtf8Nvydwr1CkvmCtYIxDjSTTSOQCxfU2t5ZQ77d+ywvTradcmoLssoa8UmwtxiX2fDh7CmFpWlYX1AD7rubnV1dYE+/dW2a+RhPrFb6GAf0KWwLmmjn/UGLO2bLaxr8CAXOow16wZ5aWM/ci/OGbKztuljb6y2rpGFvRG/SYKipaUliIS8vDdGwIBvg3boqNIf9IcusR90gE4iamhzTx/zDGzsq0bNekUe5gJ9R5zcs0+gY/RBHftW1Vu8AR+BGDXJAuiByt2VWW8Mds3eCH+0V6ugP2waXaJr/HPEjZ5pQ9cUYOnDB4TsDcbHRMFY7ARgKwXBcdpkLfi+J8paeFh4bJwwxsYJY2vBbaYtLiCUziQnespbazzKQSnIi9LWgtlMGzoDF5MKXeivNR6jR9csSIyPcWvBVdrGeOaNScfIkWmtsbeXXuAAABAASURBVOgBY3T3cAzBHK0Ft5k2HDMLLDqvcmOZX+YaWHgtB1dpOzrGXgj0eU+Mp/i1xvIkgnPjK1V44sQ2gHP3kG2Ab/RC7e7aHFcXW+MH/rEX9IwNrQES8CAzfcxxpMv9Vgu6xr7gFdpr4XEvbpzomrWEntaC26gNfp/5G78WwPjKikP3HTaOG3P5rAKJgoop5V5nOLl77j0QAqLp6akAvzB3NNS8Y3bkyDHbtWtnCH76+/vswMH7rL6uXmNrrUeZstGxceO4c4cyYByBdrR36P5owFeroKRbmS++v+zgofuss6M9ZIc6O9vtsDJtjK1vqLe6+rqQDTtw8JCca4MR8NWrjePTE0PD4nXRFhcmLZ91e8Gv7LNZnT0uKIBaVGSlGE39Zpp1FdXSn6Sz+SWzk5OmMWYdjep1girTHxV+9ey4qLbjO+vtZE+d7VLWq2VoRv2F5f/vUjXRm2DHpxbsjf9+j333+C576Z/8vnV1ttmiAh5TMJZJEstls5YoAmRembdsrsaaWlqtp6/fGls77Qm/dLXdcMMNlv7J5XJBh8zv9PS04QPS/Zu9Zjx2TcFu8VFr4YBHfIy7h7lg3Fpwm2nDrqeUqclKD+XsGnz0AQMsY2irpMAzY5ErXVi7+EBkJTtEvRY+5gR/jp4p25UZmpwM8cXUu3bt0jooPsCU0maO8W1zc3PG/1OJzymF2ew99oIPRlbmca3x+EP60A/+hjFrwW2mDZnxFeiOPYg5WWs8fDFH6Jl5Bn4tuErbGB9xQZe5XGssdsUc04fM8Mv1dgo2iq6hyX7v7megc3c9yDaErC100XUIyIB09/B0z2SwibA4EYi+zRQQ33777UbEz2aIsBuNhyYZjpGREeNjvsFhbTSopB9eUQCKQPnlJj09zN2NicD4MZit0mWxYEAoHkNO0yh3DRxyoy+Mphzceu1MIDKjY3CtBxv7kBWZGYvM6C32VVpjsNClRtfQ32gsCz3CMnaruj506JARXGEv5QL9Ul7Ixvb09Oh4617jQQHa2An8I38s3FO4h19siBp8wDNX6A8HT9tGBb0wL4zFRsC70ZjSfsZgW9TYV+SnFC59715cy+4ejsmRN92/0TWfTq2vc9u3o8bqGxoMW0kyifR3UAFFu+3Zs8uQaXJyKrxkz/tcR48OBLQLS5lQZwSf0xFcQYFHS3OzjSh7xftkx44fN+6zmYxN6kgTh8WAtrZWOzE0pAxXrx0+ctSamptCVubosQGjj42pq7PDJjSmrb3NxhTMkXlrbmoMGbUOtfE1Ga2tLeYKdHDuierRiSX7+g9n7LzerM0q0nL3ECDy3ypBlwBsOXYKmbPhCbcFBWydCsQyCRBmEiFcKA5TjWN1i2MWajJ27/5mm6vL2O7bRiw/s7gCc831h+2d103ac5//+3bZpRcaOhN5ywpxTW3eEtUZNWRzecvm8lbf2Gg9/X3W0tFl2doGq62vt4suutB+8pP/ldzj9ulPf1q4i7/ubugOP4L/QD/Fns39nZ+fD8FVbjnIq2R0JpMxNs44thCVUcngZRjWWbRr1gg4l7vKVonmE1jqOLYcsHtRP/DJemUchXvGuLuOxtuDHNxvVBiLvvFdW9E1OhrR/saDJAEgH2jbiCb9wLKPxodK9Eb7ZgpjxsaKn3zGB7tjw+tjQMfsE/DN2EUeItYfckYvY5kn7BO6+Xz+DJjSBncPQQpzNjExER7OSmEqucc2mSvw4DcrGcMaABZfTQwE/5WMS8OgaxIFtCGz+8a6xvbRNWMS/qSLu+tJs9HYTJgIBEv3l7uGEV7YB/6iiy4KUV852LXa3d3YYMmYsekO6viiUoUw4RSEYtGshX+9NhSC8uCdSayULgsTeAyNBbsejXJ9kWcmsVKjR9fMjbuHd8Tgvxz+cu3oCZkxPHRXDq60nUUCPHwjd2n/RvfwylhkRQZk2WgM8wEsKXyCq71792405Ix+7JkgDplvueUWHcGdDBsRDx7MI3PPhslAYOGTBUqhDwfFYqUGZjMFXVPQG/QqGYvMwOIc2ETgo5JxaRjkwC7RNXjAme4vd80D1excYt94X6/N6wl9545+O6Wjyh39BEvHbGBgMHyLfnt7a/AT7h6yPg3KWI1PEpCYcVzYqQDqiIIrAiy+CDaTSYx3Ru6+514dQZ6wVgVhc3PzojEfgr32tjYjG7Z79y47duy4Hs7uVeBT0FydsiVltA4ow8YnOrHZjo42Oy4+7rlXQWJXpy0pakK+Q4cOGy/zt7W1hE8oNtUn9tDLau0Xr+w2cEzPLZnYCAX4oAP5zJFpZX3mzDobzWqyZomrR4EGY0L6TH8SybniMNUvlgRkgnWbbsjagQtbrW1o1nbfOWKu9NutR82e/VtPM+zHyIIlbjX5XAjIEuHLK2DNZPNWU1tvnd091t7dbzX1zZbXPbZ26tSYnTo1omPcKbv66qvtTW96UyiW+nH3EFRkFCSxNpdEN9Vd9hI44N09bICJgp2ywGU68tpgsU3sek52UgbsjGY2aeAZuxW7hlfGoldsYWUelymBs0EPEsBQ4nU2mw122iY7ww+4+/KIyiroMg48+H10WMlI1jFrijk6//zzw5qpZFwaZoeOrznGJKAjOCuVOQ0br4FBP6x9+EYvsa/SmjlmLPPFvIGzkrHMDfYV9V/JmDSMu4dkCW34/uibuV+vMCfspXGu1oMt1wfPFHTH3JWDS7ejF+RFbpJR2Ei6v5Jr5icpB4jxgNjdwxFXOTgYOXjwoJGCJcWKsZeDraTd3Y33zTACvnuHT0OUG4eymCyeElFgObhK28FDsICDwfjKjYuTjo7gk8kvB1tJO+PRNUaHPOAvNw5HEBfYVia9FC+Ov6amRhmHsfAEX9of71mQ8IZzo8T2iusSwLjQ0TOlpHvlFrqk7GngXYutyoxOsRcWDM6NRcsXbiIT800fNJgL5pUCLOMIIpgfnrZoB26zxd3DxoncLHSCpHI4oItOmBdoloOrtB2a4MJuKOXGsZZvvfVWe+UrX2mzcwv29x8+ZXPKoCwsLtjI6KiZZCA4m52dsx4dJ44o68U7XQQNZKoatQlmszrvMwtfi3HffUeMNYWsBFJ82StOq76uVrY2HwKZ9rbWkBHrVlBFgMU7YEM6auS40t1DQFZTkw/vmdF29OhxIzN3TJkzZGG+FsTj9LSODBX0iLTVCj/9p8Qf9wROS/rDMaUwSrYllQJd5paz4QmzpppC+H8ngTO1LgYx3MRC4IGAz/TDKMVpiq888C+06jdbUqN+7fiOOjt8Xqv1HpywBxMkKrOgOEwPqFkLDlcIqWt0JJvN1SkQ6wrHkw3NbQrGGqy5pUWwNfa5z19vz3vO79rHPvpRq6vJhSzg5Q+42Mr9YJesZXwI9lUOjnb6sTHgt7qewBMLvhc8+CbmOraX1tCENjaNXZT2b/Yeu8YXxfWLDuCFAg1qSo38G3wB297ebtjMZmml4RnPPoE8+A/WTbo/XjMXfJ0F72NeeOGFKwFG7N9snVMWk4AOX0Rghv2Xw4E/Y60hMzooB1dpO/qkgBN9lxuHnvGtUUfl4CptZ47ZY8GL7ZTTNe3YHzpHP9hCpTTWgnP3kJhCDuRhrteCow19oBfWE7ZG21ZL2YAsImShYXwQReDYTs3xD1kLzsL7+/tpqlphwV5yySXh2AIaKDwiX9JTIErCQJksd49dVakxYOhDA7nTSFmAc3oarMakp/FyzWQiD4sJ46MtFtrQP5MOf7G9GjVGB130inzUES8Gjh4ijHt1dY086BrZ0GukywLkHUSeBnFC8Bf7NluDC/0R5KBXCnaNzfJiLQ8U4HR3YyFHeHij0AaPOCRq7M59a3pw95CRwJ5ZxGldQ5c26OFIrYo/7h7WEjaGHpjXNHp0cv3119tzn/vcoIMmHQW+86NjISAhuGlT4HTy5Cnjna8wTxK/tbVVKAqCcctqsxgYPGFf/Na02sxyykZwUavN0F1hEMGJopcJHTm2tLaGF/TBRenp6QrvgTXU1wX88ML8oKNWHUESpKGTU6KfFx10ds45+6ynt1e6rDcCuamp6fD1EIxJy9bWkjXitOm5wunASYwtKHqaXsgqkJq39vqCmeTRXyuI15VrwcjVaLw6zQQLDqB0o19oSayAV6BqMYbaohXsyN5Gu0XB2K6f3Gzt4hu0WUVmNfkay+RqrFHHuH07d1hjW5fl6hqtSYFYc1Ozzeks9fixo3bj975vf/PWN9ukjmYbG+qMnzvuPmivetWruCxb2MCwHeaodMNmU0G39ToKxQ7KItlCB/6hqanJmBtooJuIJrZllMWDN3ePXVWpWaORdpQfOsgJbWyJoz/WbVUILiNBh/gl5J2amlpuLVYc++NbOPHh5KfYWp2/yMMxJjR5gErbO9f4a2RFJ9WhWMTi7iGoxAfir6FV7DGtgUJI3KDvs7U3Mp9r6Ro90I68zD88VaugR+TBntkbqSNu5EfX7AvQju3bqZNKB0MUw4cpJoPsFU8bZC1YjJXi2Swck4/xcYRJpmRkZCQcAaCks0kX3NBg0SEvE06N4uFps3JsBh5dU6KuqVmE0HavrjNL84Ux42Bw5shKiQsM+mnYal6ja2Sjhib/3RZBEkeT23VmLCBkINihpAMzgm0+5k4GDOeJjWFf7kXHg8wUdw9HHYyHRxYp7VxvVQ+MZz2ha/jAvuCTtu3g3Ygfdw+ZOuAmJibCsS30cXZvefObaba9e3YFeRU/2bXv3BPacHqNjQ3h2t0VeLhxdEm2LJ/P2fDyN/LffNdcgJlfWAg1QRpyXXFhrXFsWVAEc0zHkQMDA3bOvt2W07Ed2SKyXnxHmVDbH/1mh9111z1hfJsCskPKtLW2Nlu7jikbmxqsubnJmKshBYAEfu3tbXb55ZcZOu3u6Va2dzyMBRdFzFpGnm5Gx5Uz8wU7NrJgE1OLlk/mAxxycuH6Q4nBlWkg4VfAUVAPNxQFXK4SLlWbfhxYNSwtI+N+PJuzgSvvb/MKbnfddo/lhaNGwRA23d7dZ/mGZmtobDICW89kdTx5yo4evNeGBo5bs3SNveH053Ssy7p8y1v+2txd1Db+zes4kYJdMXfU6IdAxb0yHBtTORMip4AZGgR/0MXGlhTV0pZs4Vj0TAqrW/DP2C7rhvdEuYYeugOyo6NDQXsDl2etQJs9Ad81NDRkvLoDXU56zhpRIWb/JfPGWsJ/sU8UZLzsW2dD1yIZft09BGboGZrIzVzjw5n/AHQW/rh7yFqxN0aa0OeeOTgLJFdQspaQDzmhPaoTA2zs/+ftPAAkuapz/Z/unpzj7sxsVkQJCSSCkUgGhAGBbIKMeRgbsMEYg3lksAFhguEZMBgDBpzIJgiMySAwCoCIAoQCSpvD7Mzu5NAT+p3v9tZubW/nqdFId6r6hhP+c+65p+6t6QXr450SuPEwVT0VjM1iSQDn2IfP1Y+uv6dZ3hAEsglPyCj1U6ttJIEFPc3WL4gVk8jMQvCSzvCYAAAQAElEQVTFwc08/PtEK9ZvPeqYaGYWSLMghJv74BeLxr59+4STDw4OJsax0H58RkeuMCF4sSgy6dj1ZZKTuGF79I8KE5DCWDML9jEzSKy5IAN010yoBgJmJnYt5D+/+7u/q4XFxZAg8ReSHAHicn/9jgPex8TngwdHQ6JmZjpwMP8Sf8p3ffDRJj9WDDp4UjLQk9YjHtiiR1/S6pTlOEnX/vCA+Hng2Q16419s1Mfeslk7d+31o8sVXfWYrPNtoNmftKWPXHMk3Hd0tItkbGR4o9hp62hvD7tgNHb5DhN/ndnV1elP5jPatWt3kG3i6IS2btmsiy66QH39fZpe7NVXvj+r919zlz77vT2aXVhVe4MnpY3MKaeUU+DpOYP4glf/5ClWzgt38mNJv9LHaziWJN8CF64p5Wnw2Snl/zfv73354K2One/C+Y7g0QfcX1uWVnTmzv1qaOlQU2uburu61eg7iDO+a7hv104d2ufyTU9qdcmTWk9c77rrbi372SlHrx/60If00Ic+FLI1FXwc+3C9L/1rZSX/LiE+Ed3XJHiFzuhEksdizDUqJEYUFujItyuQSqQZbPfvd9t6Qjrsp0X3FW8zC/GShJ3YdeTIkUT0qYYIPoV9SfSr6Z9UH7CGd1T4nBTtSnTMLBx5o7eZT3Yl+5OqhhyKs2OBwdkRY7FkAWOikS3SXg2devqwMMKDicck27p1qz8hd+qOO+7w4DxZD8mqxmBkFmaAx9l58oI/ySilKiJ1diIxgQf8ouASYY1cdZKtOCzrR7HoHPHs8COIJl8wwJ+kpCKBOjtAm6dKsMa/4AvePI1Q6iQbhplZ2DkhQBLE0QfaBHD0xL/Qmzrw5h8uB2uOS+FNG/JRFy9RXeT7ZrVNTpI9bIw8+DaFwAZPaAfh1+EX/oN/QRoM4P+zn/1M1G3etEkbN2wIXzGxbdsWbd++VfvGTE2ewLQ0pRniyUsuHEtt7G/UVZf36/XPH9Gr/rhXf3pFjx51SYdGBht1+OiKfvDLBf3k1gUN9qZ18TnNevYTO/SeV23QFY9s0w0/m9Kf/O0etXu+1ted1rd/sKgzzzhN0c9pmzLhliTsrDNPD99llvGF7q6779WGwX6RmLFbl/HdtSN+HMhfW6LXls0jGh7aoCO+KN17z04dGT8a/qq2u7tbqYYWNXUO64d3N+ijX71HJFQ5pSS3GwmVX1w3hXqSs2BXN6nnYt5H/mPiP785lm7JrzmZJ6ShzonkvIb7qJ83KtPQpJ7eXg2MjGjlwgs1d9mlGvntXerbf9AT4KwO+gPI/j07NXP0iJYX55XzncVlT8jm/Aj2kCe9+AKFB2BoV1vm/AgNH8PGDY4dV/yX+qBbVYRq7wRPfIm5xZyi4NfUwb92iiePYB4zVyhxHtyDE3OY3Sn4UuDLPDuZSrKf7rrrrrC7ecYZZ4TkiPiFLDO+A72eWHMkjX7YtqurS6eddlrYDUQe6pPV8gQ1dGOdIF6DN7agwHM9sQZLMMXHwDjSG7+C9wkJk79jnYAHesIX/mbmu/FT4UEwKY4ekcqTYjuUFxPZnWJLmAkRjSCYYxCEBaioPokrARajww/lMT50zSy8C3PmmWfKzHT33XeHI0zakirogk7wJZhFdM0sHPewk0KSwmIdtSVxhR46Y3SCiZkFsmamONZJOz0ODV8wJvnkGhj7L/DHxvRBZ65endj/+Fb0nhh4m+V1RgYcH72xB9jUyxRa0AFXaFKwK/Vs+8OXezMTtuUYk+OGCd+Nxf/N8jLhk+hP4R55zMx3QdKhQBO8VOaHsUxss7wfm+VpM4Sx2J37pBdOghk0CabwYJGEz5e//GW98pWv9IRoh/YfOKDDY+MhwCwuZrVvH7tjGWWXU548LIVka2N/g4YGGrWYXdX1P5/Wd26a1U9vy6qnp0O/d9mwz8mUXvv8QV3kR5TvesWQ/tN3wv7Pk/p06GhKL3vnIb3xA2P6qSdqG/rSOnNroyamVvTBN1ws/loSeSi7D+R3V8b8GJT6Dj++4w8EBnzHq8OPKzu97Nm7TwcOHBK2Q6feHt9tamw4diyac3mzGvadtY1+hNnb260NA/1+DHq37rpnt45MZXX1f9yq7/38oLPLhe8d44V/8ql8MubJVk5a9ayNes+1XC/vGv3vbdSF4n3y1Sb+kx9LUr/gJ7b4w4ahIXX0DKjJd8U6OrrU7serUw+6RId8Byzz2c9p6bd3KOvJ08rKkpb9aDLruC+7EHPzC/rxTTfpnLPP0NDI1rDQ5vmU/808wc4tLZ6ANjXJzMIAMwu+TT0LOf1CQ0K/Vl1m5ik+zPwyy/OFfFSH7yMbfamvpZiZ8FnmJ1cK902uIws0n0nEwDyia2bhiIt+xC76RW1JXHlPjBOjbdu2hb8eJoZA18xCvAYHYjWF+qQKeqAPOsPD7ATWxGreW2P9IjED86T4EkOwMTSZd3Gs0R1ZqEM2ZEyKL3TwGwo8SL7NTuiMffFr2in0T6oQW9AHrMHW7ARfdAUH/JmYngTPVCkiKMY7WwBA5o3SxfqamQCIII+xmOzF+lVbh9EBAIdCWYAoNtbMwk4ZO2Y8EbOw4yjF+lZbB090QBcMbHYC/DgNAgyy4YT0XytfxpMQQbcwIYrzNbOQjGIL+CJvvL3We7CGDk4H33JYE/hwSCYavlErr8L+JDq7d+/W5mNfjgiWhX34DCbw5R6/gD/3tRYzCwsSkwi9eaIk8cKO0Ed/Cvf4PO18TQby8V4Ifo2fM97MhLzIBmYU6rELfSjUKfYDT3Djin8Vtse6hoUH/2PRhG+8rZ57aFCgiYxmeb8Gyze/+c1+XJgR/zwStBcXF7Tiiyt/OQkGJDMp3wV6+EPO1cMvGdb5Z3Trb194lt758nN09YvP0nP/YLOe/KgN6u1s0Ic+u1PP+/1OffX6Kb3nlUN66AWtuvGXi/rWD6d04PCC/uqZffrjp3TrjS8c1LOf1O3J2Kq6Olr09esP6F+vvr8e9aBBfeD1Q5pbXEWUgPGiH6Mi8/btW5T1naO77rpXk1NToW1hYdEXvkZfDPt08NCojhydkDxZ8iwk1DWHY1TTvr37fadszONFh7DB2Z7knH76aWpqbtY9Bxb19k/eqQ9+eZcm5kgEc75TBhEpyrW8JtxTC3QBvfAriOm/aPGL/7/sJLKejIUNRe/c2NalVt9p7uzuVirTII5UOZ484Lthvz33TK14Yjby61u06seWCyRkftS37ERampv0xMf/rn7881/r1a9+tVMu/z8xhEUBv8K/zE4S8PhgMwsxBN8FC3zgeGOdN/CFP3OHeVGKDHZs8UQRv8auzIVSfeP1yMpYdKOecWYmaEALPy2nM+M73AYsnMQQZIVOvYW//CfZgS876pFchfTMTjzAg9FasUZv5IcP+pTiiw140OShkm8/4DUQxqylID/+Qmxs8iTYrLh/IRN+gKysaVzXwhfM0Bme8DYrzhed8QH60R+/WAvfyFe4gjU+VIyemXn8bAhzCnzAqVi/autShR2XfcucXSeUIhED3MI+xT4DCH0xCIt8PU6/sLAQAibAM3HNrBirk+rgx84dE2Pv3r06dCj/bstJnSp8QGecB1rogC4VhoRm+iMrToPOGC80VPmL/uAMf5KBUkYvJEc/5OQKX8YX9qn0mac2SuTElfrTbmYh+cbpcTzsRX0thZch8S+cfMuWLcGZqxlPQEZnMMPxqxkT70NgACtsy5M0/KHHtdsXy56eHt/l6QkvWBNoKdhkcHBQ/LUvffAt6GBzMMD+UcEWFBIzMIU2V+rAmcUDn6a/WWW/NjNPNppCEsn4egIMfgFWyARvs5P5Pu95zztGf0EbNgz4ceWAtmzZrGYPuBz9kYwxrquzU3fvmdSqOlymRt1+z7RWPFuhsBt0w8+P6svf26PHPbRFv/rtgl72rH49/+qDeuSfj+vfvpzTL+/u0L4jHZ6oTetL3zO942Mr+thXZnT2jmZP3Pr1wc/cpQvP7tbPbj2qH/5yRp4PhoRq+7YtLtNgeI9seWklvMfW1taqFU9YNgwOaOuWEd/VO+THBjMhiZ2ampFcRdqIP7yjNjWdb2PHr893p/jajp07d2v37j0ea+Zl5j7d1qk79szqjf/xW3382gNa9nxw1fUjuUM/5MHu8p9j1aJt1Rt9uNfK8ZDvJMoTRclPUkMdvobfNDU2a252Tgf27NKh/Xs1Nz3hx5MLwj4TnnjtdMw7/Qhz029u1+rCfBjLP1l1aHxa//7v/xnmXKgs8gu5sPGqC9nW1ub8U0V6nVqFX+KfZua4zjvmrvSp3crWMP/xa+jgY2U7H2s0c7w9EWYeVPJr+jDPoG1mxygonIgwl2knLoABWHI93qnIDbSYl8wleFfqX0iCOM8mBfKwNqJ3YZ9in8Ea22Aj5EbWYv3K1TEOmZEf/uX6Rm3w5X024t1uf/glkYzaqr2iM7x5yEQHsxN2KEXDzIRdiK34CP5Zqm+p+ggrbAQddCnVN15PPzCijjWdOMB9tQV+yIvc0EGPasYy1/EH4iVrOj5WMK7iRzaWUlEvACCbprDrRJIDk6i92iuTBEVwOhZt6FYaGxkdR8Po9fAFOBZ4xt97770epKcqsQ1BCGdDRhZfjFlxUEEHs3yAwRhMGEpBl6IfwQajIy+BominCpVgzXicDidAjwpDhKOgM3ghcz1YgxN8sRd6YOtKfOlDIsZYttThXWlMYbuZeULQFAp8a8UanshsZmEBj4IM/sqkp3BPQb/4lcB2zjnnhKNJ3qU0M0ELfSjYgmtUaKMOHaALb7PKwYz+8YJ9mORmFt7zAsd4e7F7/ICgQnCBLzIV68cX5PL9X52dHd5svst0WBMTvpt14JBmZuc1OnpY99yzU6l0WuNHjugL37xVN98+qf/6xkH98rYpnz/SRz+/W21N80qnVrWhL6PB3ka95v2zmsn2KBPGHVUqd0QXnr7gdkt7ctEk/mjg0HhWX/n+lJ7/pr2+69alt/zLrb7LJn3iq9Mui8S/nbnXj0xJqIaGNoQxg56EMU8tlfJFeVljY0ecZqMmJ6eEHiRbKUtpxnebwKnBMyMSBpJN/gCAP0QAT8k8GVoRf03KuFXflaJd/vPT2yf06o/crrsOLniSlXMdc+Revmum/NX7RPth5nRWPI9ZXLbQ1pCWfDPRa70vndxmWd/1OnTwQEjGpo+Oa9kTrpXlJS1lF32HJ+tJ3IrmTNo92K9dm4e0ZedePaR3SC/+61fp6qvf7NxK/0/8yGaz4em8oaGhdMcyLfgo8wC8mE/4TJnuoQme9CWGELvMXIHQUv0vfDLyTWjhs9Fo2vB5CnrxGbvRZ3Z2NnSDL3GPsTMzM55cz4XYRp/QocQvMwt4ITtzBAxLdD1eDSbELtZGYhdxwax2nZGZuALW6AHd40xK3IA1+oEFeJnVxtfMfM41+4PWlsCh2rURbOHLIPTFBtzXUswsYI3eYM1crDQeTMCGvmCFnSqNZHwwvQAAEABJREFUKWw3s+MJIbkF9Ar7FPsMT/oibz1YQxM/BS/uSQixNfflCtjgX8zFFB0nJib8iXF3eCGRnSYaqF9LQSmcCIdi0gB0Ib3I6LShRD1Gj9M0s/DOAGf60OYPEeAd7xPdAzwGAPh6jB7Ria4YAgcigES0o7b4FZ44OkEQ3oyLt9d6b2a+KDWFd0ygXUpfAhV84ZcE1siJvdABrMslhASB0dFRYRd4m9UWVOAVL/AFa+wG1ky6eHt0T7BFLrDGF9E9auNqZoIWNoNWVPB/+pqZzEzc04/63t5e8bAyPj4uAjS6g638h3b6UodcXuXHZJ0hKEEbGmZGdc0FGcGaucIEjnjGCdGGzuCBvoyJtxfeP+Yxj/GkZjwkMEjV2toSkj52C2dmpt2vGsML/nzzPfJ3dXVqbGJJs4sZffCzu/Tit/5GN/92Tl+4dkL/50m92n94VZ+9dlmpdJMnSWN6yLkLGu6XFpcadPOdTZqY7RQYIMcKmYzfZJdWdeBoRp/52i4dGFsWcaO9vU3g2OI7KXzjPn/hyVdrTPtu1+rqihZ9J/2Q+1Nff5+QeePGDXJDackTHb4+A/27fFev13c9hzYOepP5Yr0UaPJXm4ODfdrgCdBRTz4zmbQmPKEbGxtXW2urwKG3t0/vv8Yf6uaWtejHjznfFvPNME/KcqHIf3JesqvSit+QiGVSEqalyH+4Li8tab/vik2OH1Z2fk65lWUt+7Er74kt+rlm1uVd9MQMeX2Idlx0ie730ldo49nnKHXddZ6l7ab6lJL1JAw7YxPwMkPqU7pVXWFmYQGDFjEE+sUG49fEF2yIf2Gj4/3qvIEW85OFK9IJP8d3zSzYDD600Yc2MxNyMseIacwH5OIa9VOFH/gSQ5iz0IB24RDmEw9fvA7DusjrC4wr7FfLZzMLCRI6Iy9yFxsP1shlll/T1soXHsxrNi2wLzG5lM7gShuxGjswdi0F2bEbV3SK/L2QJliACb5FMVu7X4MzBbrQL+TJZ3RFLvwMnZGT+nqLWX4+8SAObfDElwrpYeOdO3eGHWrWRh42U2RmCEIFIBQOWstn6AIGRkUoJhH0EI7PGIZJQWChPqliZuH4iV0NstR9+/b5k65HT2eADPBGLvRFRq9O7H8mODqZWVjcMAjEAR+jY+wkjA7NeEEP9CmFNXojF/LFx6313syOLaLtIUjGnZ4jPpJi/iAEW6D7WvnFx0MPnUhOSLzAmHb8KsKaSUE/6ust+Cu0uVLAcNCPMqFNYCPZRG8WA/gS8PBpM/OdmOXge9iHOuzDfT2ymFnYlcN30RF+ER148hkeLKxmlYMZL/M3edLT4qXVjwJJuE47bbsaGjOirqmxUZlMxnd/cmG3a8ITGI7+ItJtzRJy/NUzBzU5s6LPXbskxmwZzOq8c8/U3skdWk0PSNYcFiF0l/9s3jTix42bNTS0UX1+jHjbnfvDP2+0mM1pYWExJIjNTU3hXbH8HxakPKHKepI3JRdGC4uLLl9LSI7QlS+XvffeXSGpWPbdLmwFxiR2h30XjYSrzfXr7OgI//ZmQ6Yh4IjN9vou3EY/rqWtv79X27dvDUlqQ0NG41NZ5fwokKRsyTMvz8sC/+xyzhO1nDIOcUNKIRHTsZ/Qx++5rnryOD8zpZWlRT9mXdLiQtbxWvHEcUVZT9bALucdN2wc0WMe9xSddfYFamhyUIeHpYc/XPLESz/4gXy73ykq+BIy48/4ADqGhoR+QS+iCx/kgzQ+z2diGe3wpz6pAl8W7K6uLsELX45oE7fgTXubH8maWcCBPguemNPGYktMp3DPmEj2iE6pK/4NXXxmxnfaiCX0Zd1gsSSmcjyJn1GfVAFD+Db4ziZ8wRba8EcPPrNO0E59UgW+vDs7MjIi/iiBEtGOsETnpPWFR4Q1OqIzV+qxFfEbXcEEf6A+qYLO+A/04YvvQBtf4zNywJd26pMqZvnkGzwjX41o7/OchPWRdZEjZWSkLUUiRmbGh/UqGALnMjMPdmMeX6ZCgGZym3lUWyfGAMxuRq/vajC5KCgO+FzXiW0gy8KIITA+T1k4HXzBInRYp1/Qh4+ZiV0cHB2ckcVs/bA2M8EDzPk+nttvvz185vgb/uukbiBL8MC/wHpsbCwkQHxGltBhjb9WVlbCIkCQpGBLiplp48aNoY1vzGaS0c5EJ8BHhc9mFp72sQ++Qak38DAOnaGBfScnJ8POE/jTpip/SCR//5HNniAsac+evX5MeNTn53j4Ti+wXF5e0d59+x3PnHhfCj0om/qz6utu0Fk7WjQy2KAnPbxVH/rchNu7TYcd/5/8ekI/v/m3/lDUpR07tgW92eXiy2MpRycmNDM7p0ZfjPDV7u4u3fCLBfV0pvTXz+rw/tL0scURvBbmF512i+9+t2nOd5rY+Zr3xZjvHoOumYXEcXl5WSPDQ2puadHOXXs8n8mq2ZNNAq6ZCT7ssu33I9mMJ1zy7K7dEzWCNckbuh7yY9p0OqUV38H71LX79a7P3ePHkDkxcxaXpDkvfGBXzEk6LvKP3k4Hye8VfsJH31Zb8cQr60kmeC55sph1GbO+S5bzRK+puUUPftij9JCHPVqtbe1h3PFffiyr00+XLrxQq/fco+yNN2rVEzRsnPaj4OP91uEGzOED6YmJCZHk4G8Us6AZTYkUMwu+i04p15k5yxWfJilCFuwj/wFDFjbsjB96ldtpJewwICPttFGwOYU+lYqZCd3wRRZo/mUY5jcvxRNHKo1fSzv6wYNYwTox60ey6Is8a6FbaSyxgx0/kmBiNTEb7MEA/CuNr7fd7ATWJIDojC15uAWLeulWMw766Ac/+OIzYA0WZsn6dVwe8GQ+ge8+T8TYBGO3ctgfvOB9Ul+cN16xXvfwYcKQ/OFsTKxqJ8xaZIIHBeVJzHjxn0VsLTSrHcuTmhkLQXcIHHyuduxa+oEzAQUnx+BgjROuhWY1Y+HLxIYnT5UEWeSoZuxa+6AjdibAENyY7GulyXhwKyzQRy/44dfoSXDjM/oz0ZGHfkxGJiKYUPB9JieF4MBn+sCrlgIveJBwEFTwLfjVQoMj13v3Tum8HdKCJw3omXJ/ZYGY98/oRhBramoIi/LGvlRImrZtyuhNf9Gph56f0bZNjbr2pjkdnW31HaxJbdm8Uefc7ywx1667/kdamF/Qpk3DGvMjXuUWtOK7RuyisdCzs7XiiUlLetqTsLSWVlv04WtmdNHZjbryUS165MVNampMh52ydCrlC++C7zrPa25+PiQ+4L7sCU9/X68nbM2eUE6IZOfI+JGQfPEeGjtfJGIkWjkHZ25u3mk2il2yHdu3yZwux5joLqh6p8HBAU8SUprzDGxjb5Pv2ii86M+xJDtinle5HvJ0LseIkJR57hXuFf14fIfm4mJWWR+wuLTssi15HFgOPC+6+Hf0+Cc+VRuHNkUjTrkyfsHlW7rf/dRw7rlqvOUW6a67Tum3HhXMZeyPj+ID+BfyJM3LzBxfT/jdD/BpfBhe0fxABj4zn7kWymCWT8YbPLlnHpmZzKxmMeHNbhFJIMd6zZ7IL3jSXzOhOgaANYVFGj3uK77oDN68F0dsYsOChLAOFWoegj2xFzqjO/G0ZiJ1DIAXPgVfM1Mxn6qDbMUh4EruQbxndxI/BvvCgY5JSrOela8XIDBFGK4EegyPszPhcDwAKRQqic8ojNGhDy94kgwy2ebm5oTzcU2CVyENeKIzgQzeTDICGwsIT2DrjTW6wy/CmgUbLMC7UNYkPmNbMn8WeBJftsTRGb60oTMyJcGrkAZYQh9d0TniC/bYgPbCMbV8NjNPFlKhYD8KvJhYEe2Ib3d3d3hnjK1onsDkP/TF98AC/ydJ5kphHFfa6GdWeSEBR+xIYGEc+lLwM7CmjT7OuuL//JNRN948r7YW02mb0mGnL+MLWx7PBk+ijoS6melZpZTV6Vsy+rsX9+h5T2nV4aO+GzWYUnuz9I0bpz3RWFFuZcHHTOnOu+72I85UGHvPzt2e3KTFESR80LOjsz38FSWBkV3cpZW8qHOeLPX1b9LoZJu+9L15/fTWZV3x8JQe/7BW9bQv+HHfUuCz4glOT2+3Ovjm/qkpLfrOEbZe9WRvfPyoJ4M9nmAuKO3HrdQfOHBQnj3p3nt3auuWTWrvaBMJmq/cvls/Hfqn02lt3bpZjU2NGjs8LhardNp0eHLpeDKWcvOk01JjRiEh8xxLfnopaPPLTx8hmS+uEnZY9IRxMRxVZr1GOuOsc/Wkp/yhtmw7zfulQl2xX9h3wRMCbIuvWXe3dPHFkh/l6kc/kkZHiw1bcx3YEivMTux4w59CXIt8fi2MzMx1t0ACnKMCX3g0ezIEv4zbjwJP6s3yY8JA/0Ubfs88Yi5wj39hS4ovbt6r/P/YiL9u27lzpzg64l0x+EMTGswF/LQ8lfpaoQt9RhMX0Afe2By/xf60JV3Qec7XQDAl/oBZf3+/H9dv9wee2XCUiU2S5gs9eKIbPLEXOiMD/MACTOiXdIEufKGLbeGLzyBHhAVtSRfmE/+sFby3bNkS/g1fbAxv5jg+j+4R3xTGR8DISBCIGtdyhR7MmEwAzwSL02OyIBRXhEW4ePta7jE6IKMbvOER0eOeY0yyVP4MmIUzKZ0jo5uZwBT+EV+ufMb54Jek82FQsEZvMC3E2sxEPU4I1tgEedZasDE7HTgcwQyHg0dE18zCkRFYIB8BhjFR+1quYIgu0ANTgmecHlijc9QPjOLttdxDm4kLrvgTn9GT98hI8vkc0aMdHEh28C/8mjowYPcuKoxDbuqjK/JCN6JVeMVuYIhuTOp4u5kJGSn4AQVs4n0K7/k6jze88c3hu8IuvahJGct6MD6ohoZGMX829uUXwPNOb9Tr/6xLL3pGuzb2midY0v7RZbW3prVpQ4OWVnLie8uGBxqUspS3pzXryVWTJzf8BSSyLHsSNbfgOyF+3bfvoD+ZZsMxIztI0/MZPfyixpAEyX8s3e7HnT3h35v8yg1pfe+ny+ruWFZXu3Te6U2+aMwFfuCx7Meqy34M2Nfb43I3+EKvkAimHI+5uVlN+HEuu2QrK8vipX1e+p+anA67Mrff/ltt27rFk7xl7zelnGdU7J53dHbo2U9s9x0t08EjizLPuHJeXDS/J/WSMmkvKYXEjK/JYIeM9nDNSc5eTk5L2SW/rqq7e0CPffyTdc55D1Aq5YNV/GfF8QF7M/Ndv5aA5fGevlumzZulBz1IOuhJ5k9+IvmR4vH2NdzgK8FOjiW+hY/FyaWcN/VmFpJdMI+3V3Of9mwWuvg49CiMY44QD6lnDtCHvpQmT0CZM729vY5bSshJP2Shb2FhrtFGH2iXK/DkHVD4sEsEr3h/5GB+4mf0XUsMidNFB2wMXeg3NjbGm8O8oB654Eu/kzqs4QM2hje6gpVZfo5DEn7ENLDmAZsHS2Slba0FHYjX2BzdCu2DPNTjV6wVSfGFDvpCF/rwifcdkaoAABAASURBVOuCztSbmZLGmtMSvm4ETCnoHvE2y89vbI++2AVZPaTku9CAIzM5UIDGfEvtvyEOjYhmXJBCapHTm1lYBAhIhX2q/QzoGN3MBMiFRo/TgS9JGROahIKnpHh7LfdMVPQFO+ihd7nx4Ix8OCnGWAvW8IQGPOFtdmKCFcoAHvAFY5wPvAr7VPsZfXft2hW6b9u2LSRe4UORX2Z2PCFkHDIX6VZVVRxrdEHvUgPNLMgFLvgkyUy9WDNxIz7shPFECX+SKQo8IrtSTzv/lAqYk/QzFlkpBAWCIf2iAo3onrY4P+yF7NAobKMuXphryAFfxlSy8ROe8ARdc81/azL9GF/8TQ86t8WTjSUND2TU12V60190e+nS2dvSXp/nRNJxz94V3bVnSa3NKf38jpQ2+DFfVgPq7u4KmJP8DA8PebKz4kneIeHrcwtSKp0WNuTdL2wxtHGjty3rF3c1hp0q/IP3vFiEeXBqbGwIydulF3WouzOjoX4LvPgrSnTs7Gj3nGQy/HuWzGkSvHnfWQJn5DSZJ02ravSFna/QODw27r7Y4jyX1NPd7Ynd0XAUinz3+A7a8NCQx6F5T79SvvO2ot6OjCcB6G1e55mW/2/+MRSPnk2Z/IfjL/6vyvt5Hf+7AC2tbbro4ofq0Y97olrbOqktWsAkshc2RpeiHan05EgXXCD5MabuvFP61a/kWSgtNRdswHyEN5jhm2ZoV5wUmONfkU9yLd7zRC2+zBhoMx4fpS7izT07RLQjA/ozn5gTUaGdhxwe/OhHH+YL/aJCHW3QO8H91DtiAQslMZBEDF87tVe+xsxCYgwvMKLkW+r7zXjiNXIir1lprPEB+DKHkbUarEtJhX+zNoI9NMthhGy8ggHmxHiOcUvRrVSPXzOnucIXnUqNMbMQO+APRmCFj5TqX66ecdBAZ3yPUq4/fod8yBnJW65/uTbw4i9zwY/3ENGnVH/sAF/sgqweUk50pRInQXiEwnFPtFa+w3EgamYhIYJZ5VH5HhgKvgQHaABMvqXybxwVeXE6JifgVh6V7wEYJBQECiYpdPItlX9jdOTF8MgOb7PSEyxO0czCREdWeNaDNZPUrHaskRW9wQve6BGXrdw9+pLAspMAbt2+qJXrH28DY/hSh43xF+6rKcjIBAVrHBw/rWYcfczyWMMffdGB+moLOIE1/oy+LBLoERV2u3gngcWis7Mz+D5tTEh2y0jMGM8TZ6SzmYUnYWyB39CfEqeNbyAr/k0/5ki1MiMrY5hHYAaNUmN5MHnta1+vxz/xafrZbfPaMdLgu1FpPeuJHbr4nAY1ZDwL8cHYgOK32nNwWdOzOd2zN6us7wLx3WLwgN/MzGz4Y4C9e/mDgNVwPNja2iK+goKvsRge3uD5w7L4HrDW1mZ1eFI1NTUdEqGsHz+2tDSLJLbJd9jAxsz0z/81pf/77D7d8PMFzUyPIYIfD3eE5I7x/FNDR44cDYnWwsKiZmZn1e3JIceZ1Df48RfFzB/85v2Ytq1VU9PTXmbU2dEREkeSvNHRw54ALurGX8x4Mtao/q5GT+hcf0+uYOr5Vki4nExI1KhO+5Tn3TK/aNF3C1e9E4Vk7AlPfrp2nHYWQ4sW8ERn5n+TJ40UMygV7X5yZWurdMkl0siIwjHmsQekkzuV/oQvLnjyiq+0tLTIrEq+ThI5KcwNZEcPrz7pf9YT+kAbX4YPxczcZ7Khb4djj9/TB1tT8FvqmFdRIWli7vGgw2sR1EOLvtEY5rdZaR3wTV6rGPXjXpJ9/iAnCFHFLzMTfOBB7MJmVQw73oX+jENm6HA93ljmxszCOgEe4Iy9imFdigRzkpiH7tCoJYYgJ4kZfNlJJI6U4lNYj4z0p2Aj/KCwT6nP+A28kZXx+FipvsXq6T8zMyPGE0+hV6xfYZ2ZCTmRF5zhjR6F/Up9xsbkEOBFoo9vl+pbWI+s2CdV2MBnFKDRzPx4YDYEOepLlcjoAAGQTL5SfcvVw5eJSQEMFCvXH7DoA3iMoZiVnpDlaDHBcb6JiQnt3Lmzos4EMyaYmYUFGNnL0S/VxsQEa8bjRNAt1Zd6JhZ8wRxnw5DU11rM8hMdB2TCgiN4lqIDX4IZhWBGKdW3Uj3+gZ/gL/CGdrkxUb8IK67l+pdqI5iCNe1gWC3WyAfWyM1YbMU9OjDp8J14oY42sMU+yDvkOy/04SiA96YirCNa+C6yRYUxyEuiR51Z7X5tZkJOAgy6lrMxcrz85a9Q2s/iHvGgIV39okF98dpZPy5cDIkHCYanJSEZIQnh+PHQ+LIOH10JcwV9KOCzupr1J90m8W9Qgh20s560jY0fCe9nTU/Nqs+PGM3Mx674gtMcAuHmzSPauHEwJGvsM5GUmaFDg6Dxhg8c0YX369ITL2vVJWfPK7V80Hexsp5AZUMyQZ/2tjaXN+dxa86TurFwj1wHD42GBI17kr+cK9TqSSLyjnsih81I0LJLSxroNnU0t6utJS3+unTVzx7Rnb55AMJd+AU9blzMsIPYlPbNqlX5Ma6E/WgrVbAJcS7tu4bY38xKdS1f39cnPexhcpCk735X8hhWbsCq6w5fZIcv/Mv1L9VmZm7n5rDwEYOZp1FfaEa+Dx8KbVlPuNGb+UEBI/pSuGdMc3NzoIvvMof4jJz0pzAfmBc8AGFz6EG7XOH1ARZL7Eych265/qXakBH+tFcTQ4jTxDj0Zxz6MbbWYmbHE0LoMZfL0YAfNsYu4FevvtiFnUkeLMGQ+F8Jb2wMNuiKztionKyl2uCN3fFX6FXiC9b0oz92xlalaJerR178DP8D67hfFxuHXOBCog9O4FWsX6U6M1NKZX4QCEBRFMG4xrtjdBwDowMcxcziXeq6BxD4ciVJKQYIdYCP0ehrtna+ZiaevjZt2uTHLAfC10agY1wJjA1fsGCRxuni7fXeQwd6kV7widNCjmiCgXO9EyxOk/sIP65gjXNRHxX48ifoJKk4OQ6HX0Tt9V7NzBfilhB40Qs/glecHhgjE1hgYzCKt9d7j/xMOLDGr6Efp4Uc+DSFfqWwxj+RiXZsEhU+U097nC60tm7dGpIkdhnRLWqnL3IRRMwsfEkzuwH4BAXa2CjqX8vVzELCg0zoRMAsHA/W3/72tz1p6dE131vUF/83o1c+d0i33rWsr16/IF/DPblRuHLf1Z7SnkPLnnQoJEPyH+QDO97zyuWWteA7VS2+22XGYtLi9m713aZVzc7NCl8yS4nTNxK8keGNOnTosHKe/Cz4rs3AQH/Aia8xAYesJ3RLKw160iMGdNHZzfrXN23UDz++VTf955Ce+xRP0M5pDIkcGHZ1dQa/euDFvK+V8qPYtMxMs9OHPZlr0vaRZo0eHg+JHLinUnxFzBEh+6YNaS0tm7YPIesxfV1A/18hGfMwQ3KW/8ydK+7/cxfq/F5a1Y9uPRJ44mOhKvYLf8PvqMInwI37NRXXL7xf9shHSnffLf3wh5LvEsRpoh/YZj0pYpHGH+Lt9d6DYcuxHTb0go+ZBTzxK/SFL3ET/0ZnxtBGvKE94m3mAPsH2s3y9/4x/G9mwZbgRYEWcQFd4Ite8Fbsh9hCIkY9O/r0jzXXfYufoQc84RHXAaJ8pp64BjbEBOrXWiKdzcx3lOeCzxfSRCbwQEb0BcvCPrV+Bu/h4eEwb/lrQZIPMI3TwZbYmHpiFrLG2+u5N8vHLrBmLoEp2MZpwY969EbfpLBGZ+hBH73Qr5AvSSrHur29vSJviLfXc5+qZhAOT2FSoTgCAg4LCqAjtNnJk6caupX6EDAwLBMXB+NKARxkoA3+lejU2g5NEg/4k4hM+BMnToDuYIBzJGX0QtmYvNCHD5MZPXE0dIYnbUlMsEK+6MwiidPBC5yRgbNwbM0WLHYuHLfWz+gCXZwff4I/WMMb/WlD77XyKRxvdnJCCD/4gjW+hu3B2qyyX5tZWHzNTlwL+cU/gzOTF5xJzNATveELHkxudtPQHR+PrtwzD+kTp1ftPePwL7DGl7Ex/gV/bPz6179ek5PTnhiN6rqbF/WOf1/UM5+wUV0dGb3rY1PhiJJkbMWTpo39ac3M5tTRnvZdrqUgAthB9+49qzJPyGRST093+LZ/9CPxYZFIpzOhv5l50tUUFhawoNKrNDgwIP4R7g2elOGXM34ESoJGn1RKunN3lq6amVvV2z+2rOtu2aC9o3kZZufmXB6SwQXd/ItfysyCDJde9js685yL9JXrFrTrwKLe/coBveZPWzXUL33/o13q6Uipr8uJe1Z19pZOLfvRI9jkPAtzdQM/JyVXSZ6/ea1CoYJ+XMHl7v1zetdn71VvZ5OoNzOBCfrzGT8Da3wL3QLhJH8B0AMfKF10kXTzzdK997qgOcdkKcgB/viQGZokx9jMwk4ZeuEH2Aqd0ZXXG5hb0TzG3/D1CIuVlZVwZBxdwYn+kqoS0MzCKYWZacaTUPgiAy9Vs2CyI8acqopYDZ3MLOxagSc2hieyox+f0Rc8zJLFGhGxI3MZfMESvLhHf9qJGcxz7pMs0CWxRTdiV2Rb9IU/7bQlyRNaZvl4jd7oi+9EWONr8AQP+iZd4Ikd8St446fwZG1kneArnuiTBF+PQNWRIZgDNgKQHQM+C8t6GL1QIhwewI8cOaIJT44AJykACnnFP7Mo4nyAz5cF4gDwNkt+gsX5muUnOvwOHTrkT/KLYjHGBvF+63EP1tiYdwYIaOjPDsV68IrTZHHCn3B4dkXQ9b7AGj74NbJwREZQ5fN6+zV8OfblqROseerEp/Fzs/zihi3AAHko+ACFe/qa1eeH6AZtghpzis8EGV7C5yX6LZtHwiJ+975F/eXb9qmpsU1/cmW3/uafJ/Xb3cv6n+/P67s/XtDug8tqbfRA2ZwRch89Ou5HhZPKLqe0oS+txvSCJy8ppdKp4L+Z9InkzTxxyHlKs7q6El7SR6+NGwZkZkp5xtPS2iq+wJXvGMsuLgoZ8Y+jk9LRqVXx8+EvTOiJT3+9rnjS5drru3UPOq8lzBViE/K0tjZr08iQ75Y16frrbtRdd97tC3dr+NPz//7xaXr/Z6bFu3Af+cK8Ro8s6jEPaVXaGpVJpY4lZHIc/P9cvoC2i+aJlsR99DvllRPTS/rAl3frF3dP6xVXnaHhvlbxg1+DNYs0WGM3ZKNtXYsf++nSS7XiO1eL3/qW7MABtfp9KlV1yK9KPDMLtkHPqLAwEkNIhkgQ0Be+2AWfAwsSCPkPV+YcdSx4fMYXuefqXar+H5740cGDBz0PvVccaTK/zPLWqppQjR3NzP2qLSSVxGvkZo6ic42kaupu5nPPbQq++BaxE774WE2E6ujc1dUl3j2F7x133OFzNuU74C11UKptCHEAGzOKPIQ1ks/3BdbMYzMT+rJWsEkBb2RJqqSqJYTiGJzJw0LC5GOy4XzV0qinH3zhSQY+4E/OPOkgB5O7Hnq1jCEooCN8Tz/9dGEE3gGivhY6tfYlKKHMw+IdAAAQAElEQVQjV148ZcIhx32BNUGUgLZlyxZRwJ1giR1q1aOW/tgTHQnm4I2uBO/15gvGYA0f/Jqgjhzwr0X+WvvCb3FxMexanHnmmYI3W988cNAGPYIMwZWkLCoEXIIAhTrkNattwUE37EqAYdHCn2+44QaNjh4OL8rzRalmKX/4mRTfEfbBz8/pxW8f18GxFf2975r917cW1dvTo6XlnO+epbWwuCJotHpidt7pDUKafYdT6u9Oa2pqSivLK1r0Y0j+wlHeSlBdWsrqwP4D4v0t+Y+ZycyEzmamzo52DXsyRZzp6OzwNvkOTEY/umVevmEmfsYnTaft2K5f33IbH4/vnKEfJZczHTlyVHz1BH5F3aZNI56Q9emGG36iqVnzZCKlr/ywVU+/vFvXXDuj/q4m5XfEPAvTyT/U5Nvy9S6m5hdX9fWbDusT39mv51y+RU9+2IiWVlOaXjRdddVVgif+xRwmduHTlMjGeUrJ/8avmbfLbqemyy8PSaZuvFFukESYmZnbo8GT3ebjBYzxKeyLHfEt6nigRWd8BLkKBaAvY8zMk11Q1vFrYd9yn3m14q677grH/cwpsIfvfYE1OpqZiNfow2f4l5N3rW3ohX7MZbAmNhC7lpbyu8VrpV9uPLaELzv9Z511VlgbWR+pLzdurW34DzpCZ3BwkIs/BM6K+vBhnX5hy9HRUT89OCT03bx5c+CbNNapSvJjdBIiHIwFgMIYFgoWBSY9AWc9AMG4bImaWXjChq9Z/mmEe9oAivskC7qgL3rzVI6uLAy8/8OEYzeDyU+/JPlCK5pgBLI41kw2sEau9eALlmzBsnCQiEU6Y+P1DDDogk7YEV5RgoH+yEAbeuOH4JNUgR5Y47vwokAb/cEa29NGP+qTLPg1euFT6Ay+8CfpBw92zJAt4kl7c3NzeApHNgrjKNwzlgUt6l/qCm2CKFjjW9EYaGezizrjjNN1lC0oJ5BOp/wJ2I8rOzvD7pdPO/HCPTtaBMKp6amQPI0MZDxZYiFdVaaxXeZjTVlPdNIan1jRai7niduyskvLamxo8KfoZk/elkKSxCLS0tKsbHZZZhaKDw9XM//sH3bu2iOS1B3bt+jiB9xfS+rXzLycZk7d7Tk94nev0Pj4EadtOnt7Q0gS0A+Mm5sbBcb8xeXw0AaxA8d3j911191hwcfWFz3gQg1uGNQ135lWdimn23ZNO38p7bteLoJLIJk8QfDdPFcl3PFpxY80b7ptQu+9Zqe2D7XphU/e4cevjVpaSXtCltGv7pnRFVdc4bouB7shh5mFIy74Yt+kg7kLF/TCdynwoVCvTZsU/iLz5pulm26SPEEO9XX8QpcW35nB9/BBYiSl2X005TtwPZ4E8lBFXdQOG3wPH+SeQl/kgw6F8cz/tO+kUminX6WCrnd5Isb1jDPOEHzN8lhDj7lGWyU6tbYTG7AjcYL5hPzQ4Mpn4hY604/6JAv+TWJCjARjMwu+ju5gjM7MgyR5Qgva8IU2fCM7kZhhw507d4q1MWmdoQeW4A1fMDaz8DAAX+op9EPOpAr02KQgJsOHEyN0piBHHI8keJZNyDA6CzUTA+bFGOJ4TE6csgCQYt2rqkNJ+GJ0jg2ZVIUDqcP5CGrwZkxhn1o/Az60MDzgo1shDQyBUcxMJDD0Z1xhv1o/owc6oxe8zVgGTlAxywcYZEI+JnsSfAlUOBu24ywc+ie45u8imeDJRE8Ka3iCHzyZYHluJ35Hfgfm8MUfTrTWf4dfE1TiwSxOzcw8cWgJkx2+yJkE1uAGX/RgPqFXnC/37KJs3749BDXsgqzUU+gPTuBFwU+gE11pAzP6xguyYztszVxF73g7x/FXX/1m3Xbb7SLpGhraGHZ2JiemPMlo8KPDg57MDPpu04QG+vs9mcp6+6oefH6TWppTQq9V3zrKeMK1e6xLTS2dvjikNT654k+Rc74LuOCJUkbsdOG78GZRH/UduZamJo0eHqVKZhZK+OC/+Db9B3gSdv7554p/hml0dExd3V2efKXDX3e+6k969SdXtGn3Pb/UJec16oe/XBDzCNqbRoa15Ike+Az09+nue3Zqz959rk9jkPf003doZHij7rj9Tt1+2x3B1mB68UMeqsm5VU3OLMtV8qTTZXJZSMZWPSnjHbrdowv6yNd2yzf+9PJnnKGtQx1a9GPaxeV8Mja/1Khf7l4RWDe5fj78pP/N8v5lZuH9OfzhpA51fkB35hPztbm5+VQqyPLwh0sXXihdf720e7fckKf2K1GDb6ET/hYvYIxvdnryzsKMD3NPfVSiz8jIfEJG8IYONCl8poAZ7WZWQpJ8NXODf+6IVyuIXSSB+ZYTv5ELGZA9mnsnWuu/gzf0kBX6ZifLapaP17QTQ5h/zMP6OeZHrroDsk5Ai/UPvfItJ37DExyZ7/Cm74nW+u6ggW+hB/rCo5ASPHmoNDORmNG3sE89n6ED1sQteBSjQT0+Qz/0Ltan1jpi1a5jXyWDXvhqIQ1wAA9kpD84Ffap5XOqWOfI6FyZSAS4Yv2iOjMTQtEPQHDWqK2WK8pgdBTD2VC20ngCD5M5GgeNSmOKtRMocHToFQO+cAy4YCT48nIj4wv7VPMZjOHLFZ0JIOXGmVl44qYfWNfLFxtxNMlu37Zt21QsmMXlMLPwdI/jYx8csF6s4Y3OTDD8xuzkYBbnyz1+hU2YaOgMVtTXWhgHX65gXSyYxWnSjnzRRK934QSnCDPoVfJrMwtHmOxU8hdi2AmZkc3MPLlpCIs9mMQLtPkMrmZGd+Ef8EYHfDtUFvwa9a14qpoaG7XsO1n8U0O8v9XV1aWDhw6L97By3qHHk6HRw4fF11ecvrlBT39sh3YfWFJ3V3OQaSmbVUMmo6XsUkjCmJc9Pd3q8iNH3l9CliWnT8k0ZETit2fvfm32Y0QnH3Z3uPJ+GVdw+8lPfq49e/a5f/brlltv17wfjw5t6NTNty/ot7v92HNsOfyTTj+4OevJU0roif4NjY2eUK2GZPLoxKTXZzz3WHVew15GfINoQUcnJpROpwKWy8tL2uHHn/wzUb+5d0Lf/+VhHTqyIH7sWJScnlvRp7+7Xz/ynbHn/t52XXxWn5Y8EcuyK5ZrUHalQQurLfql7469733vY2jZgl8zn5gPJCnoW3ZAiUZ8g4XXzEJsMMvbvkR3+Zan9NjHSr6bpWuvlbA/GWeJAWbmQ5oCbeSNCvY1szCKXVP8hTra8UP8kXnGlcI976OyM2pmnrRnQkyhL4Vx+Cg2NLNAt9gvcGIe8480c2JB/DIr3R8aYA0P4hZYgRn1tRbGcQzPOPQxK8835Rije9p3/eC7lhjCeGIgfMEIGUoVs3zSjz0Yh97gVqp/uXp8k7iLbaBXri9tnZ6YYxN2lti0qFdnxmFnMERnMIR+qUJ71A95sVWpvuXqmY+si8iPHj2+41uuP234LnEdebERdbUW7JOKD6IC4xHAUYzAFm+vdI/TMw4gcFqulcZE7QRrlMHgTJyovpqrmYWEEEAwBLSqGUcfZIQvuuNIGJ/6agsBZmRkRDylUaBXzVj4gfPc3FzYYkf2asZFfSKsoYPNuEZt5a70Y0uZLX6C6I4dO07alSg3ljazfNDH+cGtFucDG/wCGWrF2iwfYPANMAM76CBTpUI/xhCU8M9a/RpdGYdfoTN6VOIZtcMTn8S++HZUX80VvtiHgHDnnXeG3ZRoHH6KHgQCMIkXFgD4wZt+9OEajS28vvWtb/WkpNmTi2Xf9VnxdZqwQAqW0+DggCcuUzL/j3fAVlZW9dTHdOqtf7VBP/rVnG66ZU4POCsTEh74mJknQiu+gDeKL4ENC4c5Ry+0Q6+7q1M5f9LPZNLaum2LzCwU7yVsRZtXBd583jwyFBKohoaMxsbG9amv7NaL3jaqy/50t75+45x+9OvlMJ6+0KDfoUOjynpi2OW80ql0SMJG+JcDnO+Bg4c0MzOrZd/imp2d82SvTyS/t99+hw77rl0m06CNGzfoyt9/ssZmM/rtnln94DdH9YH/3qUrfmfIy4gfS5onYGllVzN+bRC7Ykupdh04KuU6T/MTwk2IUlXBVhR8OutJbaRHpcH4IYslY7B/xpPhSmNOaucY83GPk59TSz/+sbS4eFIzHxp81xPaFOwXFepZMPHNLk/c6RsVM3N/aHCfajmecOGT3d3d7hM94WX7oaGhEPeggdzNvqOHP5fzU+jj07fddltI5niXx8yorqqYWZAHHcAa7KrFmn4zMzMiBhC7kLkqpsc60R8MGA8d6B1rqnhBTsYgNzhVHBDrAJ7whT+xC7xjzWVv6Uu8ZizxD1plB8QazUwky1u3bg27ZYcOHRL+GutS8hZs0Be/hi++VrJzkYa0J7/ozHh0hl6RbqdUId/Y2Fj4g5Dh4WFRTulUpgJ8It+AL/TKdD+paXl5WYwh8oYGhAcEjM7kC5V1/mJiIRiOVClZQGgSBFgxxqz6CcaYeAEQDEgdjgRt7osVjMQizcRkDDIX61dNHQ6A4/FiNk9tExMTYWEpNRasAZ8FGscp1a+aeuTGZuhRCWuCwa233hqC5dlnn31s4a2Gy6l9mKSRvfAb8Dy1V76GNvqgN2NqnWB5KvnfZvnkG73BEB/LtxT/TTu8wZpSvFd1tc2+aOAr0MR30KvUyLUEs0KaLNYsPtiX40Umb9QHn0cufIDC3EUuxuCP+Bd9ov7FrvgOC+uwH1WSyIz4UR7/pJFDrf379qu7u1NHjk6EpOf+ZzbpuVf2qLcro10HVnTR2Y1+zYYdMXBJpzMa6lv1ZCjr/VNemM/m88ETFU+GWFChddB33pCFVq6FGzR8TqdSfpTYpNt/e7fnCovBbxnf4InZ8mpaG/sbw67XsidWZvkkgL/KJMlq9uO5vr4esWO3sroivvB11+49fkq3N+zM8fTb1trqidgmD8C7lPVkhERw77592uZJYl9fr/73e9d5ErygT/mu2I23HNVfP+10nzMZLa2ktLSc8UQso/mVRmXVplRTj35+17QOLHTqda97HSrVVMzyyUKDJ0DYA/8pR4C5BN7YnlKub8W2s85S+JoMkrJf/lIOakh4In/iytzhil8RR7jnaNIssuCpXMzyNqEv84bC/OdKwefwUeYyupSL1+BBbGUun3POOSHZO5VjdTVmFnb7iGHEELAsNxJ7wJe5hP7l+lZqw1bMUWiiM3O11Bh0Zm3EJ8DLrDTWpWhE9axRYL98bOEvx5c21k/szBhwiujUeoUvx8kk7fx1IjqXogFf5jdxDozwuVJ9q6kHa3DDduAN/VLj4Elsxca8h5jy2FOqb6V6xsIX/MCxHF98Hh/ELmCdioweETGr3+iFgjIRKShb6PQIGdVjLJyucHy9n6GFchgfHvCK08LoGAnZMHy8bS33OB/G5Hr77beHp/o4PUBngtGOfPG2tdyb2fEnP/QqxBqjE8xIFM8999zQdy384mPBGgzBGt7xNu6jehydCUJdVH6XPgAAEABJREFUEiXCEP44dKGNI78mgDI5zJL1a3RhsqFfXB/koB4bYGPkjLev5Z5jZf56jCNGjjKxa0SPoGlmnvjkxCLHYoldwJ0CDmanYvDDH/7Qd4tmdOTIkVBGfDcK7LDl7j37tXnziA4cOORr9Io29KX06udu8CRLgc9pmxp1/unNLoL5LlO/OMpczC7q6HRaZ25J+5hlb+P/nEh2aCdIgRE8uFK4X/WkiXt6x8uWzZt8VyIbfJZ/4xLmZinfZenV1FyDInwbPElzqTwxnPedr2Xf1ZvwJC7rMo17cpEOT+dmJuIcuG3dukVT09PhM3V7PfHcsWNbOLak/bbb7tDc7KzrsKLtXv+Qhz9a//nt/bpz/7yWVjKa8+PJ+dVmWUOXmru36dyH/6He9Pfv1xve8Aat5cfMgq5ggQ2QJU4PrKjH3sSveNua7v2IV5ddppTHh+Yf/ECtR4+qrSW/wwUfCrLgR/hhgyeO1fIzs2AnEi/GM3e4QgP7cQ99Fk3itWI/4MDxEe/ysLD39fXFWtd2C4bMUTMLcwD94hSjeE1iQAyJt63l3ixvY/QnVrAexemhM7GaucLaCEbx9rXcgzW6ELfAu5AW9dgAXLBTYXu9n6F1v/vdzx9w5kTiUwxr/BpMiFdmp8aqenmjL3qDNTaN0yFOkyhiAzYpkDPevpZ7eIIjeBbDmjrwRr6IbwoBMTrOuRbmpcaa5Xc0CHoRIAjBDgMLRl6QUqPXVs8kp8ALnuhKQoSugLA26qVHQxvnY1Jxhs4EI2nACcE6yQkWl8LMwjEAWKMn+u7zJ35eDieYEUjj/ZO6N7PwxMpEYlLh3CwcyIB9wSMpXoV0wBL62BeMaQf3KJiZJTexoR0VMMaWLDL4NfoywZh8TEKCeNQ36euwb6dz5EPSzzE5dkYGAgC7DvBmbsULtuEz8sbl+eIXv3jso6m5pTnsIEmmickp8ZNKpcNiuuSJ1kffOKy+LnlyIy0smq58dJe+99MldbRl1JieV8qxzvqR29JyWjsPLGl+bh4SfiI2Geh1dLT5wjerIT8OzPvIqtPJelkIL92vrubEXAmDYr92bN8W/qiAF/GpHhnZGOh0dXWGhKmluVmPeECDsn5EKZehu7vLL74740d4+N+MH08qJ7EDCFarvlO3c+duMT7r8ra2tmjLls1O2nT33ffqzjvvFlguLS/prLPO0NTktK77/o26Y9eE/uPrd+vOA777l+lQumVQZz/0D/T4q16kHaf7LpNTSOp/YhQ2w4/xK3DBt7hSn1rDE3wxGc0s6NzW06O2K68M31nW8qUvqdXxgSdjSIbAk/uki5mFXSviNfMYu+DTLJb8oQBH90nzjOiRBDA3iCEzfiyJfxBDmNNdBcex0Zgkrmk/WoM+18nJSZ9Xq8LWrFfd3d1aL6yRnRhBLABj9GZecI/f41/0WY/CgyIPlXxFBu9egzG642PE8aT9OtIBumANH/TExqyLyMHpA3JFfZO+gie4whe/pnCPffH3OL8UHeMV63VPgMEJcHQcoFCQ9eJrZuGJE0fH8PBlAqwXvzhdztBJgngiwABMgHj7et2DNQ74m9/8RiQHJGPrxauQLoGNhYMdF+4L29frM75lZuF7YnB0ynrxitMFZ3iNj4+LiXZf6cwiwhMdPsX7ZZHNkQ2ZmNf4OvJEhcAQ3dOfvn/8x3/MJRS+8qKjo13Mzy2+M9bc3CSO+kgKvvr+rWpuSoWkq7FBOjJjms826MjEki45N6OWxiVlfJdqfn4hvM+5dWODpj0RGh09LN4ZA5v5+UUN+3Eo73DJf3bu2q2c74w1NjRqxOvlWZPnTd6ikFCpyM+BAwfFX1syn8GAuZxKp3XBWc2hN388EC2qk55ULi5mw07Z0YnJ8A+eb9w4qLGx8SBH+MfPV1ZCYrZz5y4tLC6IgG1m2jQyrDPPPCMskNgWvPCxiy9+gH5w6xFtu/9jdeWfvkZnnXtR4Ltev7DjqieQxE1koCTNCxzxlXhp82PMhuc8R7k9e9TnO2bEEbP1ebiJ62NmQh4eNjhW5sQh3p7IfREiZhYeKmkaGxsL92DP5/Uu2BTfgi+JEXN0vXlCn7lDTCABZH3i3mz9bQxvdvHxN16hieYy9etd8C1i0S233OK77H3i/e/15gl9YjL4gjN4c292KtYpnkYIuAxar0JAIRmCPi/Bk6kiFAs3detZ4IHB2TngCQ9egELg5X69CkYHW4AnA48SMxKV9eIJXXYecHIwv//97x8WR/RnkaJ9PQs8WMx52kBfMAaD9eQJbXjCh0DGRGfS4W/3lV8T2PgDicivwRu51rOgL7ZmPpGYMZ/YTYjrjFwsKuBSrLAIXHDBBfr+97/vyceZIRnhWJBAyV8/9vvx0P79B/TV92/zHZNUUGdqzrT3cFobelY1MrCqLUNptbc2anklFxZS5LCU6c7dK+rvlnp7u7WaW/VdtlSgTxJEcBryxGhwoF9TUzPauWuPJ3tNOuTJW2Div/Adv5z0v8kCjY0bBn3BbPZkacF3hNt9l2xZn/vWjF727D412pgf2Q6GcRuHBj0Z7JKZedLVEf5IYGpqWj3d3aHd/PeBg6M6fNjHDA5qfOxISNQ2ezK6vLLsu2X3iO846+vrVWtbq047bbt+/vObtcuPcv/7m9f56PX9nxiCL2E74hcLN/GMRTsJzvgHPgB9SmtrqyiNfnwJj9a2NnVfeqmMF/+/+U3pW99Kgm1JGsQsdi1IxM4//3xt3bpV1BFXSg5KqAGcwRYcmMtgQwxZ8YQ9IRZFyUAfPtgWvqwX6MvcLjogoUrm19TUlPAx4jWFe+IKbQmxKUqGeA1veGJnfJs/1MAGRQckVElsZJOCOE3c6+jo8J32GY8j8wlxKE0GfZlTxGt2P5GlGNYphMIADMA5SpOsryVyLp6wWCihYmZhe5pgQDuOQH2SBYeGNgGGEtFGBnTG+LRH9UldwRAsWXTgY0bYV/j+I572CHY8/WGQpHhCh8DFe2Lw5rgUp6PezHzxagmBFgcAF+qTLBGWBDNsGtEGawIMExDeUX1S1whr+MSxJpiiPzaAL/6dFM+IDnTxW/jAL6oHA2yMHWiP6pO6Yj9og2uEtZmJiY5/jY6Ohr/4jfiZmQj29GUeIF+8QIfA2Jw6pD9/aqce/oBG8fI7mPG9XY97aLt6OkmmTPtG02ptzmnLoCdY+fxMT39slw6NL2hjX0YdLSRlGWHvzq5OtbekPNkZzyc1vb0aGOjzJ9IhkVDJUiFJ452zrX5cuLyyqg2DA0FsXuiPChVm+TmU88Sus7Mj0EOXxYV5n1dNvqgsaWwyrTO2NIZ/zumgJ1mMm59b8PZMSOKOHJkQVOb8GHXUE7BV5wcNgmRvb49kOXV3d4W+u3fvCV+1Qcxi97Orq0vjvqtG4ib/wa9+efMvfedtMejqVYn+j0wkB/hVS0vLcdp8xnZU0J4DJD7UWJAfvaBFgUdUiCPMpz5PxvHjQNqPhHX55dLFF0uf/rT029+G6iR/8WrF7t27tWXLFnEcb4a1FJJ8ZJybmwuLZ5I8oQXWzCceXJgLZnm+zBnsDsbMdfomWSK68IcPNoG+mYWHaPiTqNFOfZIlitfETPwgos09GIA1cziqT+q64sktOoE1c8ssjzWfWbPAmd3+pNdGsCbhQy/+IAT/RiezPNb4ObzXA2t4gjdYwwe+FHSOsKYPdZQUv+jIAARiolO31oJBocVkYrKb5cGP08UJEcrM/El5SvCPt9dzDw0mGA4d0S6kY2YhQSEgIyOyFvap9TNGJ8HD6cAS/oU0zPIOEJ2h8zRY2Keez9FLr1v9iZKdKbPiWCMXQR18CLz18IqPibDGf8phHU10nD5JrJm4TGx0issV3VOPXCQx8MZGUVu9V+SHFnTRqxgd+EZy0TcprAlmBBNomxW3MVvwJFh8rQlHbZF8ZubJSWPwe+Yk8nONyp/8+Rv1kS9M6Vd3LkVD9Ll/2KCnPbZdf/DyQ/rk16a0dWhVzY2S51LiBzy7O9KeqK3qnB0NnriteJKV8YVzVnzX2IEjDTIX84IzGrUwP+F1S8r58Rs7Zl4djjQX/Ujx4KFRH5f2vtTmDy5znnyFO086wC/n15wzZc4ST9LplOYXFvxho1ndXW3hC2hf+e4x5XIWdlX4C0u+pgPfNDNPStNqaW1RKpVSu+92cW1tawn/RFNuNafRQ4fFUSr/zJNZynfRusTxJ/Fh2ncSsPvExIQ2bRrW9u3b/IGyNbzjA30CKr6oNf6gI/wg0+a7U2k/iuW+sBBbwIGEH7kK20t9NjvhA4yPCryiMfgOn83ytojqw9WTaj3jGXJHkj7+ccmTpFC/hl/MDxZhHii2bdsW/KCQnJkFv0Ve+jOfC/vU+hmfghZX5hP+UIwGWDNX5ufn3a9ninWpqQ4bQwufgS4LczEC2J5EjTbWFcZxv5YSxWt4shaYnWpjM3PfbguJMOtEElgjO7TAGp3MTuWLXoO+S83rNXzvIoX+1Ndb4EuSDy3W3FK8wRo8WLvxCa718ozGgRu0WCOIV2an6myWxxp7YGNiSCoiYGbhpU4GExRwmqitlitEEYSFo+TELiBIXwDBAPAuaD75Y4lPgA9frtAC5BJdj1czCZGRvjgMAe54Yw03yMwEgxYB2uxU8OPk4Ds8PKzNmzcLhzl06FC8uep7ZCaY8TS7fft2X3QyFccSYAhAOAxOAF4VBxV0wE5gjeNCC/wKupzy0cz8eKkjyIjcjD2lU4UKZMUvI6xx9gpDZGZh4cQ22KmWBSxOG79GbuyLf5mVtzFjwYWgy1jwQn7qaylgDV+uBBR8p9J4cCGwsYCR9INZNIbxBADawCQqfMkxCc/RqdXQtSFjOjjepL7ujD71ti5deGZaV71ytz799Un5iaSXvP4rnswM9WfU2ZbWtqEG363Khgcr/qmiBz7gAj3govvr1ntWtH3YND5+VG6QsOiOjY/7Q9i0kGcpmxV/8ZhDAP81Pn5EHJ3yb2qiN7hRdvnRJoleqydUbW3tgY78p629y3OERl3+sC697vm9zsLCgrLVd95S6UzgwWI04EeP0OPdNnMlJo5OOt+Z/Jtrbk9kwWb93u/oxKTmfBHGT6f8mHNoaIMncm2a8x22Xbt2ux83OGeJMWDJB/wLPtzXWuY8uWFOQos5Wmm8WT5e44/4dKXYRYyFdmRv7inUo2N3d7cf63YFfcryJkn0xEnPfKZ0yy3S175WtnupRuRlRx/e+B4+WapvVA/WzD2uU54kY8uordorfgTWYMbcBL9KY83ME/+WkBQyj7FTpTHF2tGZmIuu2MHMinU7qQ5foC88GYv8J3Wo4gM4gRdjidfgV2kY84C+XOELjUpjirUzJ5Adu+FrxfrE65CNdZFYxx/E8dJ9vL3a+9HR0fAv6fAeNzuu6FFpLHbBJ7ATcoNXpTGF7eAE1tgNndGnsE/hZ2SDL/xShY0QwAEQDudjMSnsU+wzxOhvll94YU+4/gwAABAASURBVFKsX6k6MwtBlYSQCUMp1bewHvBYdFAKo5tVdvQ4DcYAnpn5k/ZsvKnsPY6GziyAYGZWG1+MtsW36AmMHGPGdzTKMSaYsANC8CeYgVm5/sXaGANfcKMU61NYh43pi95gjY8U9qn0GZ2Z6Mhey0RnktAfnvVgjV8jM/yxGfwryUo7Cwb9uUdu6HBfbTGz8KADb3wa/KodS3+wxjerWTjidM3yiwj+xfzAX+JzmfmJ3+ID4HmxH0fdfPPNeslLXuLJRkYbNg7rZf9vn978L1PaO5rSuaebPvm2AZ25NaPn/O1e/dc3J3w3SvKTPz35kZ366vXT+sXt8xoabNWF9z8//KPhd955T6C1bftW3bFrWeeelvZkbUVL2aUwdmRkWN1+HLjsRxkTngBN+iLr+ZiQs7m5yZ/UW8I9frdnz76wOzXmR4eLC4viJXzkpg2/4NrdkfHdsWW94QUd4oiS/G51dUUjwxvV1ZbT857gCaGDZGbOt1P8wUI6nQpJCPzMLPDjHzxPe+KRYjetvS3Yb84TMZI0vq9sZWVZD37wg12+thCznGRIAMGSgMz8RB7qKxX8es6TMWxBMasthiAj47hCp9Cv0SOa68gXFcYgK23sijEvKsl6UnvGH/4e9CDpssuk739f+ulPT2ou9WHFbc1DKO+J8RBJImhWm87Ea+Yi2OHb1WKNXeiP7uBgVplvXA8wZi5yZdFFl3h7qXv6EUPMLDyUMr5U32L1ZhYeKpEZ+dGjWL/COnChP/MJucGtsE+lz/gF8wyso3lWaQztyEh//Au8zWrDmnE8VMKbh0roQbdSIb6ySYF/ML7euInMYFctX7DGxlG8Zt5VkrWwHVlThZXRZ5yGRQRGlZwP4BGc/hgwolHPFb44HoBAF0coRQeegIbxGGNWm9HjdM0sBFVoYVToxtvj9wQ9wDfLT7B6wI/TY7Lw4j8TBufDqPH26J6JvWfPnvDvHBLMCKRm9escYQ1f9CnFF/60EfBJiMDIrH6+0IMONsO+4I2fUV9YCrFG5sI+tXzGP8GbxQgbg2mx8chDO8EMvwajYv2qrTOzsIBDp1q/Zg6sFWt8MzoO4qlx//79x0U2y/s8diDw8fUCz372s8VfBV9//Q26+eZf6s3v/Lg++4ML9H//YU5370t5UpXSB17Xp23DGb3obfv181vnPWnzp9F9Oa1Yj7IrTbrzrvwXubLrxRfNdnV2StakyenVcOwzMTnpCVlOBw8e8gRqxXe6UmH3YW52Tou+W9bf3yfe8+rxZG3Vd+DkP80tTVpeWlJ7e4v2Hzgo+rCLhv+kUmlxHRls1s59S/qzK9v0sb/rCEkbY9LefvVf9LvM0ttessGTwmW94v80OFW5HPKdr1ZxdIqvpTNp9fR0B3oNDZmQ2HE0mjLzvrmwMLY0t+j5z3++8CVKCKSpVNiZ457CfCE+BSZFfq14YsJ8SnviB/4pH1+kW9VVyIGv4LfQZWA0x7AtBT5Rn4aGBhE/6EPfuktHh/SIR0h+3KTPf1669daSpA4ePCjiF7sW/PHNWnWO5gc4U0oxxq7T09PuZ2n3n/aQgJfqW0092LHgQ5cYAebFxlFPO/2SiCHgBR1sjT7EpmJ8qSOmUrA3NjarP16bWfB7fAialbAmvoERsiIz8tRTzCzEBV7FQV92VMGyGC2w4KGT1zpIxPCNYv2qrWNeIj9Yo08pvtBjrjPnwAe8zerHOgXBUsXMwhMgCxgBD6bxvhiGumiim9UvSJwu9xgSBc1MhQkh4AMSoNGHvoxJokALUClMJvSO6BZOMAJv1LbWq5mFr6hgu5a/xOQpkqAd0R31LVjeFSOQUdA9alvrFafDxugOrnG+OCKTgbb1wJqJw+TFj/CnSBewjmRhYtAnakviiu2wMb4Eb/hFdJGDOtqRzyw5vwZr9IEX/lWINTqja9JYw3fYj8k5Cti5c6fyRwFIISEDCyVY8MXBHIEjI7sX/BXUP7zr3fr7935e7/qvNr3mvbM6MJbReaen9IzHteqNHxzVkg3pnLPP1KQf7U1MTHnSNSu+7R667Dat+DYa/jM5nfNkaCUkLk1NjR5bGpRdWg5/ft7W0qyW1mbN+MLJkWVPd5dm5xf8ISnjQpr6+/o1MTkVvtMM35/0+9amZf981BfaVKDZ35PW4lJOTY2mxz24Rdf8Q68nb4e0oWtcKU+03vFvY77bt6SezrTOGJ7SJee1hiQLueUHl85IfLM/8cbMlF3M+oLQEvDBD9CBRPHPX/ACcQyyyvtwXuK+Aw360R8fw4+YQ9RT6EsdY4mb6EJ9EsXMhO+QLEAXOeCBH1P4DB/sSr1Zcn4t3+nX7/++XACFxMx3O+FFAU92LYgx2/y4E1yoT6KgE7qhN3OHxTGiC9bUgTX+TJ+oLYlrU1NTOMqM4kWcJjYmeUE2+pklhzVzGSzRixjCNeK95A8t1IExNgafqG2tVzPz+dAaHkTANb42Mtepw9eJXfjfWvlF49GBd6O3bt2qsbExf5A7GDX5A92qDhw4EArtJPv0P95hjTdgjT6RfoVYo3PUJwm+qWrkNbPgeDgWjjbpT7gIAuhJGz0uj5n5/G4I27w4GjwpgLIeEyzOG3AxhJmJhAS+6M4EI9iaJTfB4nwxLsEex4r+8ojMH1lwOCZavH+S9wQs+DDR0JlAiiOuN9boDF/8CZzhTTDDt/A5s/XBGhtjS3hgW3hTInloTxLfOC3siH6RX6NzhDU4xPsmdW9mYZcu8iPe0cC3eIeRBwF8Dv9GLuwRL3wx5+7de/1Yclp/+fbDet5blvSuj8/7TtVg2HXwjCgc9z3y4kZPkNK65Zbbwk7Tgh8vLi9nfQdqQcODKY8jnni1tIRA2tbWqs6ONu/vYchNTJK17MnbwsKCDo2OhZ0MM284lixtGBzwdX+zuru7PJFa9aSwwdkyP2f8c05bNqQ9wcuJEWB22UVN+p9/7NVNv57Tq/5xUjfdsqKPXjOtlrYBPfy5e7SYXdYfXt6qL7+7QY2ZHEPCX02CATFm1c9PuZKkzfqxYjqd0mMe8xi98IUvDLqy+ESFfoFA7FcqlQoLGIkBiyQ+RsIAfeZarGsit/gttmO+klT39PQEumYWkkoSNRLytO/KhYakf0H3jDOkJz1JuvlmrX7rW7rbd8zAhl2Ltra2pDkep4dO0DczfyCYCTEbPwIP5ppZ5BXHhyRyg42xJzEEGzOPufIZ3rQnwqgIEXjAG5+CLwWs4QseRYYkUoWf4WP4NfGSggzwJZ6arQ/W8GUzosN3ZXmoJMnftWuXx4NujwtbQq6QiIIFRMxMYI1/ZX0HH/uiM93AIUmsUxCttphZCHwAU+2YJPqZWQjgOIBZPrhUQzepPmZ2fHEwWx9nU5EfFuuomokW3d8XVzPzhTItfszuO50jG3OlwP++KPAyu+/0jHTCrlHQRoaofj2vZr7744EF3ixW+Fk8qDC/CawEoKgQeEgotm3bquamRs3OzGvDhn4t8G9Aei6ze/ceT/ZaNTG1oj++okMDA/2etCyHRGDP3gNhF+zQ+Ioft0+5X6X8uKxHTQ2NMkvJ/D954YV93tFCFhKdffv2a+++AyIZyuVWQ+zJeZJE4pbNLulnt63o7C0KgdjM1N2xounZnMxM0c9Dzm/Stz4w4Hyn1djU7A937WpobPRm77/xQfrMN+f0iOce0PxiLrwXtmHjsO9+DXu7fMyUejz54xiVB4QXvOCFes973hNiEYs9BTmRKQwo8cssL09kZ7P85xLda64GL+zFghjZK7qnnrIeCWBJQZubtXvbNo152X7nneret0+pkp2TazCz4CNmFnygkl2S46zAF35mliTZirTM8jrjW2Z53mb5a8XBCXSIdCaWmK0/XzMTusKXZFT+w71f7pP/V1ZWwvyHGfdckyxVzRMUJhgTlKKJzsTHCGSLXJMUKk6LxWJmZiZkqGTG8G30gArfrC8q8b5J3qMTTxzozmKE3mTJYAAW1CfJL6KFkTmaZGuW98R4KZvdCQL/7t27tZ46QxtcCd7oDNY4P/hjh0jGpK/oDF8wxcbwZrLx1EVJml9ED37YEt3QNSpgjTzIFfVN+spiDm98Gd9CbxKh9cYa/+XpEl78QQj+NTIyEo4B2CmL9DSzkOhgB+Sj0JbzxGhq2udjc1NIthobGrR7z161d7Sruy2nP3rSWTpweFnnbp1VU3o67IgtZ2dDEraw1Cz+/cvJyWmlLCXzHaRUysI157tgvFhPgjc3N+9PvV3iy2PxyQMHDml09HD4frTdvkuX8eNHM9NqLq39E51qb28LC2JPV0odrSnEDOX6XyzqQc8+qFf67tjf/HmP5ufnQpJ49MjR0B/dzMyTylyIL3x7Nztg//u//xtek/iW7/D8z1e+pne+85369re/E3bG8In5+fkwD3O5XOBT6hd953xnjXZ8i8QIe2P7JPyauUlMwjbQp3BPgSftvCeGb1EieSrJzdh6C3Frpx+JDwwMaPDMM5V6ylMkj9f67/+W7rmnXrIVxzFnmTtm5g8Gbe4T7eG9J2wF1uulM3SJFcvLy8f5Ygf8FtuzjlQUvs4O6AYPfACexE1sHslTJ9mKw8AaHvDCr+CNzyEPWFckUGcH+PJqBSd0W/34ctOmTaKwTvPuNXG8TtJlh2Fj9AJrYgY6gzUPQvgccpUlUEPjiehVYlDkWJHRzSz0NLMQxDAEwmIMBA+NCfwieKAsNCPlI7IsJvCljT70jdrWeoUmwKMTwDcSTI4RxQDwpY4+YHOsKZELf2VJ0sVRA+/74PAQ5kod27UEPJwySZ1xKCYYvMAafLmnRMlZhEuSfCOa8I9whScFnakDc2RLGmsWRWyIX7NQmp3waz4z8eBJP+REpiQKuuKz6Ecgi2PNPfiDMX3omwRPaBCs8JuJiYnwdSv4E/UUbIy/IQ/+R8CjnoKcYIQt+MxL+ls2j2hhfsGTpHFfaxv1jKc/LXwdxBWP3KAHntOt884Y1raRlDZtaFBbkz9RqiG8HM9R44Fx08X3S+vw2FhI0qAPxrw3JpnvpPVq08iQOjzJWlpeEe87meUXWeTIeULY7kdfnZ0dfgy6GBbdaNGbml5ST2dK/Pzgl4v6hy+crn//2Jd0vwufpPd9ctL7Z8P7LyR/6HPTTT8JMeyMM073+rTwM3bAOF4jCTvDj9+IAU984hODHMQ4cIz4wadYoZ2+2A8+2DXqh774F3VRn6it2quZnZQsYzf4UJgvOU8UOZrEl+AHXTMLuoIhfCn0oy2JwusNJGL4Eu+JMX+O03UcdcUV8oxY+u535UAfb1rrDTpgN+YMOBCbI5roTh1X+jCfo7YkrmBIDMGeFLN8DIE2+lOHb9MPOalPouBXxAd8CP2weUQX/KmjD7KBS9S21it+DU1o42vwimiCMXVcwZp5ErWt9Qrf0dFR7fOdVl6roMAHusjAushDJQ+UFOqTKuiBPvADV64RbXhTBx7YAzmjtnqvqVLmOtyuAAAQAElEQVQDYYIgZvlgGDd6fIyZ+VNwSwjMGItEJt5e6z1KQYfJQ0CJT7A4LTMLAQZAAA2nZ2y8T633TB54w5MJVWo8EwHnY5KBEViV6ltNPRk+7/OAMbti6FRsHMGUhZOnTxZXErhi/aqtQ370ZdKiD3qXGksbAQa7MIaxpfpWU4+9oANN9DI7Eczi48EaPMzMF/25sCsTb6/1Hl9h8oA1dLkWo8HEwwfgj5xJ+TX84QuexfhSByb0oS84rQVr5gQv8PMXbgQu3k8sprOZhV0FdszQlXczwAl5KNddl/+nghYWFvkY7IDfNPnx5cLCgidcR3X572zwXSvpykcP68DhVv3ug9o90VHom07ndNSTwZ6eXt25r0FPurRZ+/YfDN9NRjK2uJj1JKxV7a2tSqXSvl8m8c34y8tLYefBc7VAh5jQ1taq/v5ep50WP7OzcxoeaNH4xLI29qWDDPsO5/TqV/xVeIfrMb/7CC2tNtFV/GUmySTzFruCb3dPtxZcL2xy9tlner4wq7e85S36vd/7veBzC64fc7waO4Adc6SpqSnEp8C0yK90On08mUQOsCzS7ZQq/BG/bPOkNCp8ZnFAPuYxyRj9ThnsFfClD/3hi6xeXff/+ChJPPKTiMG7KDG+JuPccyW+KoOvyPBdSM+Qi3atthL5sSP6g7dZ8RiCrmAFXcYwJ7ivt6AzMTuiC6bFaKVSqeB/2AK+a8UaudEXX0Qf+BfjSx0xhII/4uP4BvX1FMYyByhgDV2z8lgjKzrjF/XwjMZMTEyIRB+fZVeslM7MXZIy+hG7+FqViEY9V+QHa67EnFJ8zSzMY+wBPpR6+EVjUtFNdEUAgKzG6NEYrjglQplZeKkSp6W+2hIZHefB4Bi+mrFmeUAwCGDggNWMi/dBVhYfJhA6MIHi7cXuzSwEXBwArJAb7Ir1LVXHOJyHicqxJLsBpfrG68GHhdPMgrMSHOLt1dwjL3aGVrlgFqcFPtiF/oytB2t0BWswBmtoxnmUumdCwJvx0UQp1bdYPYGBcVzhC71i/Qrr4nJG4wv7lPsc+TW+CdboYFY8mMXpmFl40EHOerFm1wL/gufmzZvDQ1OcR6n7wcHB40cBHJ/jp694xSs0PDykgf4+P6Lcp8HB/nA/fmRC3/SjvSseMaTO9kw4Clxazukl/+cs/fDXS3rGY5vV07Gq5WWFpIc40dzcoa/cMO91y+LLVwl48p9tgzMa9Z2zHOmY7/LgGzMzs56gme/GjUmrS07f6Swu6sj4Ucen1UfJA2KT9h+e19/882j4ItvFrCllOb3p796pz33+v/WlL3/NN2fmxQ/Hndi0sbHBE7qMzjnnfvrpT34m5i47eHv37pOZaePGDbr11lv1rGf9keJfFQKNYoUYgo3z+jW7zKli3U6qM7NgE+wDxswn/OWkTsc+gEVzc3NY4Ik5UaGOLlzZ9WRu8rlSAQNowG9mZibYotKYeDt4sWNBoj80NCR4x9tL3re3S3xNxgUXKHx/2e23l+xaqgGsiXnEfHwHbEr1jerN8liDEzgzp9A9aq/mSuwgBqA7O6dgWM045jAxh76Mhw731RbkxLeQG5uhg1nlGAIu9Ic/+hI7q+UZ9WMMMqMrtMwq82UsfoicyMxagw7UV1sYEx1DsjZi50pjzUzYhbURfjwoIHulcfF2xoEVcjMv0SPeXurezMLcBCd4glupvqXq4ZmKGhEEECgASYnaarkySXA+nA7BcN5K45lg9CWYMRZHqjSmsJ2xOAxjoQXNwj6Fn5GNvqurq2F3ANkL+1T6bGa+IDSHwBpNGrAsNw6+/KkuwWyTn4PzF1Hl+hdrQ8/e3l7x1IDNWDQwaLG+8TocBZ2ZpGvBmrFmFnYTqsGaBQe+6M7kgn9crmruzcwX4ZZQIqwrjcMWUV/8A782qy6oxGkjL+Mj/NAj3l7sPurLJGUsNivWr1wdY8GasSxC4FiuP23oy1MldmHHFbypr6Uwn1ho8U0WXnDk2ID3x8zME6OcVlb9SLGrSxMTk3rG5ZtCIrO4JC0uraqlyfSiq87Sr+5c0YPPb9Ul52bCDhdxge8nG+gfUF9vjzYMDii3uiqOIG/ftaxtQ56kzc1rzgvymll4ud7MNL/ox59L08rOHdaRoxP5nTPvBEYjI8OamG3Sl7+/oM9/Z0ZPfmSzTuv/rf71X/9F//OVb3gvBfk47pQnfL09PWppbtIdd9whPpOMYeN5P4rt96QTOc1Mh/2o5K1vfavrOOH9Tv0fPwBvWvAtZOG+lmJm4eGOscxh/CYab2YhtuA/+AGFexYLMws6dXd3i8/RmGqvZhb4QnNpaSkkrehTbjx+wM48/kUSRqIPbuXGFG3z2KVHP1qeCUtf+Yq0e3fRbvFKfD+KISy84BVvr+aeeQRW2Iq4Gce61Hh0jvqCVbWLdCE91hdsB8+5uTlBt7BP4Wf6ojMYI7eZFXap+BmckJuOJN/4NvflCn3oSx/iBzS4r6WANfqCF/qiS6Xx+B+nP7w2gW9xGlRpTGG7manX/YvTpImJiXDUiT6F/Qo/M/ewM/KCNfIX9qn0GZwirLEbPltpDH3oa2ZKyX8AigocBmL1COJkjv9vZiFJQSmCFaWY8wESRscIGB2nO06kzhto4ATQRCd4FJJCFoBHLvpigMI+tX5mAYMWV5yPAFdIA75speJwBBSSMfoX9qvls5n5bsWgWDhZMCnoXkgjMjpt2BjHKexT6+fIX8AYnbkW0kBncMbH4EsgLOxT62f8E6y5YmNoF6NBPe2RT5jVHszidM0sLHyRXzOB4+3RPTjg13zGr5PAGh3wGfwK2tgR+vGCjffu3Su+x45ghk/E2+u5R1eSfnDMZBq0betm8Y+Ejx4eF2g2+pHlhWe1afNQm7KejDVlTM2N3uL/Dw+26FEP3qr+rlWxY/XPrxvW6OGxcGw44Ukc/mB+rNPWvBh2z5b9WNFPDkPygy4dHe0hidu0aUSPuOyhetQjHqZUQ7uOTssDbk/Y4SKBSq0c0dTkqP7kihZd+egOvfT/HdXFzzqkhcWcMikXyhXP+JFZb0+3+JLXeWeCHHxHWjqd0ebNm8Q85AEJf6XvYZez1xPGFU8Wf/SjH+mZz3xm2I12UuF/+mF/7EH8wD6hYQ2/kIH5gV9D28zCUzc4UfB57IF8sOno6PBEtrOq3Tj6lypmFvya+RzFxWJ92XFl18HMxK4F8hTrV3Wd28S3KKXHP146cCD/flns+8siOmCNXGANDuAdtdV7BeNIfnwb2sVoYQfa4Qn2xfrUUmcG1i1hfUQnYlSx8fg/D2BmFjYL8I1i/Wqpw77gB090KhZDwJo28KAvY2rhUawvWEPLzHzuT4c5Xawfr1YQvwZ9h573xCI/L9a3mjrGj4yMiFc1WHOJi+hXOBas0dksP9+Swhr/AkfWxmJ8wZ82+tAXrFMEdzqzcCQhSFxZDAEjghUKw5h2+OGMODuGwtmpT6qYWXjygzc84IXy0McZAQGZaDfzlYOGhApOAF34oTOLM6TBGafgMwsceFOfVAHDzX4sRZDGqQme0AbrpBMi6MYLiwgFPmANT9rBHr1xNDChLsmCDfEfsMamYAt9rvA1Sy6YQTcqkV9zhQ8+RRt6IwefkQu9qU+ysChAG6zBF9roz64FdieY8WSY9Fx++tOf7ot2c3jvK+uZV4cnS+yW8YDxzCds9aRAam1JeZJkMsvvoK2u5vTISwa0tNKjh57fos9+a1IPf2BzoDPtx2QzfhyZTqVkkjb2rvqu2Jx2H8zpsosaRaJGoBwa2hiC+D337gp/IXnR/c/3ud3oNFqcp49cmdXUnPl9q+YWVvSBzx4VP+NTDfrajcuaXmjW4EC/Ol1evgCW983MzOXMaNhpr3rCReE9tsbGJm3cOOibNitOL+U8mjU2Ni4SM/D9yEc+Er6INpvle9UWw4v1zDszlwOmCRVo8i4WVzMLizfzB3/Hx/ABdsX4nBDLQAafwbeIYcSuKF5zZQeeOmIXuw9hQFK/SMwe/GDpwgulH/5Q4n1FzridPj4OX7BAb69K9P/Gxsaw00rMYO7iCzDA90iIwIRYzVynPqkCPWwKvRmfC2DMPfzRF/4dnnAnbWMzc79uCYVYDb7wpRBTwACcm/143CxZv0YXdGL+oCOYwxecebUCW3DciK2pT6rgz9u2bQvzlWNQ+EEb/ugL9vg9/KlPqpidwBo+YM38pYA1BZzB2yyPdQpBkgagUKHIqXE2slQAQXkc0iwvSOGYJD6b5TNeeJGgTPj2JWCgM0ZKgkcxGmbmi0ZTeLpFV758ky1YnK2/v7/YkMTqMC6JGU7GF+eNjY0dP/JIjEkRQgQYcMWX0JmFmjomINciQxKrwqkpOD364vgEUQJAYkyKEII+fPAp/BofA3+K2fr7NbiyI8qxG/cEHXy9iKhrrvrwhz/sR1oLHtQyYTeJOc3RXsbm/Uiy248oU8qkFUrar+kU+ufEceRzrtyqm36T82PLZrW3mB7/0EafGy06cvSoDvmR4OJqu/iWffnP4MCAH3Mua2Z6yo/D58QR44ovzod9R+6OO+/2w0ap148bCaa8oN/dvuwJS4fSvhPGX3XuH11yKvLkbj4kesjJe2rzCwvhPamBgT7fVerwpGtVLAzK5ULShc36ert16OCo4NXnu2MkbxBra2vlou9973vhe8jMzHk2h6QtNCT0K+XJKfOnra0t7Ir0+rFLtMuJTxOzqMPXE2JZlAx8iM0kBeyIUTg6GhoaKto/sUrXV5dfLp11lla++U3N3nabsB9zDGwS41OEEJhSSBTYqSF+ErvAokj3xKqYr+gXrY0kZ2CPLIkxKUIIPPEz8J2YmBDxi3vqaCsyJLEq5ho6wpc/ZiNuszbyEJIYkyKEsCc7u6xP/PNwrFHIQinSPbEqMwtJP/jCE725B4NCrFNMdBaUxLiXIISDM8EBBSckGOKEJbonVg0PdCTQAUAkR2IMShBiwWBi4+gcTeJs6HxfYA1v9GWBJgvn6RYMSoiaWDVY89RFosLEhieyJMagBCEwxa5mFo5uo88luidaDV/sir4Eb4IL/BNlUoQY2JKMgTlf08CcYn4V6ZpY1YbBATnEvks0oY72Vh06dFhD/Y3612t268ZfjOvWu6d0dGrJkzLzhVSesJj4SXty9qI/PFMf9N2rr14/q537l/TCp7aFpGzAH1Cmpqa1e7RdGzduUNqzutaODert6w+J011336NNfqS4sLioCT/mJLFqbWvxXbMZnT68qH1jaTU0NuiKhzfpQ587qvvtaBVffdHVkVZ2aSm8f4Y/mpnLk9LMzFyok/8EzFZWPMHjryzntf/AIWHDNk/A2E1Drh07tjqvadcnrQ7fZbv22mtDYpekX5vZ8YemNk/GiFMUFoq0Z7fc8yBnZsLXXPR1/R//JTE4ePCg4Esihr742royduLwmXEMlh/1KLW5/TLf/rY8W/CW9f0fncE25UkxSS+68nl9gpzrjQAAEABJREFUueapx2MI9iaGIk++df1+gzU6NvtuWIfvxnFP3fpxzFMGW9ZGkl82D/B5MMi3ru9vdERXdnrBGTmQZ325KhzTErPRlXmNHMWwThGAAGa9gjnKskjBHGEIjjgAwRBASBjWw/mgCW14ww8Q4MnTCLLAG9lqN0T5EfAFT7Zg4UVGDn/uGUnbemId0YcfWOPwg34mz4vZ7B6tl85gDabYOI41jocN1oMveDKRWTwIpOhsln8aoY369cIaHwJrrkxwEmB0Z/FEX/TGF5AjyQKOBBEKCyXvWuDX8IUnMtEnSZ4RLb4AdnZ2Xk2eAB0aHffNpZz+8+oW/f6jF7WYPaTrf3qX/u6DP9UL3vQjve4ff6V//cJO/fTWCd1x74xu+MWYlpbTAqdf3D6v79w0o9c/v1NpHQ27VWPj4xodPSyCFjalHw8xbZ4c3XnnXWFcmy/UM9PTmvDE7HlPadKuQzmxc5PJTWr7pkYdHFvRi/+wX298QbeWlnJ6wmVdamxIaYMnknNz8yEh6+ps9+Qqpe6uLpd50RNMk2QuQy4kRV1dnSEpczcKCeO+fQdcpqyGhzdqfPxISIh4ysWv8Pm12NjMAi/mC7pFBVs2+lEatPGt7u5u35lsCLtm8p/19Gt04lgHG/AHIchCaWho8F3HuaC/i5D4/+hK/MD+zOOm1laJv8Rkx+w3v5FuvFEq8n5ZEoJE84a1EBuQFHGFNlgzx7lPukB3bm7OfW/Vk/2O4z7OesE8Rq6keUIPrLEz9LEt/LAv9+AP7/WIIfBlg4ITo87OTrErBl/sbWa+Iz4bEhdkTLqANTtj0GVOEV9YG7lnrWZOIx/tSRZoRn4NvvAFb+7Bmjb6RDxDQobzMQGTdD6YYHQcjoCDEBFTrpHTYxAcgABHfRIFWugCbYzNYh2nG4ECGBRkjbfXew/AO3fu9KOd+aIvvRJkkQfnQOeknB75wZqCLQuxhi+JIVeCLTapV8fCcUzqCGt4F7Zjewo8kQ9ZC/vU8znCkCuTClvH6fAZrPEFeCeJNT6DrdG3EGuzfEJolg8w8I/LtZZ7ggZb/CzQ7LrG/drMPIFoDSWSL0msL7vs0pCwYO/l5UVlF+f0lEc1K7uc0nB/Wo95cKOuenyf/vaFW/Shvx3QP7ysRc+5Ykltjfv1zRvu0Ac+s9OTp/6Q3Az5TtgLn9apb944rYde0KyztjU57YawI3b48JjvvI1qz569oXR54ObY7n5nn6mFhXk1Z2a1sXtW//blRTU292p26rDe/pJeff5bM9o20qonPCyt1mapIeOlodnr2nX7HXcG2DmuZOdrdTWnmdkZ3ymb9kWwMSRoLS3N6uxo05gnhti2v69XzU3NvkCsqrenW7t27VFba2tIoL72ta/5uCaXudFlWghJSq1Ym1mgxZyM4lFLS0ugu7q6Gq78FSNJQhD+2C/643f4VZIxBHo8tLFgEivYJTrGMlyI18wnMxPznXkXGhL4Bd7ogm4sVCeR9B0rXXaZdN550ne+I/3613KjnNSl3g/ojC6MR7diWFOPzzOnsAt911rwFehBF32xf5wm8xq+1M3M1P6VJIwrVuAL1uhMfMTf4v3MLMQPZMIeyBdvX8s9+pKIoduZZ54Zjvzj9JAHvsgH76Swhg7xH7odvguIj8X5ggEPHtieo3nkjLfXew/W5FTowhqBbmZ2nJxZHmvkoQ/yMSZFDzMLL/kx0WlY68IZOTrMcCyzE4LAL16iiR6NWctEZyzOhhEAH9pxXvF7MxP6MhkYA/94ey33jOVrLNiBwrhs85cbD094Y3ycBUOU61+ujUmD/JFDl+vLUwnHW9iXM3TGlutfrg2s408clbDGD5AR5wOvcrTLtYEVmOGnYIizl+tPO5MOrNGb8eX6l2sDL7CGJhOsXF90RWdwQl58slz/cm3Ifvfdd4cu/HNH0A4fivwyy/s1gQ9ZCQpFulVVhczwBre/+IsXqaW5SWbmT/TyRKdVP/71ip77piN660eO6Ds/mtGhsWlPuKa184A0PpXxpCijM7Y2a7/vXPV4UpPyo8vNm4bDTsvNdyx53xU98uI2T4ikP76iXX0d80GudDoVEpK0H9fJpEc/MKtf3Pwr35GT7tkzqyNzvfndouVx/dNr+nT46JJ2Hcjq8b/TokU/5vrCtfN698u79KNfzevhD71Qz3n6w4QP8E8wzflOmZmJ71PDDxcWFnXg4CGtLK+EBKujvV093d066MexJGcbBvtFEkcs41008Oz2dgRNpVKBLnKCE7amvlIxM9c5fbxAx8x8V28p7OKRgOJjKvFjZmFBwwfnfIdlYWHBscmV6F2+Ghuz28piBF/+IKTcCHwPvwY75j/jy/Uv1wYNfBT9oQmOJfv7jqb+4A+kzZulL31JOny4ZNdKDciMvbAlfLFtuTH4DjGb2EXcqTeGMI7x6Ix9oVuOL3IhH3JiZ+Qu179cWxzratZG+phZOK6Hfzna5dqImfwxG4k+//JFNHeKjTGz4wkh+oIVmBXrW6mOcfCGDvOEUm4M+nKMOTEx4Q9fu8JcLNe/XBtxgLkR+bWZB7ESA/B5bMwV/0rF+5nlAWHS4TQAEm+vdB8JAhgoiECVxkTtOCiCwbPWAAM/gMcA0MCRI7qVrsiIrJHsXCuNidrhy19fsStGMONPbKO2aq5RQgHWtTo9ckZGR34MWg1P+vD0y1MKSSR/mQct6qsp6Iy8YA3fWrBGRuxDYJny4weu1fCkD3zhCW8CWaUJxpiomFlIvpGV8WANvai90hV8wNrMwtGCWekJVkiLQI68LACUWviiL/Yh0SeR7unpKSRf8jNzGPvAj4leK9ZgxDhkx0/5Nx4/+7nPh4D5j685VwM9jRoaaNafXrlNv//Y071+WDfc3KK/+/C8XvGuw3r+1aP62w9O6zXvm9BNv86GwD7mR378k0ktjSv6w8d36p0vG9LXrpvSg87L6FEPbFRbS0p/95eDesojO9XbaerwHSt2zD77jSkN+rEjf+2YyaQ1Pzumx168oK/907A6WlPh3bSGjOllz+rU3XsWtWVjRg+7qFnLSzP66Kev039+7sawaw1Y+MDFD7hQe/bu56NO37HNE8ycenq6deTopKZnZkUS2NzUpE0jw+GvSuW5DraQ/+B3T3va0/zuxP/4NTjhJ9i4GqyxC/24LnkSCX3mBvRPUC5/Z2YhMcXW+DWLbvkRJ7diX3Zcib3sinE9uUfpT02OD/ISd9EZPUr3PrkFvZEXvaGB/Cf3KPOJZJjE7NAh6VOfkm/Xlel8chMysr4gM7pis5N7lP4UrRPIiuzYunTvU1uwDePwFealWfUxBDkpyF3r2oic2Bms4Yv8p0pXvIa+jIEGvLFb8Z6n1tJ33Heb2XXlaLCWtdEs79dgDmbIfiqH0jVgTbwGa/yrdM9TW3gNhNMH3p/kQQU9Tu1VvIa+yAtebH7Av3jPU2vZoUPWkxKyqBuEMARXGMAoait2xdHrNXohPQISQRNAmTyF7YWf6YOMOCylsL3azwQYdIZepQCDvvThrxhZrNi1QOZqecX74XTwBWN0xpjx9sJ7eKMvAZxxGLKwT7WfeSLgHSSOMUmQoF1qLG1gg53ReS1YgxUOC4ZMdGiX4ks9mKCzmfki3SGz6oMZ46MSYc3narDGJuiL3mBNgGJsrcUsnxCyCKAHAaaczvAlGLBrQXAgoNXKM+oP1swpAnm1WINNHCtoYYNLL73UjxH36NX/eK9+duusfnH7tF7697/RC67+lfq6GzwJ6tEfPXFYW0Z61NGzXQ959At15TNfo/tfcF7Y8ers7PBdqCY1ZpZ8Rweq0mufP6CnPKJXr/rHI7rfjnT4549+fde83veqAf3vhwf0889s1auf168nPHRRz3zMkv7rbe16zyv6PSHM6JXvOaQr/3qPfrtrUVc9rtv9YkEf+vyMJ3Xt8lxOr/sz3r3KhJ2o8AcDvuMG9j/+6c8D821bt+jue3eFe3bM0qmUOtrbwrtis77zxBfftrW2OF1zGimXOaenPvWpKvZjZq5bY9gxY26CdykbUw+eFPoxn7p8B6jeuUycxj/xG2zHtZiMUR0LFjvk+CKxi7FRWy1XMwsJIbETvtAtNx69mUv4ITrXHUOcbzjC/KM/kq69VuEb/xcXy7EOf4jBXAZjFj4zK9u/VGM0L7AdOlfCmn7gDDbgDP9StMvVm53AGj2gV65/hHXkX3Vj7UyIW4zHbtCDtlcX/Z829GVtBGdOjIp2rKKSeAtmYIzOXMsNoz2yCesL86Jc/1JtjCPmojfHrLwqgl6l+tMGNqxn6EzMLdW3Un2qXAecBwYEGECGcWF/DERba2tr2EYvbK/nM04PoBgkAriQDo5OEkEfjGZW3wQrpIseUYBBt8J2JgLONuFbm+wyYbTCPsc/13ADT/RgwcD5CrHmM/LQtqZgViATNiYogyfOh2MVdAnBDBvjqPiDWTJYR3qgEz5WyJcJRhuYgA22LuxTz2fo4F8sDtAH2zgdPoM1WCAjPhFvr/fezIQejMevwZz7qMAXeVgs6Yddora1XM3Md7BaQ7IAfbCGV5wmWGNjZAIbbE07/cAJLBhLn5tvvlkPecglevObXqu3veVv1Ns/rL98+069/eOL6jv3VfqnD/+PPvnJT+qqq67S6173N+G4cXCgX22e3ORWVzXYm1HKZfKNJ62s5NTRntbH3rJJz3p8rz7+lUn9zfM79PGvTuoBf3i3Pv31Se09uKT/+d9pffJrk7r6Q+O67Z5l/d6l3XriZd1qbLCQMP3plZ269Z5FNTcq0M6kTU99dKPSqVXUCH8wgG7oE83Znbt2Cz3R/dbbf6vpmRmNDA/5ccWyTj9tW3iXbW5+wT8vBR6Me+lLXxrolftFP4IyeIF1YV/iGzzp09PTI/wROcws8CnsX+1n6OE38MRe6BofC8/R0VGx68rxEV+YGW+v9x598Bn44dfwKaRF3MR30DXJGKKnPEW6+GLpmmuke++VZ80nscbmyMQVvuB8Uoc6P0RYswgXwxosaCOOwBefqJPVScPMLCTBYMz6h14ndfAPxEt0Bmvil1et+X+zPF/WKfwaHoVE8TvWEGQ766yzwkNYYZ96PsOz1fML8CyFNTLRjv9jm3r4FI6BFmu8mYmdZOJgYR9wAGvsmwTWZROyiDnMcComFA6Gs+EIfLcWYCG4mUXdE7sy0aGN0jgffCncM8EJAvRJjOExQtCENoYFbByMwhEfuxYslGxtHuue6AWseRoB68j50B85mGDYwSx5rFkYCNLwZMcMfNEZObhiB5K3RJV1Ymb5iQ7m6AhfbMzkouDkYOJdE/+fSU5BZyYbfCOssT1YJ87UCWJH/IsARiCJ+BLM0P/ss89O7OHG2R3/36w41ugP1uiL3tEA7M58px3bRAWZ3/Xu9+pxj78ylGuu+aK+/e1v6xOf+ITOP//8MJyx6IIvU7Fz1x7t3LVXbe3tuuh+bfLNKD8qlObmTQdZNVYAABAASURBVI0ZqSGTU19PRl/5py36+W05ffX66dD+1o8c1gVntuqqy3t0/hmt+tltc56kTei//BhzetZ8nPnxZ582DS7pY/8zq5c+qwN2YoY0NZnvpnV50rciMwvJl/wHnViY8Tlk9CrnlU/cdu/ZF+6Rd2VlVaf5kSZfubF58xbdcMMNdK2qQBs84QN+xEsz83whF+QYHBz0Y9IeRf4N7vgF46piUKYT84VCnMSu+Be2Y1HhdQW+DscMhMoQqaMJ+YkTzCF8BL7ojRzc05aEfqeI1tYmPfOZCk71mc/ItzgDzsjAvIYv69Qp4xKowH74OHGS+YyeXMEbnrQnwOYUEvgLMQT90BO+zDn4mploWw+szSwkhAiEXbEvfFkzSPZZQ+BNe5LFzMJcAWv0xcfQGazBHpwpSfKMaHV3d4udPvTbtWtXiA/oTf6DDOibFNYp1fCDYzPpeEmPoMY2u5nVQKG+rjg2SnOMw8uB3FNXH7XqRwEyOpOIsSvAe2I7duzweV8TbNUzPNYz4sukgzeLBjoT3I91WbcLf5DAdu3tt98uEgScHDnWjeExwplMRmBNgEFneML7WPO6XczyEx1s4RthjQ3WjekxwgQXClgz0QlmzKljzet2AWv8iTnMuxLIUIg1AY9EguAXFQIfdWBUrXAf/pcP6bTTtoekiOC1d+8+Pe6hrfrt7owWsx7cW3O+o6VQoLnq22bPuLxTTb7zxWfKYE+LnvWEDXrLX27RtR8+R595x+l69hX9+tDnDmlyZkV/ckWHclrRxMyqtg2lGRIKu3C/d2mTJ0AKu4MsHI985MPDXzfSAR979KMu9WSNTxJ/PfkHfiTJn+M3NjaJI32+m+zCCy/U5z73uXynGn/jVyT96A6OJETEEeqiAv7EsyR9DlqRL/34xz92HU08SGL7GlWouTu6oNOhQ26fycmQHDQ0NNRMp+YBW7eGxCy7Z4/m3V6tfkQNxjXTqXGAmYXYxTC+85Er8wsbcL+eBf3iWBND7wsbY094ETN/85vfaNu2beL1ivXUFdpmFhJCEqK9e/eG5Ag5aFvPgi1ZF9Hxtttu8x330eDXjY2NibJN1UKNgExGSsDCIGTIBJpaaNTTl4UDXtFTJZkpctRDq5Yx8Lj11lvDk+wDHvCAcHTHglQLjXr7gjWL4vDwsC8oaaEzC0q99KodR0KEjueee2746g6SMrCvdny9/fAjdOTJnt1HnuxZwOqlV8u4ONYEM/RFnlpo1NOXl155srzf/e4XsIYvPlcPrVrGEMwirHmHEKzBABq0Md/wAfCn0MbnemR79h8/R9NT0zr7rDPCP2E00NuoDb4Tdt5pK54YmQ6OZ8LVUqYDh5f00ncc0KV/cm/45v8oSVxekZaWPeValUjYjkwt67lvuFuPuDi/yH/+O2P62Jdn9KJntKNCKL65pX/69ExI7D78N73hpf4O35374Q9vEvPIzISvf/d7N/huShiiL37xi3rJS16iL3zhC7ruuuuOXz/60Y/mO9Txm0AOP5IwnrLNTNSxkFLwd3xOCf/gv3fccUeIGw9+8IN1X8drfIYjUXYX8LVakvh6oQBneGUuuECtV1wh+8Y3FN4xy+XqJVn1OOYumI+MjIQx6M/n8GEdfzF3KcxjkkDkuC+whg8PkpysnHfeeSI+UNZR1UAaTNkF5AMJEnMJrPm83oW4CNasjWBNbsDnJPlWlZDBFBDYgicbRwAyQ4QiqGEc6pIuLA5MsIgX9DEAT35c4cskpD7pwntiLJjnnHNOeP8G+lEAhS96U5d0gS70WYziWKMzC+J6OX2ENYEbu5qZL5QZsWsDxjwV4AdJ6ws9fAu90ZEdBbP8UxB4gwVt9Eu6MMFIOOJ+jf48caHrek106IIn9uWvJ9ELfwZ3rugM5tQnWaJghq3BmkTAzIJ/kxiwA80LrMgXL+C0liA/enjMjyt3a2Z2Vp2tUmuLxF9FHjma1Vs/uk+P/vN9+ruPTHrdoj74+h6dNpLRox57pdhNkv+0NKc8iTEv0p6Di3rJ39+rL767W698Tpf4+ZfPT+sTX5tTW7PxUZ/91px2XHFEH/h8SsOPPehJX6jW8opndn4LtugDHvgb77d1d3fqlltu8dZk/ocufNgtIjHBx/BnvsiWJIW5DCezvMzcJ1HQiV1P4hfvv7BQQxc58C/8mkJd0gV9JyYmwrtD8DIzt1lK+Bo+h19z1Tr8sE5gU3gxh3xLVLrySukhD5E+/WnpnnvWgauOJyLoC8YwYb3C3uBMfKEu6YL/gCe8WCugj88hBz5AG1fqkyxgjG+xWcCDJLzNLBwnoj98aUuSZ0SLtY9CfCZeUR/pT/16YY0++Be8sCt80ZvEDH9m04K6JEqqHBHARxCABoRifQGGNgI4DlisT611OBJ8AeL4BCsgwmKC89EHJ2BMQZe6PnJOzJMlCyU7NYVEmOzwZeEmkcAghX3q+RxhDV3om50aqMGaAtYskvXwKTYG/NCjFNYsILzXBF/eoStGo546/IWJhJOjVyENMwvbwmCOP4BRYZ96Pkc+wwRjYhXSMLOQpNCGzkklhGDMC/tcwZMFupA3fs18wr7wLmyv9zPBKsIavSM6yIJ+2AKc6cOxC3jDHznoE/Wv9fqtb34z7PAuLS2HL1HdeWBJj3nBLv3ffzigmYV5feQN3brp4z36fy9tUrqhXXPZDh0YX9V73vOe8BedTX4k0NmW9mTNdPMds3r3x/fqy//Yo+amBjU3tquhIeO7i9t1aHxFG/ry4exNH5rSN7/6eX3hcx/Te9/9Nr33kxNCB5KupqZGNTY0hCM8dFldXdHY+BFNT8+KZIm6tRQzC8PNLNBj7mDnqJCEU9hZAG9iCIlMGLTGX9iORJ+TBJIxs7wscbLI0dTUJOY8i3q8bS33+Ese4+7j2MbpwZO4Bk/kTCpe49fz8/MhTsT9+jjv6P2ybFb62MekgwePN63lhjkDhsQtMC1Gi3pszTxC72J9aq0DN/iaWdA57ceyhTQa3L/BmrkLPoXt9X7mHUSOKDn6Zse3kA6ywJd6/AFZuV9rIV4zT8CamFxIzywfr8EabJLCmnkJPfiVWhtZu9j55us9wIe+ayn5CFZAIRKECVZKkPgQs/yOBhMC4NaycDK5mLAYFgPE+RS7Z6KzgDGGscX6VFOH3GxB8lR+1llnhSe7cuMIphgDXTEamJXrX6qNcTgv12qwjvgmgTWYUcAPeqVkpN4sv8CQpPK9ayza1NdTmDBghu0IWmanLhxxugQYsAGjtQQYAgR8zfLBDCzjfArvzfJ+TT9shNyFfar9zGRl0hLM0MWstM5m+QBD8EFfAmu1fAr7ITO+TbCCntkJvvguc4YFgz7oCD9w4h6sCulV+xka+Nb/fv/7Gh4e0uZNI75Qp/SHj2vRDf/eHxKxSy9qV2d7hzLpFlmqUZsHV9WQXpClm8IRI7wWfSFta0npX75wSLfdc0SfeGuX77A1e5LXot/7y3vVkFnVzp27NDaxqr96x4RyPqizPaO9e/errbXVE+s2jR5d9Vo/7vRzzFUvZ599RvjML06z8Cti3bOe9azwrfvU11rMzPUzP/7MiWSLdzHBm4KPU4hn6dgCyj0xJFpwwKxWvvRnPIkYOrBrgb9SX6rQTnyFP3ZnXKm+lerxF/wTeszTSv3xQ3DA5/C9Sv1LtZMQITv0KGZWqqvcMNLZZ0tuX8/yFb7x3/1KdfzgK8wLHpzQGSzLkaEdG9OHcdiK+3oK+oJZR0eHqsUabLAReMV41nTLrjm7QBwRUszKYO2UkY0YB094e1Vd/4M1OptZeEcPLMsRoj2yCfGL8eX6l2pjHiI38kMPfUr1pZ55xFE1r3LxwM33RlJfTzkpIUMQDM4Ew+gsmLUQRTDGMcGZcLUAwsLBGHgSxMzKGz0ul5mJMSQV0KjF6dGVs3B053iSiRanXe7ezIS86AwdFqBy/Qvb4kZH9sL2cp9xPiY6GDPRuZbrH2/D0XB0AiMLhVn1WOOcvMDJgkOSAe847XL3yEh//ARHR4dy/QvbwIgAA86UwvZyn9EX38ZWtdgYmuhMgDEz4V/oQX01ZXx8PPxxBC+DMmFr0dks79fIS4DBbtXwpA8yorNZ8WCGvzNPmXdgSV90AyMStQhreFKgWU2BLjSgi2/Bg38Gad/+A9q4YUB84WpDQ4tW1aSVVdPO/bP6yDVHfNdsr/7g/+7Tn119QK997etDYoN/mpk+es2oBroW9dI/alFTQ6smZ9Led7fe++pBnb6pQc3NTUG0b/8oqzd8YEZ/+pQW/dlfvEx/+rwX6y9e/PLQ1uQ7Y+NHjmh2bk6/+vWtgT4NjY0NXEIZGhryRC8d/k09MAiVVfzCpuDNfGR3iliE7hT8lYINi5Eyy8cQxmIHsCvWr1gdPHfu3CmOCdkRw7fNrFjXonXMQ/iiK/bHdkU7Fqkk3uEv6BjZqUi3olXghaz4GDTgX7RjkUr8iRjS4LtA0IBWkW7Fq0iGL7lEetCDJN+51XXXFe9Xoha+zAX4gl2JbkWr0ZVx2Ayda8GaucSYyK/Mqrcx+DCOKzaudW0kEWvyHVUeJMG8qHIlKvELfB+/xl9KdDulGmzQF73BrNTcOWXgsQr6E68ZD51j1VVdkBN58Wtkr2rQsU7w5RUfxrG5w/p+rKnihTmAf6WinjgaBAAfYcyqN3pEI7pCAyeAJsoBcNRWeI0mmJmJ4IDjFPap9jOTBBr0xxDQ5r5YQSYSChY6QCRBKNavmjozE5ihNxjiCOXGYXQmB4ajmNWHtZmFL6PEaaEJ1uX4EgwwOhOLMWvBmgBDYgZNjnixdTne6Asu8MVO5fqWa0NmsGayY2NoluuPXPDGHxlnVh/W8AA36IA1dqauVKGddy3wCY6/watU30r1THQCDLqjM5iXGoNfw5vAy1xA5mJ96QcdCn3BkaBAfdTfzMIDB/wjmlFbsSs0wAbboDd9Lr/8cjX4sSI8+IvF1pZVffCzR/WkF+/TM1+9X5/82pQuvahZ//HmAf27lzt3L+vf//0/Al9sB+9Lzk3rBU9rdTptumf/ip75mn36j7/bqNM2N2iwL63Fxay3NWh1NadPf3NZ7/nEtJazc/rNbbeH7xBDnq7OrvCUHdcP+bLZJS76+Mc/HuYwvomN6UdytLqa310LnQp+YQ/6oSvHnZ2dneHBED+jMLexu1llnzOzMJb++Gu2wg4OR0f8tTtP5vBG7gLxqvpolrcxvoLt0LncQHwE+ZCTMWaVdStFD5nBGoyhybVUX3AmdoELMQTsS/WtWO920pOeJPEVLV/6ksKuWZlBYMK8gy82NatPZ7M81vgGsZpShm04ZgcXcALrtejc4AksNMARmlxL8cbGJGLoTexC3lJ9K9UjM+OZx/DFfuXGgAmFMczbcn0rtTEeOuiBb5frT3xCPnDCJ83qtzHj2amGLzlGJb/Gt7AH/pUCfAQBOAzGtZzg1baZmXBeghXBHOHiYxEAQeBzZSlcAAAQAElEQVSPIAARb1/LPbQABdrwhlecHi+98jUD7Frwwi0OH2+v9x468DXL76TAP06LBBGskQ+dk8Qax4uwLnQ+9Icvk4FFIym+0Onu7g4v/pPYskDE9eWeyYUNwIUJYlafo0MrXuCNv5pZeB8GbOPt6IrO2GQ9sMa38V/4xPlicyYhyQRPlZGM8T713uM34AhtMMWucVrMMfBGNnzBrDTWZhaO5c0s7AqBE5ianTqGNviaWdg9Kgww6Iw89IO32Qka+NvAwGDYkUp5/WJ2VQ+5f5P++fV9+vAb+/XiP+zQ5o0Z9XSldOMvFpVdyoXECH9CP/4Jpd97WEb7xjv1/Z8t6R3/Nqb/eudGdbalxE9rS8YfShrCqRTyz81nlUt1StbgR4fd6u3pljN3ullNT8+ExE0FP8QAdpji1WCNv6Ib8wlZonb48Bl9eZeGOQA+zEH0p5Cw0C8aU+0Vmvgr/fGvQr8mKcG/eLVi69atRfVhbK3FzEK8Rm744mNxGtic+QQe+HQ9usXpRfdm5vZrDA/jzCX8VwU/kV+DC9ianfCvgq7Vf4RGT490xRVyp86/+D8xcdJ45AELMEFnswT4Ogeww1+Yo9AnGfDq4/9HWHNFZ3zieOMabszyWMMbTJmzheSI4ST727Zt8/nT4/MqGZ1JyCIM8SN0i/MGa3wbTJAPjOLt9d5DB5/BhvAt9GvmMfXQR74kseYUiVMRvv4FXOEFn6iAP7EFfYk3ZqYUEx5BqNA6/KBgRB/nY0LjDEw8AhgGMEvG6HHxzSw8ZRNU4QVP+POPNBNAcTiMFB+T1D1YAjLYAjpXjM41gQlWUkywhi/Oj65M9Eh36sGi5OA1NOD0HNXwpI7j8X4Zjo8M2Bfe9FkDi5JDwRpMwRasmejwZQD1YMF90gV98GuzfEKIX/OOGMGMSciCabY+fk2AoWBbcMbO+Bf+XC3WZhYSMewDLeYi49FLJX7Akn7wYz6BNTLQnXr8j/vCgj80+C5ZZ1tOf/bUDp22yROwzpRyvvnkm1qi8AeQb/1IfkF87WtfG3a2oHNoPKuJmUZ964Zxfe/H03r5n2xUxo+e5rOmpWVTR4tEoDNLaWRkSNhhYmLSaa5qYWFRfNM+f11JMobclOiIE/pPf/rT9ZWvfCVgwed4MbOQLIDLwsKCWDTM8jYlhmBj8EZ3SktLix+fNoe/TjbL94vTq+UentBGXvwavIld6Ld9+/YQ22qhV21fbIhf4wfMI/jBH/2pJ4aYrU23YrKYWcAOf4z44dvIEGFhljxfN3z+/bKnPlXatUv67neFXzOfzCwkimBSTOa11kEXTPFfkpEohkVYN/iu1lp5FBuPbSN/BV/8mu/35P0nYjjviTHXi41dS52ZhQcIdMa22Bms0R2ZeHgDk7XwKDUW+qwHXLEtfOGPHMgD1mbJ+xc48ioE6yOvF/B+GTzhTbygmJ3gm2ICmJ2oKKXQWusRjInFky8OwMQGnLXSrTQeA8ObRGFiYkI4G7wrjVtru1k+mDPZ0Bld0X+tdKsZj74UHJ2AjtHhX83YtfQB1+h703A+gjn4r4VmNWPN8lgzyQgsZvnP1Yxdax8mMoGUY1twZtcV7NdKt9J47AneTGwCDPe1Yo2cjCM4s/gTsLgSE0rRMrOQDODX+Bf9oGNWOoa84Q1vcHVMHe0p0e2qV43qSX+d1TPfkPGjy0PeJt3wiwUt5xrCLg2vEFBJgN6xfate+e5DGptY1muf16WRgZzGpkxjR1OemJm2DWckmR9bLmr37r3i55GPfGRI0khiCH74ITZqaWmmOSRqZqa3ve1tevWrXy0zC/WlfoF1iydbXOlDMhZhBXa0gSO+YFaeFuOrLWYWEkK+joSnbHbySALNkuNRShZ0QV9iF/iho9n688WfwBLbkexzT10pOROrb2xUzo8w504/Xctf/7rab745JA+J0S9DiHWBMuHrE/MKnzJbf6yxL3x5tYI1mUQfvE8WNflPZhbmOXOSeE28IYYkz+lUivg1hT9UYL2At9n6Yw0fXi8AZ07nwJ5SKGGKL6YElMKGJD8DPJk4NNniJ9AiGJOOuvUqAE4ixsKxY8cOf4IeCYEaWQgy68UXujzlsFgSyAiiODqf0Zv29SoR1gSxCGtwpqwXT+gSSNCPBZCnARZVZOFdBJJC+qxXAVOSEpIJtolxfmxM/XrxhC425qmSYMJ30rBQU8dCAh70Wa8C1uDKX/RR4EcdPl8LT2THR3lKpJBoUFgUCNaFQQNM8SX8GX3xM/QtN5+e/OQnh/ejDo6b/u1LMzoy06bnP/fZetofPEU9/dv09JePit2xdColdq4j+YkT99y7S7fvXNTLnt2r7FLKNzRy+sWt05qdW9DRafPdqAYhU2tri3p7u8XPBz7wAX35y/8TvjrjEY94BFVCj/b2DvGZr9T4yU9+osc97nGhrdwvxoEt+pIQ8bQLLtRxBTv8jX7l6NTTxs4iXzOzceNGgQsyYGPsXg+9ascwb5k/LFzEEPwBm+Pb1dKopx+YRvrhW5RIFtrqoVntGOIWf/DRvGmTGp/wBNlpp+n4v49ZLZE6+qEfsYt5CNb4E/OJUge5qocQJ1j7Sbh53wnfBmP4cq2aUB0d8SP4RPGauQMG6+3X0MeviVlgDX/kwPZ1qFH1EPCEL5gTP1gbwZ3chNgVJ5RiojPx2NFg0sUb13qPIChMsEZ5Ahg0zfIZMnyZgOsBCO+J7d27N3wXENuwOLyZhad7ZEGmpPVFN+gCPkZvb2/3BSRNdbjCF0zWw/kwNlhiYPiALYzNLLyTA/ZRO/VJFuyHnQkmLORmFhZAnJ5EmL80ZHFBdyX4A9Zgaea7Lx0dgSfksTUYcI8twIb7pAoTm/lCos+7RyxY0CawgMF6Yk0ww44szhQzCzs88IR3ZItasMZXoYW/UtCHKxiSbNDOwsF8iXTkis5gjc25R7ZSWL/97W/Xhg1D+sgX5sKR0IMueYAe+pBLwldiTM2uKrvSqNe9/m/0Mb4rCmJe3vKWt/hvaXxSml9YVUtzTk96ybhe8o5RPeHFe/WmDx3RQI+pvb0t2H5mZk73v//9w9EXX13zBF9Y3//+9+sXv/iF+OeDvu47H+9617t02WWXBbr8KlXMLDy8oScPVCS9YIKufKaY+bHp0lLoV4pOPfX4NIsldiA+YxvogDU2wRb4Nf5PfVIFn8G38G/4RDEEDNAb/lF7UjyhA198J4oh6GuW92v8D1lox//on2RBV7DEx7EvuvqEkjumwov/U1PSZz8r31ZNkm2YA/DFhvAFWxggB1gzn2knnlOfVAFrXqsgHnOawdqIzmYWdmPBHpyxRVI8Izrogk7oio7oSht+BgbIBl+u1CdVoAdfrvCBH7TRG9/iSjvyUZ9kYb6gE/qCrVner3nIIglm95tcJYqbKTMTE5/tNBYYFhqcdK1CYVQKE4piZqeQxDAAgmEQHOc8pVONFZEO0OVdHkAoJGFmIWjj9PBlshf2qfUzQRJa6ADvyOiFdMACp6A/hsJJCvvU8pnxLMLowIJMMTsVazBGLvoT8JOwMTRw5Ig2jl0oO3U4Hwsa71iRnCFDYb9aPuO8Edb4bjGszfIBBp2ZaPjiWvkynqMjAho6sRNYTO7Ir2kDH3yC+7WUQqzBvJAeWGN/fAzfwi8K+5T6bGbhiIbAQQE3/JQrdKEJ1uhWjAb19EFOfBGs4v0uueQSfepTn9LVb36zzjvvfD31Gc/RHzz9j3X7HXfp0kc8QR//+CfEX2SanfBd/igCfTKZtA6MLenqD41rcaVLn/7ER/TpT35U+yc26Ja75rW8tBySIjPTlVdeGeY28z7SAx2QDT3iMhW7NzvBnx06HirAAVrIQoE2sYM69K4V62J8qQM7jjPAjxf2wZv6wgJ/eNMf3oVYF/av9Jnx8KRAF/pmJ3CIxqMrWMbnX9RW75W5yVyOaBezkZkJ3Jnn6MuYevlF44i/zE10QSf4R23Hr36M6Rm+5D4l31ENX5NR5q9uj4+rcEMsYm6CNX5pVhprbEO8Rt4KZCs2cxLGjit+zasV8C4cBP6RXOCTBNZgjI3hxVwqhrVZPl7je/ghdkZ3xtRbGA9faKETc7YYLfwKH6CN/sjL/VoKcxP80Afa4FpID3nIu2hn3rM2pqJOCEXGRtbMgsM31kdttVwxIEpBDxCKLRyF9DAQE46FCyXqAQQnRymuJGKlglmcN7IBBvyRGf7x9mruMToOxARDBwxgduoEi9Mys7BoMCFwFsbH26u9x+iMRw+wPtXop1KCJ5OCCc7YerBmLHgxFlrgdyqnk2vAhiBgZsJObNme3KO6T9gXvMCZUmmUWR5rnJ+x2KnSmGLtvHPAwwo441+VeJtZeOLEv/AreINXMdrl6hgD1vgZWDOvyvWnLfIHMwvfm4afUF9NwYfwEfTkHn7EBRITAjmllO5mFnagwRqciQVxnozjmPB973tf2LH66U9/Gl6of9Ob3hSO5KK+jMM34U3Sy/W9n5pUJm168IMeqKGhjRrauEF9fb1+BDqldCYdviJgcGBAV111lXjiRHbkQBd8DzugE7TMis9Ps/yuGP05+kZXxlCoo0DT7MR4fB/a8MNOzI1Ij2qvjCHm8rTMHIl2LcqNh18kD1iBd7n+pdrAGrnRA3pmJ3QrNQZMwQS/hje+WapvqXp0JtYzFr+Gf6m+UT194MtnZK7FrxlDgR8yoze00MWsgs4kZuyq8uWy114r33LlL0kgV1PBRsiND4I1NixHwCw/n8AHeYkhyF9uTLE2xpGIpdNpkejjr8X6xevoG/XDTtg63l7NPbKCNfEarJk7lcaBCdhgF+RG70pjirUzDqyJOegB3WL9ojozC/Ea3tgJuZE/aq/2il/Dl7HYDRwrjSVXYSecvqnCzoAWvfjOwklWXdin2GcMhiAsIIDP5CnWr1QdgAEeYzEgpVTfeD38CMDISbbJ4gGteJ9K98iK0dAB54NmpTG0R0ZnPHLXyhcDwJfx8K02wMSNHo1HnmqLWT5JwenBmYIDVRpPHxwVvXFcxlcaU9jOUQ8JDTQIElwL+xT7TD/8i2AG1mBXrF+pOvozDhtBp1qswQY5zUy89MrkKcWjWL1ZHmvmFbQo4Fisb7yOPmBNf+RmfLy90r2ZhQCDf+Av0KrFrwlKvMPDfOrq6hL37HJS+vr6/PhxQ9hZZ85S4vKBMXVmFr5xn3lVSV7akZMgbGbhmB2bXX311ZqdndN3f7Ksa2+a0xe/9N96x/97r975D+/Tddf/QG3tXZ6MrSqbXdLXv/GN8Kf6yMwDJU+cZhZeF0A+cCRI4rvMOR37McsvyPgWuqEjuNGfgi74OnodG3LKhbH0xa/wr2qxRkb8C548DKPzKcTLVKAHsiIbMaRarOlHf0iDCXS4r7aY5f0abPAt/LSasZFfgxN4gWs14+J9IlviL2ANzXh7qXt8Gv+CJz4AZqX6Fq0fHJQe+1jJ54Pc17RzZ9FuhZVgHQr/FwAAEABJREFUjZzww1b1YI286I381WINxrynxMMkvsU8LpSt3GezEzEEWti5rF/HiIE1OoM1djbLz7FYl7K3zAN0phN+Cn/uK5UIa/rh19DhvtqCjeCLX4N1tsL3AUZ0wQV8kBMbY6uorZqrmYUYmyrW2Sz/T8uwcOLsGBVmxfrSHgkO8ChiVhv4cboAAh2AxKAYNt4evyeYkTTiaCRjtTp6nBb3yA6Y8Czn9FEgYAxGXytfxkMHujgfV2gXFrDGDjgJGNVq9EJ6YAwdFhPo4kyFfaLPYII94InDYqeordYrY9kF4NiPI0ASaiZSMTpgAV/asA1YcV9vQVd0ZgJBF/rFaCEP7yASzNi16O7uLtat6roIa+QHa2xYajBYM6fqDWZxumYnFk58Grr4UbxPdI/9wcTMhD8iK3JH84JklF2jqLCLhB1JYki0uTImogfW+ApYw5tr1Ba/Ig/tYE5/xkXt5513nq6//vqQaB08ktJqzjzx+o6+8c1r1dbWGhI+sHze854X3iPjlQVokeDgZ8QudmO5h26kS1tb2/GkzywfDNEhqkcOCjaI6xTJVexqlseacdiQUqwfdeDM11ggE4k+clFfb4EONgNDYkg5rOFNP3RlPtfLk3HgCh0w4mgNutQXK9gF3wdT9GVssX7V1JnlsWYuQxPa+FGxsciEzvCjPz5drF/VdTt2SL/7u9LoqMI/wzQ9XXQoNkA25hV8sVHRjlVWIjd0uKIPdIsNBQceSHhFhB1mkjHsU6xvNXVmFo6MsRs4E0NKjUMmZANr/BFZS/WtVG9mVT9URlhja/wxCb9mHiMj+qAX98VKhAn44NfF+lRblyrX0cz8WKBPLJwsTLwIGF/ACDgIi/I4iln9iVihHDgvwJqZPyHPhu8Xivrg5Dt37hRORjCLgIva13I1yzsftNENHSN6ODq8WQD+P3F302rLVeYBfP1PKwS6MbfVoEEh6UlMMhKC4NiZCo51aA/MN+n0pxAc+AEumkkyEAcSCJoMLuQVLoEI0hCctBqSKHH/at/nnDp1a+9de9eqa8i6VbVenpf/81/PWruq9j785Xe19Tg+9thju0Xm33ef9j9tgkwfuY7soFsf/ib9sDZpYI3Ukvk4xgiuLrlZpNnUo8DP3Vgb6lo4Sy5b+LsF1kmGR2tiCFcJhj66Yf3RRx81G0UbjieffHJY6LX1KHhFLz34NcbapFeX3Nwh6qGTDAmSXpjzF67qFb6rYwse6KN+XJI8dKfJBk3BR2P4JgnjKH3twX/aFDrHvNZcdZKZom5ayPPNyMcfv7OLxb+1L3/5P9udO48P74799Kf/3e7evdtefPHFYc7gjI0BzrJH7uKXR4K4zA72KnKMTaQY8wM+ijY6tSfnzzO+k+Eonnwsn8RY7lLvCy82t9XW48huMcRrWI9luoYP2/RLzvdtLG98DmsYwhj2MK92PqurPONYbWuPSYacST9M6SqZbOAvm2AintW2+ugxpj/B5Fu8r73W2h/+cP3iv7kNawXO8E76Yc0PPC3/zN/yx5MiNyno9Rjs0Jyq/uccxY1e+qdYswHWbOqNdZLrV3xgKlfBmO2OVcdnRX2PkuR6Q1j+OZZsXMNr3OMzfKrt0uPVkoEC4A6UT8MWTgsWQyQcCbiHIYfskECRQFLzSdftfZ+Cn3rqqWYhPzRubX2BnOw3hAiIcCaXkvSbYGNbkwyfRuinj15YJ/vEA/Nx/57nJi9iIRq9SiUzceipaywLnjbWdPl2mc2/SWZyaUu2wxq3+AZr7/BIZrDHd/rHdvY6T3JrQwhnMa5kxp5euqZyzFU+q6eTbglO7M/xFw/lBYW9jnBLsts0XQ0luYmb/uTrK7YKzNmzJMZe8H/55Zfba7vF75VXXm0vvfS/7X9eeqm5M+YRZdv9J1nCEI9Kvo2Ju2Xuctqo2ZjJJfy1WdNmI6HgftnI3p3IVf/DhExC5CwfaOlnizsXyQ0++vQqyT6HwFZ8FbF2zZ4evh2yFX50wJheRUysE/A4NG5tPe7RQRdfFbFnj7JW/sHxfrzVz6d84xutvfpq++zevfbX3R0zWJtnnbB+SH2SYZNi7uA6flkbzQEbsd4b/bEBsOYbXeKryCFs2RLrwhSP5A56Fdc4txXWfJcv+AZr3JJL+I9z8NCnR7k6RwhAbMrsSt1BQPhzxl/alz7A2/17rKBcKuvccUmaSS7JJ/uXfs+VcUn/ZJ+sBT3JsMC1R/gfvcojVDm8k+SulMlt8w33R6HfBtTjb4sIfptkj0IvHZIIP3HcuaP6rUtyw681eiWjcZEc5YlkL/+QH3xOjvc5NFb9Cy+80PymmPNpgSHu0mHeiqs6d8PEF7+02xxWopVsXbN9Km/tNX3yJdlsgPdamUvG05Ok8VX/5HK8jT+nJBm++Qr35F+jt/w/x+5L+/7jiSfaX7/3veEu2X/sHrF/8f/2P3h8qbyl48TWZsza6AbFlhuxsU1JWnITY9wW63Gfrc6TvV7zO9mfb6VrLDe58TnZn4/be5wv2pAB2s5QsROV1PzRUURwR0HC6WHMnAwLs3ctJEt3USyWyf6ulYV0bkyPOsG2CXREcmT3CQAGNqIw6aFnKoNceNLhU0h9cucre0zA6Zhe1xYuOiyw9CrO1dHfS89UDozp4Dud3nlw58LdBO+XbeUzn+jwvoW7Fu6KwZw9PoFtpZf/dPPZBga/+K1enU2E8y0K3+jgm7lEr00JXiticK5eHDE/q9jcKORqszCSidM4Zh7JI458/eSTT643Dfr1Knw1l3yilUf4LL5ibQFxR4HP7EvSS+21HBz68MMPhz8D5ccg3cmjn02wuO7Y+UQM+QVr+sQY3q4r9p1VXovjFx14jV8KrNWJ9XXHzidiLc5Jhg92fGaDGLAJJp1VDuJwquIJ6y9+5zutuWP2xz+29tvftvbxx0O/3v/Q65f98csNCnfFrFH0bI21OMKaLvFVxlir36LwueJJp7yJ13KpGGjfQi+ZOARXOQ636FevDh7Oe5STGzKTGPgSK8KNlVo4LWIe9fgEaFKM29ecA9ivvANCMiuykSn4AKFPgBzV9ygmLt30CraFpeQmuX4RWCAQodp6HGFNroUM1sl+kUgyPMZUJ9GyjZ09dJIBP3rJhKtYq1ecwwHp9NFXfY9iAsGaT3zjd8mFuy+VIL+F0y3ialt75KcF2kv7khk9Fg1ykwyPE20W2Kbor61HgZ/5RCasSy/ZJrs6fWANH/U9Cll8wTHxHGNtQ6KOLfSK9Tk6kwy/YSZm4kiWuCn8wSHytCnOq7DDfMZptsGl2tYeC0d4k+UaBrjEV48sPR73Tpc80ks3/HyQwDHvSLrrS7+SZHjnCebs6p1D4CiGcMVhOpUkQ+6CPwz06+Uv+XyGa5LhCyHwVa+IP718ZZs4qO9RyBI7/uCaOVRy2YCLjvqwsdrWHmGHr+QW75N9vt5Nhta++93Wvv3t1n7zm/37ZZ99tlbl9XgY3r9/f7h++umnh/echovdP/yHNV/1M+931V3+J4tMcZzDWh2s8Zr+LkofCLFG4C1e8+9B9XDAc/VigQdiMzR0+IevfDZfy78SC2v80odt8Km2S49XhwYiugmmXWI1qZxPi3oLmj4WTrv2NYDQ666bROm9Ee9aTHXWtYkgGIIAkDV6yTTBgE/uNOjaq/BZcOjTn83VNnM8WYW8SKwjuYLvfFqSfVJFenoRYdrnnGsEghv8+IvUc+OTmw2hviYH3+f6Lq1juwlEJ1InD5LZRIA2/NLX+2XsnXQ569L4SmbuuNI/JyDJsHCadL2w5gO/xZjcOb3q2CQebFXWYG2smNFNrvlCx1yxMWIbXpj7jnP95uqSDAsDu8moT69kuttp8+N4586dod9YBr6zy7zi79r5xGdyzCty2cAfmySbcHf2PaK2YYIJjrkLXxsz+skY27jkHF7er5UHn9g9wvJlgUPj2AQnY8SGzkN9l9TzlY+wJDeZn0/Jntf69eA1u9kvd1oDDvE6uckh8odyCcaFhbF0ijPOKdU2PeKVdhjxmc3TPudckyNfw/AY1s3PY/zgB61985utvfJKa+6anaNo0pe/xVFro7k06TJcJrl+vww+a7EmlBzFfFLUzRVYwwTGMMLvuX5L6+RLMSPXPLX2zY2tWOinvxjN9Vtax2685ge95uuhsfCQR/SXa3HzUN9T9VfTDgzhkOAfm2DTcQhvgQOMO1tIMO1z7Jpez8Ftxtx1c/ftWP9qSzJ88gNI2X0uIIKHPGQiUzKfzLSPi+TDb0EQDD6M20+d628crOkl79QY7Uinv3M+I43zpQU+RfTafCanfU72WCMnvfxeqrP6wdrCkew/SeNLtR066uNxjy9yWEgtrOw/1H+uXn8LJd0et4/vuM71rzoJANZihSOXYG0uiDOslZJ97Jhk2BAWr9l/rP9cG6zZXD7Aca7ftA4PzX0JmN34Mu1z6Jou/DCGrzYl7hBZPBRyXUti+uFyyWKf+WQsfsG82pYcjTOX4E037ObG+dCo4JGcY4NmA8n2t956a/hhWb4vjTW9cPaBgU7fniRrTve0Tn9YsJlOsqZ9jl2zUYzwA7YwPda/2vQrXhtPTrUtObIT1mwWM2XJuGTPa3EX4zU5BMZ8WKoXJ9hJJ7z5sGRs9cFHcYYVrPlQbUePX/taaz/8YWt/+lNrv/pVa3/+89Hu00Z21hdC3HG12Z/2ubm+OTOfajMBa/ngpnXZGV7xGV/IInPJSLzWHz8UPiwZV31gzWZYk7MU6+KEcewmp2QuObITN8wJ8xJnloyDCy7Cid2XYn29IWMIojIEaRmzxJBpH4nNI0aJzgIooNM+02sO2PkDXTJznPY5dV2AOAqEgJwaI1j8lViAaSE6NWbanmTYEAocWTCE5bTf+Fq7fvrDWhm3Lz0XfGPZD0P+nBqLKDYlcJJUktMbsanMIr0jvUuxrr70Xhpj7/9Y2G3c3Y2A5dS+8TVMvCfmN3ls9I/dcR2Pm55LMDgCa3Ejd9pneg1rXBQnY2E+7XPq2hhj6RO3pVjrS/+lWLNLIsRrPiyZx2KB1xKwsQrfycBTflSxwbawiKU6ftKp4IaxsJYcyVV/rPBVX5yUu5JlvBZLd8oU/PQI2wbt3r17zeafP8f08xUXjbXRh/cxO+fakgybbziRA+tjOsnQzl8FtnxWf27Ba2P5yRdyT8mANX7BWuxO9Z9rF2Njkww/a4Tfc/3GdfrgoqN1hv5x+5LzJEO+pp8sfp/yWTuewIfNMFui66E+3i/7/vdb23Gr/e53bcn7ZbjoBgde+kB6ic/GsBtufD4nhxhjLLwe8udERZKB1/CiF29ODBm+CILTsMZrc+LUmLl2OtlNjtjxY67fuM68Y6ecZWyyLIeMZchjxtJnjizBGi70GjNsyMqQClxyviFjo5y7w2UBtLOX2ChTPy6Al8wAZiNmko3bLzlHHElRMpfc5vSaYHTTK+jKJbrGYyoQMBQIII/b6xzW2i+V1WAAAAicSURBVNkpcFV/6THJ9ftl/DmUYOBQQYczOy/VWeP4YOHk0zGsa1Loa6LU+EuPJqlb9uS5K8HnqSwx5q9kZhPmXYsePlu86Ocvv6Z6XcNajHEAF3vohRtZp7DGa3bhFjvZs6bgNb1JWvk0J6/sKk4kt3NIkuF3zNgkbop5xy8fhNRLhG30nzrt/CFf07RIeNphLjaXYk0+OXykA2e8MP3ee+/N+k2vO2zen8UtG0zj1pRkf9eYDNzFH+fTwlZ2wg2O0/Zzr5MMmxR447Xcaf5M5cCYXdp65RA+4AHeyl9kT/Wq0yY+eG3MtM+513iK1/hNtnhOZdBbWLOxB9btC19ozW+Xfetbrd2929rvf9/a3/8+VT38FuXbb789HN3gEJuHOp1ZATf48YnP/JuKUAdn8YCP+Tftc+41jMnCH7ydw5pMduEXO2Gd3M4h+pxbyIEdXpM/N948Yxff2XlpDhnL5gNZcIQ138ftzumDNbvEBdZXDNVgMJLq2KtwzK5eorVwekxAl4BIZr4IoN0n5V46S47kbBIBxIJNrzbJBvhsAoK6ngWGkpUgI1cFwtE1O7TDpqfeZJ/M6eefIJNPH0IIPH8RRX3PgvCITw+86SSfDWwRC7rV9Szkekzu7oZ3gGBOvhi/8847uw+gH7dnnnlm2Aio71UqwZhA/Cu9/IYBrM0nuPTSWXLI5Ld5Sxed2mCtTnzFIlmfzMitgld8wmN6HLWZyzBwLsZLeA0/dsJPcW4+GquQVSXJsFkwhr/0aeM3rvEbHmSoX1PIFEty+Wie8vndd98d/v6quGqXx/DNT1h4v3GNzrmxsKCXb+worB1hnez/kgpM5sZfWpfscwi59PCVLLiwAy5izD71vUqyj7E4inHla3rNZXlTLsfrXjpLDl/ILj10asMzGLjGA3Vdy1e/2tqPf7x/v+zXv97/6v9OAczdxLA2Pvfcc83j/V111//lEEVMcZqPFMBAnTaYqOtZzFG85qM4l17X7gTSpR3/nPcq5JFLnpiKrXP6ccs8084+9T0LzsITrsVr8p3TrQ3v1SlXBmxhCOFVENrtfAC8+eabzXsadQu2+mxxTPYT3aQTcI+4kn0ymyb+3voBDVtJjF7El8yOY73eCn7BW/L22JjfJhdb1ks/LoF/sLZg8VlvtjhuVZI0dzPwyyPyN954o3k8KZltsdEf+1ET3QTnr8lucm2NdenFMZtRcU5uFtOxjb3P8RefJBN3hyQWyUzcz9HFB2PIU5zjbpLh942msrTRi9d8luBs5mAw7bv2mg5+WTT46csIchduvf7668MG30afzWt1HRuPS3xmxxhrm+Nj49a2kW/eWig93YABTrNlrexj45MMj7jE2pe68Fp//HLcqiT7pwzyF1/pFn8Y4OZWege5X/96az/6Ufv8/v32/7/4Rftwt/n3dMm7YkP7Rv+Yf/w1h/gL66pLspHWvVg6zVv50k8O4Rmst55P5OMSffylH6/Ns71l2/wLV3rxWu6Cd9mS3Mb6yq54GzNuS6XHrt+jJi9UWzQlvtu9+l9JpDZDJtadO3eGP6/yKPTyxM7bYm3zSadJrn7rQqeNIBLwW5KBw9Z66bB4mHBizAZ1j0KvBYsuf/tQvBHf9da6C2sxtpA9Sp9tSiQ2iRXuOLa1vzA1l+lxh0hyw3PX5xYJSmLClyr4KoHNyeKfOcRfY53P9etVxzc6JG53xGxIfEnBaxbqe+k5JoeeJA2/2FPYHxvTo01M6bJQwhrXesg9JUOMzSFY080GnDs1rkd7YU0v/+HdQ+4pGX/529/a21/6UnvsJz9p//XBB63tNv1zjzFPyTm3/fPPP2/WBpsS5VHnkCTDHUAxflRYV772IUuesVaci9sl/XEYvngNa/NJ3VTWVZJm8doKEEq9x2NX+OyzzzZkd5vfo0qPMe1U9Zka1uPaBOM4AOyCLZiSuQmPiD10zMmAJUwF3KaojvSrl3Tmxq2tg6PFg34bIosdv/mvnt9rdRwaj2yw5i/S0e1cDNylOzRubT293rWw2XaXzIL+/PPPN/rff//9XV57+P2MtTqNhzW/JG5YizG/bSxgLcnot0URRzrga0PGZ/MK1vDYQieZeMvn0sdnegsLyU6/c4o4wQxP4VeFX9psBujBLfLNX3X6G8dfMThH59K+/HLn05dCvCNGpzlsU+bnM+QvfZbKO6cfn2ANA/OXz+INC/VicY68pX3JxS1HsaVfTPhO75a8FksLpBhX/J3j+9b5mm94TR+szelk/97kVjGWp71aAdMhZ/n7mL6NuVsn289/3toHH7S22zQtjd3SfvyBszklxuaR4ly9slTWuf3MYViLb/GZ3qrHu3NlLunP51p7K7ZiXbw235bIuaQPnHGYnzim8B3flbHMKxOOgYDoTXrviXmM5K6YhHZL8dVVqwXUI0xJYNy+5hy4wOcb0MeykgzvpEhydFrExu1rzgUd2RxhKnmP5dVEp5Pucdvac0FXBNrkGstL9o9pEcHjRLEet685l1RgbYJNsSZXPSLCpedEN4G920PmkMz8TTkKHxSLiMdKPghIej19ptNc4Rf/HqgcDhZM9WLP5556yRI/OukYFI7+kVwU3JIARk2rT8UY5nid3L7NjlfsMe9w8BxlSYbfJWO3OYm/dNhgk2nOkOdu3ByvxTnJ8Emfffo+KKsOYudOGDvkLnMa1/lIsC8seazkN+1s2tT1KPTAOtnP2fK/ZOMVXOQQHKz6Hke8wW0xmGJdvGYP+3Cxh04yYArv4oC6cal6ffg9bltzzgcyYQ7T5Dav+QoLOvVbo2s8ll7rok29mxTufo7bd3ctWvvZz1r7ylda++UvW/v001vNay5wWJxhOpevzUGxF2MbxTW6xmNhLHc5mt/jNud0ioG8ZZOin/oexTwRQ3rtCcYyk/08o4/PPXMIX/BGjoL3WK9zWKsXj8L6nwAAAP//9tHZKgAAAAZJREFUAwBERZBrf2TZ5QAAAABJRU5ErkJggg=="/>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Rectangle 25"/>
          <p:cNvSpPr/>
          <p:nvPr/>
        </p:nvSpPr>
        <p:spPr>
          <a:xfrm>
            <a:off x="2791116" y="6213477"/>
            <a:ext cx="78305" cy="83344"/>
          </a:xfrm>
          <a:prstGeom prst="rect">
            <a:avLst/>
          </a:prstGeom>
          <a:solidFill>
            <a:srgbClr val="FEFEFA"/>
          </a:solidFill>
          <a:ln>
            <a:solidFill>
              <a:srgbClr val="FFFE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p:cNvPicPr>
            <a:picLocks noChangeAspect="1"/>
          </p:cNvPicPr>
          <p:nvPr/>
        </p:nvPicPr>
        <p:blipFill>
          <a:blip r:embed="rId8"/>
          <a:stretch>
            <a:fillRect/>
          </a:stretch>
        </p:blipFill>
        <p:spPr>
          <a:xfrm>
            <a:off x="2798856" y="6221182"/>
            <a:ext cx="62823" cy="66415"/>
          </a:xfrm>
          <a:prstGeom prst="rect">
            <a:avLst/>
          </a:prstGeom>
        </p:spPr>
      </p:pic>
      <p:pic>
        <p:nvPicPr>
          <p:cNvPr id="10" name="Picture 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414757" y="3031814"/>
            <a:ext cx="1382425" cy="1272554"/>
          </a:xfrm>
          <a:prstGeom prst="rect">
            <a:avLst/>
          </a:prstGeom>
        </p:spPr>
      </p:pic>
    </p:spTree>
    <p:extLst>
      <p:ext uri="{BB962C8B-B14F-4D97-AF65-F5344CB8AC3E}">
        <p14:creationId xmlns:p14="http://schemas.microsoft.com/office/powerpoint/2010/main" val="404056904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001" name="HiH banner" descr="Hack in Hills banner"/>
          <p:cNvPicPr>
            <a:picLocks noChangeAspect="1"/>
          </p:cNvPicPr>
          <p:nvPr/>
        </p:nvPicPr>
        <p:blipFill>
          <a:blip r:embed="rId3"/>
          <a:stretch>
            <a:fillRect/>
          </a:stretch>
        </p:blipFill>
        <p:spPr>
          <a:xfrm>
            <a:off x="0" y="0"/>
            <a:ext cx="12192000" cy="803671"/>
          </a:xfrm>
          <a:prstGeom prst="rect">
            <a:avLst/>
          </a:prstGeom>
        </p:spPr>
      </p:pic>
      <p:sp>
        <p:nvSpPr>
          <p:cNvPr id="4" name="!!Kicker">
            <a:extLst>
              <a:ext uri="{FF2B5EF4-FFF2-40B4-BE49-F238E27FC236}">
                <a16:creationId xmlns:a16="http://schemas.microsoft.com/office/drawing/2014/main" id="{599A3D5D-2830-F23B-7DD3-684C721A32C0}"/>
              </a:ext>
            </a:extLst>
          </p:cNvPr>
          <p:cNvSpPr txBox="1"/>
          <p:nvPr/>
        </p:nvSpPr>
        <p:spPr>
          <a:xfrm>
            <a:off x="996483" y="922543"/>
            <a:ext cx="10204704" cy="203200"/>
          </a:xfrm>
          <a:prstGeom prst="rect">
            <a:avLst/>
          </a:prstGeom>
          <a:noFill/>
        </p:spPr>
        <p:txBody>
          <a:bodyPr vert="horz" wrap="square" lIns="0" tIns="0" rIns="0" bIns="0" rtlCol="0" anchor="t">
            <a:noAutofit/>
          </a:bodyPr>
          <a:lstStyle/>
          <a:p>
            <a:r>
              <a:rPr lang="en-IN" sz="1000" b="1" spc="300">
                <a:solidFill>
                  <a:srgbClr val="C2410C"/>
                </a:solidFill>
                <a:latin typeface="IBM Plex Sans" panose="020B0503050203000203" pitchFamily="34" charset="0"/>
              </a:rPr>
              <a:t>DECISION MAKING</a:t>
            </a:r>
          </a:p>
        </p:txBody>
      </p:sp>
      <p:sp>
        <p:nvSpPr>
          <p:cNvPr id="5" name="!!Title">
            <a:extLst>
              <a:ext uri="{FF2B5EF4-FFF2-40B4-BE49-F238E27FC236}">
                <a16:creationId xmlns:a16="http://schemas.microsoft.com/office/drawing/2014/main" id="{E6E520DB-E0AC-99D9-4AFD-0E0FC1B3D1F1}"/>
              </a:ext>
            </a:extLst>
          </p:cNvPr>
          <p:cNvSpPr txBox="1"/>
          <p:nvPr/>
        </p:nvSpPr>
        <p:spPr>
          <a:xfrm>
            <a:off x="996483" y="1096279"/>
            <a:ext cx="10204704" cy="558800"/>
          </a:xfrm>
          <a:prstGeom prst="rect">
            <a:avLst/>
          </a:prstGeom>
          <a:noFill/>
        </p:spPr>
        <p:txBody>
          <a:bodyPr vert="horz" wrap="square" lIns="0" tIns="0" rIns="0" bIns="0" rtlCol="0" anchor="t">
            <a:noAutofit/>
          </a:bodyPr>
          <a:lstStyle/>
          <a:p>
            <a:r>
              <a:rPr lang="en-IN" sz="3000" b="1">
                <a:solidFill>
                  <a:srgbClr val="111827"/>
                </a:solidFill>
                <a:latin typeface="Montserrat" pitchFamily="2" charset="0"/>
              </a:rPr>
              <a:t>How it decides</a:t>
            </a:r>
          </a:p>
        </p:txBody>
      </p:sp>
      <p:sp>
        <p:nvSpPr>
          <p:cNvPr id="6" name="!!Footer">
            <a:extLst>
              <a:ext uri="{FF2B5EF4-FFF2-40B4-BE49-F238E27FC236}">
                <a16:creationId xmlns:a16="http://schemas.microsoft.com/office/drawing/2014/main" id="{29833738-03A7-E843-1350-BF78FB918B07}"/>
              </a:ext>
            </a:extLst>
          </p:cNvPr>
          <p:cNvSpPr txBox="1"/>
          <p:nvPr/>
        </p:nvSpPr>
        <p:spPr>
          <a:xfrm>
            <a:off x="996483" y="6574536"/>
            <a:ext cx="8229600" cy="177800"/>
          </a:xfrm>
          <a:prstGeom prst="rect">
            <a:avLst/>
          </a:prstGeom>
          <a:noFill/>
        </p:spPr>
        <p:txBody>
          <a:bodyPr vert="horz" wrap="square" lIns="0" tIns="0" rIns="0" bIns="0" rtlCol="0" anchor="t">
            <a:noAutofit/>
          </a:bodyPr>
          <a:lstStyle/>
          <a:p>
            <a:r>
              <a:rPr lang="en-IN" sz="800" spc="150">
                <a:solidFill>
                  <a:srgbClr val="475467"/>
                </a:solidFill>
                <a:latin typeface="IBM Plex Sans" panose="020B0503050203000203" pitchFamily="34" charset="0"/>
              </a:rPr>
              <a:t>HACK IN HILLS  ·  VISION-BASED AUTONOMOUS ROBOT  ·  TECH MINIONS</a:t>
            </a:r>
          </a:p>
        </p:txBody>
      </p:sp>
      <p:sp>
        <p:nvSpPr>
          <p:cNvPr id="7" name="!!Page">
            <a:extLst>
              <a:ext uri="{FF2B5EF4-FFF2-40B4-BE49-F238E27FC236}">
                <a16:creationId xmlns:a16="http://schemas.microsoft.com/office/drawing/2014/main" id="{D857E208-EB2B-21AF-CFAE-404F76D71058}"/>
              </a:ext>
            </a:extLst>
          </p:cNvPr>
          <p:cNvSpPr txBox="1"/>
          <p:nvPr/>
        </p:nvSpPr>
        <p:spPr>
          <a:xfrm>
            <a:off x="9931187" y="6574536"/>
            <a:ext cx="1270000" cy="177800"/>
          </a:xfrm>
          <a:prstGeom prst="rect">
            <a:avLst/>
          </a:prstGeom>
          <a:noFill/>
        </p:spPr>
        <p:txBody>
          <a:bodyPr vert="horz" wrap="square" lIns="0" tIns="0" rIns="0" bIns="0" rtlCol="0" anchor="t">
            <a:noAutofit/>
          </a:bodyPr>
          <a:lstStyle/>
          <a:p>
            <a:pPr algn="r"/>
            <a:r>
              <a:rPr lang="en-IN" sz="800" b="1" dirty="0" smtClean="0">
                <a:solidFill>
                  <a:srgbClr val="475467"/>
                </a:solidFill>
                <a:latin typeface="IBM Plex Sans" panose="020B0503050203000203" pitchFamily="34" charset="0"/>
              </a:rPr>
              <a:t>05 / </a:t>
            </a:r>
            <a:r>
              <a:rPr lang="en-IN" sz="800" b="1" dirty="0">
                <a:solidFill>
                  <a:srgbClr val="475467"/>
                </a:solidFill>
                <a:latin typeface="IBM Plex Sans" panose="020B0503050203000203" pitchFamily="34" charset="0"/>
              </a:rPr>
              <a:t>09</a:t>
            </a:r>
          </a:p>
        </p:txBody>
      </p:sp>
      <p:sp>
        <p:nvSpPr>
          <p:cNvPr id="8" name="s654">
            <a:extLst>
              <a:ext uri="{FF2B5EF4-FFF2-40B4-BE49-F238E27FC236}">
                <a16:creationId xmlns:a16="http://schemas.microsoft.com/office/drawing/2014/main" id="{7F3857F0-F6E3-2F52-F019-04799C2963CB}"/>
              </a:ext>
            </a:extLst>
          </p:cNvPr>
          <p:cNvSpPr txBox="1"/>
          <p:nvPr/>
        </p:nvSpPr>
        <p:spPr>
          <a:xfrm>
            <a:off x="993648" y="1700784"/>
            <a:ext cx="4511802" cy="236220"/>
          </a:xfrm>
          <a:prstGeom prst="rect">
            <a:avLst/>
          </a:prstGeom>
          <a:noFill/>
        </p:spPr>
        <p:txBody>
          <a:bodyPr vert="horz" wrap="square" lIns="0" tIns="0" rIns="0" bIns="0" rtlCol="0" anchor="t">
            <a:noAutofit/>
          </a:bodyPr>
          <a:lstStyle/>
          <a:p>
            <a:r>
              <a:rPr lang="en-IN" sz="1302" b="1">
                <a:solidFill>
                  <a:srgbClr val="111827"/>
                </a:solidFill>
                <a:latin typeface="Montserrat" pitchFamily="2" charset="0"/>
              </a:rPr>
              <a:t>1.  Understand the goal</a:t>
            </a:r>
          </a:p>
        </p:txBody>
      </p:sp>
      <p:sp>
        <p:nvSpPr>
          <p:cNvPr id="9" name="s655">
            <a:extLst>
              <a:ext uri="{FF2B5EF4-FFF2-40B4-BE49-F238E27FC236}">
                <a16:creationId xmlns:a16="http://schemas.microsoft.com/office/drawing/2014/main" id="{6A46ADFE-168D-5541-664C-F55D7093BBE6}"/>
              </a:ext>
            </a:extLst>
          </p:cNvPr>
          <p:cNvSpPr/>
          <p:nvPr/>
        </p:nvSpPr>
        <p:spPr>
          <a:xfrm>
            <a:off x="993648" y="2031492"/>
            <a:ext cx="4511802" cy="708660"/>
          </a:xfrm>
          <a:prstGeom prst="roundRect">
            <a:avLst>
              <a:gd name="adj" fmla="val 10000"/>
            </a:avLst>
          </a:prstGeom>
          <a:solidFill>
            <a:srgbClr val="F5F7FA"/>
          </a:solidFill>
          <a:ln w="11811">
            <a:solidFill>
              <a:srgbClr val="D5DBE5"/>
            </a:solidFill>
          </a:ln>
        </p:spPr>
        <p:style>
          <a:lnRef idx="2">
            <a:schemeClr val="accent1">
              <a:shade val="15000"/>
            </a:schemeClr>
          </a:lnRef>
          <a:fillRef idx="1">
            <a:schemeClr val="accent1"/>
          </a:fillRef>
          <a:effectRef idx="0">
            <a:schemeClr val="accent1"/>
          </a:effectRef>
          <a:fontRef idx="minor">
            <a:schemeClr val="lt1"/>
          </a:fontRef>
        </p:style>
        <p:txBody>
          <a:bodyPr wrap="square" lIns="165354" tIns="23622" rIns="70866" bIns="23622" rtlCol="0" anchor="ctr">
            <a:noAutofit/>
          </a:bodyPr>
          <a:lstStyle/>
          <a:p>
            <a:r>
              <a:rPr lang="en-US" sz="837" b="1">
                <a:solidFill>
                  <a:srgbClr val="C2410C"/>
                </a:solidFill>
                <a:latin typeface="IBM Plex Sans" panose="020B0503050203000203" pitchFamily="34" charset="0"/>
              </a:rPr>
              <a:t>USER SAYS</a:t>
            </a:r>
          </a:p>
          <a:p>
            <a:pPr>
              <a:spcBef>
                <a:spcPts val="93"/>
              </a:spcBef>
            </a:pPr>
            <a:r>
              <a:rPr lang="en-US" sz="1302" i="1">
                <a:solidFill>
                  <a:srgbClr val="111827"/>
                </a:solidFill>
                <a:latin typeface="IBM Plex Sans" panose="020B0503050203000203" pitchFamily="34" charset="0"/>
              </a:rPr>
              <a:t>"Go to the person near the red chair"</a:t>
            </a:r>
            <a:endParaRPr lang="en-IN" sz="1302" i="1">
              <a:solidFill>
                <a:srgbClr val="111827"/>
              </a:solidFill>
              <a:latin typeface="IBM Plex Sans" panose="020B0503050203000203" pitchFamily="34" charset="0"/>
            </a:endParaRPr>
          </a:p>
        </p:txBody>
      </p:sp>
      <p:cxnSp>
        <p:nvCxnSpPr>
          <p:cNvPr id="10" name="s656">
            <a:extLst>
              <a:ext uri="{FF2B5EF4-FFF2-40B4-BE49-F238E27FC236}">
                <a16:creationId xmlns:a16="http://schemas.microsoft.com/office/drawing/2014/main" id="{32C3C364-CDBB-3F72-3BE4-CBAE5A36BBE0}"/>
              </a:ext>
            </a:extLst>
          </p:cNvPr>
          <p:cNvCxnSpPr/>
          <p:nvPr/>
        </p:nvCxnSpPr>
        <p:spPr>
          <a:xfrm>
            <a:off x="3249549" y="2763774"/>
            <a:ext cx="0" cy="283464"/>
          </a:xfrm>
          <a:prstGeom prst="line">
            <a:avLst/>
          </a:prstGeom>
          <a:ln w="17716">
            <a:solidFill>
              <a:srgbClr val="C2410C"/>
            </a:solidFill>
            <a:tailEnd type="triangle"/>
          </a:ln>
        </p:spPr>
        <p:style>
          <a:lnRef idx="1">
            <a:schemeClr val="accent1"/>
          </a:lnRef>
          <a:fillRef idx="0">
            <a:schemeClr val="accent1"/>
          </a:fillRef>
          <a:effectRef idx="0">
            <a:schemeClr val="accent1"/>
          </a:effectRef>
          <a:fontRef idx="minor">
            <a:schemeClr val="tx1"/>
          </a:fontRef>
        </p:style>
      </p:cxnSp>
      <p:sp>
        <p:nvSpPr>
          <p:cNvPr id="11" name="s657">
            <a:extLst>
              <a:ext uri="{FF2B5EF4-FFF2-40B4-BE49-F238E27FC236}">
                <a16:creationId xmlns:a16="http://schemas.microsoft.com/office/drawing/2014/main" id="{D7106F40-E91F-A059-3BAA-91286E4E2DE7}"/>
              </a:ext>
            </a:extLst>
          </p:cNvPr>
          <p:cNvSpPr/>
          <p:nvPr/>
        </p:nvSpPr>
        <p:spPr>
          <a:xfrm>
            <a:off x="993648" y="3070860"/>
            <a:ext cx="4511802" cy="590550"/>
          </a:xfrm>
          <a:prstGeom prst="roundRect">
            <a:avLst>
              <a:gd name="adj" fmla="val 12000"/>
            </a:avLst>
          </a:prstGeom>
          <a:solidFill>
            <a:srgbClr val="E9EEF5"/>
          </a:solidFill>
          <a:ln w="14764">
            <a:solidFill>
              <a:srgbClr val="C2410C"/>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IN" sz="1116" b="1">
                <a:solidFill>
                  <a:srgbClr val="111827"/>
                </a:solidFill>
                <a:latin typeface="IBM Plex Sans" panose="020B0503050203000203" pitchFamily="34" charset="0"/>
              </a:rPr>
              <a:t>Vision-language model  +  camera frame  +  YOLO detections</a:t>
            </a:r>
          </a:p>
        </p:txBody>
      </p:sp>
      <p:cxnSp>
        <p:nvCxnSpPr>
          <p:cNvPr id="12" name="s658">
            <a:extLst>
              <a:ext uri="{FF2B5EF4-FFF2-40B4-BE49-F238E27FC236}">
                <a16:creationId xmlns:a16="http://schemas.microsoft.com/office/drawing/2014/main" id="{54B8B98F-8A1F-D264-5E3B-79E73901A4A5}"/>
              </a:ext>
            </a:extLst>
          </p:cNvPr>
          <p:cNvCxnSpPr/>
          <p:nvPr/>
        </p:nvCxnSpPr>
        <p:spPr>
          <a:xfrm>
            <a:off x="3249549" y="3685032"/>
            <a:ext cx="0" cy="283464"/>
          </a:xfrm>
          <a:prstGeom prst="line">
            <a:avLst/>
          </a:prstGeom>
          <a:ln w="17716">
            <a:solidFill>
              <a:srgbClr val="C2410C"/>
            </a:solidFill>
            <a:tailEnd type="triangle"/>
          </a:ln>
        </p:spPr>
        <p:style>
          <a:lnRef idx="1">
            <a:schemeClr val="accent1"/>
          </a:lnRef>
          <a:fillRef idx="0">
            <a:schemeClr val="accent1"/>
          </a:fillRef>
          <a:effectRef idx="0">
            <a:schemeClr val="accent1"/>
          </a:effectRef>
          <a:fontRef idx="minor">
            <a:schemeClr val="tx1"/>
          </a:fontRef>
        </p:style>
      </p:cxnSp>
      <p:sp>
        <p:nvSpPr>
          <p:cNvPr id="13" name="s659">
            <a:extLst>
              <a:ext uri="{FF2B5EF4-FFF2-40B4-BE49-F238E27FC236}">
                <a16:creationId xmlns:a16="http://schemas.microsoft.com/office/drawing/2014/main" id="{FEED45E9-3D8E-2062-0649-C04527C20E16}"/>
              </a:ext>
            </a:extLst>
          </p:cNvPr>
          <p:cNvSpPr/>
          <p:nvPr/>
        </p:nvSpPr>
        <p:spPr>
          <a:xfrm>
            <a:off x="993648" y="3992118"/>
            <a:ext cx="4511802" cy="708660"/>
          </a:xfrm>
          <a:prstGeom prst="roundRect">
            <a:avLst>
              <a:gd name="adj" fmla="val 10000"/>
            </a:avLst>
          </a:prstGeom>
          <a:solidFill>
            <a:srgbClr val="EEF2F7"/>
          </a:solidFill>
          <a:ln w="11811">
            <a:solidFill>
              <a:srgbClr val="D5DBE5"/>
            </a:solidFill>
          </a:ln>
        </p:spPr>
        <p:style>
          <a:lnRef idx="2">
            <a:schemeClr val="accent1">
              <a:shade val="15000"/>
            </a:schemeClr>
          </a:lnRef>
          <a:fillRef idx="1">
            <a:schemeClr val="accent1"/>
          </a:fillRef>
          <a:effectRef idx="0">
            <a:schemeClr val="accent1"/>
          </a:effectRef>
          <a:fontRef idx="minor">
            <a:schemeClr val="lt1"/>
          </a:fontRef>
        </p:style>
        <p:txBody>
          <a:bodyPr wrap="square" lIns="165354" tIns="23622" rIns="70866" bIns="23622" rtlCol="0" anchor="ctr">
            <a:noAutofit/>
          </a:bodyPr>
          <a:lstStyle/>
          <a:p>
            <a:r>
              <a:rPr lang="en-US" sz="1023">
                <a:solidFill>
                  <a:srgbClr val="C2410C"/>
                </a:solidFill>
                <a:latin typeface="Consolas" panose="020B0609020204030204" pitchFamily="49" charset="0"/>
              </a:rPr>
              <a:t>{ "target": "person", "track_id": 7,</a:t>
            </a:r>
          </a:p>
          <a:p>
            <a:pPr>
              <a:spcBef>
                <a:spcPts val="93"/>
              </a:spcBef>
            </a:pPr>
            <a:r>
              <a:rPr lang="en-US" sz="1023">
                <a:solidFill>
                  <a:srgbClr val="C2410C"/>
                </a:solidFill>
                <a:latin typeface="Consolas" panose="020B0609020204030204" pitchFamily="49" charset="0"/>
              </a:rPr>
              <a:t>  "anchor": "red chair", "conf": 0.86 }</a:t>
            </a:r>
            <a:endParaRPr lang="en-IN" sz="1023">
              <a:solidFill>
                <a:srgbClr val="C2410C"/>
              </a:solidFill>
              <a:latin typeface="Consolas" panose="020B0609020204030204" pitchFamily="49" charset="0"/>
            </a:endParaRPr>
          </a:p>
        </p:txBody>
      </p:sp>
      <p:sp>
        <p:nvSpPr>
          <p:cNvPr id="14" name="s660">
            <a:extLst>
              <a:ext uri="{FF2B5EF4-FFF2-40B4-BE49-F238E27FC236}">
                <a16:creationId xmlns:a16="http://schemas.microsoft.com/office/drawing/2014/main" id="{C38115AB-82AE-3E9B-C21B-64193289EF29}"/>
              </a:ext>
            </a:extLst>
          </p:cNvPr>
          <p:cNvSpPr txBox="1"/>
          <p:nvPr/>
        </p:nvSpPr>
        <p:spPr>
          <a:xfrm>
            <a:off x="993648" y="4795266"/>
            <a:ext cx="4511802" cy="401574"/>
          </a:xfrm>
          <a:prstGeom prst="rect">
            <a:avLst/>
          </a:prstGeom>
          <a:noFill/>
        </p:spPr>
        <p:txBody>
          <a:bodyPr vert="horz" wrap="square" lIns="0" tIns="0" rIns="0" bIns="0" rtlCol="0" anchor="t">
            <a:noAutofit/>
          </a:bodyPr>
          <a:lstStyle/>
          <a:p>
            <a:r>
              <a:rPr lang="en-US" sz="1023" i="1">
                <a:solidFill>
                  <a:srgbClr val="475467"/>
                </a:solidFill>
                <a:latin typeface="IBM Plex Sans" panose="020B0503050203000203" pitchFamily="34" charset="0"/>
              </a:rPr>
              <a:t>The VLM runs about once a second; YOLO keeps tracking the target at 10 FPS in between.</a:t>
            </a:r>
            <a:endParaRPr lang="en-IN" sz="1023" i="1">
              <a:solidFill>
                <a:srgbClr val="475467"/>
              </a:solidFill>
              <a:latin typeface="IBM Plex Sans" panose="020B0503050203000203" pitchFamily="34" charset="0"/>
            </a:endParaRPr>
          </a:p>
        </p:txBody>
      </p:sp>
      <p:sp>
        <p:nvSpPr>
          <p:cNvPr id="15" name="s661">
            <a:extLst>
              <a:ext uri="{FF2B5EF4-FFF2-40B4-BE49-F238E27FC236}">
                <a16:creationId xmlns:a16="http://schemas.microsoft.com/office/drawing/2014/main" id="{3231D668-51FD-C078-9B85-77095565C9F2}"/>
              </a:ext>
            </a:extLst>
          </p:cNvPr>
          <p:cNvSpPr/>
          <p:nvPr/>
        </p:nvSpPr>
        <p:spPr>
          <a:xfrm>
            <a:off x="993648" y="5385816"/>
            <a:ext cx="4511802" cy="826770"/>
          </a:xfrm>
          <a:prstGeom prst="roundRect">
            <a:avLst>
              <a:gd name="adj" fmla="val 10000"/>
            </a:avLst>
          </a:prstGeom>
          <a:solidFill>
            <a:srgbClr val="F5F7FA"/>
          </a:solidFill>
          <a:ln w="14764">
            <a:solidFill>
              <a:srgbClr val="2F5D8A"/>
            </a:solidFill>
          </a:ln>
        </p:spPr>
        <p:style>
          <a:lnRef idx="2">
            <a:schemeClr val="accent1">
              <a:shade val="15000"/>
            </a:schemeClr>
          </a:lnRef>
          <a:fillRef idx="1">
            <a:schemeClr val="accent1"/>
          </a:fillRef>
          <a:effectRef idx="0">
            <a:schemeClr val="accent1"/>
          </a:effectRef>
          <a:fontRef idx="minor">
            <a:schemeClr val="lt1"/>
          </a:fontRef>
        </p:style>
        <p:txBody>
          <a:bodyPr wrap="square" lIns="165354" tIns="23622" rIns="70866" bIns="23622" rtlCol="0" anchor="ctr">
            <a:noAutofit/>
          </a:bodyPr>
          <a:lstStyle/>
          <a:p>
            <a:r>
              <a:rPr lang="en-US" sz="1209" b="1">
                <a:solidFill>
                  <a:srgbClr val="2F5D8A"/>
                </a:solidFill>
                <a:latin typeface="IBM Plex Sans" panose="020B0503050203000203" pitchFamily="34" charset="0"/>
              </a:rPr>
              <a:t>Safety reflex · always wins</a:t>
            </a:r>
          </a:p>
          <a:p>
            <a:pPr>
              <a:spcBef>
                <a:spcPts val="93"/>
              </a:spcBef>
            </a:pPr>
            <a:r>
              <a:rPr lang="en-US" sz="1023">
                <a:solidFill>
                  <a:srgbClr val="111827"/>
                </a:solidFill>
                <a:latin typeface="IBM Plex Sans" panose="020B0503050203000203" pitchFamily="34" charset="0"/>
              </a:rPr>
              <a:t>Ultrasonic or LiDAR under 25 cm, or no command for 0.5 s → stop, whatever the planner says.</a:t>
            </a:r>
            <a:endParaRPr lang="en-IN" sz="1023">
              <a:solidFill>
                <a:srgbClr val="111827"/>
              </a:solidFill>
              <a:latin typeface="IBM Plex Sans" panose="020B0503050203000203" pitchFamily="34" charset="0"/>
            </a:endParaRPr>
          </a:p>
        </p:txBody>
      </p:sp>
      <p:sp>
        <p:nvSpPr>
          <p:cNvPr id="16" name="s662">
            <a:extLst>
              <a:ext uri="{FF2B5EF4-FFF2-40B4-BE49-F238E27FC236}">
                <a16:creationId xmlns:a16="http://schemas.microsoft.com/office/drawing/2014/main" id="{A5685AA7-5986-C6A9-B423-7EAE87B853ED}"/>
              </a:ext>
            </a:extLst>
          </p:cNvPr>
          <p:cNvSpPr txBox="1"/>
          <p:nvPr/>
        </p:nvSpPr>
        <p:spPr>
          <a:xfrm>
            <a:off x="5977890" y="1700784"/>
            <a:ext cx="5220462" cy="236220"/>
          </a:xfrm>
          <a:prstGeom prst="rect">
            <a:avLst/>
          </a:prstGeom>
          <a:noFill/>
        </p:spPr>
        <p:txBody>
          <a:bodyPr vert="horz" wrap="square" lIns="0" tIns="0" rIns="0" bIns="0" rtlCol="0" anchor="t">
            <a:noAutofit/>
          </a:bodyPr>
          <a:lstStyle/>
          <a:p>
            <a:r>
              <a:rPr lang="en-US" sz="1302" b="1">
                <a:solidFill>
                  <a:srgbClr val="111827"/>
                </a:solidFill>
                <a:latin typeface="Montserrat" pitchFamily="2" charset="0"/>
              </a:rPr>
              <a:t>2.  Act on it: state machine</a:t>
            </a:r>
            <a:endParaRPr lang="en-IN" sz="1302" b="1">
              <a:solidFill>
                <a:srgbClr val="111827"/>
              </a:solidFill>
              <a:latin typeface="Montserrat" pitchFamily="2" charset="0"/>
            </a:endParaRPr>
          </a:p>
        </p:txBody>
      </p:sp>
      <p:sp>
        <p:nvSpPr>
          <p:cNvPr id="17" name="s663">
            <a:extLst>
              <a:ext uri="{FF2B5EF4-FFF2-40B4-BE49-F238E27FC236}">
                <a16:creationId xmlns:a16="http://schemas.microsoft.com/office/drawing/2014/main" id="{3D6FA6E6-D47B-E880-8067-C40DCA8120DC}"/>
              </a:ext>
            </a:extLst>
          </p:cNvPr>
          <p:cNvSpPr/>
          <p:nvPr/>
        </p:nvSpPr>
        <p:spPr>
          <a:xfrm>
            <a:off x="6119622" y="3874008"/>
            <a:ext cx="1133856" cy="1133856"/>
          </a:xfrm>
          <a:prstGeom prst="ellipse">
            <a:avLst/>
          </a:prstGeom>
          <a:solidFill>
            <a:srgbClr val="E9EEF5"/>
          </a:solidFill>
          <a:ln w="17716">
            <a:solidFill>
              <a:srgbClr val="7B8698"/>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IN" sz="1116" b="1">
                <a:solidFill>
                  <a:srgbClr val="111827"/>
                </a:solidFill>
                <a:latin typeface="Montserrat" pitchFamily="2" charset="0"/>
              </a:rPr>
              <a:t>SEARCH</a:t>
            </a:r>
          </a:p>
        </p:txBody>
      </p:sp>
      <p:sp>
        <p:nvSpPr>
          <p:cNvPr id="18" name="s664">
            <a:extLst>
              <a:ext uri="{FF2B5EF4-FFF2-40B4-BE49-F238E27FC236}">
                <a16:creationId xmlns:a16="http://schemas.microsoft.com/office/drawing/2014/main" id="{5F939935-3EC1-EE21-D113-618AC63BEB24}"/>
              </a:ext>
            </a:extLst>
          </p:cNvPr>
          <p:cNvSpPr/>
          <p:nvPr/>
        </p:nvSpPr>
        <p:spPr>
          <a:xfrm>
            <a:off x="8127492" y="3874008"/>
            <a:ext cx="1133856" cy="1133856"/>
          </a:xfrm>
          <a:prstGeom prst="ellipse">
            <a:avLst/>
          </a:prstGeom>
          <a:solidFill>
            <a:srgbClr val="0F766E"/>
          </a:solidFill>
          <a:ln w="11811"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930" b="1">
                <a:solidFill>
                  <a:srgbClr val="FFFFFF"/>
                </a:solidFill>
                <a:latin typeface="Montserrat" pitchFamily="2" charset="0"/>
              </a:rPr>
              <a:t>APPROACH</a:t>
            </a:r>
          </a:p>
        </p:txBody>
      </p:sp>
      <p:sp>
        <p:nvSpPr>
          <p:cNvPr id="19" name="s665">
            <a:extLst>
              <a:ext uri="{FF2B5EF4-FFF2-40B4-BE49-F238E27FC236}">
                <a16:creationId xmlns:a16="http://schemas.microsoft.com/office/drawing/2014/main" id="{B203FD96-1CC6-0CE5-A0CF-69798A3CF31E}"/>
              </a:ext>
            </a:extLst>
          </p:cNvPr>
          <p:cNvSpPr/>
          <p:nvPr/>
        </p:nvSpPr>
        <p:spPr>
          <a:xfrm>
            <a:off x="10040874" y="3874008"/>
            <a:ext cx="1133856" cy="1133856"/>
          </a:xfrm>
          <a:prstGeom prst="ellipse">
            <a:avLst/>
          </a:prstGeom>
          <a:solidFill>
            <a:srgbClr val="D1FAE5"/>
          </a:solidFill>
          <a:ln w="17716">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IN" sz="1116" b="1">
                <a:solidFill>
                  <a:srgbClr val="059669"/>
                </a:solidFill>
                <a:latin typeface="Montserrat" pitchFamily="2" charset="0"/>
              </a:rPr>
              <a:t>ARRIVED</a:t>
            </a:r>
          </a:p>
        </p:txBody>
      </p:sp>
      <p:sp>
        <p:nvSpPr>
          <p:cNvPr id="20" name="s666">
            <a:extLst>
              <a:ext uri="{FF2B5EF4-FFF2-40B4-BE49-F238E27FC236}">
                <a16:creationId xmlns:a16="http://schemas.microsoft.com/office/drawing/2014/main" id="{AD8F6CE8-21A3-A439-AABD-B545C5D449D3}"/>
              </a:ext>
            </a:extLst>
          </p:cNvPr>
          <p:cNvSpPr/>
          <p:nvPr/>
        </p:nvSpPr>
        <p:spPr>
          <a:xfrm>
            <a:off x="8127492" y="2055114"/>
            <a:ext cx="1133856" cy="1133856"/>
          </a:xfrm>
          <a:prstGeom prst="ellipse">
            <a:avLst/>
          </a:prstGeom>
          <a:solidFill>
            <a:srgbClr val="2F5D8A"/>
          </a:solidFill>
          <a:ln w="11811"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116" b="1">
                <a:solidFill>
                  <a:srgbClr val="FFFFFF"/>
                </a:solidFill>
                <a:latin typeface="Montserrat" pitchFamily="2" charset="0"/>
              </a:rPr>
              <a:t>AVOID</a:t>
            </a:r>
          </a:p>
        </p:txBody>
      </p:sp>
      <p:grpSp>
        <p:nvGrpSpPr>
          <p:cNvPr id="23" name="s669">
            <a:extLst>
              <a:ext uri="{FF2B5EF4-FFF2-40B4-BE49-F238E27FC236}">
                <a16:creationId xmlns:a16="http://schemas.microsoft.com/office/drawing/2014/main" id="{A1C9004C-1906-BBDE-0D44-987B5EF0C61C}"/>
              </a:ext>
            </a:extLst>
          </p:cNvPr>
          <p:cNvGrpSpPr/>
          <p:nvPr/>
        </p:nvGrpSpPr>
        <p:grpSpPr>
          <a:xfrm>
            <a:off x="7040880" y="4062984"/>
            <a:ext cx="1299210" cy="236220"/>
            <a:chOff x="7112000" y="3784600"/>
            <a:chExt cx="1397000" cy="254000"/>
          </a:xfrm>
        </p:grpSpPr>
        <p:cxnSp>
          <p:nvCxnSpPr>
            <p:cNvPr id="21" name="s667">
              <a:extLst>
                <a:ext uri="{FF2B5EF4-FFF2-40B4-BE49-F238E27FC236}">
                  <a16:creationId xmlns:a16="http://schemas.microsoft.com/office/drawing/2014/main" id="{B298D662-4237-139D-9D50-D3ECAFE8D870}"/>
                </a:ext>
              </a:extLst>
            </p:cNvPr>
            <p:cNvCxnSpPr/>
            <p:nvPr/>
          </p:nvCxnSpPr>
          <p:spPr>
            <a:xfrm>
              <a:off x="7366000" y="4038600"/>
              <a:ext cx="889000" cy="0"/>
            </a:xfrm>
            <a:prstGeom prst="line">
              <a:avLst/>
            </a:prstGeom>
            <a:ln w="17716">
              <a:solidFill>
                <a:srgbClr val="475467"/>
              </a:solidFill>
              <a:tailEnd type="triangle"/>
            </a:ln>
          </p:spPr>
          <p:style>
            <a:lnRef idx="1">
              <a:schemeClr val="accent1"/>
            </a:lnRef>
            <a:fillRef idx="0">
              <a:schemeClr val="accent1"/>
            </a:fillRef>
            <a:effectRef idx="0">
              <a:schemeClr val="accent1"/>
            </a:effectRef>
            <a:fontRef idx="minor">
              <a:schemeClr val="tx1"/>
            </a:fontRef>
          </p:style>
        </p:cxnSp>
        <p:sp>
          <p:nvSpPr>
            <p:cNvPr id="22" name="s668">
              <a:extLst>
                <a:ext uri="{FF2B5EF4-FFF2-40B4-BE49-F238E27FC236}">
                  <a16:creationId xmlns:a16="http://schemas.microsoft.com/office/drawing/2014/main" id="{77BA3F24-3E29-5133-129B-1BB174877314}"/>
                </a:ext>
              </a:extLst>
            </p:cNvPr>
            <p:cNvSpPr txBox="1"/>
            <p:nvPr/>
          </p:nvSpPr>
          <p:spPr>
            <a:xfrm>
              <a:off x="7112000" y="3784600"/>
              <a:ext cx="1397000" cy="177800"/>
            </a:xfrm>
            <a:prstGeom prst="rect">
              <a:avLst/>
            </a:prstGeom>
            <a:noFill/>
          </p:spPr>
          <p:txBody>
            <a:bodyPr vert="horz" wrap="square" lIns="0" tIns="0" rIns="0" bIns="0" rtlCol="0" anchor="t">
              <a:noAutofit/>
            </a:bodyPr>
            <a:lstStyle/>
            <a:p>
              <a:pPr algn="ctr"/>
              <a:r>
                <a:rPr lang="en-IN" sz="930">
                  <a:solidFill>
                    <a:srgbClr val="475467"/>
                  </a:solidFill>
                  <a:latin typeface="IBM Plex Sans" panose="020B0503050203000203" pitchFamily="34" charset="0"/>
                </a:rPr>
                <a:t>target found</a:t>
              </a:r>
            </a:p>
          </p:txBody>
        </p:sp>
      </p:grpSp>
      <p:grpSp>
        <p:nvGrpSpPr>
          <p:cNvPr id="26" name="s672">
            <a:extLst>
              <a:ext uri="{FF2B5EF4-FFF2-40B4-BE49-F238E27FC236}">
                <a16:creationId xmlns:a16="http://schemas.microsoft.com/office/drawing/2014/main" id="{79CB228C-7887-D1F6-1BF3-41E227B3EB3B}"/>
              </a:ext>
            </a:extLst>
          </p:cNvPr>
          <p:cNvGrpSpPr/>
          <p:nvPr/>
        </p:nvGrpSpPr>
        <p:grpSpPr>
          <a:xfrm>
            <a:off x="7040880" y="4606290"/>
            <a:ext cx="1299210" cy="236220"/>
            <a:chOff x="7112000" y="4368800"/>
            <a:chExt cx="1397000" cy="254000"/>
          </a:xfrm>
        </p:grpSpPr>
        <p:cxnSp>
          <p:nvCxnSpPr>
            <p:cNvPr id="24" name="s670">
              <a:extLst>
                <a:ext uri="{FF2B5EF4-FFF2-40B4-BE49-F238E27FC236}">
                  <a16:creationId xmlns:a16="http://schemas.microsoft.com/office/drawing/2014/main" id="{027DB96A-6015-115D-39E7-902CAC6D56E6}"/>
                </a:ext>
              </a:extLst>
            </p:cNvPr>
            <p:cNvCxnSpPr/>
            <p:nvPr/>
          </p:nvCxnSpPr>
          <p:spPr>
            <a:xfrm flipH="1">
              <a:off x="7366000" y="4368800"/>
              <a:ext cx="889000" cy="0"/>
            </a:xfrm>
            <a:prstGeom prst="line">
              <a:avLst/>
            </a:prstGeom>
            <a:ln w="17716">
              <a:solidFill>
                <a:srgbClr val="7B8698"/>
              </a:solidFill>
              <a:tailEnd type="triangle"/>
            </a:ln>
          </p:spPr>
          <p:style>
            <a:lnRef idx="1">
              <a:schemeClr val="accent1"/>
            </a:lnRef>
            <a:fillRef idx="0">
              <a:schemeClr val="accent1"/>
            </a:fillRef>
            <a:effectRef idx="0">
              <a:schemeClr val="accent1"/>
            </a:effectRef>
            <a:fontRef idx="minor">
              <a:schemeClr val="tx1"/>
            </a:fontRef>
          </p:style>
        </p:cxnSp>
        <p:sp>
          <p:nvSpPr>
            <p:cNvPr id="25" name="s671">
              <a:extLst>
                <a:ext uri="{FF2B5EF4-FFF2-40B4-BE49-F238E27FC236}">
                  <a16:creationId xmlns:a16="http://schemas.microsoft.com/office/drawing/2014/main" id="{97EE5F96-4BA0-A36E-CB72-883846145B60}"/>
                </a:ext>
              </a:extLst>
            </p:cNvPr>
            <p:cNvSpPr txBox="1"/>
            <p:nvPr/>
          </p:nvSpPr>
          <p:spPr>
            <a:xfrm>
              <a:off x="7112000" y="4445000"/>
              <a:ext cx="1397000" cy="177800"/>
            </a:xfrm>
            <a:prstGeom prst="rect">
              <a:avLst/>
            </a:prstGeom>
            <a:noFill/>
          </p:spPr>
          <p:txBody>
            <a:bodyPr vert="horz" wrap="square" lIns="0" tIns="0" rIns="0" bIns="0" rtlCol="0" anchor="t">
              <a:noAutofit/>
            </a:bodyPr>
            <a:lstStyle/>
            <a:p>
              <a:pPr algn="ctr"/>
              <a:r>
                <a:rPr lang="en-IN" sz="930">
                  <a:solidFill>
                    <a:srgbClr val="475467"/>
                  </a:solidFill>
                  <a:latin typeface="IBM Plex Sans" panose="020B0503050203000203" pitchFamily="34" charset="0"/>
                </a:rPr>
                <a:t>lost &gt; 2 s</a:t>
              </a:r>
            </a:p>
          </p:txBody>
        </p:sp>
      </p:grpSp>
      <p:grpSp>
        <p:nvGrpSpPr>
          <p:cNvPr id="29" name="s675">
            <a:extLst>
              <a:ext uri="{FF2B5EF4-FFF2-40B4-BE49-F238E27FC236}">
                <a16:creationId xmlns:a16="http://schemas.microsoft.com/office/drawing/2014/main" id="{F4A8B615-B620-0F2E-5115-4978F29FF9D3}"/>
              </a:ext>
            </a:extLst>
          </p:cNvPr>
          <p:cNvGrpSpPr/>
          <p:nvPr/>
        </p:nvGrpSpPr>
        <p:grpSpPr>
          <a:xfrm>
            <a:off x="9214104" y="4181094"/>
            <a:ext cx="897636" cy="259842"/>
            <a:chOff x="9448800" y="3911600"/>
            <a:chExt cx="965200" cy="279400"/>
          </a:xfrm>
        </p:grpSpPr>
        <p:cxnSp>
          <p:nvCxnSpPr>
            <p:cNvPr id="27" name="s673">
              <a:extLst>
                <a:ext uri="{FF2B5EF4-FFF2-40B4-BE49-F238E27FC236}">
                  <a16:creationId xmlns:a16="http://schemas.microsoft.com/office/drawing/2014/main" id="{9F8409FC-1F6F-F002-E8A8-E787ADE5BE47}"/>
                </a:ext>
              </a:extLst>
            </p:cNvPr>
            <p:cNvCxnSpPr/>
            <p:nvPr/>
          </p:nvCxnSpPr>
          <p:spPr>
            <a:xfrm>
              <a:off x="9525000" y="4191000"/>
              <a:ext cx="787400" cy="0"/>
            </a:xfrm>
            <a:prstGeom prst="line">
              <a:avLst/>
            </a:prstGeom>
            <a:ln w="17716">
              <a:solidFill>
                <a:srgbClr val="475467"/>
              </a:solidFill>
              <a:tailEnd type="triangle"/>
            </a:ln>
          </p:spPr>
          <p:style>
            <a:lnRef idx="1">
              <a:schemeClr val="accent1"/>
            </a:lnRef>
            <a:fillRef idx="0">
              <a:schemeClr val="accent1"/>
            </a:fillRef>
            <a:effectRef idx="0">
              <a:schemeClr val="accent1"/>
            </a:effectRef>
            <a:fontRef idx="minor">
              <a:schemeClr val="tx1"/>
            </a:fontRef>
          </p:style>
        </p:cxnSp>
        <p:sp>
          <p:nvSpPr>
            <p:cNvPr id="28" name="s674">
              <a:extLst>
                <a:ext uri="{FF2B5EF4-FFF2-40B4-BE49-F238E27FC236}">
                  <a16:creationId xmlns:a16="http://schemas.microsoft.com/office/drawing/2014/main" id="{B1ACB8C8-06DD-4AAB-D88C-04868580ABF1}"/>
                </a:ext>
              </a:extLst>
            </p:cNvPr>
            <p:cNvSpPr txBox="1"/>
            <p:nvPr/>
          </p:nvSpPr>
          <p:spPr>
            <a:xfrm>
              <a:off x="9448800" y="3911600"/>
              <a:ext cx="965200" cy="177800"/>
            </a:xfrm>
            <a:prstGeom prst="rect">
              <a:avLst/>
            </a:prstGeom>
            <a:noFill/>
          </p:spPr>
          <p:txBody>
            <a:bodyPr vert="horz" wrap="square" lIns="0" tIns="0" rIns="0" bIns="0" rtlCol="0" anchor="t">
              <a:noAutofit/>
            </a:bodyPr>
            <a:lstStyle/>
            <a:p>
              <a:pPr algn="ctr"/>
              <a:r>
                <a:rPr lang="en-IN" sz="930">
                  <a:solidFill>
                    <a:srgbClr val="475467"/>
                  </a:solidFill>
                  <a:latin typeface="IBM Plex Sans" panose="020B0503050203000203" pitchFamily="34" charset="0"/>
                </a:rPr>
                <a:t>dist &lt; 0.5 m</a:t>
              </a:r>
            </a:p>
          </p:txBody>
        </p:sp>
      </p:grpSp>
      <p:grpSp>
        <p:nvGrpSpPr>
          <p:cNvPr id="32" name="s678">
            <a:extLst>
              <a:ext uri="{FF2B5EF4-FFF2-40B4-BE49-F238E27FC236}">
                <a16:creationId xmlns:a16="http://schemas.microsoft.com/office/drawing/2014/main" id="{FEA0F29D-CC40-65EE-914B-A2AEF75C4556}"/>
              </a:ext>
            </a:extLst>
          </p:cNvPr>
          <p:cNvGrpSpPr/>
          <p:nvPr/>
        </p:nvGrpSpPr>
        <p:grpSpPr>
          <a:xfrm>
            <a:off x="7253478" y="3212592"/>
            <a:ext cx="1299210" cy="637794"/>
            <a:chOff x="7340600" y="2870200"/>
            <a:chExt cx="1397000" cy="685800"/>
          </a:xfrm>
        </p:grpSpPr>
        <p:cxnSp>
          <p:nvCxnSpPr>
            <p:cNvPr id="30" name="s676">
              <a:extLst>
                <a:ext uri="{FF2B5EF4-FFF2-40B4-BE49-F238E27FC236}">
                  <a16:creationId xmlns:a16="http://schemas.microsoft.com/office/drawing/2014/main" id="{DE9B9467-CB20-D2F0-6A68-C00FCCD66210}"/>
                </a:ext>
              </a:extLst>
            </p:cNvPr>
            <p:cNvCxnSpPr/>
            <p:nvPr/>
          </p:nvCxnSpPr>
          <p:spPr>
            <a:xfrm flipV="1">
              <a:off x="8737600" y="2870200"/>
              <a:ext cx="0" cy="685800"/>
            </a:xfrm>
            <a:prstGeom prst="line">
              <a:avLst/>
            </a:prstGeom>
            <a:ln w="17716">
              <a:solidFill>
                <a:srgbClr val="2F5D8A"/>
              </a:solidFill>
              <a:tailEnd type="triangle"/>
            </a:ln>
          </p:spPr>
          <p:style>
            <a:lnRef idx="1">
              <a:schemeClr val="accent1"/>
            </a:lnRef>
            <a:fillRef idx="0">
              <a:schemeClr val="accent1"/>
            </a:fillRef>
            <a:effectRef idx="0">
              <a:schemeClr val="accent1"/>
            </a:effectRef>
            <a:fontRef idx="minor">
              <a:schemeClr val="tx1"/>
            </a:fontRef>
          </p:style>
        </p:cxnSp>
        <p:sp>
          <p:nvSpPr>
            <p:cNvPr id="31" name="s677">
              <a:extLst>
                <a:ext uri="{FF2B5EF4-FFF2-40B4-BE49-F238E27FC236}">
                  <a16:creationId xmlns:a16="http://schemas.microsoft.com/office/drawing/2014/main" id="{87B289A5-311E-B392-8902-CCCDF506D6CE}"/>
                </a:ext>
              </a:extLst>
            </p:cNvPr>
            <p:cNvSpPr txBox="1"/>
            <p:nvPr/>
          </p:nvSpPr>
          <p:spPr>
            <a:xfrm>
              <a:off x="7340600" y="3124200"/>
              <a:ext cx="1320800" cy="177800"/>
            </a:xfrm>
            <a:prstGeom prst="rect">
              <a:avLst/>
            </a:prstGeom>
            <a:noFill/>
          </p:spPr>
          <p:txBody>
            <a:bodyPr vert="horz" wrap="square" lIns="0" tIns="0" rIns="0" bIns="0" rtlCol="0" anchor="t">
              <a:noAutofit/>
            </a:bodyPr>
            <a:lstStyle/>
            <a:p>
              <a:pPr algn="r"/>
              <a:r>
                <a:rPr lang="en-IN" sz="930">
                  <a:solidFill>
                    <a:srgbClr val="475467"/>
                  </a:solidFill>
                  <a:latin typeface="IBM Plex Sans" panose="020B0503050203000203" pitchFamily="34" charset="0"/>
                </a:rPr>
                <a:t>obstacle &lt; 40 cm</a:t>
              </a:r>
            </a:p>
          </p:txBody>
        </p:sp>
      </p:grpSp>
      <p:grpSp>
        <p:nvGrpSpPr>
          <p:cNvPr id="35" name="s681">
            <a:extLst>
              <a:ext uri="{FF2B5EF4-FFF2-40B4-BE49-F238E27FC236}">
                <a16:creationId xmlns:a16="http://schemas.microsoft.com/office/drawing/2014/main" id="{BF1F4821-F426-C24A-9FC0-07A8F421F345}"/>
              </a:ext>
            </a:extLst>
          </p:cNvPr>
          <p:cNvGrpSpPr/>
          <p:nvPr/>
        </p:nvGrpSpPr>
        <p:grpSpPr>
          <a:xfrm>
            <a:off x="8836152" y="3212592"/>
            <a:ext cx="1157478" cy="637794"/>
            <a:chOff x="9042400" y="2870200"/>
            <a:chExt cx="1244600" cy="685800"/>
          </a:xfrm>
        </p:grpSpPr>
        <p:cxnSp>
          <p:nvCxnSpPr>
            <p:cNvPr id="33" name="s679">
              <a:extLst>
                <a:ext uri="{FF2B5EF4-FFF2-40B4-BE49-F238E27FC236}">
                  <a16:creationId xmlns:a16="http://schemas.microsoft.com/office/drawing/2014/main" id="{EFA5DBD9-8B9B-92AE-3D80-C5DB51DF1851}"/>
                </a:ext>
              </a:extLst>
            </p:cNvPr>
            <p:cNvCxnSpPr/>
            <p:nvPr/>
          </p:nvCxnSpPr>
          <p:spPr>
            <a:xfrm>
              <a:off x="9042400" y="2870200"/>
              <a:ext cx="0" cy="685800"/>
            </a:xfrm>
            <a:prstGeom prst="line">
              <a:avLst/>
            </a:prstGeom>
            <a:ln w="17716">
              <a:solidFill>
                <a:srgbClr val="0F766E"/>
              </a:solidFill>
              <a:tailEnd type="triangle"/>
            </a:ln>
          </p:spPr>
          <p:style>
            <a:lnRef idx="1">
              <a:schemeClr val="accent1"/>
            </a:lnRef>
            <a:fillRef idx="0">
              <a:schemeClr val="accent1"/>
            </a:fillRef>
            <a:effectRef idx="0">
              <a:schemeClr val="accent1"/>
            </a:effectRef>
            <a:fontRef idx="minor">
              <a:schemeClr val="tx1"/>
            </a:fontRef>
          </p:style>
        </p:cxnSp>
        <p:sp>
          <p:nvSpPr>
            <p:cNvPr id="34" name="s680">
              <a:extLst>
                <a:ext uri="{FF2B5EF4-FFF2-40B4-BE49-F238E27FC236}">
                  <a16:creationId xmlns:a16="http://schemas.microsoft.com/office/drawing/2014/main" id="{DE5F55D1-7C1C-3A86-A2C9-64ED2F9A42BF}"/>
                </a:ext>
              </a:extLst>
            </p:cNvPr>
            <p:cNvSpPr txBox="1"/>
            <p:nvPr/>
          </p:nvSpPr>
          <p:spPr>
            <a:xfrm>
              <a:off x="9144000" y="3124200"/>
              <a:ext cx="1143000" cy="177800"/>
            </a:xfrm>
            <a:prstGeom prst="rect">
              <a:avLst/>
            </a:prstGeom>
            <a:noFill/>
          </p:spPr>
          <p:txBody>
            <a:bodyPr vert="horz" wrap="square" lIns="0" tIns="0" rIns="0" bIns="0" rtlCol="0" anchor="t">
              <a:noAutofit/>
            </a:bodyPr>
            <a:lstStyle/>
            <a:p>
              <a:r>
                <a:rPr lang="en-IN" sz="930">
                  <a:solidFill>
                    <a:srgbClr val="475467"/>
                  </a:solidFill>
                  <a:latin typeface="IBM Plex Sans" panose="020B0503050203000203" pitchFamily="34" charset="0"/>
                </a:rPr>
                <a:t>path clear</a:t>
              </a:r>
            </a:p>
          </p:txBody>
        </p:sp>
      </p:grpSp>
      <p:sp>
        <p:nvSpPr>
          <p:cNvPr id="36" name="s682">
            <a:extLst>
              <a:ext uri="{FF2B5EF4-FFF2-40B4-BE49-F238E27FC236}">
                <a16:creationId xmlns:a16="http://schemas.microsoft.com/office/drawing/2014/main" id="{2C8AA926-F7EA-D4B3-3526-D3A24AECA5AB}"/>
              </a:ext>
            </a:extLst>
          </p:cNvPr>
          <p:cNvSpPr txBox="1"/>
          <p:nvPr/>
        </p:nvSpPr>
        <p:spPr>
          <a:xfrm>
            <a:off x="5977890" y="5385816"/>
            <a:ext cx="5220462" cy="590550"/>
          </a:xfrm>
          <a:prstGeom prst="rect">
            <a:avLst/>
          </a:prstGeom>
          <a:noFill/>
        </p:spPr>
        <p:txBody>
          <a:bodyPr vert="horz" wrap="square" lIns="0" tIns="0" rIns="0" bIns="0" rtlCol="0" anchor="t">
            <a:noAutofit/>
          </a:bodyPr>
          <a:lstStyle/>
          <a:p>
            <a:r>
              <a:rPr lang="en-US" sz="1070" i="1">
                <a:solidFill>
                  <a:srgbClr val="475467"/>
                </a:solidFill>
                <a:latin typeface="IBM Plex Sans" panose="020B0503050203000203" pitchFamily="34" charset="0"/>
              </a:rPr>
              <a:t>Every cycle: read sensors → update tracks → check transitions → send velocity. Budget under 100 ms.</a:t>
            </a:r>
            <a:endParaRPr lang="en-IN" sz="1070" i="1">
              <a:solidFill>
                <a:srgbClr val="475467"/>
              </a:solidFill>
              <a:latin typeface="IBM Plex Sans" panose="020B0503050203000203" pitchFamily="34" charset="0"/>
            </a:endParaRPr>
          </a:p>
        </p:txBody>
      </p:sp>
    </p:spTree>
    <p:extLst>
      <p:ext uri="{BB962C8B-B14F-4D97-AF65-F5344CB8AC3E}">
        <p14:creationId xmlns:p14="http://schemas.microsoft.com/office/powerpoint/2010/main" val="712435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anim calcmode="lin" valueType="num">
                                      <p:cBhvr>
                                        <p:cTn id="8" dur="350" fill="hold"/>
                                        <p:tgtEl>
                                          <p:spTgt spid="8"/>
                                        </p:tgtEl>
                                        <p:attrNameLst>
                                          <p:attrName>ppt_x</p:attrName>
                                        </p:attrNameLst>
                                      </p:cBhvr>
                                      <p:tavLst>
                                        <p:tav tm="0">
                                          <p:val>
                                            <p:strVal val="#ppt_x"/>
                                          </p:val>
                                        </p:tav>
                                        <p:tav tm="100000">
                                          <p:val>
                                            <p:strVal val="#ppt_x"/>
                                          </p:val>
                                        </p:tav>
                                      </p:tavLst>
                                    </p:anim>
                                    <p:anim calcmode="lin" valueType="num">
                                      <p:cBhvr>
                                        <p:cTn id="9" dur="35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350"/>
                            </p:stCondLst>
                            <p:childTnLst>
                              <p:par>
                                <p:cTn id="11" presetID="42"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anim calcmode="lin" valueType="num">
                                      <p:cBhvr>
                                        <p:cTn id="14" dur="350" fill="hold"/>
                                        <p:tgtEl>
                                          <p:spTgt spid="9"/>
                                        </p:tgtEl>
                                        <p:attrNameLst>
                                          <p:attrName>ppt_x</p:attrName>
                                        </p:attrNameLst>
                                      </p:cBhvr>
                                      <p:tavLst>
                                        <p:tav tm="0">
                                          <p:val>
                                            <p:strVal val="#ppt_x"/>
                                          </p:val>
                                        </p:tav>
                                        <p:tav tm="100000">
                                          <p:val>
                                            <p:strVal val="#ppt_x"/>
                                          </p:val>
                                        </p:tav>
                                      </p:tavLst>
                                    </p:anim>
                                    <p:anim calcmode="lin" valueType="num">
                                      <p:cBhvr>
                                        <p:cTn id="15" dur="350" fill="hold"/>
                                        <p:tgtEl>
                                          <p:spTgt spid="9"/>
                                        </p:tgtEl>
                                        <p:attrNameLst>
                                          <p:attrName>ppt_y</p:attrName>
                                        </p:attrNameLst>
                                      </p:cBhvr>
                                      <p:tavLst>
                                        <p:tav tm="0">
                                          <p:val>
                                            <p:strVal val="#ppt_y+.1"/>
                                          </p:val>
                                        </p:tav>
                                        <p:tav tm="100000">
                                          <p:val>
                                            <p:strVal val="#ppt_y"/>
                                          </p:val>
                                        </p:tav>
                                      </p:tavLst>
                                    </p:anim>
                                  </p:childTnLst>
                                </p:cTn>
                              </p:par>
                            </p:childTnLst>
                          </p:cTn>
                        </p:par>
                        <p:par>
                          <p:cTn id="16" fill="hold">
                            <p:stCondLst>
                              <p:cond delay="700"/>
                            </p:stCondLst>
                            <p:childTnLst>
                              <p:par>
                                <p:cTn id="17" presetID="42" presetClass="entr" presetSubtype="0"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50"/>
                                        <p:tgtEl>
                                          <p:spTgt spid="10"/>
                                        </p:tgtEl>
                                      </p:cBhvr>
                                    </p:animEffect>
                                    <p:anim calcmode="lin" valueType="num">
                                      <p:cBhvr>
                                        <p:cTn id="20" dur="350" fill="hold"/>
                                        <p:tgtEl>
                                          <p:spTgt spid="10"/>
                                        </p:tgtEl>
                                        <p:attrNameLst>
                                          <p:attrName>ppt_x</p:attrName>
                                        </p:attrNameLst>
                                      </p:cBhvr>
                                      <p:tavLst>
                                        <p:tav tm="0">
                                          <p:val>
                                            <p:strVal val="#ppt_x"/>
                                          </p:val>
                                        </p:tav>
                                        <p:tav tm="100000">
                                          <p:val>
                                            <p:strVal val="#ppt_x"/>
                                          </p:val>
                                        </p:tav>
                                      </p:tavLst>
                                    </p:anim>
                                    <p:anim calcmode="lin" valueType="num">
                                      <p:cBhvr>
                                        <p:cTn id="21" dur="350" fill="hold"/>
                                        <p:tgtEl>
                                          <p:spTgt spid="10"/>
                                        </p:tgtEl>
                                        <p:attrNameLst>
                                          <p:attrName>ppt_y</p:attrName>
                                        </p:attrNameLst>
                                      </p:cBhvr>
                                      <p:tavLst>
                                        <p:tav tm="0">
                                          <p:val>
                                            <p:strVal val="#ppt_y+.1"/>
                                          </p:val>
                                        </p:tav>
                                        <p:tav tm="100000">
                                          <p:val>
                                            <p:strVal val="#ppt_y"/>
                                          </p:val>
                                        </p:tav>
                                      </p:tavLst>
                                    </p:anim>
                                  </p:childTnLst>
                                </p:cTn>
                              </p:par>
                            </p:childTnLst>
                          </p:cTn>
                        </p:par>
                        <p:par>
                          <p:cTn id="22" fill="hold">
                            <p:stCondLst>
                              <p:cond delay="1050"/>
                            </p:stCondLst>
                            <p:childTnLst>
                              <p:par>
                                <p:cTn id="23" presetID="42" presetClass="entr" presetSubtype="0"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350"/>
                                        <p:tgtEl>
                                          <p:spTgt spid="11"/>
                                        </p:tgtEl>
                                      </p:cBhvr>
                                    </p:animEffect>
                                    <p:anim calcmode="lin" valueType="num">
                                      <p:cBhvr>
                                        <p:cTn id="26" dur="350" fill="hold"/>
                                        <p:tgtEl>
                                          <p:spTgt spid="11"/>
                                        </p:tgtEl>
                                        <p:attrNameLst>
                                          <p:attrName>ppt_x</p:attrName>
                                        </p:attrNameLst>
                                      </p:cBhvr>
                                      <p:tavLst>
                                        <p:tav tm="0">
                                          <p:val>
                                            <p:strVal val="#ppt_x"/>
                                          </p:val>
                                        </p:tav>
                                        <p:tav tm="100000">
                                          <p:val>
                                            <p:strVal val="#ppt_x"/>
                                          </p:val>
                                        </p:tav>
                                      </p:tavLst>
                                    </p:anim>
                                    <p:anim calcmode="lin" valueType="num">
                                      <p:cBhvr>
                                        <p:cTn id="27" dur="350" fill="hold"/>
                                        <p:tgtEl>
                                          <p:spTgt spid="11"/>
                                        </p:tgtEl>
                                        <p:attrNameLst>
                                          <p:attrName>ppt_y</p:attrName>
                                        </p:attrNameLst>
                                      </p:cBhvr>
                                      <p:tavLst>
                                        <p:tav tm="0">
                                          <p:val>
                                            <p:strVal val="#ppt_y+.1"/>
                                          </p:val>
                                        </p:tav>
                                        <p:tav tm="100000">
                                          <p:val>
                                            <p:strVal val="#ppt_y"/>
                                          </p:val>
                                        </p:tav>
                                      </p:tavLst>
                                    </p:anim>
                                  </p:childTnLst>
                                </p:cTn>
                              </p:par>
                            </p:childTnLst>
                          </p:cTn>
                        </p:par>
                        <p:par>
                          <p:cTn id="28" fill="hold">
                            <p:stCondLst>
                              <p:cond delay="1400"/>
                            </p:stCondLst>
                            <p:childTnLst>
                              <p:par>
                                <p:cTn id="29" presetID="42" presetClass="entr" presetSubtype="0" fill="hold"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350"/>
                                        <p:tgtEl>
                                          <p:spTgt spid="12"/>
                                        </p:tgtEl>
                                      </p:cBhvr>
                                    </p:animEffect>
                                    <p:anim calcmode="lin" valueType="num">
                                      <p:cBhvr>
                                        <p:cTn id="32" dur="350" fill="hold"/>
                                        <p:tgtEl>
                                          <p:spTgt spid="12"/>
                                        </p:tgtEl>
                                        <p:attrNameLst>
                                          <p:attrName>ppt_x</p:attrName>
                                        </p:attrNameLst>
                                      </p:cBhvr>
                                      <p:tavLst>
                                        <p:tav tm="0">
                                          <p:val>
                                            <p:strVal val="#ppt_x"/>
                                          </p:val>
                                        </p:tav>
                                        <p:tav tm="100000">
                                          <p:val>
                                            <p:strVal val="#ppt_x"/>
                                          </p:val>
                                        </p:tav>
                                      </p:tavLst>
                                    </p:anim>
                                    <p:anim calcmode="lin" valueType="num">
                                      <p:cBhvr>
                                        <p:cTn id="33" dur="350" fill="hold"/>
                                        <p:tgtEl>
                                          <p:spTgt spid="12"/>
                                        </p:tgtEl>
                                        <p:attrNameLst>
                                          <p:attrName>ppt_y</p:attrName>
                                        </p:attrNameLst>
                                      </p:cBhvr>
                                      <p:tavLst>
                                        <p:tav tm="0">
                                          <p:val>
                                            <p:strVal val="#ppt_y+.1"/>
                                          </p:val>
                                        </p:tav>
                                        <p:tav tm="100000">
                                          <p:val>
                                            <p:strVal val="#ppt_y"/>
                                          </p:val>
                                        </p:tav>
                                      </p:tavLst>
                                    </p:anim>
                                  </p:childTnLst>
                                </p:cTn>
                              </p:par>
                            </p:childTnLst>
                          </p:cTn>
                        </p:par>
                        <p:par>
                          <p:cTn id="34" fill="hold">
                            <p:stCondLst>
                              <p:cond delay="1750"/>
                            </p:stCondLst>
                            <p:childTnLst>
                              <p:par>
                                <p:cTn id="35" presetID="42" presetClass="entr" presetSubtype="0"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350"/>
                                        <p:tgtEl>
                                          <p:spTgt spid="13"/>
                                        </p:tgtEl>
                                      </p:cBhvr>
                                    </p:animEffect>
                                    <p:anim calcmode="lin" valueType="num">
                                      <p:cBhvr>
                                        <p:cTn id="38" dur="350" fill="hold"/>
                                        <p:tgtEl>
                                          <p:spTgt spid="13"/>
                                        </p:tgtEl>
                                        <p:attrNameLst>
                                          <p:attrName>ppt_x</p:attrName>
                                        </p:attrNameLst>
                                      </p:cBhvr>
                                      <p:tavLst>
                                        <p:tav tm="0">
                                          <p:val>
                                            <p:strVal val="#ppt_x"/>
                                          </p:val>
                                        </p:tav>
                                        <p:tav tm="100000">
                                          <p:val>
                                            <p:strVal val="#ppt_x"/>
                                          </p:val>
                                        </p:tav>
                                      </p:tavLst>
                                    </p:anim>
                                    <p:anim calcmode="lin" valueType="num">
                                      <p:cBhvr>
                                        <p:cTn id="39" dur="350" fill="hold"/>
                                        <p:tgtEl>
                                          <p:spTgt spid="13"/>
                                        </p:tgtEl>
                                        <p:attrNameLst>
                                          <p:attrName>ppt_y</p:attrName>
                                        </p:attrNameLst>
                                      </p:cBhvr>
                                      <p:tavLst>
                                        <p:tav tm="0">
                                          <p:val>
                                            <p:strVal val="#ppt_y+.1"/>
                                          </p:val>
                                        </p:tav>
                                        <p:tav tm="100000">
                                          <p:val>
                                            <p:strVal val="#ppt_y"/>
                                          </p:val>
                                        </p:tav>
                                      </p:tavLst>
                                    </p:anim>
                                  </p:childTnLst>
                                </p:cTn>
                              </p:par>
                            </p:childTnLst>
                          </p:cTn>
                        </p:par>
                        <p:par>
                          <p:cTn id="40" fill="hold">
                            <p:stCondLst>
                              <p:cond delay="2100"/>
                            </p:stCondLst>
                            <p:childTnLst>
                              <p:par>
                                <p:cTn id="41" presetID="42" presetClass="entr" presetSubtype="0"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350"/>
                                        <p:tgtEl>
                                          <p:spTgt spid="14"/>
                                        </p:tgtEl>
                                      </p:cBhvr>
                                    </p:animEffect>
                                    <p:anim calcmode="lin" valueType="num">
                                      <p:cBhvr>
                                        <p:cTn id="44" dur="350" fill="hold"/>
                                        <p:tgtEl>
                                          <p:spTgt spid="14"/>
                                        </p:tgtEl>
                                        <p:attrNameLst>
                                          <p:attrName>ppt_x</p:attrName>
                                        </p:attrNameLst>
                                      </p:cBhvr>
                                      <p:tavLst>
                                        <p:tav tm="0">
                                          <p:val>
                                            <p:strVal val="#ppt_x"/>
                                          </p:val>
                                        </p:tav>
                                        <p:tav tm="100000">
                                          <p:val>
                                            <p:strVal val="#ppt_x"/>
                                          </p:val>
                                        </p:tav>
                                      </p:tavLst>
                                    </p:anim>
                                    <p:anim calcmode="lin" valueType="num">
                                      <p:cBhvr>
                                        <p:cTn id="45" dur="350" fill="hold"/>
                                        <p:tgtEl>
                                          <p:spTgt spid="14"/>
                                        </p:tgtEl>
                                        <p:attrNameLst>
                                          <p:attrName>ppt_y</p:attrName>
                                        </p:attrNameLst>
                                      </p:cBhvr>
                                      <p:tavLst>
                                        <p:tav tm="0">
                                          <p:val>
                                            <p:strVal val="#ppt_y+.1"/>
                                          </p:val>
                                        </p:tav>
                                        <p:tav tm="100000">
                                          <p:val>
                                            <p:strVal val="#ppt_y"/>
                                          </p:val>
                                        </p:tav>
                                      </p:tavLst>
                                    </p:anim>
                                  </p:childTnLst>
                                </p:cTn>
                              </p:par>
                            </p:childTnLst>
                          </p:cTn>
                        </p:par>
                        <p:par>
                          <p:cTn id="46" fill="hold">
                            <p:stCondLst>
                              <p:cond delay="2450"/>
                            </p:stCondLst>
                            <p:childTnLst>
                              <p:par>
                                <p:cTn id="47" presetID="10" presetClass="entr" presetSubtype="0" fill="hold" grpId="0" nodeType="after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300"/>
                                        <p:tgtEl>
                                          <p:spTgt spid="16"/>
                                        </p:tgtEl>
                                      </p:cBhvr>
                                    </p:animEffect>
                                  </p:childTnLst>
                                </p:cTn>
                              </p:par>
                            </p:childTnLst>
                          </p:cTn>
                        </p:par>
                        <p:par>
                          <p:cTn id="50" fill="hold">
                            <p:stCondLst>
                              <p:cond delay="2750"/>
                            </p:stCondLst>
                            <p:childTnLst>
                              <p:par>
                                <p:cTn id="51" presetID="23" presetClass="entr" presetSubtype="16" fill="hold" grpId="0" nodeType="after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350" fill="hold"/>
                                        <p:tgtEl>
                                          <p:spTgt spid="17"/>
                                        </p:tgtEl>
                                        <p:attrNameLst>
                                          <p:attrName>ppt_w</p:attrName>
                                        </p:attrNameLst>
                                      </p:cBhvr>
                                      <p:tavLst>
                                        <p:tav tm="0">
                                          <p:val>
                                            <p:fltVal val="0"/>
                                          </p:val>
                                        </p:tav>
                                        <p:tav tm="100000">
                                          <p:val>
                                            <p:strVal val="#ppt_w"/>
                                          </p:val>
                                        </p:tav>
                                      </p:tavLst>
                                    </p:anim>
                                    <p:anim calcmode="lin" valueType="num">
                                      <p:cBhvr>
                                        <p:cTn id="54" dur="350" fill="hold"/>
                                        <p:tgtEl>
                                          <p:spTgt spid="17"/>
                                        </p:tgtEl>
                                        <p:attrNameLst>
                                          <p:attrName>ppt_h</p:attrName>
                                        </p:attrNameLst>
                                      </p:cBhvr>
                                      <p:tavLst>
                                        <p:tav tm="0">
                                          <p:val>
                                            <p:fltVal val="0"/>
                                          </p:val>
                                        </p:tav>
                                        <p:tav tm="100000">
                                          <p:val>
                                            <p:strVal val="#ppt_h"/>
                                          </p:val>
                                        </p:tav>
                                      </p:tavLst>
                                    </p:anim>
                                  </p:childTnLst>
                                </p:cTn>
                              </p:par>
                            </p:childTnLst>
                          </p:cTn>
                        </p:par>
                        <p:par>
                          <p:cTn id="55" fill="hold">
                            <p:stCondLst>
                              <p:cond delay="3100"/>
                            </p:stCondLst>
                            <p:childTnLst>
                              <p:par>
                                <p:cTn id="56" presetID="10" presetClass="entr" presetSubtype="0" fill="hold" nodeType="after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300"/>
                                        <p:tgtEl>
                                          <p:spTgt spid="23"/>
                                        </p:tgtEl>
                                      </p:cBhvr>
                                    </p:animEffect>
                                  </p:childTnLst>
                                </p:cTn>
                              </p:par>
                            </p:childTnLst>
                          </p:cTn>
                        </p:par>
                        <p:par>
                          <p:cTn id="59" fill="hold">
                            <p:stCondLst>
                              <p:cond delay="3400"/>
                            </p:stCondLst>
                            <p:childTnLst>
                              <p:par>
                                <p:cTn id="60" presetID="23" presetClass="entr" presetSubtype="16" fill="hold" grpId="0" nodeType="afterEffect">
                                  <p:stCondLst>
                                    <p:cond delay="0"/>
                                  </p:stCondLst>
                                  <p:childTnLst>
                                    <p:set>
                                      <p:cBhvr>
                                        <p:cTn id="61" dur="1" fill="hold">
                                          <p:stCondLst>
                                            <p:cond delay="0"/>
                                          </p:stCondLst>
                                        </p:cTn>
                                        <p:tgtEl>
                                          <p:spTgt spid="18"/>
                                        </p:tgtEl>
                                        <p:attrNameLst>
                                          <p:attrName>style.visibility</p:attrName>
                                        </p:attrNameLst>
                                      </p:cBhvr>
                                      <p:to>
                                        <p:strVal val="visible"/>
                                      </p:to>
                                    </p:set>
                                    <p:anim calcmode="lin" valueType="num">
                                      <p:cBhvr>
                                        <p:cTn id="62" dur="350" fill="hold"/>
                                        <p:tgtEl>
                                          <p:spTgt spid="18"/>
                                        </p:tgtEl>
                                        <p:attrNameLst>
                                          <p:attrName>ppt_w</p:attrName>
                                        </p:attrNameLst>
                                      </p:cBhvr>
                                      <p:tavLst>
                                        <p:tav tm="0">
                                          <p:val>
                                            <p:fltVal val="0"/>
                                          </p:val>
                                        </p:tav>
                                        <p:tav tm="100000">
                                          <p:val>
                                            <p:strVal val="#ppt_w"/>
                                          </p:val>
                                        </p:tav>
                                      </p:tavLst>
                                    </p:anim>
                                    <p:anim calcmode="lin" valueType="num">
                                      <p:cBhvr>
                                        <p:cTn id="63" dur="350" fill="hold"/>
                                        <p:tgtEl>
                                          <p:spTgt spid="18"/>
                                        </p:tgtEl>
                                        <p:attrNameLst>
                                          <p:attrName>ppt_h</p:attrName>
                                        </p:attrNameLst>
                                      </p:cBhvr>
                                      <p:tavLst>
                                        <p:tav tm="0">
                                          <p:val>
                                            <p:fltVal val="0"/>
                                          </p:val>
                                        </p:tav>
                                        <p:tav tm="100000">
                                          <p:val>
                                            <p:strVal val="#ppt_h"/>
                                          </p:val>
                                        </p:tav>
                                      </p:tavLst>
                                    </p:anim>
                                  </p:childTnLst>
                                </p:cTn>
                              </p:par>
                            </p:childTnLst>
                          </p:cTn>
                        </p:par>
                        <p:par>
                          <p:cTn id="64" fill="hold">
                            <p:stCondLst>
                              <p:cond delay="3750"/>
                            </p:stCondLst>
                            <p:childTnLst>
                              <p:par>
                                <p:cTn id="65" presetID="10" presetClass="entr" presetSubtype="0" fill="hold" nodeType="after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300"/>
                                        <p:tgtEl>
                                          <p:spTgt spid="26"/>
                                        </p:tgtEl>
                                      </p:cBhvr>
                                    </p:animEffect>
                                  </p:childTnLst>
                                </p:cTn>
                              </p:par>
                            </p:childTnLst>
                          </p:cTn>
                        </p:par>
                        <p:par>
                          <p:cTn id="68" fill="hold">
                            <p:stCondLst>
                              <p:cond delay="4050"/>
                            </p:stCondLst>
                            <p:childTnLst>
                              <p:par>
                                <p:cTn id="69" presetID="10" presetClass="entr" presetSubtype="0" fill="hold" nodeType="after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300"/>
                                        <p:tgtEl>
                                          <p:spTgt spid="32"/>
                                        </p:tgtEl>
                                      </p:cBhvr>
                                    </p:animEffect>
                                  </p:childTnLst>
                                </p:cTn>
                              </p:par>
                            </p:childTnLst>
                          </p:cTn>
                        </p:par>
                        <p:par>
                          <p:cTn id="72" fill="hold">
                            <p:stCondLst>
                              <p:cond delay="4350"/>
                            </p:stCondLst>
                            <p:childTnLst>
                              <p:par>
                                <p:cTn id="73" presetID="23" presetClass="entr" presetSubtype="16" fill="hold" grpId="0" nodeType="afterEffect">
                                  <p:stCondLst>
                                    <p:cond delay="0"/>
                                  </p:stCondLst>
                                  <p:childTnLst>
                                    <p:set>
                                      <p:cBhvr>
                                        <p:cTn id="74" dur="1" fill="hold">
                                          <p:stCondLst>
                                            <p:cond delay="0"/>
                                          </p:stCondLst>
                                        </p:cTn>
                                        <p:tgtEl>
                                          <p:spTgt spid="20"/>
                                        </p:tgtEl>
                                        <p:attrNameLst>
                                          <p:attrName>style.visibility</p:attrName>
                                        </p:attrNameLst>
                                      </p:cBhvr>
                                      <p:to>
                                        <p:strVal val="visible"/>
                                      </p:to>
                                    </p:set>
                                    <p:anim calcmode="lin" valueType="num">
                                      <p:cBhvr>
                                        <p:cTn id="75" dur="350" fill="hold"/>
                                        <p:tgtEl>
                                          <p:spTgt spid="20"/>
                                        </p:tgtEl>
                                        <p:attrNameLst>
                                          <p:attrName>ppt_w</p:attrName>
                                        </p:attrNameLst>
                                      </p:cBhvr>
                                      <p:tavLst>
                                        <p:tav tm="0">
                                          <p:val>
                                            <p:fltVal val="0"/>
                                          </p:val>
                                        </p:tav>
                                        <p:tav tm="100000">
                                          <p:val>
                                            <p:strVal val="#ppt_w"/>
                                          </p:val>
                                        </p:tav>
                                      </p:tavLst>
                                    </p:anim>
                                    <p:anim calcmode="lin" valueType="num">
                                      <p:cBhvr>
                                        <p:cTn id="76" dur="350" fill="hold"/>
                                        <p:tgtEl>
                                          <p:spTgt spid="20"/>
                                        </p:tgtEl>
                                        <p:attrNameLst>
                                          <p:attrName>ppt_h</p:attrName>
                                        </p:attrNameLst>
                                      </p:cBhvr>
                                      <p:tavLst>
                                        <p:tav tm="0">
                                          <p:val>
                                            <p:fltVal val="0"/>
                                          </p:val>
                                        </p:tav>
                                        <p:tav tm="100000">
                                          <p:val>
                                            <p:strVal val="#ppt_h"/>
                                          </p:val>
                                        </p:tav>
                                      </p:tavLst>
                                    </p:anim>
                                  </p:childTnLst>
                                </p:cTn>
                              </p:par>
                            </p:childTnLst>
                          </p:cTn>
                        </p:par>
                        <p:par>
                          <p:cTn id="77" fill="hold">
                            <p:stCondLst>
                              <p:cond delay="4700"/>
                            </p:stCondLst>
                            <p:childTnLst>
                              <p:par>
                                <p:cTn id="78" presetID="10" presetClass="entr" presetSubtype="0" fill="hold" nodeType="afterEffect">
                                  <p:stCondLst>
                                    <p:cond delay="0"/>
                                  </p:stCondLst>
                                  <p:childTnLst>
                                    <p:set>
                                      <p:cBhvr>
                                        <p:cTn id="79" dur="1" fill="hold">
                                          <p:stCondLst>
                                            <p:cond delay="0"/>
                                          </p:stCondLst>
                                        </p:cTn>
                                        <p:tgtEl>
                                          <p:spTgt spid="35"/>
                                        </p:tgtEl>
                                        <p:attrNameLst>
                                          <p:attrName>style.visibility</p:attrName>
                                        </p:attrNameLst>
                                      </p:cBhvr>
                                      <p:to>
                                        <p:strVal val="visible"/>
                                      </p:to>
                                    </p:set>
                                    <p:animEffect transition="in" filter="fade">
                                      <p:cBhvr>
                                        <p:cTn id="80" dur="300"/>
                                        <p:tgtEl>
                                          <p:spTgt spid="35"/>
                                        </p:tgtEl>
                                      </p:cBhvr>
                                    </p:animEffect>
                                  </p:childTnLst>
                                </p:cTn>
                              </p:par>
                            </p:childTnLst>
                          </p:cTn>
                        </p:par>
                        <p:par>
                          <p:cTn id="81" fill="hold">
                            <p:stCondLst>
                              <p:cond delay="5000"/>
                            </p:stCondLst>
                            <p:childTnLst>
                              <p:par>
                                <p:cTn id="82" presetID="10" presetClass="entr" presetSubtype="0" fill="hold" nodeType="after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300"/>
                                        <p:tgtEl>
                                          <p:spTgt spid="29"/>
                                        </p:tgtEl>
                                      </p:cBhvr>
                                    </p:animEffect>
                                  </p:childTnLst>
                                </p:cTn>
                              </p:par>
                            </p:childTnLst>
                          </p:cTn>
                        </p:par>
                        <p:par>
                          <p:cTn id="85" fill="hold">
                            <p:stCondLst>
                              <p:cond delay="5300"/>
                            </p:stCondLst>
                            <p:childTnLst>
                              <p:par>
                                <p:cTn id="86" presetID="23" presetClass="entr" presetSubtype="16" fill="hold" grpId="0" nodeType="afterEffect">
                                  <p:stCondLst>
                                    <p:cond delay="0"/>
                                  </p:stCondLst>
                                  <p:childTnLst>
                                    <p:set>
                                      <p:cBhvr>
                                        <p:cTn id="87" dur="1" fill="hold">
                                          <p:stCondLst>
                                            <p:cond delay="0"/>
                                          </p:stCondLst>
                                        </p:cTn>
                                        <p:tgtEl>
                                          <p:spTgt spid="19"/>
                                        </p:tgtEl>
                                        <p:attrNameLst>
                                          <p:attrName>style.visibility</p:attrName>
                                        </p:attrNameLst>
                                      </p:cBhvr>
                                      <p:to>
                                        <p:strVal val="visible"/>
                                      </p:to>
                                    </p:set>
                                    <p:anim calcmode="lin" valueType="num">
                                      <p:cBhvr>
                                        <p:cTn id="88" dur="350" fill="hold"/>
                                        <p:tgtEl>
                                          <p:spTgt spid="19"/>
                                        </p:tgtEl>
                                        <p:attrNameLst>
                                          <p:attrName>ppt_w</p:attrName>
                                        </p:attrNameLst>
                                      </p:cBhvr>
                                      <p:tavLst>
                                        <p:tav tm="0">
                                          <p:val>
                                            <p:fltVal val="0"/>
                                          </p:val>
                                        </p:tav>
                                        <p:tav tm="100000">
                                          <p:val>
                                            <p:strVal val="#ppt_w"/>
                                          </p:val>
                                        </p:tav>
                                      </p:tavLst>
                                    </p:anim>
                                    <p:anim calcmode="lin" valueType="num">
                                      <p:cBhvr>
                                        <p:cTn id="89" dur="350" fill="hold"/>
                                        <p:tgtEl>
                                          <p:spTgt spid="19"/>
                                        </p:tgtEl>
                                        <p:attrNameLst>
                                          <p:attrName>ppt_h</p:attrName>
                                        </p:attrNameLst>
                                      </p:cBhvr>
                                      <p:tavLst>
                                        <p:tav tm="0">
                                          <p:val>
                                            <p:fltVal val="0"/>
                                          </p:val>
                                        </p:tav>
                                        <p:tav tm="100000">
                                          <p:val>
                                            <p:strVal val="#ppt_h"/>
                                          </p:val>
                                        </p:tav>
                                      </p:tavLst>
                                    </p:anim>
                                  </p:childTnLst>
                                </p:cTn>
                              </p:par>
                            </p:childTnLst>
                          </p:cTn>
                        </p:par>
                        <p:par>
                          <p:cTn id="90" fill="hold">
                            <p:stCondLst>
                              <p:cond delay="5650"/>
                            </p:stCondLst>
                            <p:childTnLst>
                              <p:par>
                                <p:cTn id="91" presetID="10" presetClass="entr" presetSubtype="0" fill="hold" grpId="0" nodeType="afterEffect">
                                  <p:stCondLst>
                                    <p:cond delay="0"/>
                                  </p:stCondLst>
                                  <p:childTnLst>
                                    <p:set>
                                      <p:cBhvr>
                                        <p:cTn id="92" dur="1" fill="hold">
                                          <p:stCondLst>
                                            <p:cond delay="0"/>
                                          </p:stCondLst>
                                        </p:cTn>
                                        <p:tgtEl>
                                          <p:spTgt spid="36"/>
                                        </p:tgtEl>
                                        <p:attrNameLst>
                                          <p:attrName>style.visibility</p:attrName>
                                        </p:attrNameLst>
                                      </p:cBhvr>
                                      <p:to>
                                        <p:strVal val="visible"/>
                                      </p:to>
                                    </p:set>
                                    <p:animEffect transition="in" filter="fade">
                                      <p:cBhvr>
                                        <p:cTn id="93" dur="300"/>
                                        <p:tgtEl>
                                          <p:spTgt spid="36"/>
                                        </p:tgtEl>
                                      </p:cBhvr>
                                    </p:animEffect>
                                  </p:childTnLst>
                                </p:cTn>
                              </p:par>
                            </p:childTnLst>
                          </p:cTn>
                        </p:par>
                        <p:par>
                          <p:cTn id="94" fill="hold">
                            <p:stCondLst>
                              <p:cond delay="5950"/>
                            </p:stCondLst>
                            <p:childTnLst>
                              <p:par>
                                <p:cTn id="95" presetID="42" presetClass="entr" presetSubtype="0" fill="hold" grpId="0" nodeType="afterEffect">
                                  <p:stCondLst>
                                    <p:cond delay="0"/>
                                  </p:stCondLst>
                                  <p:childTnLst>
                                    <p:set>
                                      <p:cBhvr>
                                        <p:cTn id="96" dur="1" fill="hold">
                                          <p:stCondLst>
                                            <p:cond delay="0"/>
                                          </p:stCondLst>
                                        </p:cTn>
                                        <p:tgtEl>
                                          <p:spTgt spid="15"/>
                                        </p:tgtEl>
                                        <p:attrNameLst>
                                          <p:attrName>style.visibility</p:attrName>
                                        </p:attrNameLst>
                                      </p:cBhvr>
                                      <p:to>
                                        <p:strVal val="visible"/>
                                      </p:to>
                                    </p:set>
                                    <p:animEffect transition="in" filter="fade">
                                      <p:cBhvr>
                                        <p:cTn id="97" dur="400"/>
                                        <p:tgtEl>
                                          <p:spTgt spid="15"/>
                                        </p:tgtEl>
                                      </p:cBhvr>
                                    </p:animEffect>
                                    <p:anim calcmode="lin" valueType="num">
                                      <p:cBhvr>
                                        <p:cTn id="98" dur="400" fill="hold"/>
                                        <p:tgtEl>
                                          <p:spTgt spid="15"/>
                                        </p:tgtEl>
                                        <p:attrNameLst>
                                          <p:attrName>ppt_x</p:attrName>
                                        </p:attrNameLst>
                                      </p:cBhvr>
                                      <p:tavLst>
                                        <p:tav tm="0">
                                          <p:val>
                                            <p:strVal val="#ppt_x"/>
                                          </p:val>
                                        </p:tav>
                                        <p:tav tm="100000">
                                          <p:val>
                                            <p:strVal val="#ppt_x"/>
                                          </p:val>
                                        </p:tav>
                                      </p:tavLst>
                                    </p:anim>
                                    <p:anim calcmode="lin" valueType="num">
                                      <p:cBhvr>
                                        <p:cTn id="99" dur="4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1" grpId="0" animBg="1"/>
      <p:bldP spid="13" grpId="0" animBg="1"/>
      <p:bldP spid="14" grpId="0"/>
      <p:bldP spid="15" grpId="0" animBg="1"/>
      <p:bldP spid="16" grpId="0"/>
      <p:bldP spid="17" grpId="0" animBg="1"/>
      <p:bldP spid="18" grpId="0" animBg="1"/>
      <p:bldP spid="19" grpId="0" animBg="1"/>
      <p:bldP spid="20" grpId="0" animBg="1"/>
      <p:bldP spid="36"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001" name="HiH banner" descr="Hack in Hills banner"/>
          <p:cNvPicPr>
            <a:picLocks noChangeAspect="1"/>
          </p:cNvPicPr>
          <p:nvPr/>
        </p:nvPicPr>
        <p:blipFill>
          <a:blip r:embed="rId3"/>
          <a:stretch>
            <a:fillRect/>
          </a:stretch>
        </p:blipFill>
        <p:spPr>
          <a:xfrm>
            <a:off x="0" y="0"/>
            <a:ext cx="12192000" cy="803671"/>
          </a:xfrm>
          <a:prstGeom prst="rect">
            <a:avLst/>
          </a:prstGeom>
        </p:spPr>
      </p:pic>
      <p:sp>
        <p:nvSpPr>
          <p:cNvPr id="4" name="!!Kicker">
            <a:extLst>
              <a:ext uri="{FF2B5EF4-FFF2-40B4-BE49-F238E27FC236}">
                <a16:creationId xmlns:a16="http://schemas.microsoft.com/office/drawing/2014/main" id="{B27D2432-ADFB-AC52-CD35-E84420A4046D}"/>
              </a:ext>
            </a:extLst>
          </p:cNvPr>
          <p:cNvSpPr txBox="1"/>
          <p:nvPr/>
        </p:nvSpPr>
        <p:spPr>
          <a:xfrm>
            <a:off x="996483" y="922543"/>
            <a:ext cx="10204704" cy="203200"/>
          </a:xfrm>
          <a:prstGeom prst="rect">
            <a:avLst/>
          </a:prstGeom>
          <a:noFill/>
        </p:spPr>
        <p:txBody>
          <a:bodyPr vert="horz" wrap="square" lIns="0" tIns="0" rIns="0" bIns="0" rtlCol="0" anchor="t">
            <a:noAutofit/>
          </a:bodyPr>
          <a:lstStyle/>
          <a:p>
            <a:r>
              <a:rPr lang="en-IN" sz="1000" b="1" spc="300">
                <a:solidFill>
                  <a:srgbClr val="C2410C"/>
                </a:solidFill>
                <a:latin typeface="IBM Plex Sans" panose="020B0503050203000203" pitchFamily="34" charset="0"/>
              </a:rPr>
              <a:t>MARKET</a:t>
            </a:r>
          </a:p>
        </p:txBody>
      </p:sp>
      <p:sp>
        <p:nvSpPr>
          <p:cNvPr id="5" name="!!Title">
            <a:extLst>
              <a:ext uri="{FF2B5EF4-FFF2-40B4-BE49-F238E27FC236}">
                <a16:creationId xmlns:a16="http://schemas.microsoft.com/office/drawing/2014/main" id="{4F2E7A36-3BFA-6ADF-E7D5-BCB7AD83A871}"/>
              </a:ext>
            </a:extLst>
          </p:cNvPr>
          <p:cNvSpPr txBox="1"/>
          <p:nvPr/>
        </p:nvSpPr>
        <p:spPr>
          <a:xfrm>
            <a:off x="996483" y="1096279"/>
            <a:ext cx="10204704" cy="558800"/>
          </a:xfrm>
          <a:prstGeom prst="rect">
            <a:avLst/>
          </a:prstGeom>
          <a:noFill/>
        </p:spPr>
        <p:txBody>
          <a:bodyPr vert="horz" wrap="square" lIns="0" tIns="0" rIns="0" bIns="0" rtlCol="0" anchor="t">
            <a:noAutofit/>
          </a:bodyPr>
          <a:lstStyle/>
          <a:p>
            <a:r>
              <a:rPr lang="en-IN" sz="3000" b="1">
                <a:solidFill>
                  <a:srgbClr val="111827"/>
                </a:solidFill>
                <a:latin typeface="Montserrat" pitchFamily="2" charset="0"/>
              </a:rPr>
              <a:t>A fast-growing market</a:t>
            </a:r>
          </a:p>
        </p:txBody>
      </p:sp>
      <p:sp>
        <p:nvSpPr>
          <p:cNvPr id="6" name="!!Footer">
            <a:extLst>
              <a:ext uri="{FF2B5EF4-FFF2-40B4-BE49-F238E27FC236}">
                <a16:creationId xmlns:a16="http://schemas.microsoft.com/office/drawing/2014/main" id="{B56C5038-2A1F-2335-A915-1110B21A1A81}"/>
              </a:ext>
            </a:extLst>
          </p:cNvPr>
          <p:cNvSpPr txBox="1"/>
          <p:nvPr/>
        </p:nvSpPr>
        <p:spPr>
          <a:xfrm>
            <a:off x="996483" y="6574536"/>
            <a:ext cx="8229600" cy="177800"/>
          </a:xfrm>
          <a:prstGeom prst="rect">
            <a:avLst/>
          </a:prstGeom>
          <a:noFill/>
        </p:spPr>
        <p:txBody>
          <a:bodyPr vert="horz" wrap="square" lIns="0" tIns="0" rIns="0" bIns="0" rtlCol="0" anchor="t">
            <a:noAutofit/>
          </a:bodyPr>
          <a:lstStyle/>
          <a:p>
            <a:r>
              <a:rPr lang="en-IN" sz="800" spc="150">
                <a:solidFill>
                  <a:srgbClr val="475467"/>
                </a:solidFill>
                <a:latin typeface="IBM Plex Sans" panose="020B0503050203000203" pitchFamily="34" charset="0"/>
              </a:rPr>
              <a:t>HACK IN HILLS  ·  VISION-BASED AUTONOMOUS ROBOT  ·  TECH MINIONS</a:t>
            </a:r>
          </a:p>
        </p:txBody>
      </p:sp>
      <p:sp>
        <p:nvSpPr>
          <p:cNvPr id="7" name="!!Page">
            <a:extLst>
              <a:ext uri="{FF2B5EF4-FFF2-40B4-BE49-F238E27FC236}">
                <a16:creationId xmlns:a16="http://schemas.microsoft.com/office/drawing/2014/main" id="{CE21B3B3-F16B-B945-C1B6-84BF781C77A6}"/>
              </a:ext>
            </a:extLst>
          </p:cNvPr>
          <p:cNvSpPr txBox="1"/>
          <p:nvPr/>
        </p:nvSpPr>
        <p:spPr>
          <a:xfrm>
            <a:off x="9931187" y="6574536"/>
            <a:ext cx="1270000" cy="177800"/>
          </a:xfrm>
          <a:prstGeom prst="rect">
            <a:avLst/>
          </a:prstGeom>
          <a:noFill/>
        </p:spPr>
        <p:txBody>
          <a:bodyPr vert="horz" wrap="square" lIns="0" tIns="0" rIns="0" bIns="0" rtlCol="0" anchor="t">
            <a:noAutofit/>
          </a:bodyPr>
          <a:lstStyle/>
          <a:p>
            <a:pPr algn="r"/>
            <a:r>
              <a:rPr lang="en-IN" sz="800" b="1" dirty="0" smtClean="0">
                <a:solidFill>
                  <a:srgbClr val="475467"/>
                </a:solidFill>
                <a:latin typeface="IBM Plex Sans" panose="020B0503050203000203" pitchFamily="34" charset="0"/>
              </a:rPr>
              <a:t>06 </a:t>
            </a:r>
            <a:r>
              <a:rPr lang="en-IN" sz="800" b="1" dirty="0">
                <a:solidFill>
                  <a:srgbClr val="475467"/>
                </a:solidFill>
                <a:latin typeface="IBM Plex Sans" panose="020B0503050203000203" pitchFamily="34" charset="0"/>
              </a:rPr>
              <a:t>/ 09</a:t>
            </a:r>
          </a:p>
        </p:txBody>
      </p:sp>
      <p:grpSp>
        <p:nvGrpSpPr>
          <p:cNvPr id="11" name="s686">
            <a:extLst>
              <a:ext uri="{FF2B5EF4-FFF2-40B4-BE49-F238E27FC236}">
                <a16:creationId xmlns:a16="http://schemas.microsoft.com/office/drawing/2014/main" id="{90806213-D667-CBE6-8992-7BC670AEB7CA}"/>
              </a:ext>
            </a:extLst>
          </p:cNvPr>
          <p:cNvGrpSpPr/>
          <p:nvPr/>
        </p:nvGrpSpPr>
        <p:grpSpPr>
          <a:xfrm>
            <a:off x="993648" y="1700784"/>
            <a:ext cx="3307080" cy="1559052"/>
            <a:chOff x="609600" y="1270000"/>
            <a:chExt cx="3556000" cy="1676400"/>
          </a:xfrm>
        </p:grpSpPr>
        <p:sp>
          <p:nvSpPr>
            <p:cNvPr id="8" name="s683">
              <a:extLst>
                <a:ext uri="{FF2B5EF4-FFF2-40B4-BE49-F238E27FC236}">
                  <a16:creationId xmlns:a16="http://schemas.microsoft.com/office/drawing/2014/main" id="{2EF19142-9B0C-C57F-5B9F-94624F9B9860}"/>
                </a:ext>
              </a:extLst>
            </p:cNvPr>
            <p:cNvSpPr/>
            <p:nvPr/>
          </p:nvSpPr>
          <p:spPr>
            <a:xfrm>
              <a:off x="609600" y="1270000"/>
              <a:ext cx="3556000" cy="1676400"/>
            </a:xfrm>
            <a:prstGeom prst="roundRect">
              <a:avLst>
                <a:gd name="adj" fmla="val 8000"/>
              </a:avLst>
            </a:prstGeom>
            <a:solidFill>
              <a:srgbClr val="F5F7FA"/>
            </a:solidFill>
            <a:ln w="11811">
              <a:solidFill>
                <a:srgbClr val="D5DB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s684">
              <a:extLst>
                <a:ext uri="{FF2B5EF4-FFF2-40B4-BE49-F238E27FC236}">
                  <a16:creationId xmlns:a16="http://schemas.microsoft.com/office/drawing/2014/main" id="{38AC4E9F-25FE-BF16-256B-191A9121F7C9}"/>
                </a:ext>
              </a:extLst>
            </p:cNvPr>
            <p:cNvSpPr txBox="1"/>
            <p:nvPr/>
          </p:nvSpPr>
          <p:spPr>
            <a:xfrm>
              <a:off x="889000" y="1447800"/>
              <a:ext cx="3048000" cy="711200"/>
            </a:xfrm>
            <a:prstGeom prst="rect">
              <a:avLst/>
            </a:prstGeom>
            <a:noFill/>
          </p:spPr>
          <p:txBody>
            <a:bodyPr vert="horz" wrap="square" lIns="0" tIns="0" rIns="0" bIns="0" rtlCol="0" anchor="t">
              <a:noAutofit/>
            </a:bodyPr>
            <a:lstStyle/>
            <a:p>
              <a:r>
                <a:rPr lang="en-IN" sz="3720" b="1">
                  <a:solidFill>
                    <a:srgbClr val="C2410C"/>
                  </a:solidFill>
                  <a:latin typeface="Montserrat" pitchFamily="2" charset="0"/>
                </a:rPr>
                <a:t>$16.9B</a:t>
              </a:r>
            </a:p>
          </p:txBody>
        </p:sp>
        <p:sp>
          <p:nvSpPr>
            <p:cNvPr id="10" name="s685">
              <a:extLst>
                <a:ext uri="{FF2B5EF4-FFF2-40B4-BE49-F238E27FC236}">
                  <a16:creationId xmlns:a16="http://schemas.microsoft.com/office/drawing/2014/main" id="{64F66E36-1960-7382-94E2-02CEEF7E62E7}"/>
                </a:ext>
              </a:extLst>
            </p:cNvPr>
            <p:cNvSpPr txBox="1"/>
            <p:nvPr/>
          </p:nvSpPr>
          <p:spPr>
            <a:xfrm>
              <a:off x="889000" y="2235200"/>
              <a:ext cx="3048000" cy="558800"/>
            </a:xfrm>
            <a:prstGeom prst="rect">
              <a:avLst/>
            </a:prstGeom>
            <a:noFill/>
          </p:spPr>
          <p:txBody>
            <a:bodyPr vert="horz" wrap="square" lIns="0" tIns="0" rIns="0" bIns="0" rtlCol="0" anchor="t">
              <a:noAutofit/>
            </a:bodyPr>
            <a:lstStyle/>
            <a:p>
              <a:r>
                <a:rPr lang="en-IN" sz="1116">
                  <a:solidFill>
                    <a:srgbClr val="475467"/>
                  </a:solidFill>
                  <a:latin typeface="IBM Plex Sans" panose="020B0503050203000203" pitchFamily="34" charset="0"/>
                </a:rPr>
                <a:t>Global autonomous mobile robot market by 2033</a:t>
              </a:r>
            </a:p>
          </p:txBody>
        </p:sp>
      </p:grpSp>
      <p:grpSp>
        <p:nvGrpSpPr>
          <p:cNvPr id="15" name="s690">
            <a:extLst>
              <a:ext uri="{FF2B5EF4-FFF2-40B4-BE49-F238E27FC236}">
                <a16:creationId xmlns:a16="http://schemas.microsoft.com/office/drawing/2014/main" id="{9ED028F7-92F2-E8E7-383F-F6158FDF2009}"/>
              </a:ext>
            </a:extLst>
          </p:cNvPr>
          <p:cNvGrpSpPr/>
          <p:nvPr/>
        </p:nvGrpSpPr>
        <p:grpSpPr>
          <a:xfrm>
            <a:off x="4442460" y="1700784"/>
            <a:ext cx="3307080" cy="1559052"/>
            <a:chOff x="4318000" y="1270000"/>
            <a:chExt cx="3556000" cy="1676400"/>
          </a:xfrm>
        </p:grpSpPr>
        <p:sp>
          <p:nvSpPr>
            <p:cNvPr id="12" name="s687">
              <a:extLst>
                <a:ext uri="{FF2B5EF4-FFF2-40B4-BE49-F238E27FC236}">
                  <a16:creationId xmlns:a16="http://schemas.microsoft.com/office/drawing/2014/main" id="{64FF2954-325C-9CB0-6B61-FACAA963C381}"/>
                </a:ext>
              </a:extLst>
            </p:cNvPr>
            <p:cNvSpPr/>
            <p:nvPr/>
          </p:nvSpPr>
          <p:spPr>
            <a:xfrm>
              <a:off x="4318000" y="1270000"/>
              <a:ext cx="3556000" cy="1676400"/>
            </a:xfrm>
            <a:prstGeom prst="roundRect">
              <a:avLst>
                <a:gd name="adj" fmla="val 8000"/>
              </a:avLst>
            </a:prstGeom>
            <a:solidFill>
              <a:srgbClr val="F5F7FA"/>
            </a:solidFill>
            <a:ln w="11811">
              <a:solidFill>
                <a:srgbClr val="D5DB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s688">
              <a:extLst>
                <a:ext uri="{FF2B5EF4-FFF2-40B4-BE49-F238E27FC236}">
                  <a16:creationId xmlns:a16="http://schemas.microsoft.com/office/drawing/2014/main" id="{5809E12E-C6E5-1B9E-89D6-6A21A3B39882}"/>
                </a:ext>
              </a:extLst>
            </p:cNvPr>
            <p:cNvSpPr txBox="1"/>
            <p:nvPr/>
          </p:nvSpPr>
          <p:spPr>
            <a:xfrm>
              <a:off x="4597400" y="1447800"/>
              <a:ext cx="3048000" cy="711200"/>
            </a:xfrm>
            <a:prstGeom prst="rect">
              <a:avLst/>
            </a:prstGeom>
            <a:noFill/>
          </p:spPr>
          <p:txBody>
            <a:bodyPr vert="horz" wrap="square" lIns="0" tIns="0" rIns="0" bIns="0" rtlCol="0" anchor="t">
              <a:noAutofit/>
            </a:bodyPr>
            <a:lstStyle/>
            <a:p>
              <a:r>
                <a:rPr lang="en-IN" sz="3720" b="1">
                  <a:solidFill>
                    <a:srgbClr val="2F5D8A"/>
                  </a:solidFill>
                  <a:latin typeface="Montserrat" pitchFamily="2" charset="0"/>
                </a:rPr>
                <a:t>15–18%</a:t>
              </a:r>
            </a:p>
          </p:txBody>
        </p:sp>
        <p:sp>
          <p:nvSpPr>
            <p:cNvPr id="14" name="s689">
              <a:extLst>
                <a:ext uri="{FF2B5EF4-FFF2-40B4-BE49-F238E27FC236}">
                  <a16:creationId xmlns:a16="http://schemas.microsoft.com/office/drawing/2014/main" id="{AB052E6F-9717-3E4C-0E6C-26FC04663B36}"/>
                </a:ext>
              </a:extLst>
            </p:cNvPr>
            <p:cNvSpPr txBox="1"/>
            <p:nvPr/>
          </p:nvSpPr>
          <p:spPr>
            <a:xfrm>
              <a:off x="4597400" y="2235200"/>
              <a:ext cx="3048000" cy="558800"/>
            </a:xfrm>
            <a:prstGeom prst="rect">
              <a:avLst/>
            </a:prstGeom>
            <a:noFill/>
          </p:spPr>
          <p:txBody>
            <a:bodyPr vert="horz" wrap="square" lIns="0" tIns="0" rIns="0" bIns="0" rtlCol="0" anchor="t">
              <a:noAutofit/>
            </a:bodyPr>
            <a:lstStyle/>
            <a:p>
              <a:r>
                <a:rPr lang="en-US" sz="1116">
                  <a:solidFill>
                    <a:srgbClr val="475467"/>
                  </a:solidFill>
                  <a:latin typeface="IBM Plex Sans" panose="020B0503050203000203" pitchFamily="34" charset="0"/>
                </a:rPr>
                <a:t>Annual growth (CAGR) 2025–2033 across analyst estimates</a:t>
              </a:r>
              <a:endParaRPr lang="en-IN" sz="1116">
                <a:solidFill>
                  <a:srgbClr val="475467"/>
                </a:solidFill>
                <a:latin typeface="IBM Plex Sans" panose="020B0503050203000203" pitchFamily="34" charset="0"/>
              </a:endParaRPr>
            </a:p>
          </p:txBody>
        </p:sp>
      </p:grpSp>
      <p:grpSp>
        <p:nvGrpSpPr>
          <p:cNvPr id="19" name="s694">
            <a:extLst>
              <a:ext uri="{FF2B5EF4-FFF2-40B4-BE49-F238E27FC236}">
                <a16:creationId xmlns:a16="http://schemas.microsoft.com/office/drawing/2014/main" id="{23EB3490-6F37-13A1-7179-3479413EF7B5}"/>
              </a:ext>
            </a:extLst>
          </p:cNvPr>
          <p:cNvGrpSpPr/>
          <p:nvPr/>
        </p:nvGrpSpPr>
        <p:grpSpPr>
          <a:xfrm>
            <a:off x="7891272" y="1700784"/>
            <a:ext cx="3307080" cy="1559052"/>
            <a:chOff x="8026400" y="1270000"/>
            <a:chExt cx="3556000" cy="1676400"/>
          </a:xfrm>
        </p:grpSpPr>
        <p:sp>
          <p:nvSpPr>
            <p:cNvPr id="16" name="s691">
              <a:extLst>
                <a:ext uri="{FF2B5EF4-FFF2-40B4-BE49-F238E27FC236}">
                  <a16:creationId xmlns:a16="http://schemas.microsoft.com/office/drawing/2014/main" id="{83939963-A3DE-60EB-2355-A31A85CA0774}"/>
                </a:ext>
              </a:extLst>
            </p:cNvPr>
            <p:cNvSpPr/>
            <p:nvPr/>
          </p:nvSpPr>
          <p:spPr>
            <a:xfrm>
              <a:off x="8026400" y="1270000"/>
              <a:ext cx="3556000" cy="1676400"/>
            </a:xfrm>
            <a:prstGeom prst="roundRect">
              <a:avLst>
                <a:gd name="adj" fmla="val 8000"/>
              </a:avLst>
            </a:prstGeom>
            <a:solidFill>
              <a:srgbClr val="F5F7FA"/>
            </a:solidFill>
            <a:ln w="11811">
              <a:solidFill>
                <a:srgbClr val="D5DB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s692">
              <a:extLst>
                <a:ext uri="{FF2B5EF4-FFF2-40B4-BE49-F238E27FC236}">
                  <a16:creationId xmlns:a16="http://schemas.microsoft.com/office/drawing/2014/main" id="{20828AB3-B315-B35E-E7AF-E90F31848969}"/>
                </a:ext>
              </a:extLst>
            </p:cNvPr>
            <p:cNvSpPr txBox="1"/>
            <p:nvPr/>
          </p:nvSpPr>
          <p:spPr>
            <a:xfrm>
              <a:off x="8305800" y="1447800"/>
              <a:ext cx="3048000" cy="711200"/>
            </a:xfrm>
            <a:prstGeom prst="rect">
              <a:avLst/>
            </a:prstGeom>
            <a:noFill/>
          </p:spPr>
          <p:txBody>
            <a:bodyPr vert="horz" wrap="square" lIns="0" tIns="0" rIns="0" bIns="0" rtlCol="0" anchor="t">
              <a:noAutofit/>
            </a:bodyPr>
            <a:lstStyle/>
            <a:p>
              <a:r>
                <a:rPr lang="en-IN" sz="3720" b="1">
                  <a:solidFill>
                    <a:srgbClr val="C2410C"/>
                  </a:solidFill>
                  <a:latin typeface="Montserrat" pitchFamily="2" charset="0"/>
                </a:rPr>
                <a:t>$2.8–5.1B</a:t>
              </a:r>
            </a:p>
          </p:txBody>
        </p:sp>
        <p:sp>
          <p:nvSpPr>
            <p:cNvPr id="18" name="s693">
              <a:extLst>
                <a:ext uri="{FF2B5EF4-FFF2-40B4-BE49-F238E27FC236}">
                  <a16:creationId xmlns:a16="http://schemas.microsoft.com/office/drawing/2014/main" id="{6C43DF4A-FFEB-BBF5-EB15-6AAFDBB28AE8}"/>
                </a:ext>
              </a:extLst>
            </p:cNvPr>
            <p:cNvSpPr txBox="1"/>
            <p:nvPr/>
          </p:nvSpPr>
          <p:spPr>
            <a:xfrm>
              <a:off x="8305800" y="2235200"/>
              <a:ext cx="3048000" cy="558800"/>
            </a:xfrm>
            <a:prstGeom prst="rect">
              <a:avLst/>
            </a:prstGeom>
            <a:noFill/>
          </p:spPr>
          <p:txBody>
            <a:bodyPr vert="horz" wrap="square" lIns="0" tIns="0" rIns="0" bIns="0" rtlCol="0" anchor="t">
              <a:noAutofit/>
            </a:bodyPr>
            <a:lstStyle/>
            <a:p>
              <a:r>
                <a:rPr lang="en-US" sz="1116">
                  <a:solidFill>
                    <a:srgbClr val="475467"/>
                  </a:solidFill>
                  <a:latin typeface="IBM Plex Sans" panose="020B0503050203000203" pitchFamily="34" charset="0"/>
                </a:rPr>
                <a:t>Market size estimates for 2024–25</a:t>
              </a:r>
              <a:endParaRPr lang="en-IN" sz="1116">
                <a:solidFill>
                  <a:srgbClr val="475467"/>
                </a:solidFill>
                <a:latin typeface="IBM Plex Sans" panose="020B0503050203000203" pitchFamily="34" charset="0"/>
              </a:endParaRPr>
            </a:p>
          </p:txBody>
        </p:sp>
      </p:grpSp>
      <p:grpSp>
        <p:nvGrpSpPr>
          <p:cNvPr id="27" name="s701">
            <a:extLst>
              <a:ext uri="{FF2B5EF4-FFF2-40B4-BE49-F238E27FC236}">
                <a16:creationId xmlns:a16="http://schemas.microsoft.com/office/drawing/2014/main" id="{1EC400B3-4899-0B64-950D-565EBA011A1D}"/>
              </a:ext>
            </a:extLst>
          </p:cNvPr>
          <p:cNvGrpSpPr/>
          <p:nvPr/>
        </p:nvGrpSpPr>
        <p:grpSpPr>
          <a:xfrm>
            <a:off x="993648" y="3448812"/>
            <a:ext cx="3307080" cy="2740152"/>
            <a:chOff x="609600" y="3149600"/>
            <a:chExt cx="3556000" cy="2946400"/>
          </a:xfrm>
        </p:grpSpPr>
        <p:sp>
          <p:nvSpPr>
            <p:cNvPr id="20" name="s695">
              <a:extLst>
                <a:ext uri="{FF2B5EF4-FFF2-40B4-BE49-F238E27FC236}">
                  <a16:creationId xmlns:a16="http://schemas.microsoft.com/office/drawing/2014/main" id="{6E7F35AE-73C5-D8CA-C7A6-DF742FFB5D8B}"/>
                </a:ext>
              </a:extLst>
            </p:cNvPr>
            <p:cNvSpPr/>
            <p:nvPr/>
          </p:nvSpPr>
          <p:spPr>
            <a:xfrm>
              <a:off x="609600" y="3149600"/>
              <a:ext cx="3556000" cy="2946400"/>
            </a:xfrm>
            <a:prstGeom prst="roundRect">
              <a:avLst>
                <a:gd name="adj" fmla="val 6000"/>
              </a:avLst>
            </a:prstGeom>
            <a:solidFill>
              <a:srgbClr val="F5F7FA"/>
            </a:solidFill>
            <a:ln w="11811">
              <a:solidFill>
                <a:srgbClr val="D5DB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4" name="s698">
              <a:extLst>
                <a:ext uri="{FF2B5EF4-FFF2-40B4-BE49-F238E27FC236}">
                  <a16:creationId xmlns:a16="http://schemas.microsoft.com/office/drawing/2014/main" id="{17490B48-5BC6-9B6C-FD02-EFB2A1513556}"/>
                </a:ext>
              </a:extLst>
            </p:cNvPr>
            <p:cNvGrpSpPr/>
            <p:nvPr/>
          </p:nvGrpSpPr>
          <p:grpSpPr>
            <a:xfrm>
              <a:off x="838200" y="3352800"/>
              <a:ext cx="508000" cy="508000"/>
              <a:chOff x="838200" y="3352800"/>
              <a:chExt cx="508000" cy="508000"/>
            </a:xfrm>
          </p:grpSpPr>
          <p:sp>
            <p:nvSpPr>
              <p:cNvPr id="21" name="s696">
                <a:extLst>
                  <a:ext uri="{FF2B5EF4-FFF2-40B4-BE49-F238E27FC236}">
                    <a16:creationId xmlns:a16="http://schemas.microsoft.com/office/drawing/2014/main" id="{263F7813-E0A6-CCFC-2EAA-0C299B994CDA}"/>
                  </a:ext>
                </a:extLst>
              </p:cNvPr>
              <p:cNvSpPr/>
              <p:nvPr/>
            </p:nvSpPr>
            <p:spPr>
              <a:xfrm>
                <a:off x="838200" y="3352800"/>
                <a:ext cx="508000" cy="508000"/>
              </a:xfrm>
              <a:prstGeom prst="ellipse">
                <a:avLst/>
              </a:prstGeom>
              <a:solidFill>
                <a:srgbClr val="0F766E"/>
              </a:solidFill>
              <a:ln w="11811"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s697">
                <a:extLst>
                  <a:ext uri="{FF2B5EF4-FFF2-40B4-BE49-F238E27FC236}">
                    <a16:creationId xmlns:a16="http://schemas.microsoft.com/office/drawing/2014/main" id="{D28BB559-182D-6E64-6130-EBA45F8034B1}"/>
                  </a:ext>
                </a:extLst>
              </p:cNvPr>
              <p:cNvPicPr>
                <a:picLocks/>
              </p:cNvPicPr>
              <p:nvPr/>
            </p:nvPicPr>
            <p:blipFill>
              <a:blip r:embed="rId4" cstate="hqprint">
                <a:extLst>
                  <a:ext uri="{28A0092B-C50C-407E-A947-70E740481C1C}">
                    <a14:useLocalDpi xmlns:a14="http://schemas.microsoft.com/office/drawing/2010/main" val="0"/>
                  </a:ext>
                </a:extLst>
              </a:blip>
              <a:stretch>
                <a:fillRect/>
              </a:stretch>
            </p:blipFill>
            <p:spPr>
              <a:xfrm>
                <a:off x="965200" y="3479800"/>
                <a:ext cx="254000" cy="254000"/>
              </a:xfrm>
              <a:prstGeom prst="rect">
                <a:avLst/>
              </a:prstGeom>
            </p:spPr>
          </p:pic>
        </p:grpSp>
        <p:sp>
          <p:nvSpPr>
            <p:cNvPr id="25" name="s699">
              <a:extLst>
                <a:ext uri="{FF2B5EF4-FFF2-40B4-BE49-F238E27FC236}">
                  <a16:creationId xmlns:a16="http://schemas.microsoft.com/office/drawing/2014/main" id="{884BF89A-2737-E8F7-0E8C-87D7A022D3AC}"/>
                </a:ext>
              </a:extLst>
            </p:cNvPr>
            <p:cNvSpPr txBox="1"/>
            <p:nvPr/>
          </p:nvSpPr>
          <p:spPr>
            <a:xfrm>
              <a:off x="1473200" y="3479800"/>
              <a:ext cx="2540000" cy="279400"/>
            </a:xfrm>
            <a:prstGeom prst="rect">
              <a:avLst/>
            </a:prstGeom>
            <a:noFill/>
          </p:spPr>
          <p:txBody>
            <a:bodyPr vert="horz" wrap="square" lIns="0" tIns="0" rIns="0" bIns="0" rtlCol="0" anchor="t">
              <a:noAutofit/>
            </a:bodyPr>
            <a:lstStyle/>
            <a:p>
              <a:r>
                <a:rPr lang="en-IN" sz="1442" b="1">
                  <a:solidFill>
                    <a:srgbClr val="111827"/>
                  </a:solidFill>
                  <a:latin typeface="Montserrat" pitchFamily="2" charset="0"/>
                </a:rPr>
                <a:t>Target users</a:t>
              </a:r>
            </a:p>
          </p:txBody>
        </p:sp>
        <p:sp>
          <p:nvSpPr>
            <p:cNvPr id="26" name="s700">
              <a:extLst>
                <a:ext uri="{FF2B5EF4-FFF2-40B4-BE49-F238E27FC236}">
                  <a16:creationId xmlns:a16="http://schemas.microsoft.com/office/drawing/2014/main" id="{63316DBA-3EC2-9DFA-B7EB-25F63E0C10E1}"/>
                </a:ext>
              </a:extLst>
            </p:cNvPr>
            <p:cNvSpPr txBox="1"/>
            <p:nvPr/>
          </p:nvSpPr>
          <p:spPr>
            <a:xfrm>
              <a:off x="889000" y="4038600"/>
              <a:ext cx="3048000" cy="1905000"/>
            </a:xfrm>
            <a:prstGeom prst="rect">
              <a:avLst/>
            </a:prstGeom>
            <a:noFill/>
          </p:spPr>
          <p:txBody>
            <a:bodyPr vert="horz" wrap="square" lIns="0" tIns="0" rIns="0" bIns="0" rtlCol="0" anchor="t">
              <a:noAutofit/>
            </a:bodyPr>
            <a:lstStyle/>
            <a:p>
              <a:pPr marL="165354" indent="-165354">
                <a:spcAft>
                  <a:spcPts val="651"/>
                </a:spcAft>
                <a:buClr>
                  <a:srgbClr val="0F766E"/>
                </a:buClr>
                <a:buFont typeface="+mj-lt"/>
                <a:buChar char="•"/>
              </a:pPr>
              <a:r>
                <a:rPr lang="en-US" sz="1116">
                  <a:solidFill>
                    <a:srgbClr val="111827"/>
                  </a:solidFill>
                  <a:latin typeface="IBM Plex Sans" panose="020B0503050203000203" pitchFamily="34" charset="0"/>
                </a:rPr>
                <a:t>Warehouses &amp; logistics SMEs</a:t>
              </a:r>
            </a:p>
            <a:p>
              <a:pPr marL="165354" indent="-165354">
                <a:spcAft>
                  <a:spcPts val="651"/>
                </a:spcAft>
                <a:buClr>
                  <a:srgbClr val="0F766E"/>
                </a:buClr>
                <a:buFont typeface="+mj-lt"/>
                <a:buChar char="•"/>
              </a:pPr>
              <a:r>
                <a:rPr lang="en-US" sz="1116">
                  <a:solidFill>
                    <a:srgbClr val="111827"/>
                  </a:solidFill>
                  <a:latin typeface="IBM Plex Sans" panose="020B0503050203000203" pitchFamily="34" charset="0"/>
                </a:rPr>
                <a:t>Hospitals and care homes</a:t>
              </a:r>
            </a:p>
            <a:p>
              <a:pPr marL="165354" indent="-165354">
                <a:spcAft>
                  <a:spcPts val="651"/>
                </a:spcAft>
                <a:buClr>
                  <a:srgbClr val="0F766E"/>
                </a:buClr>
                <a:buFont typeface="+mj-lt"/>
                <a:buChar char="•"/>
              </a:pPr>
              <a:r>
                <a:rPr lang="en-US" sz="1116">
                  <a:solidFill>
                    <a:srgbClr val="111827"/>
                  </a:solidFill>
                  <a:latin typeface="IBM Plex Sans" panose="020B0503050203000203" pitchFamily="34" charset="0"/>
                </a:rPr>
                <a:t>Campuses, malls, security teams</a:t>
              </a:r>
            </a:p>
            <a:p>
              <a:pPr marL="165354" indent="-165354">
                <a:spcAft>
                  <a:spcPts val="651"/>
                </a:spcAft>
                <a:buClr>
                  <a:srgbClr val="0F766E"/>
                </a:buClr>
                <a:buFont typeface="+mj-lt"/>
                <a:buChar char="•"/>
              </a:pPr>
              <a:r>
                <a:rPr lang="en-US" sz="1116">
                  <a:solidFill>
                    <a:srgbClr val="111827"/>
                  </a:solidFill>
                  <a:latin typeface="IBM Plex Sans" panose="020B0503050203000203" pitchFamily="34" charset="0"/>
                </a:rPr>
                <a:t>Assistive-tech providers</a:t>
              </a:r>
              <a:endParaRPr lang="en-IN" sz="1116">
                <a:solidFill>
                  <a:srgbClr val="111827"/>
                </a:solidFill>
                <a:latin typeface="IBM Plex Sans" panose="020B0503050203000203" pitchFamily="34" charset="0"/>
              </a:endParaRPr>
            </a:p>
          </p:txBody>
        </p:sp>
      </p:grpSp>
      <p:grpSp>
        <p:nvGrpSpPr>
          <p:cNvPr id="35" name="s708">
            <a:extLst>
              <a:ext uri="{FF2B5EF4-FFF2-40B4-BE49-F238E27FC236}">
                <a16:creationId xmlns:a16="http://schemas.microsoft.com/office/drawing/2014/main" id="{8CBCD823-5357-6594-AF7D-54443A80208F}"/>
              </a:ext>
            </a:extLst>
          </p:cNvPr>
          <p:cNvGrpSpPr/>
          <p:nvPr/>
        </p:nvGrpSpPr>
        <p:grpSpPr>
          <a:xfrm>
            <a:off x="4442460" y="3448812"/>
            <a:ext cx="3307080" cy="2740152"/>
            <a:chOff x="4318000" y="3149600"/>
            <a:chExt cx="3556000" cy="2946400"/>
          </a:xfrm>
        </p:grpSpPr>
        <p:sp>
          <p:nvSpPr>
            <p:cNvPr id="28" name="s702">
              <a:extLst>
                <a:ext uri="{FF2B5EF4-FFF2-40B4-BE49-F238E27FC236}">
                  <a16:creationId xmlns:a16="http://schemas.microsoft.com/office/drawing/2014/main" id="{00E31DDB-3AD7-4ED5-00F8-808F3AF88F2F}"/>
                </a:ext>
              </a:extLst>
            </p:cNvPr>
            <p:cNvSpPr/>
            <p:nvPr/>
          </p:nvSpPr>
          <p:spPr>
            <a:xfrm>
              <a:off x="4318000" y="3149600"/>
              <a:ext cx="3556000" cy="2946400"/>
            </a:xfrm>
            <a:prstGeom prst="roundRect">
              <a:avLst>
                <a:gd name="adj" fmla="val 6000"/>
              </a:avLst>
            </a:prstGeom>
            <a:solidFill>
              <a:srgbClr val="F5F7FA"/>
            </a:solidFill>
            <a:ln w="11811">
              <a:solidFill>
                <a:srgbClr val="D5DB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2" name="s705">
              <a:extLst>
                <a:ext uri="{FF2B5EF4-FFF2-40B4-BE49-F238E27FC236}">
                  <a16:creationId xmlns:a16="http://schemas.microsoft.com/office/drawing/2014/main" id="{15B2A121-FE4B-4352-7EC3-462EEBEF9406}"/>
                </a:ext>
              </a:extLst>
            </p:cNvPr>
            <p:cNvGrpSpPr/>
            <p:nvPr/>
          </p:nvGrpSpPr>
          <p:grpSpPr>
            <a:xfrm>
              <a:off x="4546600" y="3352800"/>
              <a:ext cx="508000" cy="508000"/>
              <a:chOff x="4546600" y="3352800"/>
              <a:chExt cx="508000" cy="508000"/>
            </a:xfrm>
          </p:grpSpPr>
          <p:sp>
            <p:nvSpPr>
              <p:cNvPr id="29" name="s703">
                <a:extLst>
                  <a:ext uri="{FF2B5EF4-FFF2-40B4-BE49-F238E27FC236}">
                    <a16:creationId xmlns:a16="http://schemas.microsoft.com/office/drawing/2014/main" id="{D40EEE3F-D782-7B43-02DE-11AA33999031}"/>
                  </a:ext>
                </a:extLst>
              </p:cNvPr>
              <p:cNvSpPr/>
              <p:nvPr/>
            </p:nvSpPr>
            <p:spPr>
              <a:xfrm>
                <a:off x="4546600" y="3352800"/>
                <a:ext cx="508000" cy="508000"/>
              </a:xfrm>
              <a:prstGeom prst="ellipse">
                <a:avLst/>
              </a:prstGeom>
              <a:solidFill>
                <a:srgbClr val="2F5D8A"/>
              </a:solidFill>
              <a:ln w="11811"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s704">
                <a:extLst>
                  <a:ext uri="{FF2B5EF4-FFF2-40B4-BE49-F238E27FC236}">
                    <a16:creationId xmlns:a16="http://schemas.microsoft.com/office/drawing/2014/main" id="{0F6D2AAE-22AD-7EAB-721F-FF7AE525CF99}"/>
                  </a:ext>
                </a:extLst>
              </p:cNvPr>
              <p:cNvPicPr>
                <a:picLocks/>
              </p:cNvPicPr>
              <p:nvPr/>
            </p:nvPicPr>
            <p:blipFill>
              <a:blip r:embed="rId5" cstate="hqprint">
                <a:extLst>
                  <a:ext uri="{28A0092B-C50C-407E-A947-70E740481C1C}">
                    <a14:useLocalDpi xmlns:a14="http://schemas.microsoft.com/office/drawing/2010/main" val="0"/>
                  </a:ext>
                </a:extLst>
              </a:blip>
              <a:stretch>
                <a:fillRect/>
              </a:stretch>
            </p:blipFill>
            <p:spPr>
              <a:xfrm>
                <a:off x="4673600" y="3479800"/>
                <a:ext cx="254000" cy="254000"/>
              </a:xfrm>
              <a:prstGeom prst="rect">
                <a:avLst/>
              </a:prstGeom>
            </p:spPr>
          </p:pic>
        </p:grpSp>
        <p:sp>
          <p:nvSpPr>
            <p:cNvPr id="33" name="s706">
              <a:extLst>
                <a:ext uri="{FF2B5EF4-FFF2-40B4-BE49-F238E27FC236}">
                  <a16:creationId xmlns:a16="http://schemas.microsoft.com/office/drawing/2014/main" id="{588FF6C9-4FF3-6031-1CAC-4ED22249E722}"/>
                </a:ext>
              </a:extLst>
            </p:cNvPr>
            <p:cNvSpPr txBox="1"/>
            <p:nvPr/>
          </p:nvSpPr>
          <p:spPr>
            <a:xfrm>
              <a:off x="5181600" y="3479800"/>
              <a:ext cx="2540000" cy="279400"/>
            </a:xfrm>
            <a:prstGeom prst="rect">
              <a:avLst/>
            </a:prstGeom>
            <a:noFill/>
          </p:spPr>
          <p:txBody>
            <a:bodyPr vert="horz" wrap="square" lIns="0" tIns="0" rIns="0" bIns="0" rtlCol="0" anchor="t">
              <a:noAutofit/>
            </a:bodyPr>
            <a:lstStyle/>
            <a:p>
              <a:r>
                <a:rPr lang="en-IN" sz="1442" b="1">
                  <a:solidFill>
                    <a:srgbClr val="111827"/>
                  </a:solidFill>
                  <a:latin typeface="Montserrat" pitchFamily="2" charset="0"/>
                </a:rPr>
                <a:t>Revenue model</a:t>
              </a:r>
            </a:p>
          </p:txBody>
        </p:sp>
        <p:sp>
          <p:nvSpPr>
            <p:cNvPr id="34" name="s707">
              <a:extLst>
                <a:ext uri="{FF2B5EF4-FFF2-40B4-BE49-F238E27FC236}">
                  <a16:creationId xmlns:a16="http://schemas.microsoft.com/office/drawing/2014/main" id="{3D050046-FABC-9021-81D3-C7D558954B98}"/>
                </a:ext>
              </a:extLst>
            </p:cNvPr>
            <p:cNvSpPr txBox="1"/>
            <p:nvPr/>
          </p:nvSpPr>
          <p:spPr>
            <a:xfrm>
              <a:off x="4597400" y="4038600"/>
              <a:ext cx="3048000" cy="1905000"/>
            </a:xfrm>
            <a:prstGeom prst="rect">
              <a:avLst/>
            </a:prstGeom>
            <a:noFill/>
          </p:spPr>
          <p:txBody>
            <a:bodyPr vert="horz" wrap="square" lIns="0" tIns="0" rIns="0" bIns="0" rtlCol="0" anchor="t">
              <a:noAutofit/>
            </a:bodyPr>
            <a:lstStyle/>
            <a:p>
              <a:pPr marL="165354" indent="-165354">
                <a:spcAft>
                  <a:spcPts val="651"/>
                </a:spcAft>
                <a:buClr>
                  <a:srgbClr val="2F5D8A"/>
                </a:buClr>
                <a:buFont typeface="+mj-lt"/>
                <a:buChar char="•"/>
              </a:pPr>
              <a:r>
                <a:rPr lang="en-US" sz="1116">
                  <a:solidFill>
                    <a:srgbClr val="111827"/>
                  </a:solidFill>
                  <a:latin typeface="IBM Plex Sans" panose="020B0503050203000203" pitchFamily="34" charset="0"/>
                </a:rPr>
                <a:t>Robot kit + software licence</a:t>
              </a:r>
            </a:p>
            <a:p>
              <a:pPr marL="165354" indent="-165354">
                <a:spcAft>
                  <a:spcPts val="651"/>
                </a:spcAft>
                <a:buClr>
                  <a:srgbClr val="2F5D8A"/>
                </a:buClr>
                <a:buFont typeface="+mj-lt"/>
                <a:buChar char="•"/>
              </a:pPr>
              <a:r>
                <a:rPr lang="en-US" sz="1116">
                  <a:solidFill>
                    <a:srgbClr val="111827"/>
                  </a:solidFill>
                  <a:latin typeface="IBM Plex Sans" panose="020B0503050203000203" pitchFamily="34" charset="0"/>
                </a:rPr>
                <a:t>Robot-as-a-Service subscription</a:t>
              </a:r>
            </a:p>
            <a:p>
              <a:pPr marL="165354" indent="-165354">
                <a:spcAft>
                  <a:spcPts val="651"/>
                </a:spcAft>
                <a:buClr>
                  <a:srgbClr val="2F5D8A"/>
                </a:buClr>
                <a:buFont typeface="+mj-lt"/>
                <a:buChar char="•"/>
              </a:pPr>
              <a:r>
                <a:rPr lang="en-US" sz="1116">
                  <a:solidFill>
                    <a:srgbClr val="111827"/>
                  </a:solidFill>
                  <a:latin typeface="IBM Plex Sans" panose="020B0503050203000203" pitchFamily="34" charset="0"/>
                </a:rPr>
                <a:t>Licensing the perception stack</a:t>
              </a:r>
            </a:p>
            <a:p>
              <a:pPr marL="165354" indent="-165354">
                <a:spcAft>
                  <a:spcPts val="651"/>
                </a:spcAft>
                <a:buClr>
                  <a:srgbClr val="2F5D8A"/>
                </a:buClr>
                <a:buFont typeface="+mj-lt"/>
                <a:buChar char="•"/>
              </a:pPr>
              <a:r>
                <a:rPr lang="en-US" sz="1116">
                  <a:solidFill>
                    <a:srgbClr val="111827"/>
                  </a:solidFill>
                  <a:latin typeface="IBM Plex Sans" panose="020B0503050203000203" pitchFamily="34" charset="0"/>
                </a:rPr>
                <a:t>Custom integration &amp; support</a:t>
              </a:r>
              <a:endParaRPr lang="en-IN" sz="1116">
                <a:solidFill>
                  <a:srgbClr val="111827"/>
                </a:solidFill>
                <a:latin typeface="IBM Plex Sans" panose="020B0503050203000203" pitchFamily="34" charset="0"/>
              </a:endParaRPr>
            </a:p>
          </p:txBody>
        </p:sp>
      </p:grpSp>
      <p:grpSp>
        <p:nvGrpSpPr>
          <p:cNvPr id="43" name="s715">
            <a:extLst>
              <a:ext uri="{FF2B5EF4-FFF2-40B4-BE49-F238E27FC236}">
                <a16:creationId xmlns:a16="http://schemas.microsoft.com/office/drawing/2014/main" id="{DA73A6E1-9A4B-29F9-B5F8-6EDBF7565802}"/>
              </a:ext>
            </a:extLst>
          </p:cNvPr>
          <p:cNvGrpSpPr/>
          <p:nvPr/>
        </p:nvGrpSpPr>
        <p:grpSpPr>
          <a:xfrm>
            <a:off x="7891272" y="3448812"/>
            <a:ext cx="3307080" cy="2740152"/>
            <a:chOff x="8026400" y="3149600"/>
            <a:chExt cx="3556000" cy="2946400"/>
          </a:xfrm>
        </p:grpSpPr>
        <p:sp>
          <p:nvSpPr>
            <p:cNvPr id="36" name="s709">
              <a:extLst>
                <a:ext uri="{FF2B5EF4-FFF2-40B4-BE49-F238E27FC236}">
                  <a16:creationId xmlns:a16="http://schemas.microsoft.com/office/drawing/2014/main" id="{2B074F7E-2A92-A264-1D92-3FF04C156896}"/>
                </a:ext>
              </a:extLst>
            </p:cNvPr>
            <p:cNvSpPr/>
            <p:nvPr/>
          </p:nvSpPr>
          <p:spPr>
            <a:xfrm>
              <a:off x="8026400" y="3149600"/>
              <a:ext cx="3556000" cy="2946400"/>
            </a:xfrm>
            <a:prstGeom prst="roundRect">
              <a:avLst>
                <a:gd name="adj" fmla="val 6000"/>
              </a:avLst>
            </a:prstGeom>
            <a:solidFill>
              <a:srgbClr val="F5F7FA"/>
            </a:solidFill>
            <a:ln w="11811">
              <a:solidFill>
                <a:srgbClr val="D5DB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0" name="s712">
              <a:extLst>
                <a:ext uri="{FF2B5EF4-FFF2-40B4-BE49-F238E27FC236}">
                  <a16:creationId xmlns:a16="http://schemas.microsoft.com/office/drawing/2014/main" id="{80E92A4D-8F73-7FB1-1E10-2F804219E605}"/>
                </a:ext>
              </a:extLst>
            </p:cNvPr>
            <p:cNvGrpSpPr/>
            <p:nvPr/>
          </p:nvGrpSpPr>
          <p:grpSpPr>
            <a:xfrm>
              <a:off x="8255000" y="3352800"/>
              <a:ext cx="508000" cy="508000"/>
              <a:chOff x="8255000" y="3352800"/>
              <a:chExt cx="508000" cy="508000"/>
            </a:xfrm>
          </p:grpSpPr>
          <p:sp>
            <p:nvSpPr>
              <p:cNvPr id="37" name="s710">
                <a:extLst>
                  <a:ext uri="{FF2B5EF4-FFF2-40B4-BE49-F238E27FC236}">
                    <a16:creationId xmlns:a16="http://schemas.microsoft.com/office/drawing/2014/main" id="{66C99D88-CD78-7BFB-3977-ECB8CCD86C9D}"/>
                  </a:ext>
                </a:extLst>
              </p:cNvPr>
              <p:cNvSpPr/>
              <p:nvPr/>
            </p:nvSpPr>
            <p:spPr>
              <a:xfrm>
                <a:off x="8255000" y="3352800"/>
                <a:ext cx="508000" cy="508000"/>
              </a:xfrm>
              <a:prstGeom prst="ellipse">
                <a:avLst/>
              </a:prstGeom>
              <a:solidFill>
                <a:srgbClr val="C2410C"/>
              </a:solidFill>
              <a:ln w="11811"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9" name="s711">
                <a:extLst>
                  <a:ext uri="{FF2B5EF4-FFF2-40B4-BE49-F238E27FC236}">
                    <a16:creationId xmlns:a16="http://schemas.microsoft.com/office/drawing/2014/main" id="{0B46469F-7534-E7B8-4C50-FF6ADE95644F}"/>
                  </a:ext>
                </a:extLst>
              </p:cNvPr>
              <p:cNvPicPr>
                <a:picLocks/>
              </p:cNvPicPr>
              <p:nvPr/>
            </p:nvPicPr>
            <p:blipFill>
              <a:blip r:embed="rId6" cstate="hqprint">
                <a:extLst>
                  <a:ext uri="{28A0092B-C50C-407E-A947-70E740481C1C}">
                    <a14:useLocalDpi xmlns:a14="http://schemas.microsoft.com/office/drawing/2010/main" val="0"/>
                  </a:ext>
                </a:extLst>
              </a:blip>
              <a:stretch>
                <a:fillRect/>
              </a:stretch>
            </p:blipFill>
            <p:spPr>
              <a:xfrm>
                <a:off x="8382000" y="3479800"/>
                <a:ext cx="254000" cy="254000"/>
              </a:xfrm>
              <a:prstGeom prst="rect">
                <a:avLst/>
              </a:prstGeom>
            </p:spPr>
          </p:pic>
        </p:grpSp>
        <p:sp>
          <p:nvSpPr>
            <p:cNvPr id="41" name="s713">
              <a:extLst>
                <a:ext uri="{FF2B5EF4-FFF2-40B4-BE49-F238E27FC236}">
                  <a16:creationId xmlns:a16="http://schemas.microsoft.com/office/drawing/2014/main" id="{64D61CEF-1F87-76A5-D67D-E42ACD0BCFAE}"/>
                </a:ext>
              </a:extLst>
            </p:cNvPr>
            <p:cNvSpPr txBox="1"/>
            <p:nvPr/>
          </p:nvSpPr>
          <p:spPr>
            <a:xfrm>
              <a:off x="8890000" y="3479800"/>
              <a:ext cx="2540000" cy="279400"/>
            </a:xfrm>
            <a:prstGeom prst="rect">
              <a:avLst/>
            </a:prstGeom>
            <a:noFill/>
          </p:spPr>
          <p:txBody>
            <a:bodyPr vert="horz" wrap="square" lIns="0" tIns="0" rIns="0" bIns="0" rtlCol="0" anchor="t">
              <a:noAutofit/>
            </a:bodyPr>
            <a:lstStyle/>
            <a:p>
              <a:r>
                <a:rPr lang="en-IN" sz="1442" b="1">
                  <a:solidFill>
                    <a:srgbClr val="111827"/>
                  </a:solidFill>
                  <a:latin typeface="Montserrat" pitchFamily="2" charset="0"/>
                </a:rPr>
                <a:t>Expected growth</a:t>
              </a:r>
            </a:p>
          </p:txBody>
        </p:sp>
        <p:sp>
          <p:nvSpPr>
            <p:cNvPr id="42" name="s714">
              <a:extLst>
                <a:ext uri="{FF2B5EF4-FFF2-40B4-BE49-F238E27FC236}">
                  <a16:creationId xmlns:a16="http://schemas.microsoft.com/office/drawing/2014/main" id="{B8E3E5DD-4EEC-7699-B25C-E9F88F378131}"/>
                </a:ext>
              </a:extLst>
            </p:cNvPr>
            <p:cNvSpPr txBox="1"/>
            <p:nvPr/>
          </p:nvSpPr>
          <p:spPr>
            <a:xfrm>
              <a:off x="8305800" y="4038600"/>
              <a:ext cx="3048000" cy="1905000"/>
            </a:xfrm>
            <a:prstGeom prst="rect">
              <a:avLst/>
            </a:prstGeom>
            <a:noFill/>
          </p:spPr>
          <p:txBody>
            <a:bodyPr vert="horz" wrap="square" lIns="0" tIns="0" rIns="0" bIns="0" rtlCol="0" anchor="t">
              <a:noAutofit/>
            </a:bodyPr>
            <a:lstStyle/>
            <a:p>
              <a:pPr marL="165354" indent="-165354">
                <a:spcAft>
                  <a:spcPts val="651"/>
                </a:spcAft>
                <a:buClr>
                  <a:srgbClr val="C2410C"/>
                </a:buClr>
                <a:buFont typeface="+mj-lt"/>
                <a:buChar char="•"/>
              </a:pPr>
              <a:r>
                <a:rPr lang="en-US" sz="1116">
                  <a:solidFill>
                    <a:srgbClr val="111827"/>
                  </a:solidFill>
                  <a:latin typeface="IBM Plex Sans" panose="020B0503050203000203" pitchFamily="34" charset="0"/>
                </a:rPr>
                <a:t>Year 1: campus pilot, 2–3 robots</a:t>
              </a:r>
            </a:p>
            <a:p>
              <a:pPr marL="165354" indent="-165354">
                <a:spcAft>
                  <a:spcPts val="651"/>
                </a:spcAft>
                <a:buClr>
                  <a:srgbClr val="C2410C"/>
                </a:buClr>
                <a:buFont typeface="+mj-lt"/>
                <a:buChar char="•"/>
              </a:pPr>
              <a:r>
                <a:rPr lang="en-US" sz="1116">
                  <a:solidFill>
                    <a:srgbClr val="111827"/>
                  </a:solidFill>
                  <a:latin typeface="IBM Plex Sans" panose="020B0503050203000203" pitchFamily="34" charset="0"/>
                </a:rPr>
                <a:t>Year 2: logistics SME pilots</a:t>
              </a:r>
            </a:p>
            <a:p>
              <a:pPr marL="165354" indent="-165354">
                <a:spcAft>
                  <a:spcPts val="651"/>
                </a:spcAft>
                <a:buClr>
                  <a:srgbClr val="C2410C"/>
                </a:buClr>
                <a:buFont typeface="+mj-lt"/>
                <a:buChar char="•"/>
              </a:pPr>
              <a:r>
                <a:rPr lang="en-US" sz="1116">
                  <a:solidFill>
                    <a:srgbClr val="111827"/>
                  </a:solidFill>
                  <a:latin typeface="IBM Plex Sans" panose="020B0503050203000203" pitchFamily="34" charset="0"/>
                </a:rPr>
                <a:t>Year 3: fleet product + RaaS</a:t>
              </a:r>
            </a:p>
            <a:p>
              <a:pPr marL="165354" indent="-165354">
                <a:spcAft>
                  <a:spcPts val="651"/>
                </a:spcAft>
                <a:buClr>
                  <a:srgbClr val="C2410C"/>
                </a:buClr>
                <a:buFont typeface="+mj-lt"/>
                <a:buChar char="•"/>
              </a:pPr>
              <a:r>
                <a:rPr lang="en-US" sz="1116">
                  <a:solidFill>
                    <a:srgbClr val="111827"/>
                  </a:solidFill>
                  <a:latin typeface="IBM Plex Sans" panose="020B0503050203000203" pitchFamily="34" charset="0"/>
                </a:rPr>
                <a:t>Rides 15%+ yearly AMR growth</a:t>
              </a:r>
              <a:endParaRPr lang="en-IN" sz="1116">
                <a:solidFill>
                  <a:srgbClr val="111827"/>
                </a:solidFill>
                <a:latin typeface="IBM Plex Sans" panose="020B0503050203000203" pitchFamily="34" charset="0"/>
              </a:endParaRPr>
            </a:p>
          </p:txBody>
        </p:sp>
      </p:grpSp>
      <p:sp>
        <p:nvSpPr>
          <p:cNvPr id="44" name="s716">
            <a:extLst>
              <a:ext uri="{FF2B5EF4-FFF2-40B4-BE49-F238E27FC236}">
                <a16:creationId xmlns:a16="http://schemas.microsoft.com/office/drawing/2014/main" id="{32EECB4F-EAC7-4661-E612-A5E140439D44}"/>
              </a:ext>
            </a:extLst>
          </p:cNvPr>
          <p:cNvSpPr txBox="1"/>
          <p:nvPr/>
        </p:nvSpPr>
        <p:spPr>
          <a:xfrm>
            <a:off x="993648" y="6307074"/>
            <a:ext cx="10204704" cy="165354"/>
          </a:xfrm>
          <a:prstGeom prst="rect">
            <a:avLst/>
          </a:prstGeom>
          <a:noFill/>
        </p:spPr>
        <p:txBody>
          <a:bodyPr vert="horz" wrap="square" lIns="0" tIns="0" rIns="0" bIns="0" rtlCol="0" anchor="t">
            <a:noAutofit/>
          </a:bodyPr>
          <a:lstStyle/>
          <a:p>
            <a:r>
              <a:rPr lang="en-US" sz="790">
                <a:solidFill>
                  <a:srgbClr val="475467"/>
                </a:solidFill>
                <a:latin typeface="IBM Plex Sans" panose="020B0503050203000203" pitchFamily="34" charset="0"/>
              </a:rPr>
              <a:t>Sources: IMARC Group, Autonomous Mobile Robots Market 2025–2033; Global Market Insights, AMR Market 2025–2034.</a:t>
            </a:r>
            <a:endParaRPr lang="en-IN" sz="790">
              <a:solidFill>
                <a:srgbClr val="475467"/>
              </a:solidFill>
              <a:latin typeface="IBM Plex Sans" panose="020B0503050203000203" pitchFamily="34" charset="0"/>
            </a:endParaRPr>
          </a:p>
        </p:txBody>
      </p:sp>
    </p:spTree>
    <p:extLst>
      <p:ext uri="{BB962C8B-B14F-4D97-AF65-F5344CB8AC3E}">
        <p14:creationId xmlns:p14="http://schemas.microsoft.com/office/powerpoint/2010/main" val="20330200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50"/>
                                  </p:stCondLst>
                                  <p:childTnLst>
                                    <p:set>
                                      <p:cBhvr>
                                        <p:cTn id="6" dur="1" fill="hold">
                                          <p:stCondLst>
                                            <p:cond delay="0"/>
                                          </p:stCondLst>
                                        </p:cTn>
                                        <p:tgtEl>
                                          <p:spTgt spid="11"/>
                                        </p:tgtEl>
                                        <p:attrNameLst>
                                          <p:attrName>style.visibility</p:attrName>
                                        </p:attrNameLst>
                                      </p:cBhvr>
                                      <p:to>
                                        <p:strVal val="visible"/>
                                      </p:to>
                                    </p:set>
                                    <p:anim calcmode="lin" valueType="num">
                                      <p:cBhvr>
                                        <p:cTn id="7" dur="450" fill="hold"/>
                                        <p:tgtEl>
                                          <p:spTgt spid="11"/>
                                        </p:tgtEl>
                                        <p:attrNameLst>
                                          <p:attrName>ppt_w</p:attrName>
                                        </p:attrNameLst>
                                      </p:cBhvr>
                                      <p:tavLst>
                                        <p:tav tm="0">
                                          <p:val>
                                            <p:fltVal val="0"/>
                                          </p:val>
                                        </p:tav>
                                        <p:tav tm="100000">
                                          <p:val>
                                            <p:strVal val="#ppt_w"/>
                                          </p:val>
                                        </p:tav>
                                      </p:tavLst>
                                    </p:anim>
                                    <p:anim calcmode="lin" valueType="num">
                                      <p:cBhvr>
                                        <p:cTn id="8" dur="450" fill="hold"/>
                                        <p:tgtEl>
                                          <p:spTgt spid="11"/>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3" presetClass="entr" presetSubtype="16" fill="hold" nodeType="afterEffect">
                                  <p:stCondLst>
                                    <p:cond delay="50"/>
                                  </p:stCondLst>
                                  <p:childTnLst>
                                    <p:set>
                                      <p:cBhvr>
                                        <p:cTn id="11" dur="1" fill="hold">
                                          <p:stCondLst>
                                            <p:cond delay="0"/>
                                          </p:stCondLst>
                                        </p:cTn>
                                        <p:tgtEl>
                                          <p:spTgt spid="15"/>
                                        </p:tgtEl>
                                        <p:attrNameLst>
                                          <p:attrName>style.visibility</p:attrName>
                                        </p:attrNameLst>
                                      </p:cBhvr>
                                      <p:to>
                                        <p:strVal val="visible"/>
                                      </p:to>
                                    </p:set>
                                    <p:anim calcmode="lin" valueType="num">
                                      <p:cBhvr>
                                        <p:cTn id="12" dur="450" fill="hold"/>
                                        <p:tgtEl>
                                          <p:spTgt spid="15"/>
                                        </p:tgtEl>
                                        <p:attrNameLst>
                                          <p:attrName>ppt_w</p:attrName>
                                        </p:attrNameLst>
                                      </p:cBhvr>
                                      <p:tavLst>
                                        <p:tav tm="0">
                                          <p:val>
                                            <p:fltVal val="0"/>
                                          </p:val>
                                        </p:tav>
                                        <p:tav tm="100000">
                                          <p:val>
                                            <p:strVal val="#ppt_w"/>
                                          </p:val>
                                        </p:tav>
                                      </p:tavLst>
                                    </p:anim>
                                    <p:anim calcmode="lin" valueType="num">
                                      <p:cBhvr>
                                        <p:cTn id="13" dur="450" fill="hold"/>
                                        <p:tgtEl>
                                          <p:spTgt spid="15"/>
                                        </p:tgtEl>
                                        <p:attrNameLst>
                                          <p:attrName>ppt_h</p:attrName>
                                        </p:attrNameLst>
                                      </p:cBhvr>
                                      <p:tavLst>
                                        <p:tav tm="0">
                                          <p:val>
                                            <p:fltVal val="0"/>
                                          </p:val>
                                        </p:tav>
                                        <p:tav tm="100000">
                                          <p:val>
                                            <p:strVal val="#ppt_h"/>
                                          </p:val>
                                        </p:tav>
                                      </p:tavLst>
                                    </p:anim>
                                  </p:childTnLst>
                                </p:cTn>
                              </p:par>
                            </p:childTnLst>
                          </p:cTn>
                        </p:par>
                        <p:par>
                          <p:cTn id="14" fill="hold">
                            <p:stCondLst>
                              <p:cond delay="1000"/>
                            </p:stCondLst>
                            <p:childTnLst>
                              <p:par>
                                <p:cTn id="15" presetID="23" presetClass="entr" presetSubtype="16" fill="hold" nodeType="afterEffect">
                                  <p:stCondLst>
                                    <p:cond delay="50"/>
                                  </p:stCondLst>
                                  <p:childTnLst>
                                    <p:set>
                                      <p:cBhvr>
                                        <p:cTn id="16" dur="1" fill="hold">
                                          <p:stCondLst>
                                            <p:cond delay="0"/>
                                          </p:stCondLst>
                                        </p:cTn>
                                        <p:tgtEl>
                                          <p:spTgt spid="19"/>
                                        </p:tgtEl>
                                        <p:attrNameLst>
                                          <p:attrName>style.visibility</p:attrName>
                                        </p:attrNameLst>
                                      </p:cBhvr>
                                      <p:to>
                                        <p:strVal val="visible"/>
                                      </p:to>
                                    </p:set>
                                    <p:anim calcmode="lin" valueType="num">
                                      <p:cBhvr>
                                        <p:cTn id="17" dur="450" fill="hold"/>
                                        <p:tgtEl>
                                          <p:spTgt spid="19"/>
                                        </p:tgtEl>
                                        <p:attrNameLst>
                                          <p:attrName>ppt_w</p:attrName>
                                        </p:attrNameLst>
                                      </p:cBhvr>
                                      <p:tavLst>
                                        <p:tav tm="0">
                                          <p:val>
                                            <p:fltVal val="0"/>
                                          </p:val>
                                        </p:tav>
                                        <p:tav tm="100000">
                                          <p:val>
                                            <p:strVal val="#ppt_w"/>
                                          </p:val>
                                        </p:tav>
                                      </p:tavLst>
                                    </p:anim>
                                    <p:anim calcmode="lin" valueType="num">
                                      <p:cBhvr>
                                        <p:cTn id="18" dur="450" fill="hold"/>
                                        <p:tgtEl>
                                          <p:spTgt spid="19"/>
                                        </p:tgtEl>
                                        <p:attrNameLst>
                                          <p:attrName>ppt_h</p:attrName>
                                        </p:attrNameLst>
                                      </p:cBhvr>
                                      <p:tavLst>
                                        <p:tav tm="0">
                                          <p:val>
                                            <p:fltVal val="0"/>
                                          </p:val>
                                        </p:tav>
                                        <p:tav tm="100000">
                                          <p:val>
                                            <p:strVal val="#ppt_h"/>
                                          </p:val>
                                        </p:tav>
                                      </p:tavLst>
                                    </p:anim>
                                  </p:childTnLst>
                                </p:cTn>
                              </p:par>
                            </p:childTnLst>
                          </p:cTn>
                        </p:par>
                        <p:par>
                          <p:cTn id="19" fill="hold">
                            <p:stCondLst>
                              <p:cond delay="1500"/>
                            </p:stCondLst>
                            <p:childTnLst>
                              <p:par>
                                <p:cTn id="20" presetID="42" presetClass="entr" presetSubtype="0" fill="hold" nodeType="afterEffect">
                                  <p:stCondLst>
                                    <p:cond delay="5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50"/>
                                        <p:tgtEl>
                                          <p:spTgt spid="27"/>
                                        </p:tgtEl>
                                      </p:cBhvr>
                                    </p:animEffect>
                                    <p:anim calcmode="lin" valueType="num">
                                      <p:cBhvr>
                                        <p:cTn id="23" dur="450" fill="hold"/>
                                        <p:tgtEl>
                                          <p:spTgt spid="27"/>
                                        </p:tgtEl>
                                        <p:attrNameLst>
                                          <p:attrName>ppt_x</p:attrName>
                                        </p:attrNameLst>
                                      </p:cBhvr>
                                      <p:tavLst>
                                        <p:tav tm="0">
                                          <p:val>
                                            <p:strVal val="#ppt_x"/>
                                          </p:val>
                                        </p:tav>
                                        <p:tav tm="100000">
                                          <p:val>
                                            <p:strVal val="#ppt_x"/>
                                          </p:val>
                                        </p:tav>
                                      </p:tavLst>
                                    </p:anim>
                                    <p:anim calcmode="lin" valueType="num">
                                      <p:cBhvr>
                                        <p:cTn id="24" dur="450" fill="hold"/>
                                        <p:tgtEl>
                                          <p:spTgt spid="27"/>
                                        </p:tgtEl>
                                        <p:attrNameLst>
                                          <p:attrName>ppt_y</p:attrName>
                                        </p:attrNameLst>
                                      </p:cBhvr>
                                      <p:tavLst>
                                        <p:tav tm="0">
                                          <p:val>
                                            <p:strVal val="#ppt_y+.1"/>
                                          </p:val>
                                        </p:tav>
                                        <p:tav tm="100000">
                                          <p:val>
                                            <p:strVal val="#ppt_y"/>
                                          </p:val>
                                        </p:tav>
                                      </p:tavLst>
                                    </p:anim>
                                  </p:childTnLst>
                                </p:cTn>
                              </p:par>
                            </p:childTnLst>
                          </p:cTn>
                        </p:par>
                        <p:par>
                          <p:cTn id="25" fill="hold">
                            <p:stCondLst>
                              <p:cond delay="2000"/>
                            </p:stCondLst>
                            <p:childTnLst>
                              <p:par>
                                <p:cTn id="26" presetID="42" presetClass="entr" presetSubtype="0" fill="hold" nodeType="afterEffect">
                                  <p:stCondLst>
                                    <p:cond delay="5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450"/>
                                        <p:tgtEl>
                                          <p:spTgt spid="35"/>
                                        </p:tgtEl>
                                      </p:cBhvr>
                                    </p:animEffect>
                                    <p:anim calcmode="lin" valueType="num">
                                      <p:cBhvr>
                                        <p:cTn id="29" dur="450" fill="hold"/>
                                        <p:tgtEl>
                                          <p:spTgt spid="35"/>
                                        </p:tgtEl>
                                        <p:attrNameLst>
                                          <p:attrName>ppt_x</p:attrName>
                                        </p:attrNameLst>
                                      </p:cBhvr>
                                      <p:tavLst>
                                        <p:tav tm="0">
                                          <p:val>
                                            <p:strVal val="#ppt_x"/>
                                          </p:val>
                                        </p:tav>
                                        <p:tav tm="100000">
                                          <p:val>
                                            <p:strVal val="#ppt_x"/>
                                          </p:val>
                                        </p:tav>
                                      </p:tavLst>
                                    </p:anim>
                                    <p:anim calcmode="lin" valueType="num">
                                      <p:cBhvr>
                                        <p:cTn id="30" dur="450" fill="hold"/>
                                        <p:tgtEl>
                                          <p:spTgt spid="35"/>
                                        </p:tgtEl>
                                        <p:attrNameLst>
                                          <p:attrName>ppt_y</p:attrName>
                                        </p:attrNameLst>
                                      </p:cBhvr>
                                      <p:tavLst>
                                        <p:tav tm="0">
                                          <p:val>
                                            <p:strVal val="#ppt_y+.1"/>
                                          </p:val>
                                        </p:tav>
                                        <p:tav tm="100000">
                                          <p:val>
                                            <p:strVal val="#ppt_y"/>
                                          </p:val>
                                        </p:tav>
                                      </p:tavLst>
                                    </p:anim>
                                  </p:childTnLst>
                                </p:cTn>
                              </p:par>
                            </p:childTnLst>
                          </p:cTn>
                        </p:par>
                        <p:par>
                          <p:cTn id="31" fill="hold">
                            <p:stCondLst>
                              <p:cond delay="2500"/>
                            </p:stCondLst>
                            <p:childTnLst>
                              <p:par>
                                <p:cTn id="32" presetID="42" presetClass="entr" presetSubtype="0" fill="hold" nodeType="afterEffect">
                                  <p:stCondLst>
                                    <p:cond delay="5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450"/>
                                        <p:tgtEl>
                                          <p:spTgt spid="43"/>
                                        </p:tgtEl>
                                      </p:cBhvr>
                                    </p:animEffect>
                                    <p:anim calcmode="lin" valueType="num">
                                      <p:cBhvr>
                                        <p:cTn id="35" dur="450" fill="hold"/>
                                        <p:tgtEl>
                                          <p:spTgt spid="43"/>
                                        </p:tgtEl>
                                        <p:attrNameLst>
                                          <p:attrName>ppt_x</p:attrName>
                                        </p:attrNameLst>
                                      </p:cBhvr>
                                      <p:tavLst>
                                        <p:tav tm="0">
                                          <p:val>
                                            <p:strVal val="#ppt_x"/>
                                          </p:val>
                                        </p:tav>
                                        <p:tav tm="100000">
                                          <p:val>
                                            <p:strVal val="#ppt_x"/>
                                          </p:val>
                                        </p:tav>
                                      </p:tavLst>
                                    </p:anim>
                                    <p:anim calcmode="lin" valueType="num">
                                      <p:cBhvr>
                                        <p:cTn id="36" dur="45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001" name="HiH banner" descr="Hack in Hills banner"/>
          <p:cNvPicPr>
            <a:picLocks noChangeAspect="1"/>
          </p:cNvPicPr>
          <p:nvPr/>
        </p:nvPicPr>
        <p:blipFill>
          <a:blip r:embed="rId2"/>
          <a:stretch>
            <a:fillRect/>
          </a:stretch>
        </p:blipFill>
        <p:spPr>
          <a:xfrm>
            <a:off x="0" y="0"/>
            <a:ext cx="12192000" cy="803671"/>
          </a:xfrm>
          <a:prstGeom prst="rect">
            <a:avLst/>
          </a:prstGeom>
        </p:spPr>
      </p:pic>
      <p:sp>
        <p:nvSpPr>
          <p:cNvPr id="4" name="!!Kicker"/>
          <p:cNvSpPr txBox="1"/>
          <p:nvPr/>
        </p:nvSpPr>
        <p:spPr>
          <a:xfrm>
            <a:off x="996483" y="922543"/>
            <a:ext cx="10204704" cy="203200"/>
          </a:xfrm>
          <a:prstGeom prst="rect">
            <a:avLst/>
          </a:prstGeom>
          <a:noFill/>
          <a:ln>
            <a:noFill/>
          </a:ln>
        </p:spPr>
        <p:txBody>
          <a:bodyPr vert="horz" wrap="square" lIns="0" tIns="0" rIns="0" bIns="0" rtlCol="0" anchor="t">
            <a:noAutofit/>
          </a:bodyPr>
          <a:lstStyle/>
          <a:p>
            <a:pPr algn="l"/>
            <a:r>
              <a:rPr lang="en-US" sz="1000" b="1" i="0" spc="300">
                <a:solidFill>
                  <a:srgbClr val="C2410C"/>
                </a:solidFill>
                <a:latin typeface="IBM Plex Sans"/>
                <a:ea typeface="IBM Plex Sans"/>
                <a:cs typeface="IBM Plex Sans"/>
              </a:rPr>
              <a:t>FUTURE SCOPE</a:t>
            </a:r>
          </a:p>
        </p:txBody>
      </p:sp>
      <p:sp>
        <p:nvSpPr>
          <p:cNvPr id="5" name="!!Title"/>
          <p:cNvSpPr txBox="1"/>
          <p:nvPr/>
        </p:nvSpPr>
        <p:spPr>
          <a:xfrm>
            <a:off x="996483" y="1096279"/>
            <a:ext cx="10204704" cy="558800"/>
          </a:xfrm>
          <a:prstGeom prst="rect">
            <a:avLst/>
          </a:prstGeom>
          <a:noFill/>
          <a:ln>
            <a:noFill/>
          </a:ln>
        </p:spPr>
        <p:txBody>
          <a:bodyPr vert="horz" wrap="square" lIns="0" tIns="0" rIns="0" bIns="0" rtlCol="0" anchor="t">
            <a:noAutofit/>
          </a:bodyPr>
          <a:lstStyle/>
          <a:p>
            <a:pPr algn="l"/>
            <a:r>
              <a:rPr lang="en-US" sz="3000" b="1" i="0">
                <a:solidFill>
                  <a:srgbClr val="111827"/>
                </a:solidFill>
                <a:latin typeface="Montserrat"/>
                <a:ea typeface="Montserrat"/>
                <a:cs typeface="Montserrat"/>
              </a:rPr>
              <a:t>Where we go next</a:t>
            </a:r>
          </a:p>
        </p:txBody>
      </p:sp>
      <p:sp>
        <p:nvSpPr>
          <p:cNvPr id="6" name="!!Footer"/>
          <p:cNvSpPr txBox="1"/>
          <p:nvPr/>
        </p:nvSpPr>
        <p:spPr>
          <a:xfrm>
            <a:off x="996483" y="6574536"/>
            <a:ext cx="8229600" cy="177800"/>
          </a:xfrm>
          <a:prstGeom prst="rect">
            <a:avLst/>
          </a:prstGeom>
          <a:noFill/>
          <a:ln>
            <a:noFill/>
          </a:ln>
        </p:spPr>
        <p:txBody>
          <a:bodyPr vert="horz" wrap="square" lIns="0" tIns="0" rIns="0" bIns="0" rtlCol="0" anchor="t">
            <a:noAutofit/>
          </a:bodyPr>
          <a:lstStyle/>
          <a:p>
            <a:pPr algn="l"/>
            <a:r>
              <a:rPr lang="en-US" sz="800" b="0" i="0" spc="150">
                <a:solidFill>
                  <a:srgbClr val="475467"/>
                </a:solidFill>
                <a:latin typeface="IBM Plex Sans"/>
                <a:ea typeface="IBM Plex Sans"/>
                <a:cs typeface="IBM Plex Sans"/>
              </a:rPr>
              <a:t>HACK IN HILLS  ·  VISION-BASED AUTONOMOUS ROBOT  ·  TECH MINIONS</a:t>
            </a:r>
          </a:p>
        </p:txBody>
      </p:sp>
      <p:sp>
        <p:nvSpPr>
          <p:cNvPr id="7" name="!!Page"/>
          <p:cNvSpPr txBox="1"/>
          <p:nvPr/>
        </p:nvSpPr>
        <p:spPr>
          <a:xfrm>
            <a:off x="9931187" y="6574536"/>
            <a:ext cx="1270000" cy="177800"/>
          </a:xfrm>
          <a:prstGeom prst="rect">
            <a:avLst/>
          </a:prstGeom>
          <a:noFill/>
          <a:ln>
            <a:noFill/>
          </a:ln>
        </p:spPr>
        <p:txBody>
          <a:bodyPr vert="horz" wrap="square" lIns="0" tIns="0" rIns="0" bIns="0" rtlCol="0" anchor="t">
            <a:noAutofit/>
          </a:bodyPr>
          <a:lstStyle/>
          <a:p>
            <a:pPr algn="r"/>
            <a:r>
              <a:rPr lang="en-US" sz="800" b="1" i="0" dirty="0" smtClean="0">
                <a:solidFill>
                  <a:srgbClr val="475467"/>
                </a:solidFill>
                <a:latin typeface="IBM Plex Sans"/>
                <a:ea typeface="IBM Plex Sans"/>
                <a:cs typeface="IBM Plex Sans"/>
              </a:rPr>
              <a:t>07 </a:t>
            </a:r>
            <a:r>
              <a:rPr lang="en-US" sz="800" b="1" i="0" dirty="0">
                <a:solidFill>
                  <a:srgbClr val="475467"/>
                </a:solidFill>
                <a:latin typeface="IBM Plex Sans"/>
                <a:ea typeface="IBM Plex Sans"/>
                <a:cs typeface="IBM Plex Sans"/>
              </a:rPr>
              <a:t>/ 09</a:t>
            </a:r>
          </a:p>
        </p:txBody>
      </p:sp>
      <p:grpSp>
        <p:nvGrpSpPr>
          <p:cNvPr id="17" name="Future card 0"/>
          <p:cNvGrpSpPr/>
          <p:nvPr/>
        </p:nvGrpSpPr>
        <p:grpSpPr>
          <a:xfrm>
            <a:off x="993648" y="1700784"/>
            <a:ext cx="2411676" cy="4464000"/>
            <a:chOff x="609600" y="1450000"/>
            <a:chExt cx="2593200" cy="4800000"/>
          </a:xfrm>
        </p:grpSpPr>
        <p:sp>
          <p:nvSpPr>
            <p:cNvPr id="8" name="Fcard0"/>
            <p:cNvSpPr/>
            <p:nvPr/>
          </p:nvSpPr>
          <p:spPr>
            <a:xfrm>
              <a:off x="609600" y="1450000"/>
              <a:ext cx="2593200" cy="4800000"/>
            </a:xfrm>
            <a:prstGeom prst="roundRect">
              <a:avLst>
                <a:gd name="adj" fmla="val 6000"/>
              </a:avLst>
            </a:prstGeom>
            <a:solidFill>
              <a:srgbClr val="F5F7FA"/>
            </a:solidFill>
            <a:ln w="11811">
              <a:solidFill>
                <a:srgbClr val="D5DBE5"/>
              </a:solidFill>
            </a:ln>
          </p:spPr>
          <p:txBody>
            <a:bodyPr vert="horz" wrap="square" lIns="0" tIns="0" rIns="0" bIns="0" rtlCol="0" anchor="ctr">
              <a:noAutofit/>
            </a:bodyPr>
            <a:lstStyle/>
            <a:p>
              <a:endParaRPr lang="en-US"/>
            </a:p>
          </p:txBody>
        </p:sp>
        <p:sp>
          <p:nvSpPr>
            <p:cNvPr id="9" name="Fnum0"/>
            <p:cNvSpPr txBox="1"/>
            <p:nvPr/>
          </p:nvSpPr>
          <p:spPr>
            <a:xfrm>
              <a:off x="859600" y="1650000"/>
              <a:ext cx="1200000" cy="380000"/>
            </a:xfrm>
            <a:prstGeom prst="rect">
              <a:avLst/>
            </a:prstGeom>
            <a:noFill/>
            <a:ln>
              <a:noFill/>
            </a:ln>
          </p:spPr>
          <p:txBody>
            <a:bodyPr vert="horz" wrap="square" lIns="0" tIns="0" rIns="0" bIns="0" rtlCol="0" anchor="t">
              <a:noAutofit/>
            </a:bodyPr>
            <a:lstStyle/>
            <a:p>
              <a:pPr algn="l"/>
              <a:r>
                <a:rPr lang="en-US" sz="2046" b="1" i="0">
                  <a:solidFill>
                    <a:srgbClr val="C2410C"/>
                  </a:solidFill>
                  <a:latin typeface="Montserrat"/>
                  <a:ea typeface="Montserrat"/>
                  <a:cs typeface="Montserrat"/>
                </a:rPr>
                <a:t>01</a:t>
              </a:r>
            </a:p>
          </p:txBody>
        </p:sp>
        <p:sp>
          <p:nvSpPr>
            <p:cNvPr id="10" name="Mobile app deployment circle"/>
            <p:cNvSpPr/>
            <p:nvPr/>
          </p:nvSpPr>
          <p:spPr>
            <a:xfrm>
              <a:off x="859600" y="2210000"/>
              <a:ext cx="700000" cy="700000"/>
            </a:xfrm>
            <a:prstGeom prst="ellipse">
              <a:avLst/>
            </a:prstGeom>
            <a:solidFill>
              <a:srgbClr val="C2410C"/>
            </a:solidFill>
            <a:ln>
              <a:noFill/>
            </a:ln>
          </p:spPr>
          <p:txBody>
            <a:bodyPr vert="horz" wrap="square" lIns="0" tIns="0" rIns="0" bIns="0" rtlCol="0" anchor="ctr">
              <a:noAutofit/>
            </a:bodyPr>
            <a:lstStyle/>
            <a:p>
              <a:endParaRPr lang="en-US"/>
            </a:p>
          </p:txBody>
        </p:sp>
        <p:pic>
          <p:nvPicPr>
            <p:cNvPr id="11" name="Icon Mobile app deployment" descr="Mobile app deployment icon"/>
            <p:cNvPicPr preferRelativeResize="0"/>
            <p:nvPr/>
          </p:nvPicPr>
          <p:blipFill>
            <a:blip r:embed="rId3"/>
            <a:stretch>
              <a:fillRect/>
            </a:stretch>
          </p:blipFill>
          <p:spPr>
            <a:xfrm>
              <a:off x="1034600" y="2385000"/>
              <a:ext cx="350000" cy="350000"/>
            </a:xfrm>
            <a:prstGeom prst="rect">
              <a:avLst/>
            </a:prstGeom>
          </p:spPr>
        </p:pic>
        <p:sp>
          <p:nvSpPr>
            <p:cNvPr id="12" name="Ftitle0"/>
            <p:cNvSpPr txBox="1"/>
            <p:nvPr/>
          </p:nvSpPr>
          <p:spPr>
            <a:xfrm>
              <a:off x="859600" y="3100000"/>
              <a:ext cx="2093200" cy="600000"/>
            </a:xfrm>
            <a:prstGeom prst="rect">
              <a:avLst/>
            </a:prstGeom>
            <a:noFill/>
            <a:ln>
              <a:noFill/>
            </a:ln>
          </p:spPr>
          <p:txBody>
            <a:bodyPr vert="horz" wrap="square" lIns="0" tIns="0" rIns="0" bIns="0" rtlCol="0" anchor="t">
              <a:noAutofit/>
            </a:bodyPr>
            <a:lstStyle/>
            <a:p>
              <a:pPr algn="l"/>
              <a:r>
                <a:rPr lang="en-US" sz="1395" b="1" i="0">
                  <a:solidFill>
                    <a:srgbClr val="111827"/>
                  </a:solidFill>
                  <a:latin typeface="Montserrat"/>
                  <a:ea typeface="Montserrat"/>
                  <a:cs typeface="Montserrat"/>
                </a:rPr>
                <a:t>Mobile app deployment</a:t>
              </a:r>
            </a:p>
          </p:txBody>
        </p:sp>
        <p:sp>
          <p:nvSpPr>
            <p:cNvPr id="13" name="Fdesc0"/>
            <p:cNvSpPr txBox="1"/>
            <p:nvPr/>
          </p:nvSpPr>
          <p:spPr>
            <a:xfrm>
              <a:off x="859600" y="3800000"/>
              <a:ext cx="2093200" cy="1400000"/>
            </a:xfrm>
            <a:prstGeom prst="rect">
              <a:avLst/>
            </a:prstGeom>
            <a:noFill/>
            <a:ln>
              <a:noFill/>
            </a:ln>
          </p:spPr>
          <p:txBody>
            <a:bodyPr vert="horz" wrap="square" lIns="0" tIns="0" rIns="0" bIns="0" rtlCol="0" anchor="t">
              <a:noAutofit/>
            </a:bodyPr>
            <a:lstStyle/>
            <a:p>
              <a:pPr algn="l"/>
              <a:r>
                <a:rPr lang="en-US" sz="1023" b="0" i="0">
                  <a:solidFill>
                    <a:srgbClr val="475467"/>
                  </a:solidFill>
                  <a:latin typeface="IBM Plex Sans"/>
                  <a:ea typeface="IBM Plex Sans"/>
                  <a:cs typeface="IBM Plex Sans"/>
                </a:rPr>
                <a:t>Remote monitoring, task assignment, robot status and basic control through a dedicated mobile app.</a:t>
              </a:r>
            </a:p>
          </p:txBody>
        </p:sp>
        <p:sp>
          <p:nvSpPr>
            <p:cNvPr id="14" name="Ftag00"/>
            <p:cNvSpPr/>
            <p:nvPr/>
          </p:nvSpPr>
          <p:spPr>
            <a:xfrm>
              <a:off x="859600" y="5100000"/>
              <a:ext cx="2093200" cy="260000"/>
            </a:xfrm>
            <a:prstGeom prst="roundRect">
              <a:avLst>
                <a:gd name="adj" fmla="val 50000"/>
              </a:avLst>
            </a:prstGeom>
            <a:solidFill>
              <a:srgbClr val="FFFFFF"/>
            </a:solidFill>
            <a:ln w="11811">
              <a:solidFill>
                <a:srgbClr val="D5DBE5"/>
              </a:solidFill>
            </a:ln>
          </p:spPr>
          <p:txBody>
            <a:bodyPr vert="horz" wrap="square" lIns="0" tIns="0" rIns="0" bIns="0" rtlCol="0" anchor="ctr">
              <a:noAutofit/>
            </a:bodyPr>
            <a:lstStyle/>
            <a:p>
              <a:pPr algn="ctr"/>
              <a:r>
                <a:rPr lang="en-US" sz="837" b="1" i="0">
                  <a:solidFill>
                    <a:srgbClr val="C2410C"/>
                  </a:solidFill>
                  <a:latin typeface="IBM Plex Sans"/>
                  <a:ea typeface="IBM Plex Sans"/>
                  <a:cs typeface="IBM Plex Sans"/>
                </a:rPr>
                <a:t>Monitor</a:t>
              </a:r>
            </a:p>
          </p:txBody>
        </p:sp>
        <p:sp>
          <p:nvSpPr>
            <p:cNvPr id="15" name="Ftag01"/>
            <p:cNvSpPr/>
            <p:nvPr/>
          </p:nvSpPr>
          <p:spPr>
            <a:xfrm>
              <a:off x="859600" y="5420000"/>
              <a:ext cx="2093200" cy="260000"/>
            </a:xfrm>
            <a:prstGeom prst="roundRect">
              <a:avLst>
                <a:gd name="adj" fmla="val 50000"/>
              </a:avLst>
            </a:prstGeom>
            <a:solidFill>
              <a:srgbClr val="FFFFFF"/>
            </a:solidFill>
            <a:ln w="11811">
              <a:solidFill>
                <a:srgbClr val="D5DBE5"/>
              </a:solidFill>
            </a:ln>
          </p:spPr>
          <p:txBody>
            <a:bodyPr vert="horz" wrap="square" lIns="0" tIns="0" rIns="0" bIns="0" rtlCol="0" anchor="ctr">
              <a:noAutofit/>
            </a:bodyPr>
            <a:lstStyle/>
            <a:p>
              <a:pPr algn="ctr"/>
              <a:r>
                <a:rPr lang="en-US" sz="837" b="1" i="0">
                  <a:solidFill>
                    <a:srgbClr val="C2410C"/>
                  </a:solidFill>
                  <a:latin typeface="IBM Plex Sans"/>
                  <a:ea typeface="IBM Plex Sans"/>
                  <a:cs typeface="IBM Plex Sans"/>
                </a:rPr>
                <a:t>Assign tasks</a:t>
              </a:r>
            </a:p>
          </p:txBody>
        </p:sp>
        <p:sp>
          <p:nvSpPr>
            <p:cNvPr id="16" name="Ftag02"/>
            <p:cNvSpPr/>
            <p:nvPr/>
          </p:nvSpPr>
          <p:spPr>
            <a:xfrm>
              <a:off x="859600" y="5740000"/>
              <a:ext cx="2093200" cy="260000"/>
            </a:xfrm>
            <a:prstGeom prst="roundRect">
              <a:avLst>
                <a:gd name="adj" fmla="val 50000"/>
              </a:avLst>
            </a:prstGeom>
            <a:solidFill>
              <a:srgbClr val="FFFFFF"/>
            </a:solidFill>
            <a:ln w="11811">
              <a:solidFill>
                <a:srgbClr val="D5DBE5"/>
              </a:solidFill>
            </a:ln>
          </p:spPr>
          <p:txBody>
            <a:bodyPr vert="horz" wrap="square" lIns="0" tIns="0" rIns="0" bIns="0" rtlCol="0" anchor="ctr">
              <a:noAutofit/>
            </a:bodyPr>
            <a:lstStyle/>
            <a:p>
              <a:pPr algn="ctr"/>
              <a:r>
                <a:rPr lang="en-US" sz="837" b="1" i="0">
                  <a:solidFill>
                    <a:srgbClr val="C2410C"/>
                  </a:solidFill>
                  <a:latin typeface="IBM Plex Sans"/>
                  <a:ea typeface="IBM Plex Sans"/>
                  <a:cs typeface="IBM Plex Sans"/>
                </a:rPr>
                <a:t>Basic control</a:t>
              </a:r>
            </a:p>
          </p:txBody>
        </p:sp>
      </p:grpSp>
      <p:grpSp>
        <p:nvGrpSpPr>
          <p:cNvPr id="27" name="Future card 1"/>
          <p:cNvGrpSpPr/>
          <p:nvPr/>
        </p:nvGrpSpPr>
        <p:grpSpPr>
          <a:xfrm>
            <a:off x="3591324" y="1700784"/>
            <a:ext cx="2411676" cy="4464000"/>
            <a:chOff x="3402800" y="1450000"/>
            <a:chExt cx="2593200" cy="4800000"/>
          </a:xfrm>
        </p:grpSpPr>
        <p:sp>
          <p:nvSpPr>
            <p:cNvPr id="18" name="Fcard1"/>
            <p:cNvSpPr/>
            <p:nvPr/>
          </p:nvSpPr>
          <p:spPr>
            <a:xfrm>
              <a:off x="3402800" y="1450000"/>
              <a:ext cx="2593200" cy="4800000"/>
            </a:xfrm>
            <a:prstGeom prst="roundRect">
              <a:avLst>
                <a:gd name="adj" fmla="val 6000"/>
              </a:avLst>
            </a:prstGeom>
            <a:solidFill>
              <a:srgbClr val="F5F7FA"/>
            </a:solidFill>
            <a:ln w="11811">
              <a:solidFill>
                <a:srgbClr val="D5DBE5"/>
              </a:solidFill>
            </a:ln>
          </p:spPr>
          <p:txBody>
            <a:bodyPr vert="horz" wrap="square" lIns="0" tIns="0" rIns="0" bIns="0" rtlCol="0" anchor="ctr">
              <a:noAutofit/>
            </a:bodyPr>
            <a:lstStyle/>
            <a:p>
              <a:endParaRPr lang="en-US"/>
            </a:p>
          </p:txBody>
        </p:sp>
        <p:sp>
          <p:nvSpPr>
            <p:cNvPr id="19" name="Fnum1"/>
            <p:cNvSpPr txBox="1"/>
            <p:nvPr/>
          </p:nvSpPr>
          <p:spPr>
            <a:xfrm>
              <a:off x="3652800" y="1650000"/>
              <a:ext cx="1200000" cy="380000"/>
            </a:xfrm>
            <a:prstGeom prst="rect">
              <a:avLst/>
            </a:prstGeom>
            <a:noFill/>
            <a:ln>
              <a:noFill/>
            </a:ln>
          </p:spPr>
          <p:txBody>
            <a:bodyPr vert="horz" wrap="square" lIns="0" tIns="0" rIns="0" bIns="0" rtlCol="0" anchor="t">
              <a:noAutofit/>
            </a:bodyPr>
            <a:lstStyle/>
            <a:p>
              <a:pPr algn="l"/>
              <a:r>
                <a:rPr lang="en-US" sz="2046" b="1" i="0">
                  <a:solidFill>
                    <a:srgbClr val="C2410C"/>
                  </a:solidFill>
                  <a:latin typeface="Montserrat"/>
                  <a:ea typeface="Montserrat"/>
                  <a:cs typeface="Montserrat"/>
                </a:rPr>
                <a:t>02</a:t>
              </a:r>
            </a:p>
          </p:txBody>
        </p:sp>
        <p:sp>
          <p:nvSpPr>
            <p:cNvPr id="20" name="Enterprise integrations circle"/>
            <p:cNvSpPr/>
            <p:nvPr/>
          </p:nvSpPr>
          <p:spPr>
            <a:xfrm>
              <a:off x="3652800" y="2210000"/>
              <a:ext cx="700000" cy="700000"/>
            </a:xfrm>
            <a:prstGeom prst="ellipse">
              <a:avLst/>
            </a:prstGeom>
            <a:solidFill>
              <a:srgbClr val="0F766E"/>
            </a:solidFill>
            <a:ln>
              <a:noFill/>
            </a:ln>
          </p:spPr>
          <p:txBody>
            <a:bodyPr vert="horz" wrap="square" lIns="0" tIns="0" rIns="0" bIns="0" rtlCol="0" anchor="ctr">
              <a:noAutofit/>
            </a:bodyPr>
            <a:lstStyle/>
            <a:p>
              <a:endParaRPr lang="en-US"/>
            </a:p>
          </p:txBody>
        </p:sp>
        <p:pic>
          <p:nvPicPr>
            <p:cNvPr id="21" name="Icon Enterprise integrations" descr="Enterprise integrations icon"/>
            <p:cNvPicPr preferRelativeResize="0"/>
            <p:nvPr/>
          </p:nvPicPr>
          <p:blipFill>
            <a:blip r:embed="rId4"/>
            <a:stretch>
              <a:fillRect/>
            </a:stretch>
          </p:blipFill>
          <p:spPr>
            <a:xfrm>
              <a:off x="3827800" y="2385000"/>
              <a:ext cx="350000" cy="350000"/>
            </a:xfrm>
            <a:prstGeom prst="rect">
              <a:avLst/>
            </a:prstGeom>
          </p:spPr>
        </p:pic>
        <p:sp>
          <p:nvSpPr>
            <p:cNvPr id="22" name="Ftitle1"/>
            <p:cNvSpPr txBox="1"/>
            <p:nvPr/>
          </p:nvSpPr>
          <p:spPr>
            <a:xfrm>
              <a:off x="3652800" y="3100000"/>
              <a:ext cx="2093200" cy="600000"/>
            </a:xfrm>
            <a:prstGeom prst="rect">
              <a:avLst/>
            </a:prstGeom>
            <a:noFill/>
            <a:ln>
              <a:noFill/>
            </a:ln>
          </p:spPr>
          <p:txBody>
            <a:bodyPr vert="horz" wrap="square" lIns="0" tIns="0" rIns="0" bIns="0" rtlCol="0" anchor="t">
              <a:noAutofit/>
            </a:bodyPr>
            <a:lstStyle/>
            <a:p>
              <a:pPr algn="l"/>
              <a:r>
                <a:rPr lang="en-US" sz="1395" b="1" i="0">
                  <a:solidFill>
                    <a:srgbClr val="111827"/>
                  </a:solidFill>
                  <a:latin typeface="Montserrat"/>
                  <a:ea typeface="Montserrat"/>
                  <a:cs typeface="Montserrat"/>
                </a:rPr>
                <a:t>Enterprise integrations</a:t>
              </a:r>
            </a:p>
          </p:txBody>
        </p:sp>
        <p:sp>
          <p:nvSpPr>
            <p:cNvPr id="23" name="Fdesc1"/>
            <p:cNvSpPr txBox="1"/>
            <p:nvPr/>
          </p:nvSpPr>
          <p:spPr>
            <a:xfrm>
              <a:off x="3652800" y="3800000"/>
              <a:ext cx="2093200" cy="1400000"/>
            </a:xfrm>
            <a:prstGeom prst="rect">
              <a:avLst/>
            </a:prstGeom>
            <a:noFill/>
            <a:ln>
              <a:noFill/>
            </a:ln>
          </p:spPr>
          <p:txBody>
            <a:bodyPr vert="horz" wrap="square" lIns="0" tIns="0" rIns="0" bIns="0" rtlCol="0" anchor="t">
              <a:noAutofit/>
            </a:bodyPr>
            <a:lstStyle/>
            <a:p>
              <a:pPr algn="l"/>
              <a:r>
                <a:rPr lang="en-US" sz="1023" b="0" i="0">
                  <a:solidFill>
                    <a:srgbClr val="475467"/>
                  </a:solidFill>
                  <a:latin typeface="IBM Plex Sans"/>
                  <a:ea typeface="IBM Plex Sans"/>
                  <a:cs typeface="IBM Plex Sans"/>
                </a:rPr>
                <a:t>Connect with hospitals and industrial systems for workflows, scheduling, alerts and operational data.</a:t>
              </a:r>
            </a:p>
          </p:txBody>
        </p:sp>
        <p:sp>
          <p:nvSpPr>
            <p:cNvPr id="24" name="Ftag10"/>
            <p:cNvSpPr/>
            <p:nvPr/>
          </p:nvSpPr>
          <p:spPr>
            <a:xfrm>
              <a:off x="3652800" y="5100000"/>
              <a:ext cx="2093200" cy="260000"/>
            </a:xfrm>
            <a:prstGeom prst="roundRect">
              <a:avLst>
                <a:gd name="adj" fmla="val 50000"/>
              </a:avLst>
            </a:prstGeom>
            <a:solidFill>
              <a:srgbClr val="FFFFFF"/>
            </a:solidFill>
            <a:ln w="11811">
              <a:solidFill>
                <a:srgbClr val="D5DBE5"/>
              </a:solidFill>
            </a:ln>
          </p:spPr>
          <p:txBody>
            <a:bodyPr vert="horz" wrap="square" lIns="0" tIns="0" rIns="0" bIns="0" rtlCol="0" anchor="ctr">
              <a:noAutofit/>
            </a:bodyPr>
            <a:lstStyle/>
            <a:p>
              <a:pPr algn="ctr"/>
              <a:r>
                <a:rPr lang="en-US" sz="837" b="1" i="0">
                  <a:solidFill>
                    <a:srgbClr val="C2410C"/>
                  </a:solidFill>
                  <a:latin typeface="IBM Plex Sans"/>
                  <a:ea typeface="IBM Plex Sans"/>
                  <a:cs typeface="IBM Plex Sans"/>
                </a:rPr>
                <a:t>Workflows</a:t>
              </a:r>
            </a:p>
          </p:txBody>
        </p:sp>
        <p:sp>
          <p:nvSpPr>
            <p:cNvPr id="25" name="Ftag11"/>
            <p:cNvSpPr/>
            <p:nvPr/>
          </p:nvSpPr>
          <p:spPr>
            <a:xfrm>
              <a:off x="3652800" y="5420000"/>
              <a:ext cx="2093200" cy="260000"/>
            </a:xfrm>
            <a:prstGeom prst="roundRect">
              <a:avLst>
                <a:gd name="adj" fmla="val 50000"/>
              </a:avLst>
            </a:prstGeom>
            <a:solidFill>
              <a:srgbClr val="FFFFFF"/>
            </a:solidFill>
            <a:ln w="11811">
              <a:solidFill>
                <a:srgbClr val="D5DBE5"/>
              </a:solidFill>
            </a:ln>
          </p:spPr>
          <p:txBody>
            <a:bodyPr vert="horz" wrap="square" lIns="0" tIns="0" rIns="0" bIns="0" rtlCol="0" anchor="ctr">
              <a:noAutofit/>
            </a:bodyPr>
            <a:lstStyle/>
            <a:p>
              <a:pPr algn="ctr"/>
              <a:r>
                <a:rPr lang="en-US" sz="837" b="1" i="0">
                  <a:solidFill>
                    <a:srgbClr val="C2410C"/>
                  </a:solidFill>
                  <a:latin typeface="IBM Plex Sans"/>
                  <a:ea typeface="IBM Plex Sans"/>
                  <a:cs typeface="IBM Plex Sans"/>
                </a:rPr>
                <a:t>Scheduling</a:t>
              </a:r>
            </a:p>
          </p:txBody>
        </p:sp>
        <p:sp>
          <p:nvSpPr>
            <p:cNvPr id="26" name="Ftag12"/>
            <p:cNvSpPr/>
            <p:nvPr/>
          </p:nvSpPr>
          <p:spPr>
            <a:xfrm>
              <a:off x="3652800" y="5740000"/>
              <a:ext cx="2093200" cy="260000"/>
            </a:xfrm>
            <a:prstGeom prst="roundRect">
              <a:avLst>
                <a:gd name="adj" fmla="val 50000"/>
              </a:avLst>
            </a:prstGeom>
            <a:solidFill>
              <a:srgbClr val="FFFFFF"/>
            </a:solidFill>
            <a:ln w="11811">
              <a:solidFill>
                <a:srgbClr val="D5DBE5"/>
              </a:solidFill>
            </a:ln>
          </p:spPr>
          <p:txBody>
            <a:bodyPr vert="horz" wrap="square" lIns="0" tIns="0" rIns="0" bIns="0" rtlCol="0" anchor="ctr">
              <a:noAutofit/>
            </a:bodyPr>
            <a:lstStyle/>
            <a:p>
              <a:pPr algn="ctr"/>
              <a:r>
                <a:rPr lang="en-US" sz="837" b="1" i="0">
                  <a:solidFill>
                    <a:srgbClr val="C2410C"/>
                  </a:solidFill>
                  <a:latin typeface="IBM Plex Sans"/>
                  <a:ea typeface="IBM Plex Sans"/>
                  <a:cs typeface="IBM Plex Sans"/>
                </a:rPr>
                <a:t>Alerts</a:t>
              </a:r>
            </a:p>
          </p:txBody>
        </p:sp>
      </p:grpSp>
      <p:grpSp>
        <p:nvGrpSpPr>
          <p:cNvPr id="37" name="Future card 2"/>
          <p:cNvGrpSpPr/>
          <p:nvPr/>
        </p:nvGrpSpPr>
        <p:grpSpPr>
          <a:xfrm>
            <a:off x="6189000" y="1700784"/>
            <a:ext cx="2411676" cy="4464000"/>
            <a:chOff x="6196000" y="1450000"/>
            <a:chExt cx="2593200" cy="4800000"/>
          </a:xfrm>
        </p:grpSpPr>
        <p:sp>
          <p:nvSpPr>
            <p:cNvPr id="28" name="Fcard2"/>
            <p:cNvSpPr/>
            <p:nvPr/>
          </p:nvSpPr>
          <p:spPr>
            <a:xfrm>
              <a:off x="6196000" y="1450000"/>
              <a:ext cx="2593200" cy="4800000"/>
            </a:xfrm>
            <a:prstGeom prst="roundRect">
              <a:avLst>
                <a:gd name="adj" fmla="val 6000"/>
              </a:avLst>
            </a:prstGeom>
            <a:solidFill>
              <a:srgbClr val="F5F7FA"/>
            </a:solidFill>
            <a:ln w="11811">
              <a:solidFill>
                <a:srgbClr val="D5DBE5"/>
              </a:solidFill>
            </a:ln>
          </p:spPr>
          <p:txBody>
            <a:bodyPr vert="horz" wrap="square" lIns="0" tIns="0" rIns="0" bIns="0" rtlCol="0" anchor="ctr">
              <a:noAutofit/>
            </a:bodyPr>
            <a:lstStyle/>
            <a:p>
              <a:endParaRPr lang="en-US"/>
            </a:p>
          </p:txBody>
        </p:sp>
        <p:sp>
          <p:nvSpPr>
            <p:cNvPr id="29" name="Fnum2"/>
            <p:cNvSpPr txBox="1"/>
            <p:nvPr/>
          </p:nvSpPr>
          <p:spPr>
            <a:xfrm>
              <a:off x="6446000" y="1650000"/>
              <a:ext cx="1200000" cy="380000"/>
            </a:xfrm>
            <a:prstGeom prst="rect">
              <a:avLst/>
            </a:prstGeom>
            <a:noFill/>
            <a:ln>
              <a:noFill/>
            </a:ln>
          </p:spPr>
          <p:txBody>
            <a:bodyPr vert="horz" wrap="square" lIns="0" tIns="0" rIns="0" bIns="0" rtlCol="0" anchor="t">
              <a:noAutofit/>
            </a:bodyPr>
            <a:lstStyle/>
            <a:p>
              <a:pPr algn="l"/>
              <a:r>
                <a:rPr lang="en-US" sz="2046" b="1" i="0">
                  <a:solidFill>
                    <a:srgbClr val="C2410C"/>
                  </a:solidFill>
                  <a:latin typeface="Montserrat"/>
                  <a:ea typeface="Montserrat"/>
                  <a:cs typeface="Montserrat"/>
                </a:rPr>
                <a:t>03</a:t>
              </a:r>
            </a:p>
          </p:txBody>
        </p:sp>
        <p:sp>
          <p:nvSpPr>
            <p:cNvPr id="30" name="AI model improvement circle"/>
            <p:cNvSpPr/>
            <p:nvPr/>
          </p:nvSpPr>
          <p:spPr>
            <a:xfrm>
              <a:off x="6446000" y="2210000"/>
              <a:ext cx="700000" cy="700000"/>
            </a:xfrm>
            <a:prstGeom prst="ellipse">
              <a:avLst/>
            </a:prstGeom>
            <a:solidFill>
              <a:srgbClr val="2F5D8A"/>
            </a:solidFill>
            <a:ln>
              <a:noFill/>
            </a:ln>
          </p:spPr>
          <p:txBody>
            <a:bodyPr vert="horz" wrap="square" lIns="0" tIns="0" rIns="0" bIns="0" rtlCol="0" anchor="ctr">
              <a:noAutofit/>
            </a:bodyPr>
            <a:lstStyle/>
            <a:p>
              <a:endParaRPr lang="en-US"/>
            </a:p>
          </p:txBody>
        </p:sp>
        <p:pic>
          <p:nvPicPr>
            <p:cNvPr id="31" name="Icon AI model improvement" descr="AI model improvement icon"/>
            <p:cNvPicPr preferRelativeResize="0"/>
            <p:nvPr/>
          </p:nvPicPr>
          <p:blipFill>
            <a:blip r:embed="rId5"/>
            <a:stretch>
              <a:fillRect/>
            </a:stretch>
          </p:blipFill>
          <p:spPr>
            <a:xfrm>
              <a:off x="6621000" y="2385000"/>
              <a:ext cx="350000" cy="350000"/>
            </a:xfrm>
            <a:prstGeom prst="rect">
              <a:avLst/>
            </a:prstGeom>
          </p:spPr>
        </p:pic>
        <p:sp>
          <p:nvSpPr>
            <p:cNvPr id="32" name="Ftitle2"/>
            <p:cNvSpPr txBox="1"/>
            <p:nvPr/>
          </p:nvSpPr>
          <p:spPr>
            <a:xfrm>
              <a:off x="6446000" y="3100000"/>
              <a:ext cx="2093200" cy="600000"/>
            </a:xfrm>
            <a:prstGeom prst="rect">
              <a:avLst/>
            </a:prstGeom>
            <a:noFill/>
            <a:ln>
              <a:noFill/>
            </a:ln>
          </p:spPr>
          <p:txBody>
            <a:bodyPr vert="horz" wrap="square" lIns="0" tIns="0" rIns="0" bIns="0" rtlCol="0" anchor="t">
              <a:noAutofit/>
            </a:bodyPr>
            <a:lstStyle/>
            <a:p>
              <a:pPr algn="l"/>
              <a:r>
                <a:rPr lang="en-US" sz="1395" b="1" i="0">
                  <a:solidFill>
                    <a:srgbClr val="111827"/>
                  </a:solidFill>
                  <a:latin typeface="Montserrat"/>
                  <a:ea typeface="Montserrat"/>
                  <a:cs typeface="Montserrat"/>
                </a:rPr>
                <a:t>AI model improvement</a:t>
              </a:r>
            </a:p>
          </p:txBody>
        </p:sp>
        <p:sp>
          <p:nvSpPr>
            <p:cNvPr id="33" name="Fdesc2"/>
            <p:cNvSpPr txBox="1"/>
            <p:nvPr/>
          </p:nvSpPr>
          <p:spPr>
            <a:xfrm>
              <a:off x="6446000" y="3800000"/>
              <a:ext cx="2093200" cy="1400000"/>
            </a:xfrm>
            <a:prstGeom prst="rect">
              <a:avLst/>
            </a:prstGeom>
            <a:noFill/>
            <a:ln>
              <a:noFill/>
            </a:ln>
          </p:spPr>
          <p:txBody>
            <a:bodyPr vert="horz" wrap="square" lIns="0" tIns="0" rIns="0" bIns="0" rtlCol="0" anchor="t">
              <a:noAutofit/>
            </a:bodyPr>
            <a:lstStyle/>
            <a:p>
              <a:pPr algn="l"/>
              <a:r>
                <a:rPr lang="en-US" sz="1023" b="0" i="0">
                  <a:solidFill>
                    <a:srgbClr val="475467"/>
                  </a:solidFill>
                  <a:latin typeface="IBM Plex Sans"/>
                  <a:ea typeface="IBM Plex Sans"/>
                  <a:cs typeface="IBM Plex Sans"/>
                </a:rPr>
                <a:t>Stronger VLM and vision models for better scene understanding, target recognition and decision making.</a:t>
              </a:r>
            </a:p>
          </p:txBody>
        </p:sp>
        <p:sp>
          <p:nvSpPr>
            <p:cNvPr id="34" name="Ftag20"/>
            <p:cNvSpPr/>
            <p:nvPr/>
          </p:nvSpPr>
          <p:spPr>
            <a:xfrm>
              <a:off x="6446000" y="5100000"/>
              <a:ext cx="2093200" cy="260000"/>
            </a:xfrm>
            <a:prstGeom prst="roundRect">
              <a:avLst>
                <a:gd name="adj" fmla="val 50000"/>
              </a:avLst>
            </a:prstGeom>
            <a:solidFill>
              <a:srgbClr val="FFFFFF"/>
            </a:solidFill>
            <a:ln w="11811">
              <a:solidFill>
                <a:srgbClr val="D5DBE5"/>
              </a:solidFill>
            </a:ln>
          </p:spPr>
          <p:txBody>
            <a:bodyPr vert="horz" wrap="square" lIns="0" tIns="0" rIns="0" bIns="0" rtlCol="0" anchor="ctr">
              <a:noAutofit/>
            </a:bodyPr>
            <a:lstStyle/>
            <a:p>
              <a:pPr algn="ctr"/>
              <a:r>
                <a:rPr lang="en-US" sz="837" b="1" i="0">
                  <a:solidFill>
                    <a:srgbClr val="C2410C"/>
                  </a:solidFill>
                  <a:latin typeface="IBM Plex Sans"/>
                  <a:ea typeface="IBM Plex Sans"/>
                  <a:cs typeface="IBM Plex Sans"/>
                </a:rPr>
                <a:t>Stronger VLM</a:t>
              </a:r>
            </a:p>
          </p:txBody>
        </p:sp>
        <p:sp>
          <p:nvSpPr>
            <p:cNvPr id="35" name="Ftag21"/>
            <p:cNvSpPr/>
            <p:nvPr/>
          </p:nvSpPr>
          <p:spPr>
            <a:xfrm>
              <a:off x="6446000" y="5420000"/>
              <a:ext cx="2093200" cy="260000"/>
            </a:xfrm>
            <a:prstGeom prst="roundRect">
              <a:avLst>
                <a:gd name="adj" fmla="val 50000"/>
              </a:avLst>
            </a:prstGeom>
            <a:solidFill>
              <a:srgbClr val="FFFFFF"/>
            </a:solidFill>
            <a:ln w="11811">
              <a:solidFill>
                <a:srgbClr val="D5DBE5"/>
              </a:solidFill>
            </a:ln>
          </p:spPr>
          <p:txBody>
            <a:bodyPr vert="horz" wrap="square" lIns="0" tIns="0" rIns="0" bIns="0" rtlCol="0" anchor="ctr">
              <a:noAutofit/>
            </a:bodyPr>
            <a:lstStyle/>
            <a:p>
              <a:pPr algn="ctr"/>
              <a:r>
                <a:rPr lang="en-US" sz="837" b="1" i="0">
                  <a:solidFill>
                    <a:srgbClr val="C2410C"/>
                  </a:solidFill>
                  <a:latin typeface="IBM Plex Sans"/>
                  <a:ea typeface="IBM Plex Sans"/>
                  <a:cs typeface="IBM Plex Sans"/>
                </a:rPr>
                <a:t>Vision models</a:t>
              </a:r>
            </a:p>
          </p:txBody>
        </p:sp>
        <p:sp>
          <p:nvSpPr>
            <p:cNvPr id="36" name="Ftag22"/>
            <p:cNvSpPr/>
            <p:nvPr/>
          </p:nvSpPr>
          <p:spPr>
            <a:xfrm>
              <a:off x="6446000" y="5740000"/>
              <a:ext cx="2093200" cy="260000"/>
            </a:xfrm>
            <a:prstGeom prst="roundRect">
              <a:avLst>
                <a:gd name="adj" fmla="val 50000"/>
              </a:avLst>
            </a:prstGeom>
            <a:solidFill>
              <a:srgbClr val="FFFFFF"/>
            </a:solidFill>
            <a:ln w="11811">
              <a:solidFill>
                <a:srgbClr val="D5DBE5"/>
              </a:solidFill>
            </a:ln>
          </p:spPr>
          <p:txBody>
            <a:bodyPr vert="horz" wrap="square" lIns="0" tIns="0" rIns="0" bIns="0" rtlCol="0" anchor="ctr">
              <a:noAutofit/>
            </a:bodyPr>
            <a:lstStyle/>
            <a:p>
              <a:pPr algn="ctr"/>
              <a:r>
                <a:rPr lang="en-US" sz="837" b="1" i="0">
                  <a:solidFill>
                    <a:srgbClr val="C2410C"/>
                  </a:solidFill>
                  <a:latin typeface="IBM Plex Sans"/>
                  <a:ea typeface="IBM Plex Sans"/>
                  <a:cs typeface="IBM Plex Sans"/>
                </a:rPr>
                <a:t>Decisions</a:t>
              </a:r>
            </a:p>
          </p:txBody>
        </p:sp>
      </p:grpSp>
      <p:grpSp>
        <p:nvGrpSpPr>
          <p:cNvPr id="47" name="Future card 3"/>
          <p:cNvGrpSpPr/>
          <p:nvPr/>
        </p:nvGrpSpPr>
        <p:grpSpPr>
          <a:xfrm>
            <a:off x="8786676" y="1700784"/>
            <a:ext cx="2411676" cy="4464000"/>
            <a:chOff x="8989200" y="1450000"/>
            <a:chExt cx="2593200" cy="4800000"/>
          </a:xfrm>
        </p:grpSpPr>
        <p:sp>
          <p:nvSpPr>
            <p:cNvPr id="38" name="Fcard3"/>
            <p:cNvSpPr/>
            <p:nvPr/>
          </p:nvSpPr>
          <p:spPr>
            <a:xfrm>
              <a:off x="8989200" y="1450000"/>
              <a:ext cx="2593200" cy="4800000"/>
            </a:xfrm>
            <a:prstGeom prst="roundRect">
              <a:avLst>
                <a:gd name="adj" fmla="val 6000"/>
              </a:avLst>
            </a:prstGeom>
            <a:solidFill>
              <a:srgbClr val="F5F7FA"/>
            </a:solidFill>
            <a:ln w="11811">
              <a:solidFill>
                <a:srgbClr val="D5DBE5"/>
              </a:solidFill>
            </a:ln>
          </p:spPr>
          <p:txBody>
            <a:bodyPr vert="horz" wrap="square" lIns="0" tIns="0" rIns="0" bIns="0" rtlCol="0" anchor="ctr">
              <a:noAutofit/>
            </a:bodyPr>
            <a:lstStyle/>
            <a:p>
              <a:endParaRPr lang="en-US"/>
            </a:p>
          </p:txBody>
        </p:sp>
        <p:sp>
          <p:nvSpPr>
            <p:cNvPr id="39" name="Fnum3"/>
            <p:cNvSpPr txBox="1"/>
            <p:nvPr/>
          </p:nvSpPr>
          <p:spPr>
            <a:xfrm>
              <a:off x="9239200" y="1650000"/>
              <a:ext cx="1200000" cy="380000"/>
            </a:xfrm>
            <a:prstGeom prst="rect">
              <a:avLst/>
            </a:prstGeom>
            <a:noFill/>
            <a:ln>
              <a:noFill/>
            </a:ln>
          </p:spPr>
          <p:txBody>
            <a:bodyPr vert="horz" wrap="square" lIns="0" tIns="0" rIns="0" bIns="0" rtlCol="0" anchor="t">
              <a:noAutofit/>
            </a:bodyPr>
            <a:lstStyle/>
            <a:p>
              <a:pPr algn="l"/>
              <a:r>
                <a:rPr lang="en-US" sz="2046" b="1" i="0">
                  <a:solidFill>
                    <a:srgbClr val="C2410C"/>
                  </a:solidFill>
                  <a:latin typeface="Montserrat"/>
                  <a:ea typeface="Montserrat"/>
                  <a:cs typeface="Montserrat"/>
                </a:rPr>
                <a:t>04</a:t>
              </a:r>
            </a:p>
          </p:txBody>
        </p:sp>
        <p:sp>
          <p:nvSpPr>
            <p:cNvPr id="40" name="Scaling to global users circle"/>
            <p:cNvSpPr/>
            <p:nvPr/>
          </p:nvSpPr>
          <p:spPr>
            <a:xfrm>
              <a:off x="9239200" y="2210000"/>
              <a:ext cx="700000" cy="700000"/>
            </a:xfrm>
            <a:prstGeom prst="ellipse">
              <a:avLst/>
            </a:prstGeom>
            <a:solidFill>
              <a:srgbClr val="2F5D8A"/>
            </a:solidFill>
            <a:ln>
              <a:noFill/>
            </a:ln>
          </p:spPr>
          <p:txBody>
            <a:bodyPr vert="horz" wrap="square" lIns="0" tIns="0" rIns="0" bIns="0" rtlCol="0" anchor="ctr">
              <a:noAutofit/>
            </a:bodyPr>
            <a:lstStyle/>
            <a:p>
              <a:endParaRPr lang="en-US"/>
            </a:p>
          </p:txBody>
        </p:sp>
        <p:pic>
          <p:nvPicPr>
            <p:cNvPr id="41" name="Icon Scaling to global users" descr="Scaling to global users icon"/>
            <p:cNvPicPr preferRelativeResize="0"/>
            <p:nvPr/>
          </p:nvPicPr>
          <p:blipFill>
            <a:blip r:embed="rId6"/>
            <a:stretch>
              <a:fillRect/>
            </a:stretch>
          </p:blipFill>
          <p:spPr>
            <a:xfrm>
              <a:off x="9414200" y="2385000"/>
              <a:ext cx="350000" cy="350000"/>
            </a:xfrm>
            <a:prstGeom prst="rect">
              <a:avLst/>
            </a:prstGeom>
          </p:spPr>
        </p:pic>
        <p:sp>
          <p:nvSpPr>
            <p:cNvPr id="42" name="Ftitle3"/>
            <p:cNvSpPr txBox="1"/>
            <p:nvPr/>
          </p:nvSpPr>
          <p:spPr>
            <a:xfrm>
              <a:off x="9239200" y="3100000"/>
              <a:ext cx="2093200" cy="600000"/>
            </a:xfrm>
            <a:prstGeom prst="rect">
              <a:avLst/>
            </a:prstGeom>
            <a:noFill/>
            <a:ln>
              <a:noFill/>
            </a:ln>
          </p:spPr>
          <p:txBody>
            <a:bodyPr vert="horz" wrap="square" lIns="0" tIns="0" rIns="0" bIns="0" rtlCol="0" anchor="t">
              <a:noAutofit/>
            </a:bodyPr>
            <a:lstStyle/>
            <a:p>
              <a:pPr algn="l"/>
              <a:r>
                <a:rPr lang="en-US" sz="1395" b="1" i="0">
                  <a:solidFill>
                    <a:srgbClr val="111827"/>
                  </a:solidFill>
                  <a:latin typeface="Montserrat"/>
                  <a:ea typeface="Montserrat"/>
                  <a:cs typeface="Montserrat"/>
                </a:rPr>
                <a:t>Scaling to global users</a:t>
              </a:r>
            </a:p>
          </p:txBody>
        </p:sp>
        <p:sp>
          <p:nvSpPr>
            <p:cNvPr id="43" name="Fdesc3"/>
            <p:cNvSpPr txBox="1"/>
            <p:nvPr/>
          </p:nvSpPr>
          <p:spPr>
            <a:xfrm>
              <a:off x="9239200" y="3800000"/>
              <a:ext cx="2093200" cy="1400000"/>
            </a:xfrm>
            <a:prstGeom prst="rect">
              <a:avLst/>
            </a:prstGeom>
            <a:noFill/>
            <a:ln>
              <a:noFill/>
            </a:ln>
          </p:spPr>
          <p:txBody>
            <a:bodyPr vert="horz" wrap="square" lIns="0" tIns="0" rIns="0" bIns="0" rtlCol="0" anchor="t">
              <a:noAutofit/>
            </a:bodyPr>
            <a:lstStyle/>
            <a:p>
              <a:pPr algn="l"/>
              <a:r>
                <a:rPr lang="en-US" sz="1023" b="0" i="0">
                  <a:solidFill>
                    <a:srgbClr val="475467"/>
                  </a:solidFill>
                  <a:latin typeface="IBM Plex Sans"/>
                  <a:ea typeface="IBM Plex Sans"/>
                  <a:cs typeface="IBM Plex Sans"/>
                </a:rPr>
                <a:t>Expand across multiple sites, environments and use cases with scalable deployment and software updates.</a:t>
              </a:r>
            </a:p>
          </p:txBody>
        </p:sp>
        <p:sp>
          <p:nvSpPr>
            <p:cNvPr id="44" name="Ftag30"/>
            <p:cNvSpPr/>
            <p:nvPr/>
          </p:nvSpPr>
          <p:spPr>
            <a:xfrm>
              <a:off x="9239200" y="5100000"/>
              <a:ext cx="2093200" cy="260000"/>
            </a:xfrm>
            <a:prstGeom prst="roundRect">
              <a:avLst>
                <a:gd name="adj" fmla="val 50000"/>
              </a:avLst>
            </a:prstGeom>
            <a:solidFill>
              <a:srgbClr val="FFFFFF"/>
            </a:solidFill>
            <a:ln w="11811">
              <a:solidFill>
                <a:srgbClr val="D5DBE5"/>
              </a:solidFill>
            </a:ln>
          </p:spPr>
          <p:txBody>
            <a:bodyPr vert="horz" wrap="square" lIns="0" tIns="0" rIns="0" bIns="0" rtlCol="0" anchor="ctr">
              <a:noAutofit/>
            </a:bodyPr>
            <a:lstStyle/>
            <a:p>
              <a:pPr algn="ctr"/>
              <a:r>
                <a:rPr lang="en-US" sz="837" b="1" i="0">
                  <a:solidFill>
                    <a:srgbClr val="C2410C"/>
                  </a:solidFill>
                  <a:latin typeface="IBM Plex Sans"/>
                  <a:ea typeface="IBM Plex Sans"/>
                  <a:cs typeface="IBM Plex Sans"/>
                </a:rPr>
                <a:t>Multi-site</a:t>
              </a:r>
            </a:p>
          </p:txBody>
        </p:sp>
        <p:sp>
          <p:nvSpPr>
            <p:cNvPr id="45" name="Ftag31"/>
            <p:cNvSpPr/>
            <p:nvPr/>
          </p:nvSpPr>
          <p:spPr>
            <a:xfrm>
              <a:off x="9239200" y="5420000"/>
              <a:ext cx="2093200" cy="260000"/>
            </a:xfrm>
            <a:prstGeom prst="roundRect">
              <a:avLst>
                <a:gd name="adj" fmla="val 50000"/>
              </a:avLst>
            </a:prstGeom>
            <a:solidFill>
              <a:srgbClr val="FFFFFF"/>
            </a:solidFill>
            <a:ln w="11811">
              <a:solidFill>
                <a:srgbClr val="D5DBE5"/>
              </a:solidFill>
            </a:ln>
          </p:spPr>
          <p:txBody>
            <a:bodyPr vert="horz" wrap="square" lIns="0" tIns="0" rIns="0" bIns="0" rtlCol="0" anchor="ctr">
              <a:noAutofit/>
            </a:bodyPr>
            <a:lstStyle/>
            <a:p>
              <a:pPr algn="ctr"/>
              <a:r>
                <a:rPr lang="en-US" sz="837" b="1" i="0">
                  <a:solidFill>
                    <a:srgbClr val="C2410C"/>
                  </a:solidFill>
                  <a:latin typeface="IBM Plex Sans"/>
                  <a:ea typeface="IBM Plex Sans"/>
                  <a:cs typeface="IBM Plex Sans"/>
                </a:rPr>
                <a:t>New use cases</a:t>
              </a:r>
            </a:p>
          </p:txBody>
        </p:sp>
        <p:sp>
          <p:nvSpPr>
            <p:cNvPr id="46" name="Ftag32"/>
            <p:cNvSpPr/>
            <p:nvPr/>
          </p:nvSpPr>
          <p:spPr>
            <a:xfrm>
              <a:off x="9239200" y="5740000"/>
              <a:ext cx="2093200" cy="260000"/>
            </a:xfrm>
            <a:prstGeom prst="roundRect">
              <a:avLst>
                <a:gd name="adj" fmla="val 50000"/>
              </a:avLst>
            </a:prstGeom>
            <a:solidFill>
              <a:srgbClr val="FFFFFF"/>
            </a:solidFill>
            <a:ln w="11811">
              <a:solidFill>
                <a:srgbClr val="D5DBE5"/>
              </a:solidFill>
            </a:ln>
          </p:spPr>
          <p:txBody>
            <a:bodyPr vert="horz" wrap="square" lIns="0" tIns="0" rIns="0" bIns="0" rtlCol="0" anchor="ctr">
              <a:noAutofit/>
            </a:bodyPr>
            <a:lstStyle/>
            <a:p>
              <a:pPr algn="ctr"/>
              <a:r>
                <a:rPr lang="en-US" sz="837" b="1" i="0">
                  <a:solidFill>
                    <a:srgbClr val="C2410C"/>
                  </a:solidFill>
                  <a:latin typeface="IBM Plex Sans"/>
                  <a:ea typeface="IBM Plex Sans"/>
                  <a:cs typeface="IBM Plex Sans"/>
                </a:rPr>
                <a:t>Updates</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8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anim calcmode="lin" valueType="num">
                                      <p:cBhvr>
                                        <p:cTn id="8" dur="500" fill="hold"/>
                                        <p:tgtEl>
                                          <p:spTgt spid="17"/>
                                        </p:tgtEl>
                                        <p:attrNameLst>
                                          <p:attrName>ppt_x</p:attrName>
                                        </p:attrNameLst>
                                      </p:cBhvr>
                                      <p:tavLst>
                                        <p:tav tm="0">
                                          <p:val>
                                            <p:strVal val="#ppt_x"/>
                                          </p:val>
                                        </p:tav>
                                        <p:tav tm="100000">
                                          <p:val>
                                            <p:strVal val="#ppt_x"/>
                                          </p:val>
                                        </p:tav>
                                      </p:tavLst>
                                    </p:anim>
                                    <p:anim calcmode="lin" valueType="num">
                                      <p:cBhvr>
                                        <p:cTn id="9" dur="500" fill="hold"/>
                                        <p:tgtEl>
                                          <p:spTgt spid="17"/>
                                        </p:tgtEl>
                                        <p:attrNameLst>
                                          <p:attrName>ppt_y</p:attrName>
                                        </p:attrNameLst>
                                      </p:cBhvr>
                                      <p:tavLst>
                                        <p:tav tm="0">
                                          <p:val>
                                            <p:strVal val="#ppt_y+.1"/>
                                          </p:val>
                                        </p:tav>
                                        <p:tav tm="100000">
                                          <p:val>
                                            <p:strVal val="#ppt_y"/>
                                          </p:val>
                                        </p:tav>
                                      </p:tavLst>
                                    </p:anim>
                                  </p:childTnLst>
                                </p:cTn>
                              </p:par>
                              <p:par>
                                <p:cTn id="10" presetID="42" presetClass="entr" presetSubtype="0" fill="hold" nodeType="afterEffect">
                                  <p:stCondLst>
                                    <p:cond delay="15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anim calcmode="lin" valueType="num">
                                      <p:cBhvr>
                                        <p:cTn id="13" dur="500" fill="hold"/>
                                        <p:tgtEl>
                                          <p:spTgt spid="27"/>
                                        </p:tgtEl>
                                        <p:attrNameLst>
                                          <p:attrName>ppt_x</p:attrName>
                                        </p:attrNameLst>
                                      </p:cBhvr>
                                      <p:tavLst>
                                        <p:tav tm="0">
                                          <p:val>
                                            <p:strVal val="#ppt_x"/>
                                          </p:val>
                                        </p:tav>
                                        <p:tav tm="100000">
                                          <p:val>
                                            <p:strVal val="#ppt_x"/>
                                          </p:val>
                                        </p:tav>
                                      </p:tavLst>
                                    </p:anim>
                                    <p:anim calcmode="lin" valueType="num">
                                      <p:cBhvr>
                                        <p:cTn id="14" dur="500" fill="hold"/>
                                        <p:tgtEl>
                                          <p:spTgt spid="27"/>
                                        </p:tgtEl>
                                        <p:attrNameLst>
                                          <p:attrName>ppt_y</p:attrName>
                                        </p:attrNameLst>
                                      </p:cBhvr>
                                      <p:tavLst>
                                        <p:tav tm="0">
                                          <p:val>
                                            <p:strVal val="#ppt_y+.1"/>
                                          </p:val>
                                        </p:tav>
                                        <p:tav tm="100000">
                                          <p:val>
                                            <p:strVal val="#ppt_y"/>
                                          </p:val>
                                        </p:tav>
                                      </p:tavLst>
                                    </p:anim>
                                  </p:childTnLst>
                                </p:cTn>
                              </p:par>
                              <p:par>
                                <p:cTn id="15" presetID="42" presetClass="entr" presetSubtype="0" fill="hold" nodeType="afterEffect">
                                  <p:stCondLst>
                                    <p:cond delay="22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500"/>
                                        <p:tgtEl>
                                          <p:spTgt spid="37"/>
                                        </p:tgtEl>
                                      </p:cBhvr>
                                    </p:animEffect>
                                    <p:anim calcmode="lin" valueType="num">
                                      <p:cBhvr>
                                        <p:cTn id="18" dur="500" fill="hold"/>
                                        <p:tgtEl>
                                          <p:spTgt spid="37"/>
                                        </p:tgtEl>
                                        <p:attrNameLst>
                                          <p:attrName>ppt_x</p:attrName>
                                        </p:attrNameLst>
                                      </p:cBhvr>
                                      <p:tavLst>
                                        <p:tav tm="0">
                                          <p:val>
                                            <p:strVal val="#ppt_x"/>
                                          </p:val>
                                        </p:tav>
                                        <p:tav tm="100000">
                                          <p:val>
                                            <p:strVal val="#ppt_x"/>
                                          </p:val>
                                        </p:tav>
                                      </p:tavLst>
                                    </p:anim>
                                    <p:anim calcmode="lin" valueType="num">
                                      <p:cBhvr>
                                        <p:cTn id="19" dur="500" fill="hold"/>
                                        <p:tgtEl>
                                          <p:spTgt spid="37"/>
                                        </p:tgtEl>
                                        <p:attrNameLst>
                                          <p:attrName>ppt_y</p:attrName>
                                        </p:attrNameLst>
                                      </p:cBhvr>
                                      <p:tavLst>
                                        <p:tav tm="0">
                                          <p:val>
                                            <p:strVal val="#ppt_y+.1"/>
                                          </p:val>
                                        </p:tav>
                                        <p:tav tm="100000">
                                          <p:val>
                                            <p:strVal val="#ppt_y"/>
                                          </p:val>
                                        </p:tav>
                                      </p:tavLst>
                                    </p:anim>
                                  </p:childTnLst>
                                </p:cTn>
                              </p:par>
                              <p:par>
                                <p:cTn id="20" presetID="42" presetClass="entr" presetSubtype="0" fill="hold" nodeType="afterEffect">
                                  <p:stCondLst>
                                    <p:cond delay="290"/>
                                  </p:stCondLst>
                                  <p:childTnLst>
                                    <p:set>
                                      <p:cBhvr>
                                        <p:cTn id="21" dur="1" fill="hold">
                                          <p:stCondLst>
                                            <p:cond delay="0"/>
                                          </p:stCondLst>
                                        </p:cTn>
                                        <p:tgtEl>
                                          <p:spTgt spid="47"/>
                                        </p:tgtEl>
                                        <p:attrNameLst>
                                          <p:attrName>style.visibility</p:attrName>
                                        </p:attrNameLst>
                                      </p:cBhvr>
                                      <p:to>
                                        <p:strVal val="visible"/>
                                      </p:to>
                                    </p:set>
                                    <p:animEffect transition="in" filter="fade">
                                      <p:cBhvr>
                                        <p:cTn id="22" dur="500"/>
                                        <p:tgtEl>
                                          <p:spTgt spid="47"/>
                                        </p:tgtEl>
                                      </p:cBhvr>
                                    </p:animEffect>
                                    <p:anim calcmode="lin" valueType="num">
                                      <p:cBhvr>
                                        <p:cTn id="23" dur="500" fill="hold"/>
                                        <p:tgtEl>
                                          <p:spTgt spid="47"/>
                                        </p:tgtEl>
                                        <p:attrNameLst>
                                          <p:attrName>ppt_x</p:attrName>
                                        </p:attrNameLst>
                                      </p:cBhvr>
                                      <p:tavLst>
                                        <p:tav tm="0">
                                          <p:val>
                                            <p:strVal val="#ppt_x"/>
                                          </p:val>
                                        </p:tav>
                                        <p:tav tm="100000">
                                          <p:val>
                                            <p:strVal val="#ppt_x"/>
                                          </p:val>
                                        </p:tav>
                                      </p:tavLst>
                                    </p:anim>
                                    <p:anim calcmode="lin" valueType="num">
                                      <p:cBhvr>
                                        <p:cTn id="24" dur="5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001" name="HiH hero photo" descr="Hack in Hills banner"/>
          <p:cNvPicPr>
            <a:picLocks noChangeAspect="1"/>
          </p:cNvPicPr>
          <p:nvPr/>
        </p:nvPicPr>
        <p:blipFill>
          <a:blip r:embed="rId2"/>
          <a:stretch>
            <a:fillRect/>
          </a:stretch>
        </p:blipFill>
        <p:spPr>
          <a:xfrm>
            <a:off x="0" y="0"/>
            <a:ext cx="12192000" cy="2724912"/>
          </a:xfrm>
          <a:prstGeom prst="rect">
            <a:avLst/>
          </a:prstGeom>
        </p:spPr>
      </p:pic>
      <p:pic>
        <p:nvPicPr>
          <p:cNvPr id="9002" name="HiH logos left" descr="Hack in Hills banner"/>
          <p:cNvPicPr>
            <a:picLocks noChangeAspect="1"/>
          </p:cNvPicPr>
          <p:nvPr/>
        </p:nvPicPr>
        <p:blipFill>
          <a:blip r:embed="rId3"/>
          <a:stretch>
            <a:fillRect/>
          </a:stretch>
        </p:blipFill>
        <p:spPr>
          <a:xfrm>
            <a:off x="212450" y="197483"/>
            <a:ext cx="4826897" cy="527950"/>
          </a:xfrm>
          <a:prstGeom prst="rect">
            <a:avLst/>
          </a:prstGeom>
        </p:spPr>
      </p:pic>
      <p:pic>
        <p:nvPicPr>
          <p:cNvPr id="9003" name="HiH logo right" descr="Hack in Hills banner"/>
          <p:cNvPicPr>
            <a:picLocks noChangeAspect="1"/>
          </p:cNvPicPr>
          <p:nvPr/>
        </p:nvPicPr>
        <p:blipFill>
          <a:blip r:embed="rId4"/>
          <a:stretch>
            <a:fillRect/>
          </a:stretch>
        </p:blipFill>
        <p:spPr>
          <a:xfrm>
            <a:off x="8347050" y="197487"/>
            <a:ext cx="3733067" cy="527950"/>
          </a:xfrm>
          <a:prstGeom prst="rect">
            <a:avLst/>
          </a:prstGeom>
        </p:spPr>
      </p:pic>
      <p:sp>
        <p:nvSpPr>
          <p:cNvPr id="4" name="!!Footer"/>
          <p:cNvSpPr txBox="1"/>
          <p:nvPr/>
        </p:nvSpPr>
        <p:spPr>
          <a:xfrm>
            <a:off x="612648" y="6574536"/>
            <a:ext cx="8229600" cy="177800"/>
          </a:xfrm>
          <a:prstGeom prst="rect">
            <a:avLst/>
          </a:prstGeom>
          <a:noFill/>
          <a:ln>
            <a:noFill/>
          </a:ln>
        </p:spPr>
        <p:txBody>
          <a:bodyPr vert="horz" wrap="square" lIns="0" tIns="0" rIns="0" bIns="0" rtlCol="0" anchor="t">
            <a:noAutofit/>
          </a:bodyPr>
          <a:lstStyle/>
          <a:p>
            <a:pPr algn="l"/>
            <a:r>
              <a:rPr lang="en-US" sz="800" b="0" i="0" spc="150">
                <a:solidFill>
                  <a:srgbClr val="475467"/>
                </a:solidFill>
                <a:latin typeface="IBM Plex Sans"/>
                <a:ea typeface="IBM Plex Sans"/>
                <a:cs typeface="IBM Plex Sans"/>
              </a:rPr>
              <a:t>HACK IN HILLS  ·  VISION-BASED AUTONOMOUS ROBOT  ·  TECH MINIONS</a:t>
            </a:r>
          </a:p>
        </p:txBody>
      </p:sp>
      <p:sp>
        <p:nvSpPr>
          <p:cNvPr id="5" name="!!Page"/>
          <p:cNvSpPr txBox="1"/>
          <p:nvPr/>
        </p:nvSpPr>
        <p:spPr>
          <a:xfrm>
            <a:off x="10315448" y="6574536"/>
            <a:ext cx="1270000" cy="177800"/>
          </a:xfrm>
          <a:prstGeom prst="rect">
            <a:avLst/>
          </a:prstGeom>
          <a:noFill/>
          <a:ln>
            <a:noFill/>
          </a:ln>
        </p:spPr>
        <p:txBody>
          <a:bodyPr vert="horz" wrap="square" lIns="0" tIns="0" rIns="0" bIns="0" rtlCol="0" anchor="t">
            <a:noAutofit/>
          </a:bodyPr>
          <a:lstStyle/>
          <a:p>
            <a:pPr algn="r"/>
            <a:r>
              <a:rPr lang="en-US" sz="800" b="1" i="0" dirty="0" smtClean="0">
                <a:solidFill>
                  <a:srgbClr val="475467"/>
                </a:solidFill>
                <a:latin typeface="IBM Plex Sans"/>
                <a:ea typeface="IBM Plex Sans"/>
                <a:cs typeface="IBM Plex Sans"/>
              </a:rPr>
              <a:t>08 / 08</a:t>
            </a:r>
            <a:endParaRPr lang="en-US" sz="800" b="1" i="0" dirty="0">
              <a:solidFill>
                <a:srgbClr val="475467"/>
              </a:solidFill>
              <a:latin typeface="IBM Plex Sans"/>
              <a:ea typeface="IBM Plex Sans"/>
              <a:cs typeface="IBM Plex Sans"/>
            </a:endParaRPr>
          </a:p>
        </p:txBody>
      </p:sp>
      <p:grpSp>
        <p:nvGrpSpPr>
          <p:cNvPr id="9" name="Thanks group"/>
          <p:cNvGrpSpPr/>
          <p:nvPr/>
        </p:nvGrpSpPr>
        <p:grpSpPr>
          <a:xfrm>
            <a:off x="529590" y="3375488"/>
            <a:ext cx="11052810" cy="2399524"/>
            <a:chOff x="529590" y="2200476"/>
            <a:chExt cx="11052810" cy="2399524"/>
          </a:xfrm>
        </p:grpSpPr>
        <p:sp>
          <p:nvSpPr>
            <p:cNvPr id="6" name="Thanks title"/>
            <p:cNvSpPr txBox="1"/>
            <p:nvPr/>
          </p:nvSpPr>
          <p:spPr>
            <a:xfrm>
              <a:off x="529590" y="2200476"/>
              <a:ext cx="10972800" cy="1000000"/>
            </a:xfrm>
            <a:prstGeom prst="rect">
              <a:avLst/>
            </a:prstGeom>
            <a:noFill/>
            <a:ln>
              <a:noFill/>
            </a:ln>
          </p:spPr>
          <p:txBody>
            <a:bodyPr vert="horz" wrap="square" lIns="0" tIns="0" rIns="0" bIns="0" rtlCol="0" anchor="t">
              <a:noAutofit/>
            </a:bodyPr>
            <a:lstStyle/>
            <a:p>
              <a:pPr algn="ctr"/>
              <a:r>
                <a:rPr lang="en-US" sz="5400" b="1" i="0" dirty="0">
                  <a:solidFill>
                    <a:srgbClr val="111827"/>
                  </a:solidFill>
                  <a:latin typeface="Modern No. 20" panose="02070704070505020303" pitchFamily="18" charset="0"/>
                  <a:ea typeface="Montserrat"/>
                  <a:cs typeface="Montserrat"/>
                </a:rPr>
                <a:t>Thank you</a:t>
              </a:r>
            </a:p>
          </p:txBody>
        </p:sp>
        <p:sp>
          <p:nvSpPr>
            <p:cNvPr id="7" name="Thanks sub"/>
            <p:cNvSpPr txBox="1"/>
            <p:nvPr/>
          </p:nvSpPr>
          <p:spPr>
            <a:xfrm>
              <a:off x="609600" y="3500000"/>
              <a:ext cx="10972800" cy="500000"/>
            </a:xfrm>
            <a:prstGeom prst="rect">
              <a:avLst/>
            </a:prstGeom>
            <a:noFill/>
            <a:ln>
              <a:noFill/>
            </a:ln>
          </p:spPr>
          <p:txBody>
            <a:bodyPr vert="horz" wrap="square" lIns="0" tIns="0" rIns="0" bIns="0" rtlCol="0" anchor="t">
              <a:noAutofit/>
            </a:bodyPr>
            <a:lstStyle/>
            <a:p>
              <a:pPr algn="ctr"/>
              <a:r>
                <a:rPr lang="en-US" sz="2400" b="0" i="1">
                  <a:solidFill>
                    <a:srgbClr val="C2410C"/>
                  </a:solidFill>
                  <a:latin typeface="IBM Plex Sans"/>
                  <a:ea typeface="IBM Plex Sans"/>
                  <a:cs typeface="IBM Plex Sans"/>
                </a:rPr>
                <a:t>Questions?</a:t>
              </a:r>
            </a:p>
          </p:txBody>
        </p:sp>
        <p:sp>
          <p:nvSpPr>
            <p:cNvPr id="8" name="Thanks line"/>
            <p:cNvSpPr txBox="1"/>
            <p:nvPr/>
          </p:nvSpPr>
          <p:spPr>
            <a:xfrm>
              <a:off x="609600" y="4300000"/>
              <a:ext cx="10972800" cy="300000"/>
            </a:xfrm>
            <a:prstGeom prst="rect">
              <a:avLst/>
            </a:prstGeom>
            <a:noFill/>
            <a:ln>
              <a:noFill/>
            </a:ln>
          </p:spPr>
          <p:txBody>
            <a:bodyPr vert="horz" wrap="square" lIns="0" tIns="0" rIns="0" bIns="0" rtlCol="0" anchor="t">
              <a:noAutofit/>
            </a:bodyPr>
            <a:lstStyle/>
            <a:p>
              <a:pPr algn="ctr"/>
              <a:r>
                <a:rPr lang="en-US" sz="1100" b="0" i="0" spc="150">
                  <a:solidFill>
                    <a:srgbClr val="475467"/>
                  </a:solidFill>
                  <a:latin typeface="IBM Plex Sans"/>
                  <a:ea typeface="IBM Plex Sans"/>
                  <a:cs typeface="IBM Plex Sans"/>
                </a:rPr>
                <a:t>VISION-BASED AUTONOMOUS ROBOT  ·  TECH MINIONS</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8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2937"/>
      </a:dk2>
      <a:lt2>
        <a:srgbClr val="F5F7FA"/>
      </a:lt2>
      <a:accent1>
        <a:srgbClr val="C2410C"/>
      </a:accent1>
      <a:accent2>
        <a:srgbClr val="2F5D8A"/>
      </a:accent2>
      <a:accent3>
        <a:srgbClr val="0F766E"/>
      </a:accent3>
      <a:accent4>
        <a:srgbClr val="B45309"/>
      </a:accent4>
      <a:accent5>
        <a:srgbClr val="7C3AED"/>
      </a:accent5>
      <a:accent6>
        <a:srgbClr val="16A34A"/>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961</TotalTime>
  <Words>1152</Words>
  <Application>Microsoft Office PowerPoint</Application>
  <PresentationFormat>Widescreen</PresentationFormat>
  <Paragraphs>207</Paragraphs>
  <Slides>8</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Arial</vt:lpstr>
      <vt:lpstr>Arial Black</vt:lpstr>
      <vt:lpstr>Calibri</vt:lpstr>
      <vt:lpstr>Calibri Light</vt:lpstr>
      <vt:lpstr>Consolas</vt:lpstr>
      <vt:lpstr>IBM Plex Sans</vt:lpstr>
      <vt:lpstr>Modern No. 20</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Vikas Jain</dc:creator>
  <cp:lastModifiedBy>Sunder Singh</cp:lastModifiedBy>
  <cp:revision>12</cp:revision>
  <dcterms:created xsi:type="dcterms:W3CDTF">2026-10-08T11:12:36Z</dcterms:created>
  <dcterms:modified xsi:type="dcterms:W3CDTF">2026-10-10T07:54:45Z</dcterms:modified>
</cp:coreProperties>
</file>